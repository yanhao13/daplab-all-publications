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5615929"/>
          </a:xfrm>
          <a:prstGeom prst="roundRect">
            <a:avLst>
              <a:gd name="adj" fmla="val 2388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8959" y="6726497"/>
            <a:ext cx="8966435" cy="769958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7568" y="6726497"/>
            <a:ext cx="11208231" cy="9642336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97974" y="6726497"/>
            <a:ext cx="11208228" cy="1027142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08377" y="6726497"/>
            <a:ext cx="8966437" cy="941691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8959" y="14738839"/>
            <a:ext cx="8966435" cy="1490488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08377" y="16456172"/>
            <a:ext cx="8966437" cy="581932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87568" y="16681589"/>
            <a:ext cx="11208231" cy="645733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97974" y="17310673"/>
            <a:ext cx="11208228" cy="1233305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08377" y="22588254"/>
            <a:ext cx="8966437" cy="7055473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22588254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36708" y="22588254"/>
            <a:ext cx="38106" cy="705547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2588254"/>
            <a:ext cx="57160" cy="705547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87568" y="23451683"/>
            <a:ext cx="11208231" cy="619204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93453" y="7940772"/>
            <a:ext cx="10417270" cy="2367696"/>
          </a:xfrm>
          <a:prstGeom prst="roundRect">
            <a:avLst>
              <a:gd name="adj" fmla="val 830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03858" y="11556518"/>
            <a:ext cx="8175473" cy="1830414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439" y="12008096"/>
            <a:ext cx="8175476" cy="20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439" y="12008096"/>
            <a:ext cx="114320" cy="203500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03858" y="13659814"/>
            <a:ext cx="8175473" cy="21126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03858" y="13659814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603858" y="17890657"/>
            <a:ext cx="8175473" cy="4135320"/>
          </a:xfrm>
          <a:prstGeom prst="roundRect">
            <a:avLst>
              <a:gd name="adj" fmla="val 184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83048" y="18009837"/>
            <a:ext cx="10417270" cy="1373184"/>
          </a:xfrm>
          <a:prstGeom prst="roundRect">
            <a:avLst>
              <a:gd name="adj" fmla="val 15473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622902" y="24022739"/>
            <a:ext cx="8156429" cy="5407326"/>
          </a:xfrm>
          <a:prstGeom prst="roundRect">
            <a:avLst>
              <a:gd name="adj" fmla="val 363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439" y="26042265"/>
            <a:ext cx="8175476" cy="3231422"/>
          </a:xfrm>
          <a:prstGeom prst="roundRect">
            <a:avLst>
              <a:gd name="adj" fmla="val 5327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4439" y="26042265"/>
            <a:ext cx="114320" cy="3231422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columbia-business-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7616" y="976412"/>
            <a:ext cx="1052677" cy="1056899"/>
          </a:xfrm>
          <a:prstGeom prst="rect">
            <a:avLst/>
          </a:prstGeom>
        </p:spPr>
      </p:pic>
      <p:pic>
        <p:nvPicPr>
          <p:cNvPr id="29" name="Picture 28" descr="columbia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8733" y="2211103"/>
            <a:ext cx="810448" cy="105683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8111848" y="3469038"/>
            <a:ext cx="1899285" cy="1899305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2451" y="3569641"/>
            <a:ext cx="1698080" cy="169809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0256930" y="3469038"/>
            <a:ext cx="1899282" cy="1899305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7531" y="3569642"/>
            <a:ext cx="1698079" cy="169809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1993453" y="7121981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567107" y="8406783"/>
            <a:ext cx="8049005" cy="6036708"/>
          </a:xfrm>
          <a:prstGeom prst="roundRect">
            <a:avLst>
              <a:gd name="adj" fmla="val 63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7180" y="8406783"/>
            <a:ext cx="8048858" cy="603670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383048" y="17077073"/>
            <a:ext cx="619407" cy="619412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93453" y="17706158"/>
            <a:ext cx="619407" cy="619411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54253" y="18101194"/>
            <a:ext cx="3392227" cy="3758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154253" y="18101194"/>
            <a:ext cx="12385" cy="3758883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83048" y="23847166"/>
            <a:ext cx="619407" cy="619414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72707" y="26189716"/>
            <a:ext cx="2162788" cy="601856"/>
          </a:xfrm>
          <a:prstGeom prst="roundRect">
            <a:avLst>
              <a:gd name="adj" fmla="val 14301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1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03858" y="10492223"/>
            <a:ext cx="8175473" cy="78665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993453" y="24538147"/>
            <a:ext cx="10417270" cy="891995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383048" y="24853583"/>
            <a:ext cx="663892" cy="663898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83048" y="26665249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03858" y="9089283"/>
            <a:ext cx="5801558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603858" y="9696044"/>
            <a:ext cx="580155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405416" y="9089283"/>
            <a:ext cx="2373915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405416" y="9696044"/>
            <a:ext cx="237391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603858" y="9705571"/>
            <a:ext cx="5801558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603858" y="10482696"/>
            <a:ext cx="580155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405416" y="9705571"/>
            <a:ext cx="2373915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405416" y="10482696"/>
            <a:ext cx="237391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603858" y="10492223"/>
            <a:ext cx="5801558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603858" y="11269349"/>
            <a:ext cx="580155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05416" y="10492223"/>
            <a:ext cx="2373915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405416" y="11269349"/>
            <a:ext cx="237391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993453" y="22979720"/>
            <a:ext cx="3332264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993453" y="23636625"/>
            <a:ext cx="333226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325717" y="22979720"/>
            <a:ext cx="3249836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325717" y="23636625"/>
            <a:ext cx="32498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575553" y="22979720"/>
            <a:ext cx="3835170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575553" y="23636625"/>
            <a:ext cx="3835170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993453" y="23646152"/>
            <a:ext cx="3332264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93453" y="24528620"/>
            <a:ext cx="333226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325717" y="23646152"/>
            <a:ext cx="3249836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325717" y="24528620"/>
            <a:ext cx="32498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575553" y="23646152"/>
            <a:ext cx="3835170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575553" y="24528620"/>
            <a:ext cx="3835170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993453" y="24538147"/>
            <a:ext cx="3332264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993453" y="25420616"/>
            <a:ext cx="3332264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325717" y="24538147"/>
            <a:ext cx="3249836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325717" y="25420616"/>
            <a:ext cx="3249836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575553" y="24538147"/>
            <a:ext cx="3835170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575553" y="25420616"/>
            <a:ext cx="3835170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44614" y="1520931"/>
            <a:ext cx="37931423" cy="2648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741"/>
              </a:lnSpc>
              <a:spcBef>
                <a:spcPts val="0"/>
              </a:spcBef>
              <a:spcAft>
                <a:spcPts val="0"/>
              </a:spcAft>
            </a:pPr>
            <a:r>
              <a:rPr sz="7804" b="1" spc="-80">
                <a:solidFill>
                  <a:srgbClr val="7D2860"/>
                </a:solidFill>
                <a:latin typeface="Arial"/>
              </a:rPr>
              <a:t>SYN-DIGITS: A Synthetic Control Framework for Calibrated Digital Twin</a:t>
            </a:r>
          </a:p>
          <a:p>
            <a:pPr algn="ctr">
              <a:lnSpc>
                <a:spcPts val="8741"/>
              </a:lnSpc>
              <a:spcBef>
                <a:spcPts val="0"/>
              </a:spcBef>
              <a:spcAft>
                <a:spcPts val="0"/>
              </a:spcAft>
            </a:pPr>
            <a:r>
              <a:rPr sz="7804" b="1" spc="-80">
                <a:solidFill>
                  <a:srgbClr val="7D2860"/>
                </a:solidFill>
                <a:latin typeface="Arial"/>
              </a:rPr>
              <a:t>Simulation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44614" y="4080565"/>
            <a:ext cx="37931423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Grace Jiarui Fan, Chengpiao Huang, Tianyi Peng, Kaizheng Wang, Yuhang Wu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4614" y="4846833"/>
            <a:ext cx="37931423" cy="558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Business School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439" y="7121981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83048" y="7121981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03858" y="7121981"/>
            <a:ext cx="8420737" cy="1696028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993453" y="7940772"/>
            <a:ext cx="10729788" cy="2722850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Exact transfer when Row([V</a:t>
            </a:r>
            <a:r>
              <a:rPr sz="5421" b="0" baseline="30000">
                <a:solidFill>
                  <a:srgbClr val="7D2860"/>
                </a:solidFill>
                <a:latin typeface="Arial"/>
              </a:rPr>
              <a:t>⊤</a:t>
            </a:r>
            <a:r>
              <a:rPr sz="3872" b="0">
                <a:solidFill>
                  <a:srgbClr val="7D2860"/>
                </a:solidFill>
                <a:latin typeface="Arial"/>
              </a:rPr>
              <a:t>, v]) ⊆ Row([̃V</a:t>
            </a:r>
            <a:r>
              <a:rPr sz="5421" b="0" baseline="30000">
                <a:solidFill>
                  <a:srgbClr val="7D2860"/>
                </a:solidFill>
                <a:latin typeface="Arial"/>
              </a:rPr>
              <a:t>⊤</a:t>
            </a:r>
            <a:r>
              <a:rPr sz="3872" b="0">
                <a:solidFill>
                  <a:srgbClr val="7D2860"/>
                </a:solidFill>
                <a:latin typeface="Arial"/>
              </a:rPr>
              <a:t>, ̃v]); approximate alignment yields bounded error.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439" y="8179878"/>
            <a:ext cx="8420740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LLM digital twins inherit systematic bias, overconfidence, and distributional concentration, so naive simulation misfires on unseen questions.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603858" y="11556518"/>
            <a:ext cx="8420737" cy="2104976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+50% vs zero-shot · +29% vs in-context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439" y="12008096"/>
            <a:ext cx="8420740" cy="2340250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Fine-tuning is costly and brittle; prompt engineering offers no principled bias correction.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03858" y="13659814"/>
            <a:ext cx="8420737" cy="2429569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Beats both baselines on all 13 personas; calibration compresses correlation to .204–.243.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4439" y="15134322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03858" y="16851657"/>
            <a:ext cx="8420737" cy="848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190834" y="18963135"/>
            <a:ext cx="4945749" cy="339478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3032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humans and twins share a low-rank structure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622902" y="22983739"/>
            <a:ext cx="8401121" cy="848011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22902" y="24022739"/>
            <a:ext cx="8401121" cy="6218424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A model-agnostic post-hoc calibration layer — grounded in synthetic control — closes the sim-to-real gap with provable guarantees — no retraining, no architecture changes: learn the latent transfer map, apply it to humans.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83048" y="27700232"/>
            <a:ext cx="10729788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Both fit on the twin system, then transfer the learned mapping to human responses.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61917" y="5529036"/>
            <a:ext cx="822963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849850" y="5529036"/>
            <a:ext cx="734691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19228" y="7134926"/>
            <a:ext cx="5464813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Row-space alignment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525723" y="7247709"/>
            <a:ext cx="1941550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Theorem 4.1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93136" y="10327215"/>
            <a:ext cx="10730114" cy="25445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Structural error</a:t>
            </a:r>
            <a:r>
              <a:rPr sz="3872" b="0">
                <a:solidFill>
                  <a:srgbClr val="1C1C1C"/>
                </a:solidFill>
                <a:latin typeface="Arial"/>
              </a:rPr>
              <a:t> ‖r‖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2</a:t>
            </a:r>
            <a:r>
              <a:rPr sz="3872" b="0">
                <a:solidFill>
                  <a:srgbClr val="1C1C1C"/>
                </a:solidFill>
                <a:latin typeface="Arial"/>
              </a:rPr>
              <a:t> is small when alignment is approximate — full twin fidelity is not required.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993136" y="12711873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Estimation error</a:t>
            </a:r>
            <a:r>
              <a:rPr sz="3872" b="0">
                <a:solidFill>
                  <a:srgbClr val="1C1C1C"/>
                </a:solidFill>
                <a:latin typeface="Arial"/>
              </a:rPr>
              <a:t> vanishes as n → ∞ under standard concentration.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93136" y="14309282"/>
            <a:ext cx="10730114" cy="24588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Graded alignment:</a:t>
            </a:r>
            <a:r>
              <a:rPr sz="3872" b="0">
                <a:solidFill>
                  <a:srgbClr val="1C1C1C"/>
                </a:solidFill>
                <a:latin typeface="Arial"/>
              </a:rPr>
              <a:t> leading singular directions align near-perfectly; later ones degrade.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89084" y="14584544"/>
            <a:ext cx="7627201" cy="1807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SYN-DIGITS recovers the missing half-column of human responses to a new question.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4121" y="16929920"/>
            <a:ext cx="8421067" cy="3278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Digital twins now drive</a:t>
            </a:r>
            <a:r>
              <a:rPr sz="3872" b="0">
                <a:solidFill>
                  <a:srgbClr val="1C1C1C"/>
                </a:solidFill>
                <a:latin typeface="Arial"/>
              </a:rPr>
              <a:t> market research, recommenders, and social science — the sim-to-real gap is a reliability problem.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208824" y="17090017"/>
            <a:ext cx="4932722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Latent factor model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435476" y="17202800"/>
            <a:ext cx="2435787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why it transfers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819228" y="17719102"/>
            <a:ext cx="6261724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Distributional calibration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525723" y="17831884"/>
            <a:ext cx="1941550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Theorem 7.1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993453" y="19268155"/>
            <a:ext cx="4623921" cy="33920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50–90%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82731" y="19515740"/>
            <a:ext cx="10730114" cy="18257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u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i</a:t>
            </a:r>
            <a:r>
              <a:rPr sz="3872" b="1">
                <a:solidFill>
                  <a:srgbClr val="111111"/>
                </a:solidFill>
                <a:latin typeface="Arial"/>
              </a:rPr>
              <a:t>, v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j</a:t>
            </a:r>
            <a:r>
              <a:rPr sz="3872" b="1">
                <a:solidFill>
                  <a:srgbClr val="111111"/>
                </a:solidFill>
                <a:latin typeface="Arial"/>
              </a:rPr>
              <a:t> ∈ R</a:t>
            </a:r>
            <a:r>
              <a:rPr sz="5421" b="1" baseline="30000">
                <a:solidFill>
                  <a:srgbClr val="111111"/>
                </a:solidFill>
                <a:latin typeface="Arial"/>
              </a:rPr>
              <a:t>d</a:t>
            </a:r>
            <a:r>
              <a:rPr sz="3872" b="0">
                <a:solidFill>
                  <a:srgbClr val="1C1C1C"/>
                </a:solidFill>
                <a:latin typeface="Arial"/>
              </a:rPr>
              <a:t> — latent user / question embeddings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121" y="19952738"/>
            <a:ext cx="8421067" cy="327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The gap is structural:</a:t>
            </a:r>
            <a:r>
              <a:rPr sz="3872" b="0">
                <a:solidFill>
                  <a:srgbClr val="1C1C1C"/>
                </a:solidFill>
                <a:latin typeface="Arial"/>
              </a:rPr>
              <a:t> the LLM maps inputs to responses differently from humans, so more context cannot fix it.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679245" y="20039481"/>
            <a:ext cx="5903422" cy="14756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distributional discrepancy reduction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82731" y="21275332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≈ low-rank</a:t>
            </a:r>
            <a:r>
              <a:rPr sz="3872" b="0">
                <a:solidFill>
                  <a:srgbClr val="1C1C1C"/>
                </a:solidFill>
                <a:latin typeface="Arial"/>
              </a:rPr>
              <a:t>, confirmed by SVD diagnostics on both datasets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121" y="22975554"/>
            <a:ext cx="8421067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Consequence:</a:t>
            </a:r>
            <a:r>
              <a:rPr sz="3872" b="0">
                <a:solidFill>
                  <a:srgbClr val="1C1C1C"/>
                </a:solidFill>
                <a:latin typeface="Arial"/>
              </a:rPr>
              <a:t> naive simulation propagates bias into every downstream decision.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08824" y="23860111"/>
            <a:ext cx="3859652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Two paradigms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364652" y="23972893"/>
            <a:ext cx="2508735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how to calibrate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90397" y="24853583"/>
            <a:ext cx="9795218" cy="17442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Fit-and-transfer</a:t>
            </a:r>
            <a:r>
              <a:rPr sz="3872" b="0">
                <a:solidFill>
                  <a:srgbClr val="1C1C1C"/>
                </a:solidFill>
                <a:latin typeface="Arial"/>
              </a:rPr>
              <a:t> — Ridge, Lasso, EN, NN, SC, SI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993136" y="26073957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Ensemble reweighting</a:t>
            </a:r>
            <a:r>
              <a:rPr sz="3872" b="0">
                <a:solidFill>
                  <a:srgbClr val="1C1C1C"/>
                </a:solidFill>
                <a:latin typeface="Arial"/>
              </a:rPr>
              <a:t> over twins + K dummy twins guarantee full support.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90397" y="26665249"/>
            <a:ext cx="9795218" cy="9529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Matrix completion</a:t>
            </a:r>
            <a:r>
              <a:rPr sz="3872" b="0">
                <a:solidFill>
                  <a:srgbClr val="1C1C1C"/>
                </a:solidFill>
                <a:latin typeface="Arial"/>
              </a:rPr>
              <a:t> — HSV, SSV, ALS, SP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72707" y="26988123"/>
            <a:ext cx="759440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In-context learning with 249 extra ratings improves only +16% — the bias is not a data problem.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993136" y="27671366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TV / KL objectives</a:t>
            </a:r>
            <a:r>
              <a:rPr sz="3872" b="0">
                <a:solidFill>
                  <a:srgbClr val="1C1C1C"/>
                </a:solidFill>
                <a:latin typeface="Arial"/>
              </a:rPr>
              <a:t> generalize best across all metrics.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6711" y="18860619"/>
            <a:ext cx="3890149" cy="15418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561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+50%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836711" y="20223684"/>
            <a:ext cx="3890149" cy="565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correlation gain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6711" y="20715286"/>
            <a:ext cx="3890149" cy="443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EN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603858" y="9089283"/>
            <a:ext cx="5975604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405416" y="9089283"/>
            <a:ext cx="2445132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603858" y="9705571"/>
            <a:ext cx="5975604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Zero-shot (ZS)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405416" y="9705571"/>
            <a:ext cx="2445132" cy="90464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0.349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603858" y="10492223"/>
            <a:ext cx="5975604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SYN-DIGITS (EN)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405416" y="10492223"/>
            <a:ext cx="2445132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0.524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606122" y="18101194"/>
            <a:ext cx="1181726" cy="11820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50–90%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925430" y="18215466"/>
            <a:ext cx="1669681" cy="9250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distribution gap 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606122" y="19374837"/>
            <a:ext cx="1636579" cy="591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+406%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367035" y="19489108"/>
            <a:ext cx="1214828" cy="185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best gain (fine-tuned)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606122" y="21343627"/>
            <a:ext cx="1787533" cy="5910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10·13·3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0513592" y="21457898"/>
            <a:ext cx="3818733" cy="462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methods·personas·LLMs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993453" y="22979720"/>
            <a:ext cx="3432231" cy="766396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DATASET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325717" y="22979720"/>
            <a:ext cx="3347331" cy="766396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BASELINE TV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575553" y="22979720"/>
            <a:ext cx="3950225" cy="766396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CALIBRATED TV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993453" y="23646152"/>
            <a:ext cx="3432231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MovieLens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325717" y="23646152"/>
            <a:ext cx="3347331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0.381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575553" y="23646152"/>
            <a:ext cx="3950225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0.188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993453" y="24538147"/>
            <a:ext cx="3432231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OpinionQA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325717" y="24538147"/>
            <a:ext cx="3347331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0.350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575553" y="24538147"/>
            <a:ext cx="3950225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0.178</a:t>
            </a:r>
          </a:p>
        </p:txBody>
      </p:sp>
      <p:pic>
        <p:nvPicPr>
          <p:cNvPr id="144" name="Picture 143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0810" y="18093308"/>
            <a:ext cx="9081597" cy="7522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