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8959" y="618966"/>
            <a:ext cx="41556003" cy="5654020"/>
          </a:xfrm>
          <a:prstGeom prst="roundRect">
            <a:avLst>
              <a:gd name="adj" fmla="val 2372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8959" y="6764588"/>
            <a:ext cx="8966435" cy="9849898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87568" y="6764588"/>
            <a:ext cx="11208231" cy="9532081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597974" y="6764588"/>
            <a:ext cx="11208228" cy="5842834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208377" y="6764588"/>
            <a:ext cx="8966437" cy="11533604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597974" y="12920179"/>
            <a:ext cx="11208228" cy="16723548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87568" y="16609426"/>
            <a:ext cx="11208231" cy="6220314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959" y="16927242"/>
            <a:ext cx="8966435" cy="12716485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08377" y="18610949"/>
            <a:ext cx="8966437" cy="5047253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87568" y="23142497"/>
            <a:ext cx="11208231" cy="6501230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08377" y="23970961"/>
            <a:ext cx="8966437" cy="5672766"/>
          </a:xfrm>
          <a:prstGeom prst="rect">
            <a:avLst/>
          </a:prstGeom>
          <a:solidFill>
            <a:srgbClr val="F6EC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208377" y="23970961"/>
            <a:ext cx="8966437" cy="3810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136708" y="23970961"/>
            <a:ext cx="38106" cy="567276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208377" y="29605620"/>
            <a:ext cx="8966437" cy="3810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208377" y="23970961"/>
            <a:ext cx="57160" cy="5672766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993453" y="7998205"/>
            <a:ext cx="10417270" cy="4222809"/>
          </a:xfrm>
          <a:prstGeom prst="roundRect">
            <a:avLst>
              <a:gd name="adj" fmla="val 4658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603858" y="12177121"/>
            <a:ext cx="8175473" cy="1830415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14439" y="14184001"/>
            <a:ext cx="8175476" cy="20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4439" y="14184001"/>
            <a:ext cx="114320" cy="203500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03858" y="14360316"/>
            <a:ext cx="8175473" cy="337917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603858" y="14360316"/>
            <a:ext cx="8175473" cy="12385"/>
          </a:xfrm>
          <a:prstGeom prst="rect">
            <a:avLst/>
          </a:prstGeom>
          <a:solidFill>
            <a:srgbClr val="D2B4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83048" y="17937674"/>
            <a:ext cx="10417270" cy="1362916"/>
          </a:xfrm>
          <a:prstGeom prst="roundRect">
            <a:avLst>
              <a:gd name="adj" fmla="val 15589"/>
            </a:avLst>
          </a:prstGeom>
          <a:solidFill>
            <a:srgbClr val="F7F2F5"/>
          </a:solidFill>
          <a:ln w="9526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603858" y="20065817"/>
            <a:ext cx="8175473" cy="3221749"/>
          </a:xfrm>
          <a:prstGeom prst="roundRect">
            <a:avLst>
              <a:gd name="adj" fmla="val 2365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9526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622902" y="25786644"/>
            <a:ext cx="8156429" cy="3490167"/>
          </a:xfrm>
          <a:prstGeom prst="roundRect">
            <a:avLst>
              <a:gd name="adj" fmla="val 5636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olumbia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4071" y="976361"/>
            <a:ext cx="825180" cy="1076046"/>
          </a:xfrm>
          <a:prstGeom prst="rect">
            <a:avLst/>
          </a:prstGeom>
        </p:spPr>
      </p:pic>
      <p:pic>
        <p:nvPicPr>
          <p:cNvPr id="27" name="Picture 26" descr="google-re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0244" y="2230072"/>
            <a:ext cx="1052830" cy="1076032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39537092" y="3507128"/>
            <a:ext cx="1899283" cy="1899305"/>
          </a:xfrm>
          <a:prstGeom prst="roundRect">
            <a:avLst>
              <a:gd name="adj" fmla="val 5296"/>
            </a:avLst>
          </a:prstGeom>
          <a:noFill/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a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37694" y="3607732"/>
            <a:ext cx="1698079" cy="1698097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21993453" y="7160071"/>
            <a:ext cx="619407" cy="619413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582432" y="8444873"/>
            <a:ext cx="8018503" cy="6560596"/>
          </a:xfrm>
          <a:prstGeom prst="roundRect">
            <a:avLst>
              <a:gd name="adj" fmla="val 580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igur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473" y="8444873"/>
            <a:ext cx="8018421" cy="6560596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21993453" y="13315662"/>
            <a:ext cx="619407" cy="619413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83048" y="17004910"/>
            <a:ext cx="619407" cy="619413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154253" y="20276356"/>
            <a:ext cx="3392227" cy="284531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54253" y="20276356"/>
            <a:ext cx="12385" cy="2845310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383048" y="23537980"/>
            <a:ext cx="619407" cy="619414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6421" y="25143573"/>
            <a:ext cx="8011362" cy="1848715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figur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595" y="25143573"/>
            <a:ext cx="8011014" cy="1848715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33603858" y="11032926"/>
            <a:ext cx="8175473" cy="786653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993453" y="19445066"/>
            <a:ext cx="10417270" cy="891995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383048" y="24395308"/>
            <a:ext cx="663892" cy="663899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85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383048" y="26206977"/>
            <a:ext cx="663892" cy="663898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85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603858" y="8469870"/>
            <a:ext cx="5781616" cy="1113544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603858" y="9573887"/>
            <a:ext cx="5781616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9385474" y="8469870"/>
            <a:ext cx="2393857" cy="1113544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9385474" y="9573887"/>
            <a:ext cx="2393857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603858" y="9583414"/>
            <a:ext cx="5781616" cy="14495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603858" y="11023399"/>
            <a:ext cx="5781616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9385474" y="9583414"/>
            <a:ext cx="2393857" cy="14495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9385474" y="11023399"/>
            <a:ext cx="2393857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603858" y="11032926"/>
            <a:ext cx="5781616" cy="786653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603858" y="11810052"/>
            <a:ext cx="5781616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9385474" y="11032926"/>
            <a:ext cx="2393857" cy="786653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385474" y="11810052"/>
            <a:ext cx="2393857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1993453" y="16102647"/>
            <a:ext cx="7977736" cy="666430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1993453" y="16759551"/>
            <a:ext cx="7977736" cy="12384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971189" y="16102647"/>
            <a:ext cx="2439534" cy="666430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9971189" y="16759551"/>
            <a:ext cx="2439534" cy="12384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1993453" y="16769077"/>
            <a:ext cx="7977736" cy="8919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1993453" y="17651547"/>
            <a:ext cx="7977736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9971189" y="16769077"/>
            <a:ext cx="2439534" cy="8919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9971189" y="17651547"/>
            <a:ext cx="2439534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1993453" y="17661074"/>
            <a:ext cx="7977736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1993453" y="18543543"/>
            <a:ext cx="7977736" cy="12384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9971189" y="17661074"/>
            <a:ext cx="2439534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9971189" y="18543543"/>
            <a:ext cx="2439534" cy="12384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1993453" y="18553069"/>
            <a:ext cx="7977736" cy="8919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1993453" y="19435539"/>
            <a:ext cx="7977736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9971189" y="18553069"/>
            <a:ext cx="2439534" cy="8919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9971189" y="19435539"/>
            <a:ext cx="2439534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1993453" y="19445066"/>
            <a:ext cx="7977736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1993453" y="20327534"/>
            <a:ext cx="7977736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9971189" y="19445066"/>
            <a:ext cx="2439534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9971189" y="20327534"/>
            <a:ext cx="2439534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1993453" y="20337061"/>
            <a:ext cx="7977736" cy="8919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1993453" y="21219530"/>
            <a:ext cx="7977736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9971189" y="20337061"/>
            <a:ext cx="2439534" cy="8919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9971189" y="21219530"/>
            <a:ext cx="2439534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1993453" y="21229057"/>
            <a:ext cx="7977736" cy="8919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1993453" y="22111528"/>
            <a:ext cx="7977736" cy="12384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9971189" y="21229057"/>
            <a:ext cx="2439534" cy="8919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9971189" y="22111528"/>
            <a:ext cx="2439534" cy="12384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244614" y="1539976"/>
            <a:ext cx="38636680" cy="2648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212"/>
              </a:lnSpc>
              <a:spcBef>
                <a:spcPts val="0"/>
              </a:spcBef>
              <a:spcAft>
                <a:spcPts val="0"/>
              </a:spcAft>
            </a:pPr>
            <a:r>
              <a:rPr sz="7332" b="1" spc="-80">
                <a:solidFill>
                  <a:srgbClr val="7D2860"/>
                </a:solidFill>
                <a:latin typeface="Arial"/>
              </a:rPr>
              <a:t>Prior Knowledge Makes It Possible: From Sublinear Graph Algorithms to LLM</a:t>
            </a:r>
          </a:p>
          <a:p>
            <a:pPr algn="ctr">
              <a:lnSpc>
                <a:spcPts val="8212"/>
              </a:lnSpc>
              <a:spcBef>
                <a:spcPts val="0"/>
              </a:spcBef>
              <a:spcAft>
                <a:spcPts val="0"/>
              </a:spcAft>
            </a:pPr>
            <a:r>
              <a:rPr sz="7332" b="1" spc="-80">
                <a:solidFill>
                  <a:srgbClr val="7D2860"/>
                </a:solidFill>
                <a:latin typeface="Arial"/>
              </a:rPr>
              <a:t>Test-Time Methods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44614" y="4099610"/>
            <a:ext cx="38636680" cy="819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B2331"/>
                </a:solidFill>
                <a:latin typeface="Arial"/>
              </a:rPr>
              <a:t>Avrim Blum, Daniel Hsu, Cyrus Rashtchian, Donya Saless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44614" y="4865879"/>
            <a:ext cx="38636680" cy="55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828"/>
              </a:lnSpc>
              <a:spcBef>
                <a:spcPts val="0"/>
              </a:spcBef>
              <a:spcAft>
                <a:spcPts val="0"/>
              </a:spcAft>
            </a:pPr>
            <a:r>
              <a:rPr sz="2402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40" b="0" spc="52">
                <a:solidFill>
                  <a:srgbClr val="55617A"/>
                </a:solidFill>
                <a:latin typeface="Arial"/>
              </a:rPr>
              <a:t>Toyota Technological Institute at Chicago   </a:t>
            </a:r>
            <a:r>
              <a:rPr sz="3696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40" b="0" spc="52">
                <a:solidFill>
                  <a:srgbClr val="55617A"/>
                </a:solidFill>
                <a:latin typeface="Arial"/>
              </a:rPr>
              <a:t>Columbia University   </a:t>
            </a:r>
            <a:r>
              <a:rPr sz="3696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40" b="0" spc="52">
                <a:solidFill>
                  <a:srgbClr val="55617A"/>
                </a:solidFill>
                <a:latin typeface="Arial"/>
              </a:rPr>
              <a:t>Google Research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4439" y="7160071"/>
            <a:ext cx="8420740" cy="848013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83048" y="7160071"/>
            <a:ext cx="10729788" cy="848013"/>
          </a:xfrm>
          <a:prstGeom prst="rect">
            <a:avLst/>
          </a:prstGeom>
          <a:noFill/>
        </p:spPr>
        <p:txBody>
          <a:bodyPr wrap="non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603858" y="7160071"/>
            <a:ext cx="8420737" cy="848013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RESULTS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312902" y="8173927"/>
            <a:ext cx="9735336" cy="4439922"/>
          </a:xfrm>
          <a:prstGeom prst="rect">
            <a:avLst/>
          </a:prstGeom>
          <a:noFill/>
        </p:spPr>
        <p:txBody>
          <a:bodyPr wrap="square" lIns="319690" rIns="319690" tIns="137714" bIns="137714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7D2860"/>
                </a:solidFill>
                <a:latin typeface="Arial"/>
              </a:rPr>
              <a:t>A prior component C is </a:t>
            </a:r>
            <a:r>
              <a:rPr sz="3872" b="1">
                <a:solidFill>
                  <a:srgbClr val="111111"/>
                </a:solidFill>
                <a:latin typeface="Arial"/>
              </a:rPr>
              <a:t>γ-admissible</a:t>
            </a:r>
            <a:r>
              <a:rPr sz="3872" b="0">
                <a:solidFill>
                  <a:srgbClr val="7D2860"/>
                </a:solidFill>
                <a:latin typeface="Arial"/>
              </a:rPr>
              <a:t> if </a:t>
            </a:r>
            <a:r>
              <a:rPr sz="3872" b="0">
                <a:solidFill>
                  <a:srgbClr val="7D2860"/>
                </a:solidFill>
                <a:latin typeface="Arial"/>
              </a:rPr>
              <a:t>                                               </a:t>
            </a:r>
            <a:r>
              <a:rPr sz="3872" b="0">
                <a:solidFill>
                  <a:srgbClr val="7D2860"/>
                </a:solidFill>
                <a:latin typeface="Arial"/>
              </a:rPr>
              <a:t> for every vertex u — the prior is “visible” everywhere, so local retrieval suffices. Dense Erdős–Rényi priors are γ-admissible with high probability.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14439" y="8217819"/>
            <a:ext cx="8420740" cy="65568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Retrieval-augmented generation and tool use depend on an interplay between a model's parametric knowledge and what it retrieves, but the theory is poorly understood: how much pre-training knowledge is needed to answer a query with only a few augmentation steps?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603858" y="12177121"/>
            <a:ext cx="8420737" cy="2104977"/>
          </a:xfrm>
          <a:prstGeom prst="rect">
            <a:avLst/>
          </a:prstGeom>
          <a:noFill/>
        </p:spPr>
        <p:txBody>
          <a:bodyPr wrap="square" lIns="457894" rIns="457894" tIns="265100" bIns="265100">
            <a:spAutoFit/>
          </a:bodyPr>
          <a:lstStyle/>
          <a:p>
            <a:pPr algn="ctr">
              <a:lnSpc>
                <a:spcPts val="5123"/>
              </a:lnSpc>
              <a:spcBef>
                <a:spcPts val="0"/>
              </a:spcBef>
              <a:spcAft>
                <a:spcPts val="0"/>
              </a:spcAft>
            </a:pPr>
            <a:r>
              <a:rPr sz="3795" b="1">
                <a:solidFill>
                  <a:srgbClr val="7D2860"/>
                </a:solidFill>
                <a:latin typeface="Arial"/>
              </a:rPr>
              <a:t>Phase transition: sparse → Ω(√n) · dense → O(1)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14439" y="14184001"/>
            <a:ext cx="8420740" cy="2340250"/>
          </a:xfrm>
          <a:prstGeom prst="rect">
            <a:avLst/>
          </a:prstGeom>
          <a:noFill/>
        </p:spPr>
        <p:txBody>
          <a:bodyPr wrap="square" lIns="344282" rIns="344282" tIns="59020" bIns="59020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0" i="1">
                <a:solidFill>
                  <a:srgbClr val="1C1C1C"/>
                </a:solidFill>
                <a:latin typeface="Arial"/>
              </a:rPr>
              <a:t>Classical sublinear algorithms start with no prior — real LLMs hold a large, partial world model.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603858" y="14360316"/>
            <a:ext cx="8420737" cy="3886045"/>
          </a:xfrm>
          <a:prstGeom prst="rect">
            <a:avLst/>
          </a:prstGeom>
          <a:noFill/>
        </p:spPr>
        <p:txBody>
          <a:bodyPr wrap="square" lIns="0" rIns="0" tIns="203620" bIns="0">
            <a:spAutoFit/>
          </a:bodyPr>
          <a:lstStyle/>
          <a:p>
            <a:pPr algn="l">
              <a:lnSpc>
                <a:spcPts val="4988"/>
              </a:lnSpc>
              <a:spcBef>
                <a:spcPts val="0"/>
              </a:spcBef>
              <a:spcAft>
                <a:spcPts val="0"/>
              </a:spcAft>
            </a:pPr>
            <a:r>
              <a:rPr sz="2779" b="1" spc="166">
                <a:solidFill>
                  <a:srgbClr val="111111"/>
                </a:solidFill>
                <a:latin typeface="Arial"/>
              </a:rPr>
              <a:t>SO WHAT → </a:t>
            </a:r>
            <a:r>
              <a:rPr sz="3562" b="0" i="1">
                <a:solidFill>
                  <a:srgbClr val="1C1C1C"/>
                </a:solidFill>
                <a:latin typeface="Arial"/>
              </a:rPr>
              <a:t>A phase transition: sparse, disconnected priors need Ω(√n) queries, but once the prior forms a giant component, O(1) queries suffice (Thm 4.3).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14439" y="17322725"/>
            <a:ext cx="8420740" cy="848013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075367" y="18880705"/>
            <a:ext cx="7243458" cy="339480"/>
          </a:xfrm>
          <a:prstGeom prst="rect">
            <a:avLst/>
          </a:prstGeom>
          <a:noFill/>
        </p:spPr>
        <p:txBody>
          <a:bodyPr wrap="square" lIns="371825" rIns="371825" tIns="63742" bIns="63742">
            <a:spAutoFit/>
          </a:bodyPr>
          <a:lstStyle/>
          <a:p>
            <a:pPr algn="ctr">
              <a:lnSpc>
                <a:spcPts val="3032"/>
              </a:lnSpc>
              <a:spcBef>
                <a:spcPts val="0"/>
              </a:spcBef>
              <a:spcAft>
                <a:spcPts val="0"/>
              </a:spcAft>
            </a:pPr>
            <a:r>
              <a:rPr sz="4182" b="0">
                <a:solidFill>
                  <a:srgbClr val="1C1C1C"/>
                </a:solidFill>
                <a:latin typeface="Cambria Math"/>
              </a:rPr>
              <a:t>                </a:t>
            </a:r>
            <a:r>
              <a:rPr sz="2091" b="0" i="1">
                <a:solidFill>
                  <a:srgbClr val="555555"/>
                </a:solidFill>
                <a:latin typeface="Cambria Math"/>
              </a:rPr>
              <a:t>multi-step reasoning = finding an s–t path in the hidden graph G*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603858" y="19006433"/>
            <a:ext cx="8420737" cy="8480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3622902" y="24366444"/>
            <a:ext cx="8401121" cy="848013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3622902" y="25786644"/>
            <a:ext cx="8401121" cy="4013692"/>
          </a:xfrm>
          <a:prstGeom prst="rect">
            <a:avLst/>
          </a:prstGeom>
          <a:noFill/>
        </p:spPr>
        <p:txBody>
          <a:bodyPr wrap="square" lIns="344282" rIns="344282" tIns="147551" bIns="147551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FFFFFF"/>
                </a:solidFill>
                <a:latin typeface="Arial"/>
              </a:rPr>
              <a:t>Efficient RAG needs rich parametric knowledge: query complexity drops from super-constant to constant past the connectivity threshold.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383048" y="27781024"/>
            <a:ext cx="10729788" cy="1639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111111"/>
                </a:solidFill>
                <a:latin typeface="Arial"/>
              </a:rPr>
              <a:t>RAG ≈ retrieval, tool use ≈ verification.</a:t>
            </a:r>
            <a:r>
              <a:rPr sz="3872" b="0">
                <a:solidFill>
                  <a:srgbClr val="1C1C1C"/>
                </a:solidFill>
                <a:latin typeface="Arial"/>
              </a:rPr>
              <a:t> Augmentation is exactly an oracle query.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087161" y="5567125"/>
            <a:ext cx="822965" cy="400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46"/>
              </a:lnSpc>
              <a:spcBef>
                <a:spcPts val="0"/>
              </a:spcBef>
              <a:spcAft>
                <a:spcPts val="0"/>
              </a:spcAft>
            </a:pPr>
            <a:r>
              <a:rPr sz="2112" b="1" spc="84">
                <a:solidFill>
                  <a:srgbClr val="1B2331"/>
                </a:solidFill>
                <a:latin typeface="Arial"/>
              </a:rPr>
              <a:t>Paper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2819228" y="7173016"/>
            <a:ext cx="3692915" cy="6825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γ-admissibility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0935485" y="7285799"/>
            <a:ext cx="1519495" cy="423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Definition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2819228" y="13328606"/>
            <a:ext cx="5228652" cy="682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BiRAG &amp; guarantees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0525723" y="13441389"/>
            <a:ext cx="1941550" cy="423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Theorem 4.3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993453" y="14371773"/>
            <a:ext cx="2111814" cy="16960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1618"/>
              </a:lnSpc>
              <a:spcBef>
                <a:spcPts val="0"/>
              </a:spcBef>
              <a:spcAft>
                <a:spcPts val="0"/>
              </a:spcAft>
            </a:pPr>
            <a:r>
              <a:rPr sz="11618" b="1">
                <a:solidFill>
                  <a:srgbClr val="7D2860"/>
                </a:solidFill>
                <a:latin typeface="Arial"/>
              </a:rPr>
              <a:t>2/γ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4240306" y="15143101"/>
            <a:ext cx="7220009" cy="7378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53"/>
              </a:lnSpc>
              <a:spcBef>
                <a:spcPts val="0"/>
              </a:spcBef>
              <a:spcAft>
                <a:spcPts val="0"/>
              </a:spcAft>
            </a:pPr>
            <a:r>
              <a:rPr sz="3485" b="0">
                <a:solidFill>
                  <a:srgbClr val="555555"/>
                </a:solidFill>
                <a:latin typeface="Arial"/>
              </a:rPr>
              <a:t>expected queries to find an s–t path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903219" y="15146522"/>
            <a:ext cx="7598236" cy="12049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128"/>
              </a:lnSpc>
              <a:spcBef>
                <a:spcPts val="0"/>
              </a:spcBef>
              <a:spcAft>
                <a:spcPts val="0"/>
              </a:spcAft>
            </a:pPr>
            <a:r>
              <a:rPr sz="3175" b="0" i="1">
                <a:solidFill>
                  <a:srgbClr val="555555"/>
                </a:solidFill>
                <a:latin typeface="Arial"/>
              </a:rPr>
              <a:t>BiRAG (Algorithm 1): retrieve from both s and t.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208824" y="17017855"/>
            <a:ext cx="5168425" cy="6825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Hidden-graph model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9378050" y="17130638"/>
            <a:ext cx="1464936" cy="423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the setup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14121" y="18606932"/>
            <a:ext cx="8421067" cy="2458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Efficient RAG seems to require</a:t>
            </a:r>
            <a:r>
              <a:rPr sz="3872" b="0">
                <a:solidFill>
                  <a:srgbClr val="1C1C1C"/>
                </a:solidFill>
                <a:latin typeface="Arial"/>
              </a:rPr>
              <a:t> rich parametric knowledge — but the conjecture lacks a formal lens.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382731" y="19433311"/>
            <a:ext cx="10730114" cy="1639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G ⊆ G*</a:t>
            </a:r>
            <a:r>
              <a:rPr sz="3872" b="0">
                <a:solidFill>
                  <a:srgbClr val="1C1C1C"/>
                </a:solidFill>
                <a:latin typeface="Arial"/>
              </a:rPr>
              <a:t> — pre-training knowledge is a partial, possibly noisy subgraph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14121" y="20917045"/>
            <a:ext cx="8421067" cy="4098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A graph-theoretic model shows</a:t>
            </a:r>
            <a:r>
              <a:rPr sz="3872" b="0">
                <a:solidFill>
                  <a:srgbClr val="1C1C1C"/>
                </a:solidFill>
                <a:latin typeface="Arial"/>
              </a:rPr>
              <a:t> when prior knowledge makes test-time augmentation cheap, and when no bounded strategy can succeed.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382731" y="21030720"/>
            <a:ext cx="10730114" cy="16392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Grounded output</a:t>
            </a:r>
            <a:r>
              <a:rPr sz="3872" b="0">
                <a:solidFill>
                  <a:srgbClr val="1C1C1C"/>
                </a:solidFill>
                <a:latin typeface="Arial"/>
              </a:rPr>
              <a:t> — the algorithm emits only edges it has explicitly observed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1993136" y="22258981"/>
            <a:ext cx="10730114" cy="24588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Bidirectional retrieval</a:t>
            </a:r>
            <a:r>
              <a:rPr sz="3872" b="0">
                <a:solidFill>
                  <a:srgbClr val="1C1C1C"/>
                </a:solidFill>
                <a:latin typeface="Arial"/>
              </a:rPr>
              <a:t> — augment from both s and t, then connect through the component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208824" y="23550925"/>
            <a:ext cx="4628518" cy="6825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Two query oracles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7280431" y="23663707"/>
            <a:ext cx="3625483" cy="42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test-time augmentation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290397" y="24395308"/>
            <a:ext cx="9795218" cy="1744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21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111111"/>
                </a:solidFill>
                <a:latin typeface="Arial"/>
              </a:rPr>
              <a:t>Retrieval oracle</a:t>
            </a:r>
            <a:r>
              <a:rPr sz="3872" b="0">
                <a:solidFill>
                  <a:srgbClr val="1C1C1C"/>
                </a:solidFill>
                <a:latin typeface="Arial"/>
              </a:rPr>
              <a:t> — returns a uniform random neighbor of a queried vertex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1993136" y="24569095"/>
            <a:ext cx="10730114" cy="24588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Robustness</a:t>
            </a:r>
            <a:r>
              <a:rPr sz="3872" b="0">
                <a:solidFill>
                  <a:srgbClr val="1C1C1C"/>
                </a:solidFill>
                <a:latin typeface="Arial"/>
              </a:rPr>
              <a:t> — K edge-disjoint prior routes certify an internally K-connected path even when K−1 edge types are distrusted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290397" y="26206977"/>
            <a:ext cx="9795218" cy="17442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21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111111"/>
                </a:solidFill>
                <a:latin typeface="Arial"/>
              </a:rPr>
              <a:t>Verifier oracle</a:t>
            </a:r>
            <a:r>
              <a:rPr sz="3872" b="0">
                <a:solidFill>
                  <a:srgbClr val="1C1C1C"/>
                </a:solidFill>
                <a:latin typeface="Arial"/>
              </a:rPr>
              <a:t> — answers whether a candidate edge exists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993136" y="26879209"/>
            <a:ext cx="10730114" cy="25596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Noisy priors</a:t>
            </a:r>
            <a:r>
              <a:rPr sz="3872" b="0">
                <a:solidFill>
                  <a:srgbClr val="1C1C1C"/>
                </a:solidFill>
                <a:latin typeface="Arial"/>
              </a:rPr>
              <a:t> — generate-then-verify needs O(c/r</a:t>
            </a:r>
            <a:r>
              <a:rPr sz="5421" b="0" baseline="30000">
                <a:solidFill>
                  <a:srgbClr val="1C1C1C"/>
                </a:solidFill>
                <a:latin typeface="Arial"/>
              </a:rPr>
              <a:t>c</a:t>
            </a:r>
            <a:r>
              <a:rPr sz="3872" b="0">
                <a:solidFill>
                  <a:srgbClr val="1C1C1C"/>
                </a:solidFill>
                <a:latin typeface="Arial"/>
              </a:rPr>
              <a:t>) verifier queries for c-hop paths at per-edge reliability 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416911" y="27133341"/>
            <a:ext cx="7591493" cy="24098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128"/>
              </a:lnSpc>
              <a:spcBef>
                <a:spcPts val="0"/>
              </a:spcBef>
              <a:spcAft>
                <a:spcPts val="0"/>
              </a:spcAft>
            </a:pPr>
            <a:r>
              <a:rPr sz="3175" b="0" i="1">
                <a:solidFill>
                  <a:srgbClr val="555555"/>
                </a:solidFill>
                <a:latin typeface="Arial"/>
              </a:rPr>
              <a:t>Prior graph G ⊆ G*: a query asks for an s–t path — dotted edges outside G must be queried; some prior edges may be noisy.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836711" y="20366672"/>
            <a:ext cx="3890149" cy="1464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033"/>
              </a:lnSpc>
              <a:spcBef>
                <a:spcPts val="0"/>
              </a:spcBef>
              <a:spcAft>
                <a:spcPts val="0"/>
              </a:spcAft>
            </a:pPr>
            <a:r>
              <a:rPr sz="10561" b="1" spc="-211">
                <a:solidFill>
                  <a:srgbClr val="7D2860"/>
                </a:solidFill>
                <a:latin typeface="Arial"/>
              </a:rPr>
              <a:t>O(1)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836711" y="21662631"/>
            <a:ext cx="3890149" cy="1130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872"/>
              </a:lnSpc>
              <a:spcBef>
                <a:spcPts val="0"/>
              </a:spcBef>
              <a:spcAft>
                <a:spcPts val="0"/>
              </a:spcAft>
            </a:pPr>
            <a:r>
              <a:rPr sz="3520" b="1">
                <a:solidFill>
                  <a:srgbClr val="1C1C1C"/>
                </a:solidFill>
                <a:latin typeface="Arial"/>
              </a:rPr>
              <a:t>expected queries, dense prior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836711" y="22645835"/>
            <a:ext cx="3890149" cy="4431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36"/>
              </a:lnSpc>
              <a:spcBef>
                <a:spcPts val="0"/>
              </a:spcBef>
              <a:spcAft>
                <a:spcPts val="0"/>
              </a:spcAft>
            </a:pPr>
            <a:r>
              <a:rPr sz="2640" b="0" i="1">
                <a:solidFill>
                  <a:srgbClr val="555555"/>
                </a:solidFill>
                <a:latin typeface="Arial"/>
              </a:rPr>
              <a:t>vs Ω(√n)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603858" y="8469870"/>
            <a:ext cx="5955064" cy="1280575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3916"/>
              </a:lnSpc>
              <a:spcBef>
                <a:spcPts val="0"/>
              </a:spcBef>
              <a:spcAft>
                <a:spcPts val="0"/>
              </a:spcAft>
            </a:pPr>
            <a:r>
              <a:rPr sz="2701" b="1" spc="135">
                <a:solidFill>
                  <a:srgbClr val="7D2860"/>
                </a:solidFill>
                <a:latin typeface="Arial"/>
              </a:rPr>
              <a:t>PRIOR REGIME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385474" y="8469870"/>
            <a:ext cx="2465672" cy="1280575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3916"/>
              </a:lnSpc>
              <a:spcBef>
                <a:spcPts val="0"/>
              </a:spcBef>
              <a:spcAft>
                <a:spcPts val="0"/>
              </a:spcAft>
            </a:pPr>
            <a:r>
              <a:rPr sz="2701" b="1" spc="135">
                <a:solidFill>
                  <a:srgbClr val="7D2860"/>
                </a:solidFill>
                <a:latin typeface="Arial"/>
              </a:rPr>
              <a:t>QUERY COST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3603858" y="9583414"/>
            <a:ext cx="5955064" cy="1666938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1C1C1C"/>
                </a:solidFill>
                <a:latin typeface="Arial"/>
              </a:rPr>
              <a:t>Sparse prior (disconnected)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9385474" y="9583414"/>
            <a:ext cx="2465672" cy="1666938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0">
                <a:solidFill>
                  <a:srgbClr val="1C1C1C"/>
                </a:solidFill>
                <a:latin typeface="Arial"/>
              </a:rPr>
              <a:t>Ω(√n)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603858" y="11032926"/>
            <a:ext cx="5955064" cy="904650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7D2860"/>
                </a:solidFill>
                <a:latin typeface="Arial"/>
              </a:rPr>
              <a:t>Dense prior + BiRAG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9385474" y="11032926"/>
            <a:ext cx="2465672" cy="904650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7D2860"/>
                </a:solidFill>
                <a:latin typeface="Arial"/>
              </a:rPr>
              <a:t>O(1)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1993453" y="16102647"/>
            <a:ext cx="8217068" cy="766394"/>
          </a:xfrm>
          <a:prstGeom prst="rect">
            <a:avLst/>
          </a:prstGeom>
          <a:noFill/>
        </p:spPr>
        <p:txBody>
          <a:bodyPr wrap="square" lIns="175214" rIns="175214" tIns="77095" bIns="77095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2759" b="1" spc="137">
                <a:solidFill>
                  <a:srgbClr val="555555"/>
                </a:solidFill>
                <a:latin typeface="Arial"/>
              </a:rPr>
              <a:t>PRIOR REGIME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9971189" y="16102647"/>
            <a:ext cx="2512720" cy="766394"/>
          </a:xfrm>
          <a:prstGeom prst="rect">
            <a:avLst/>
          </a:prstGeom>
          <a:noFill/>
        </p:spPr>
        <p:txBody>
          <a:bodyPr wrap="square" lIns="175214" rIns="175214" tIns="77095" bIns="77095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2759" b="1" spc="137">
                <a:solidFill>
                  <a:srgbClr val="555555"/>
                </a:solidFill>
                <a:latin typeface="Arial"/>
              </a:rPr>
              <a:t>QUERIES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1993453" y="16769077"/>
            <a:ext cx="8217068" cy="1025796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Sparse random (Erdős–Rényi)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9971189" y="16769077"/>
            <a:ext cx="2512720" cy="1025796"/>
          </a:xfrm>
          <a:prstGeom prst="rect">
            <a:avLst/>
          </a:prstGeom>
          <a:noFill/>
        </p:spPr>
        <p:txBody>
          <a:bodyPr wrap="non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Ω(√n)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1993453" y="17661074"/>
            <a:ext cx="8217068" cy="1025794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Single missing bridge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9971189" y="17661074"/>
            <a:ext cx="2512720" cy="1025794"/>
          </a:xfrm>
          <a:prstGeom prst="rect">
            <a:avLst/>
          </a:prstGeom>
          <a:noFill/>
        </p:spPr>
        <p:txBody>
          <a:bodyPr wrap="non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Θ(n)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993453" y="18553069"/>
            <a:ext cx="8217068" cy="1025796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Empty prior (complete graph)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9971189" y="18553069"/>
            <a:ext cx="2512720" cy="1025796"/>
          </a:xfrm>
          <a:prstGeom prst="rect">
            <a:avLst/>
          </a:prstGeom>
          <a:noFill/>
        </p:spPr>
        <p:txBody>
          <a:bodyPr wrap="non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Θ(√n)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1993453" y="19445066"/>
            <a:ext cx="8217068" cy="1025794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1">
                <a:solidFill>
                  <a:srgbClr val="1C1C1C"/>
                </a:solidFill>
                <a:latin typeface="Arial"/>
              </a:rPr>
              <a:t>Dense prior / giant component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9971189" y="19445066"/>
            <a:ext cx="2512720" cy="1025794"/>
          </a:xfrm>
          <a:prstGeom prst="rect">
            <a:avLst/>
          </a:prstGeom>
          <a:noFill/>
        </p:spPr>
        <p:txBody>
          <a:bodyPr wrap="non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1">
                <a:solidFill>
                  <a:srgbClr val="1C1C1C"/>
                </a:solidFill>
                <a:latin typeface="Arial"/>
              </a:rPr>
              <a:t>O(1)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8606122" y="20276356"/>
            <a:ext cx="1364401" cy="5910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Ω(√n)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1993453" y="20337061"/>
            <a:ext cx="8217068" cy="1025795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Internally K-connected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9971189" y="20337061"/>
            <a:ext cx="2512720" cy="1025795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O(log K)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0102786" y="20390626"/>
            <a:ext cx="1487004" cy="9250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sparse prior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1993453" y="21229057"/>
            <a:ext cx="8217068" cy="1025796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M-terminal Steiner tree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9971189" y="21229057"/>
            <a:ext cx="2512720" cy="1025796"/>
          </a:xfrm>
          <a:prstGeom prst="rect">
            <a:avLst/>
          </a:prstGeom>
          <a:noFill/>
        </p:spPr>
        <p:txBody>
          <a:bodyPr wrap="non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M/γ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8606122" y="21440786"/>
            <a:ext cx="1066481" cy="5910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Θ(n)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9813543" y="21555056"/>
            <a:ext cx="1784925" cy="9250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missing bridge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8606122" y="22605216"/>
            <a:ext cx="720131" cy="5910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2/γ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9477280" y="22719487"/>
            <a:ext cx="1055140" cy="4625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BiRAG</a:t>
            </a:r>
          </a:p>
        </p:txBody>
      </p:sp>
      <p:pic>
        <p:nvPicPr>
          <p:cNvPr id="152" name="Picture 151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29929" y="18010879"/>
            <a:ext cx="2123508" cy="752282"/>
          </a:xfrm>
          <a:prstGeom prst="rect">
            <a:avLst/>
          </a:prstGeom>
        </p:spPr>
      </p:pic>
      <p:pic>
        <p:nvPicPr>
          <p:cNvPr id="153" name="Picture 152" descr="eq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12902" y="8775335"/>
            <a:ext cx="6378409" cy="6951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