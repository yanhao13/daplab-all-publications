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6641" y="596647"/>
            <a:ext cx="41600636" cy="5643605"/>
          </a:xfrm>
          <a:prstGeom prst="roundRect">
            <a:avLst>
              <a:gd name="adj" fmla="val 2700"/>
            </a:avLst>
          </a:prstGeom>
          <a:solidFill>
            <a:srgbClr val="F6ECE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6641" y="25687103"/>
            <a:ext cx="10822420" cy="3978941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6641" y="6671892"/>
            <a:ext cx="10822420" cy="5685265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76139" y="6671892"/>
            <a:ext cx="9032201" cy="5732580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365416" y="6671892"/>
            <a:ext cx="8949920" cy="6943879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772415" y="6671892"/>
            <a:ext cx="11424863" cy="8481922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6641" y="12712616"/>
            <a:ext cx="10822420" cy="5787783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76139" y="12759931"/>
            <a:ext cx="9032201" cy="5877949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365416" y="13971230"/>
            <a:ext cx="8949920" cy="11258791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72415" y="15509273"/>
            <a:ext cx="11424863" cy="6338751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6641" y="18855857"/>
            <a:ext cx="10822420" cy="6374164"/>
          </a:xfrm>
          <a:prstGeom prst="rect">
            <a:avLst/>
          </a:prstGeom>
          <a:solidFill>
            <a:srgbClr val="F7F0E8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6641" y="18855857"/>
            <a:ext cx="10822420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80954" y="18855857"/>
            <a:ext cx="38107" cy="637416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6641" y="25191914"/>
            <a:ext cx="10822420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6641" y="18855857"/>
            <a:ext cx="57160" cy="6374164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76139" y="18993340"/>
            <a:ext cx="9032201" cy="6236681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olumbia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8191" y="1844137"/>
            <a:ext cx="1139720" cy="1485450"/>
          </a:xfrm>
          <a:prstGeom prst="rect">
            <a:avLst/>
          </a:prstGeom>
        </p:spPr>
      </p:pic>
      <p:pic>
        <p:nvPicPr>
          <p:cNvPr id="19" name="Picture 18" descr="university-of-california-san-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1743" y="1844107"/>
            <a:ext cx="7670786" cy="1485510"/>
          </a:xfrm>
          <a:prstGeom prst="rect">
            <a:avLst/>
          </a:prstGeom>
        </p:spPr>
      </p:pic>
      <p:pic>
        <p:nvPicPr>
          <p:cNvPr id="20" name="Picture 19" descr="walm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1169" y="3507282"/>
            <a:ext cx="7818384" cy="148550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77539" y="10439255"/>
            <a:ext cx="10060624" cy="1536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7539" y="10439255"/>
            <a:ext cx="85740" cy="1536999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746314" y="11058370"/>
            <a:ext cx="8188124" cy="2176499"/>
          </a:xfrm>
          <a:prstGeom prst="roundRect">
            <a:avLst>
              <a:gd name="adj" fmla="val 6828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153313" y="11421268"/>
            <a:ext cx="10663069" cy="1382854"/>
          </a:xfrm>
          <a:prstGeom prst="roundRect">
            <a:avLst>
              <a:gd name="adj" fmla="val 50000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153313" y="13004245"/>
            <a:ext cx="10663069" cy="159785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153313" y="13004245"/>
            <a:ext cx="10663069" cy="12385"/>
          </a:xfrm>
          <a:prstGeom prst="rect">
            <a:avLst/>
          </a:prstGeom>
          <a:solidFill>
            <a:srgbClr val="DFC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153313" y="17070973"/>
            <a:ext cx="10663069" cy="4396149"/>
          </a:xfrm>
          <a:prstGeom prst="roundRect">
            <a:avLst>
              <a:gd name="adj" fmla="val 1733"/>
            </a:avLst>
          </a:prstGeom>
          <a:gradFill rotWithShape="1" flip="none">
            <a:gsLst>
              <a:gs pos="0">
                <a:srgbClr val="F4EAE4"/>
              </a:gs>
              <a:gs pos="100000">
                <a:srgbClr val="F9F5F1"/>
              </a:gs>
            </a:gsLst>
            <a:lin ang="5400000" scaled="0"/>
          </a:gradFill>
          <a:ln w="9526">
            <a:solidFill>
              <a:srgbClr val="E8D4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746314" y="23114674"/>
            <a:ext cx="8188124" cy="1655735"/>
          </a:xfrm>
          <a:prstGeom prst="roundRect">
            <a:avLst>
              <a:gd name="adj" fmla="val 8975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6584" y="23633206"/>
            <a:ext cx="10041580" cy="1187940"/>
          </a:xfrm>
          <a:prstGeom prst="roundRect">
            <a:avLst>
              <a:gd name="adj" fmla="val 1251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746314" y="7052794"/>
            <a:ext cx="467792" cy="467796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57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257039" y="8419281"/>
            <a:ext cx="8270402" cy="2603229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age3_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7039" y="8425758"/>
            <a:ext cx="8270402" cy="259027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2257039" y="13140833"/>
            <a:ext cx="467790" cy="467796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57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746314" y="14352134"/>
            <a:ext cx="467792" cy="467795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57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257039" y="17034817"/>
            <a:ext cx="5714962" cy="555433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86" b="1">
                <a:solidFill>
                  <a:srgbClr val="A2521C"/>
                </a:solidFill>
                <a:latin typeface="Georgia"/>
              </a:rPr>
              <a:t>char / word / sentence perturb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083294" y="17034817"/>
            <a:ext cx="1756893" cy="555433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86" b="1">
                <a:solidFill>
                  <a:srgbClr val="A2521C"/>
                </a:solidFill>
                <a:latin typeface="Georgia"/>
              </a:rPr>
              <a:t>persona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93094" y="17309037"/>
            <a:ext cx="4459931" cy="39709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093094" y="17309037"/>
            <a:ext cx="12385" cy="3970908"/>
          </a:xfrm>
          <a:prstGeom prst="rect">
            <a:avLst/>
          </a:prstGeom>
          <a:solidFill>
            <a:srgbClr val="E8D4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77539" y="17564063"/>
            <a:ext cx="1216048" cy="555432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86" b="1">
                <a:solidFill>
                  <a:srgbClr val="A2521C"/>
                </a:solidFill>
                <a:latin typeface="Georgia"/>
              </a:rPr>
              <a:t>PAIR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04880" y="17564063"/>
            <a:ext cx="1046727" cy="555432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86" b="1">
                <a:solidFill>
                  <a:srgbClr val="A2521C"/>
                </a:solidFill>
                <a:latin typeface="Georgia"/>
              </a:rPr>
              <a:t>TAP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62900" y="17564063"/>
            <a:ext cx="1316331" cy="555432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86" b="1">
                <a:solidFill>
                  <a:srgbClr val="A2521C"/>
                </a:solidFill>
                <a:latin typeface="Georgia"/>
              </a:rPr>
              <a:t>GEPA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0525" y="17564063"/>
            <a:ext cx="1083626" cy="555432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86" b="1">
                <a:solidFill>
                  <a:srgbClr val="A2521C"/>
                </a:solidFill>
                <a:latin typeface="Georgia"/>
              </a:rPr>
              <a:t>ACE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5445" y="17564063"/>
            <a:ext cx="2313808" cy="555432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86" b="1">
                <a:solidFill>
                  <a:srgbClr val="A2521C"/>
                </a:solidFill>
                <a:latin typeface="Georgia"/>
              </a:rPr>
              <a:t>PQR (ours)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257039" y="17701544"/>
            <a:ext cx="1133470" cy="555434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86" b="1">
                <a:solidFill>
                  <a:srgbClr val="A2521C"/>
                </a:solidFill>
                <a:latin typeface="Georgia"/>
              </a:rPr>
              <a:t>tone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501802" y="17701544"/>
            <a:ext cx="1848249" cy="555434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86" b="1">
                <a:solidFill>
                  <a:srgbClr val="A2521C"/>
                </a:solidFill>
                <a:latin typeface="Georgia"/>
              </a:rPr>
              <a:t>scenario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257039" y="19588796"/>
            <a:ext cx="467790" cy="467797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57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98941" y="26081993"/>
            <a:ext cx="2539222" cy="2539248"/>
          </a:xfrm>
          <a:prstGeom prst="roundRect">
            <a:avLst>
              <a:gd name="adj" fmla="val 6503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5964" y="26209017"/>
            <a:ext cx="2285176" cy="2285200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9002441" y="28773602"/>
            <a:ext cx="1532223" cy="497554"/>
          </a:xfrm>
          <a:prstGeom prst="roundRect">
            <a:avLst>
              <a:gd name="adj" fmla="val 50000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1">
                <a:solidFill>
                  <a:srgbClr val="A2521C"/>
                </a:solidFill>
                <a:latin typeface="Georgia"/>
              </a:rPr>
              <a:t>Paper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153313" y="10623009"/>
            <a:ext cx="10663069" cy="593375"/>
          </a:xfrm>
          <a:prstGeom prst="rect">
            <a:avLst/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746314" y="17162032"/>
            <a:ext cx="501491" cy="501497"/>
          </a:xfrm>
          <a:prstGeom prst="roundRect">
            <a:avLst>
              <a:gd name="adj" fmla="val 49391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32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746314" y="19047201"/>
            <a:ext cx="501491" cy="501496"/>
          </a:xfrm>
          <a:prstGeom prst="roundRect">
            <a:avLst>
              <a:gd name="adj" fmla="val 49391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32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257039" y="20407589"/>
            <a:ext cx="501491" cy="501496"/>
          </a:xfrm>
          <a:prstGeom prst="roundRect">
            <a:avLst>
              <a:gd name="adj" fmla="val 49391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32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746314" y="21452243"/>
            <a:ext cx="501491" cy="501497"/>
          </a:xfrm>
          <a:prstGeom prst="roundRect">
            <a:avLst>
              <a:gd name="adj" fmla="val 49391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32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257039" y="21772884"/>
            <a:ext cx="501491" cy="501497"/>
          </a:xfrm>
          <a:prstGeom prst="roundRect">
            <a:avLst>
              <a:gd name="adj" fmla="val 49391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32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257039" y="23667578"/>
            <a:ext cx="501491" cy="501496"/>
          </a:xfrm>
          <a:prstGeom prst="roundRect">
            <a:avLst>
              <a:gd name="adj" fmla="val 49391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32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153313" y="8371668"/>
            <a:ext cx="3422133" cy="471218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1153313" y="8833359"/>
            <a:ext cx="3422133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575446" y="8371668"/>
            <a:ext cx="2319313" cy="471218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575446" y="8833359"/>
            <a:ext cx="2319313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894759" y="8371668"/>
            <a:ext cx="2001949" cy="471218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894759" y="8833359"/>
            <a:ext cx="200194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896708" y="8371668"/>
            <a:ext cx="2919674" cy="471218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8896708" y="8833359"/>
            <a:ext cx="2919674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1153313" y="8842886"/>
            <a:ext cx="3422133" cy="593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1153313" y="9426734"/>
            <a:ext cx="3422133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575446" y="8842886"/>
            <a:ext cx="2319313" cy="593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575446" y="9426734"/>
            <a:ext cx="2319313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894759" y="8842886"/>
            <a:ext cx="2001949" cy="593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894759" y="9426734"/>
            <a:ext cx="200194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8896708" y="8842886"/>
            <a:ext cx="2919674" cy="593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8896708" y="9426734"/>
            <a:ext cx="2919674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1153313" y="9436261"/>
            <a:ext cx="3422133" cy="5933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1153313" y="10020108"/>
            <a:ext cx="3422133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4575446" y="9436261"/>
            <a:ext cx="2319313" cy="5933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4575446" y="10020108"/>
            <a:ext cx="2319313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894759" y="9436261"/>
            <a:ext cx="2001949" cy="5933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6894759" y="10020108"/>
            <a:ext cx="200194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8896708" y="9436261"/>
            <a:ext cx="2919674" cy="5933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8896708" y="10020108"/>
            <a:ext cx="2919674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1153313" y="10029635"/>
            <a:ext cx="3422133" cy="5933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1153313" y="10613483"/>
            <a:ext cx="3422133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4575446" y="10029635"/>
            <a:ext cx="2319313" cy="5933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4575446" y="10613483"/>
            <a:ext cx="2319313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894759" y="10029635"/>
            <a:ext cx="2001949" cy="5933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894759" y="10613483"/>
            <a:ext cx="2001949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8896708" y="10029635"/>
            <a:ext cx="2919674" cy="5933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8896708" y="10613483"/>
            <a:ext cx="2919674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1153313" y="10623009"/>
            <a:ext cx="3422133" cy="593375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1153313" y="11206857"/>
            <a:ext cx="3422133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575446" y="10623009"/>
            <a:ext cx="2319313" cy="593375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4575446" y="11206857"/>
            <a:ext cx="2319313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894759" y="10623009"/>
            <a:ext cx="2001949" cy="593375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6894759" y="11206857"/>
            <a:ext cx="200194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8896708" y="10623009"/>
            <a:ext cx="2919674" cy="593375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8896708" y="11206857"/>
            <a:ext cx="2919674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206078" y="952107"/>
            <a:ext cx="9964907" cy="56725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78"/>
              </a:lnSpc>
              <a:spcBef>
                <a:spcPts val="0"/>
              </a:spcBef>
              <a:spcAft>
                <a:spcPts val="0"/>
              </a:spcAft>
            </a:pPr>
            <a:r>
              <a:rPr sz="6401" b="1" spc="64">
                <a:solidFill>
                  <a:srgbClr val="A2521C"/>
                </a:solidFill>
                <a:latin typeface="Georgia"/>
              </a:rPr>
              <a:t>Preprint 2026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388560" y="952107"/>
            <a:ext cx="20473933" cy="4047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334"/>
              </a:lnSpc>
              <a:spcBef>
                <a:spcPts val="0"/>
              </a:spcBef>
              <a:spcAft>
                <a:spcPts val="0"/>
              </a:spcAft>
            </a:pPr>
            <a:r>
              <a:rPr sz="7576" b="1" spc="-84">
                <a:solidFill>
                  <a:srgbClr val="A2521C"/>
                </a:solidFill>
                <a:latin typeface="Georgia"/>
              </a:rPr>
              <a:t>PQR: Generating Diverse &amp;</a:t>
            </a:r>
          </a:p>
          <a:p>
            <a:pPr algn="ctr">
              <a:lnSpc>
                <a:spcPts val="8334"/>
              </a:lnSpc>
              <a:spcBef>
                <a:spcPts val="0"/>
              </a:spcBef>
              <a:spcAft>
                <a:spcPts val="0"/>
              </a:spcAft>
            </a:pPr>
            <a:r>
              <a:rPr sz="7576" b="1" spc="-84">
                <a:solidFill>
                  <a:srgbClr val="A2521C"/>
                </a:solidFill>
                <a:latin typeface="Georgia"/>
              </a:rPr>
              <a:t>Realistic User Queries that Elicit</a:t>
            </a:r>
          </a:p>
          <a:p>
            <a:pPr algn="ctr">
              <a:lnSpc>
                <a:spcPts val="8334"/>
              </a:lnSpc>
              <a:spcBef>
                <a:spcPts val="0"/>
              </a:spcBef>
              <a:spcAft>
                <a:spcPts val="0"/>
              </a:spcAft>
            </a:pPr>
            <a:r>
              <a:rPr sz="7576" b="1" spc="-84">
                <a:solidFill>
                  <a:srgbClr val="A2521C"/>
                </a:solidFill>
                <a:latin typeface="Georgia"/>
              </a:rPr>
              <a:t>QA Agent Failures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388560" y="4684504"/>
            <a:ext cx="20473933" cy="759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1B2331"/>
                </a:solidFill>
                <a:latin typeface="Georgia"/>
              </a:rPr>
              <a:t>Yunan Lu</a:t>
            </a:r>
            <a:r>
              <a:rPr sz="5600" b="0" baseline="30000">
                <a:solidFill>
                  <a:srgbClr val="1B2331"/>
                </a:solidFill>
                <a:latin typeface="Georgia"/>
              </a:rPr>
              <a:t>1</a:t>
            </a:r>
            <a:r>
              <a:rPr sz="4000" b="0">
                <a:solidFill>
                  <a:srgbClr val="1B2331"/>
                </a:solidFill>
                <a:latin typeface="Georgia"/>
              </a:rPr>
              <a:t>*, Luigi Liu</a:t>
            </a:r>
            <a:r>
              <a:rPr sz="5600" b="0" baseline="30000">
                <a:solidFill>
                  <a:srgbClr val="1B2331"/>
                </a:solidFill>
                <a:latin typeface="Georgia"/>
              </a:rPr>
              <a:t>1</a:t>
            </a:r>
            <a:r>
              <a:rPr sz="4000" b="0">
                <a:solidFill>
                  <a:srgbClr val="1B2331"/>
                </a:solidFill>
                <a:latin typeface="Georgia"/>
              </a:rPr>
              <a:t>*, Omar Yahia</a:t>
            </a:r>
            <a:r>
              <a:rPr sz="5600" b="0" baseline="30000">
                <a:solidFill>
                  <a:srgbClr val="1B2331"/>
                </a:solidFill>
                <a:latin typeface="Georgia"/>
              </a:rPr>
              <a:t>2</a:t>
            </a:r>
            <a:r>
              <a:rPr sz="4000" b="0">
                <a:solidFill>
                  <a:srgbClr val="1B2331"/>
                </a:solidFill>
                <a:latin typeface="Georgia"/>
              </a:rPr>
              <a:t>*, Arpit Sharma</a:t>
            </a:r>
            <a:r>
              <a:rPr sz="5600" b="0" baseline="30000">
                <a:solidFill>
                  <a:srgbClr val="1B2331"/>
                </a:solidFill>
                <a:latin typeface="Georgia"/>
              </a:rPr>
              <a:t>3</a:t>
            </a:r>
            <a:r>
              <a:rPr sz="4000" b="0">
                <a:solidFill>
                  <a:srgbClr val="1B2331"/>
                </a:solidFill>
                <a:latin typeface="Georgia"/>
              </a:rPr>
              <a:t>, Zhou Yu</a:t>
            </a:r>
            <a:r>
              <a:rPr sz="5600" b="0" baseline="30000">
                <a:solidFill>
                  <a:srgbClr val="1B2331"/>
                </a:solidFill>
                <a:latin typeface="Georgia"/>
              </a:rPr>
              <a:t>1,4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388560" y="5401373"/>
            <a:ext cx="20473933" cy="5559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808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Georgia"/>
              </a:rPr>
              <a:t>1</a:t>
            </a:r>
            <a:r>
              <a:rPr sz="2800" b="0" spc="56">
                <a:solidFill>
                  <a:srgbClr val="55617A"/>
                </a:solidFill>
                <a:latin typeface="Georgia"/>
              </a:rPr>
              <a:t>Columbia University   </a:t>
            </a:r>
            <a:r>
              <a:rPr sz="3920" b="0" spc="56" baseline="30000">
                <a:solidFill>
                  <a:srgbClr val="55617A"/>
                </a:solidFill>
                <a:latin typeface="Georgia"/>
              </a:rPr>
              <a:t>2</a:t>
            </a:r>
            <a:r>
              <a:rPr sz="2800" b="0" spc="56">
                <a:solidFill>
                  <a:srgbClr val="55617A"/>
                </a:solidFill>
                <a:latin typeface="Georgia"/>
              </a:rPr>
              <a:t>UC San Diego   </a:t>
            </a:r>
            <a:r>
              <a:rPr sz="3920" b="0" spc="56" baseline="30000">
                <a:solidFill>
                  <a:srgbClr val="55617A"/>
                </a:solidFill>
                <a:latin typeface="Georgia"/>
              </a:rPr>
              <a:t>3</a:t>
            </a:r>
            <a:r>
              <a:rPr sz="2800" b="0" spc="56">
                <a:solidFill>
                  <a:srgbClr val="55617A"/>
                </a:solidFill>
                <a:latin typeface="Georgia"/>
              </a:rPr>
              <a:t>Walmart   </a:t>
            </a:r>
            <a:r>
              <a:rPr sz="3920" b="0" spc="56" baseline="30000">
                <a:solidFill>
                  <a:srgbClr val="55617A"/>
                </a:solidFill>
                <a:latin typeface="Georgia"/>
              </a:rPr>
              <a:t>4</a:t>
            </a:r>
            <a:r>
              <a:rPr sz="2800" b="0" spc="56">
                <a:solidFill>
                  <a:srgbClr val="55617A"/>
                </a:solidFill>
                <a:latin typeface="Georgia"/>
              </a:rPr>
              <a:t>Arklex.ai   (*equal contribution)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77539" y="7052794"/>
            <a:ext cx="10362442" cy="963682"/>
          </a:xfrm>
          <a:prstGeom prst="rect">
            <a:avLst/>
          </a:prstGeom>
          <a:noFill/>
        </p:spPr>
        <p:txBody>
          <a:bodyPr wrap="square" lIns="0" rIns="4191746" tIns="0" bIns="0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 spc="60">
                <a:solidFill>
                  <a:srgbClr val="111111"/>
                </a:solidFill>
                <a:latin typeface="Georgia"/>
              </a:rPr>
              <a:t>PROBLEM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257039" y="7052794"/>
            <a:ext cx="8518514" cy="963682"/>
          </a:xfrm>
          <a:prstGeom prst="rect">
            <a:avLst/>
          </a:prstGeom>
          <a:noFill/>
        </p:spPr>
        <p:txBody>
          <a:bodyPr wrap="none" lIns="0" rIns="4191746" tIns="0" bIns="0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 spc="60">
                <a:solidFill>
                  <a:srgbClr val="111111"/>
                </a:solidFill>
                <a:latin typeface="Georgia"/>
              </a:rPr>
              <a:t>METHOD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1153313" y="7052794"/>
            <a:ext cx="10982961" cy="963682"/>
          </a:xfrm>
          <a:prstGeom prst="rect">
            <a:avLst/>
          </a:prstGeom>
          <a:noFill/>
        </p:spPr>
        <p:txBody>
          <a:bodyPr wrap="square" lIns="0" rIns="4191746" tIns="0" bIns="0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 spc="60">
                <a:solidFill>
                  <a:srgbClr val="111111"/>
                </a:solidFill>
                <a:latin typeface="Georgia"/>
              </a:rPr>
              <a:t>KEY RESULTS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746314" y="7657030"/>
            <a:ext cx="8433767" cy="1742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78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11111"/>
                </a:solidFill>
                <a:latin typeface="Georgia"/>
              </a:rPr>
              <a:t>Realism feedback</a:t>
            </a:r>
            <a:r>
              <a:rPr sz="2925" b="0">
                <a:solidFill>
                  <a:srgbClr val="1C1C1C"/>
                </a:solidFill>
                <a:latin typeface="Georgia"/>
              </a:rPr>
              <a:t> explains why generated queries appear unnatural and how to make future ones more human-like.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7539" y="8233591"/>
            <a:ext cx="10362442" cy="2322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78"/>
              </a:lnSpc>
              <a:spcBef>
                <a:spcPts val="0"/>
              </a:spcBef>
              <a:spcAft>
                <a:spcPts val="0"/>
              </a:spcAft>
            </a:pPr>
            <a:r>
              <a:rPr sz="2925" b="0">
                <a:solidFill>
                  <a:srgbClr val="1C1C1C"/>
                </a:solidFill>
                <a:latin typeface="Georgia"/>
              </a:rPr>
              <a:t>Evaluating LLM agents demands </a:t>
            </a:r>
            <a:r>
              <a:rPr sz="2925" b="1">
                <a:solidFill>
                  <a:srgbClr val="111111"/>
                </a:solidFill>
                <a:latin typeface="Georgia"/>
              </a:rPr>
              <a:t>costly human effort</a:t>
            </a:r>
            <a:r>
              <a:rPr sz="2925" b="0">
                <a:solidFill>
                  <a:srgbClr val="1C1C1C"/>
                </a:solidFill>
                <a:latin typeface="Georgia"/>
              </a:rPr>
              <a:t> to design realistic failure scenarios. Prior adversarial methods generate </a:t>
            </a:r>
            <a:r>
              <a:rPr sz="2925" b="1">
                <a:solidFill>
                  <a:srgbClr val="111111"/>
                </a:solidFill>
                <a:highlight>
                  <a:srgbClr val="ECECEC"/>
                </a:highlight>
                <a:latin typeface="Georgia"/>
              </a:rPr>
              <a:t>arbitrary, often gibberish</a:t>
            </a:r>
            <a:r>
              <a:rPr sz="2925" b="0">
                <a:solidFill>
                  <a:srgbClr val="1C1C1C"/>
                </a:solidFill>
                <a:latin typeface="Georgia"/>
              </a:rPr>
              <a:t> failure queries with no real user intent.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746314" y="9357699"/>
            <a:ext cx="8433767" cy="174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78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11111"/>
                </a:solidFill>
                <a:latin typeface="Georgia"/>
              </a:rPr>
              <a:t>Objective feedback</a:t>
            </a:r>
            <a:r>
              <a:rPr sz="2925" b="0">
                <a:solidFill>
                  <a:srgbClr val="1C1C1C"/>
                </a:solidFill>
                <a:latin typeface="Georgia"/>
              </a:rPr>
              <a:t> adds three complementary signals that diagnose agent behavior.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77539" y="10439255"/>
            <a:ext cx="10362442" cy="1767548"/>
          </a:xfrm>
          <a:prstGeom prst="rect">
            <a:avLst/>
          </a:prstGeom>
          <a:noFill/>
        </p:spPr>
        <p:txBody>
          <a:bodyPr wrap="square" lIns="260078" rIns="260078" tIns="44585" bIns="44585">
            <a:spAutoFit/>
          </a:bodyPr>
          <a:lstStyle/>
          <a:p>
            <a:pPr algn="l">
              <a:lnSpc>
                <a:spcPts val="3803"/>
              </a:lnSpc>
              <a:spcBef>
                <a:spcPts val="0"/>
              </a:spcBef>
              <a:spcAft>
                <a:spcPts val="0"/>
              </a:spcAft>
            </a:pPr>
            <a:r>
              <a:rPr sz="2925" b="0" i="1">
                <a:solidFill>
                  <a:srgbClr val="1C1C1C"/>
                </a:solidFill>
                <a:latin typeface="Georgia"/>
              </a:rPr>
              <a:t>Realistic user queries — not just adversarial noise — break agents too, yet prior work overlooks them.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746314" y="11058370"/>
            <a:ext cx="8433767" cy="2502973"/>
          </a:xfrm>
          <a:prstGeom prst="rect">
            <a:avLst/>
          </a:prstGeom>
          <a:noFill/>
        </p:spPr>
        <p:txBody>
          <a:bodyPr wrap="square" lIns="241501" rIns="241501" tIns="104032" bIns="104032">
            <a:spAutoFit/>
          </a:bodyPr>
          <a:lstStyle/>
          <a:p>
            <a:pPr algn="l">
              <a:lnSpc>
                <a:spcPts val="3803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11111"/>
                </a:solidFill>
                <a:latin typeface="Georgia"/>
              </a:rPr>
              <a:t>Violation</a:t>
            </a:r>
            <a:r>
              <a:rPr sz="2925" b="0">
                <a:solidFill>
                  <a:srgbClr val="A2521C"/>
                </a:solidFill>
                <a:latin typeface="Georgia"/>
              </a:rPr>
              <a:t> — features that trigger failures · </a:t>
            </a:r>
            <a:r>
              <a:rPr sz="2925" b="1">
                <a:solidFill>
                  <a:srgbClr val="111111"/>
                </a:solidFill>
                <a:latin typeface="Georgia"/>
              </a:rPr>
              <a:t>Compliant</a:t>
            </a:r>
            <a:r>
              <a:rPr sz="2925" b="0">
                <a:solidFill>
                  <a:srgbClr val="A2521C"/>
                </a:solidFill>
                <a:latin typeface="Georgia"/>
              </a:rPr>
              <a:t> — features that satisfy the objective · </a:t>
            </a:r>
            <a:r>
              <a:rPr sz="2925" b="1">
                <a:solidFill>
                  <a:srgbClr val="111111"/>
                </a:solidFill>
                <a:latin typeface="Georgia"/>
              </a:rPr>
              <a:t>Criterion-specific</a:t>
            </a:r>
            <a:r>
              <a:rPr sz="2925" b="0">
                <a:solidFill>
                  <a:srgbClr val="A2521C"/>
                </a:solidFill>
                <a:latin typeface="Georgia"/>
              </a:rPr>
              <a:t> — under-explored criteria.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1153313" y="11421268"/>
            <a:ext cx="10982961" cy="1590282"/>
          </a:xfrm>
          <a:prstGeom prst="rect">
            <a:avLst/>
          </a:prstGeom>
          <a:noFill/>
        </p:spPr>
        <p:txBody>
          <a:bodyPr wrap="square" lIns="345904" rIns="345904" tIns="200262" bIns="200262">
            <a:spAutoFit/>
          </a:bodyPr>
          <a:lstStyle/>
          <a:p>
            <a:pPr algn="ctr">
              <a:lnSpc>
                <a:spcPts val="3870"/>
              </a:lnSpc>
              <a:spcBef>
                <a:spcPts val="0"/>
              </a:spcBef>
              <a:spcAft>
                <a:spcPts val="0"/>
              </a:spcAft>
            </a:pPr>
            <a:r>
              <a:rPr sz="2867" b="1">
                <a:solidFill>
                  <a:srgbClr val="A2521C"/>
                </a:solidFill>
                <a:latin typeface="Georgia"/>
              </a:rPr>
              <a:t>+23%–78% more unhelpful responses uncovered vs. baselines — at the </a:t>
            </a:r>
            <a:r>
              <a:rPr sz="2867" b="1">
                <a:solidFill>
                  <a:srgbClr val="111111"/>
                </a:solidFill>
                <a:latin typeface="Georgia"/>
              </a:rPr>
              <a:t>lowest token cost (×1)</a:t>
            </a:r>
            <a:r>
              <a:rPr sz="2867" b="1">
                <a:solidFill>
                  <a:srgbClr val="A2521C"/>
                </a:solidFill>
                <a:latin typeface="Georgia"/>
              </a:rPr>
              <a:t>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1153313" y="13004245"/>
            <a:ext cx="10982961" cy="1837533"/>
          </a:xfrm>
          <a:prstGeom prst="rect">
            <a:avLst/>
          </a:prstGeom>
          <a:noFill/>
        </p:spPr>
        <p:txBody>
          <a:bodyPr wrap="square" lIns="0" rIns="0" tIns="153819" bIns="0">
            <a:spAutoFit/>
          </a:bodyPr>
          <a:lstStyle/>
          <a:p>
            <a:pPr algn="l">
              <a:lnSpc>
                <a:spcPts val="3768"/>
              </a:lnSpc>
              <a:spcBef>
                <a:spcPts val="0"/>
              </a:spcBef>
              <a:spcAft>
                <a:spcPts val="0"/>
              </a:spcAft>
            </a:pPr>
            <a:r>
              <a:rPr sz="2099" b="1" spc="125">
                <a:solidFill>
                  <a:srgbClr val="111111"/>
                </a:solidFill>
                <a:latin typeface="Georgia"/>
              </a:rPr>
              <a:t>SO WHAT → </a:t>
            </a:r>
            <a:r>
              <a:rPr sz="2691" b="0" i="1">
                <a:solidFill>
                  <a:srgbClr val="1C1C1C"/>
                </a:solidFill>
                <a:latin typeface="Georgia"/>
              </a:rPr>
              <a:t>PQR posts the highest unhelpfulness rate at the lowest cost while ranking top-2 on every realism &amp; diversity metric.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7539" y="13093518"/>
            <a:ext cx="10362442" cy="963683"/>
          </a:xfrm>
          <a:prstGeom prst="rect">
            <a:avLst/>
          </a:prstGeom>
          <a:noFill/>
        </p:spPr>
        <p:txBody>
          <a:bodyPr wrap="square" lIns="0" rIns="4191746" tIns="0" bIns="0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 spc="60">
                <a:solidFill>
                  <a:srgbClr val="111111"/>
                </a:solidFill>
                <a:latin typeface="Georgia"/>
              </a:rPr>
              <a:t>MOTIVATION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746314" y="14956369"/>
            <a:ext cx="8433767" cy="2322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78"/>
              </a:lnSpc>
              <a:spcBef>
                <a:spcPts val="0"/>
              </a:spcBef>
              <a:spcAft>
                <a:spcPts val="0"/>
              </a:spcAft>
            </a:pPr>
            <a:r>
              <a:rPr sz="2925" b="0">
                <a:solidFill>
                  <a:srgbClr val="1C1C1C"/>
                </a:solidFill>
                <a:latin typeface="Georgia"/>
              </a:rPr>
              <a:t>Each iteration generates </a:t>
            </a:r>
            <a:r>
              <a:rPr sz="2925" b="1">
                <a:solidFill>
                  <a:srgbClr val="111111"/>
                </a:solidFill>
                <a:latin typeface="Georgia"/>
              </a:rPr>
              <a:t>one prompt per direction</a:t>
            </a:r>
            <a:r>
              <a:rPr sz="2925" b="0">
                <a:solidFill>
                  <a:srgbClr val="1C1C1C"/>
                </a:solidFill>
                <a:latin typeface="Georgia"/>
              </a:rPr>
              <a:t> — all share the realism feedback but draw on a different objective signal to widen strategy coverage: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1153313" y="15890176"/>
            <a:ext cx="10982961" cy="9636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 spc="60">
                <a:solidFill>
                  <a:srgbClr val="111111"/>
                </a:solidFill>
                <a:latin typeface="Georgia"/>
              </a:rPr>
              <a:t>HEADLINE NUMBERS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6584" y="19236760"/>
            <a:ext cx="10342827" cy="963681"/>
          </a:xfrm>
          <a:prstGeom prst="rect">
            <a:avLst/>
          </a:prstGeom>
          <a:noFill/>
        </p:spPr>
        <p:txBody>
          <a:bodyPr wrap="square" lIns="0" rIns="4191746" tIns="0" bIns="0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 spc="60">
                <a:solidFill>
                  <a:srgbClr val="111111"/>
                </a:solidFill>
                <a:latin typeface="Georgia"/>
              </a:rPr>
              <a:t>TAKEAWAY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96584" y="20417558"/>
            <a:ext cx="10342827" cy="3484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78"/>
              </a:lnSpc>
              <a:spcBef>
                <a:spcPts val="0"/>
              </a:spcBef>
              <a:spcAft>
                <a:spcPts val="0"/>
              </a:spcAft>
            </a:pPr>
            <a:r>
              <a:rPr sz="2925" b="0">
                <a:solidFill>
                  <a:srgbClr val="1C1C1C"/>
                </a:solidFill>
                <a:latin typeface="Georgia"/>
              </a:rPr>
              <a:t>Query refinement alone yields diverse but unrealistic variants; prompt refinement alone yields realistic but repetitive queries. Coupling them lets PQR surface agent failures that are </a:t>
            </a:r>
            <a:r>
              <a:rPr sz="2925" b="1">
                <a:solidFill>
                  <a:srgbClr val="111111"/>
                </a:solidFill>
                <a:latin typeface="Georgia"/>
              </a:rPr>
              <a:t>both diverse and realistic</a:t>
            </a:r>
            <a:r>
              <a:rPr sz="2925" b="0">
                <a:solidFill>
                  <a:srgbClr val="1C1C1C"/>
                </a:solidFill>
                <a:latin typeface="Georgia"/>
              </a:rPr>
              <a:t>, going beyond hand-crafted test cases and arbitrary adversarial noise.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1746314" y="23114674"/>
            <a:ext cx="8433767" cy="1904095"/>
          </a:xfrm>
          <a:prstGeom prst="rect">
            <a:avLst/>
          </a:prstGeom>
          <a:noFill/>
        </p:spPr>
        <p:txBody>
          <a:bodyPr wrap="square" lIns="241501" rIns="241501" tIns="104032" bIns="104032">
            <a:spAutoFit/>
          </a:bodyPr>
          <a:lstStyle/>
          <a:p>
            <a:pPr algn="l">
              <a:lnSpc>
                <a:spcPts val="3803"/>
              </a:lnSpc>
              <a:spcBef>
                <a:spcPts val="0"/>
              </a:spcBef>
              <a:spcAft>
                <a:spcPts val="0"/>
              </a:spcAft>
            </a:pPr>
            <a:r>
              <a:rPr sz="2925" b="0">
                <a:solidFill>
                  <a:srgbClr val="A2521C"/>
                </a:solidFill>
                <a:latin typeface="Georgia"/>
              </a:rPr>
              <a:t>Diverse prompts yield diverse queries, breaking the single-prompt bottleneck of prior prompt-refinement methods.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96584" y="23633206"/>
            <a:ext cx="10342827" cy="1366131"/>
          </a:xfrm>
          <a:prstGeom prst="rect">
            <a:avLst/>
          </a:prstGeom>
          <a:noFill/>
        </p:spPr>
        <p:txBody>
          <a:bodyPr wrap="square" lIns="260078" rIns="260078" tIns="111463" bIns="111463">
            <a:spAutoFit/>
          </a:bodyPr>
          <a:lstStyle/>
          <a:p>
            <a:pPr algn="l">
              <a:lnSpc>
                <a:spcPts val="3803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FFFFFF"/>
                </a:solidFill>
                <a:latin typeface="Georgia"/>
              </a:rPr>
              <a:t>A scalable, black-box, agent-agnostic path to evaluating deployed LLM agents.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2370036" y="7062465"/>
            <a:ext cx="4022864" cy="515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3071" b="1">
                <a:solidFill>
                  <a:srgbClr val="A2521C"/>
                </a:solidFill>
                <a:latin typeface="Georgia"/>
              </a:rPr>
              <a:t>Guided Reflection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334808" y="7147722"/>
            <a:ext cx="2677618" cy="3196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904" b="1" i="1">
                <a:solidFill>
                  <a:srgbClr val="555555"/>
                </a:solidFill>
                <a:latin typeface="Georgia"/>
              </a:rPr>
              <a:t>realism + objective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587795" y="11129044"/>
            <a:ext cx="7837002" cy="910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398" b="0" i="1">
                <a:solidFill>
                  <a:srgbClr val="555555"/>
                </a:solidFill>
                <a:latin typeface="Georgia"/>
              </a:rPr>
              <a:t>Two coupled modules refine queries and prompts in one iterative loop.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880759" y="13150506"/>
            <a:ext cx="4068075" cy="515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3071" b="1">
                <a:solidFill>
                  <a:srgbClr val="A2521C"/>
                </a:solidFill>
                <a:latin typeface="Georgia"/>
              </a:rPr>
              <a:t>Query Refinement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8361825" y="13235762"/>
            <a:ext cx="2230584" cy="319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904" b="1" i="1">
                <a:solidFill>
                  <a:srgbClr val="555555"/>
                </a:solidFill>
                <a:latin typeface="Georgia"/>
              </a:rPr>
              <a:t>diverse rewrites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256767" y="13745070"/>
            <a:ext cx="8518794" cy="17422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08695" indent="-408695">
              <a:lnSpc>
                <a:spcPts val="397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2925" b="1">
                <a:solidFill>
                  <a:srgbClr val="111111"/>
                </a:solidFill>
                <a:latin typeface="Georgia"/>
              </a:rPr>
              <a:t>Dual selection</a:t>
            </a:r>
            <a:r>
              <a:rPr sz="2925" b="0">
                <a:solidFill>
                  <a:srgbClr val="1C1C1C"/>
                </a:solidFill>
                <a:latin typeface="Georgia"/>
              </a:rPr>
              <a:t> runs query &amp; strategy selection in parallel via beam search over an LLM-as-a-Judge reward.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77268" y="14274316"/>
            <a:ext cx="10362721" cy="1742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08695" indent="-408695">
              <a:lnSpc>
                <a:spcPts val="397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2925" b="1">
                <a:solidFill>
                  <a:srgbClr val="111111"/>
                </a:solidFill>
                <a:latin typeface="Georgia"/>
              </a:rPr>
              <a:t>Adversarial jailbreaks</a:t>
            </a:r>
            <a:r>
              <a:rPr sz="2925" b="0">
                <a:solidFill>
                  <a:srgbClr val="1C1C1C"/>
                </a:solidFill>
                <a:latin typeface="Georgia"/>
              </a:rPr>
              <a:t> (PAIR, TAP) rely on predefined strategies and yield unrealistic queries of limited diagnostic value.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2370036" y="14361805"/>
            <a:ext cx="4192516" cy="515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3071" b="1">
                <a:solidFill>
                  <a:srgbClr val="A2521C"/>
                </a:solidFill>
                <a:latin typeface="Georgia"/>
              </a:rPr>
              <a:t>Parallel Expansion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763021" y="14447061"/>
            <a:ext cx="2236559" cy="319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904" b="1" i="1">
                <a:solidFill>
                  <a:srgbClr val="555555"/>
                </a:solidFill>
                <a:latin typeface="Georgia"/>
              </a:rPr>
              <a:t>three directions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2256767" y="15389943"/>
            <a:ext cx="8518794" cy="17422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08695" indent="-408695">
              <a:lnSpc>
                <a:spcPts val="3978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2925" b="0">
                <a:solidFill>
                  <a:srgbClr val="1C1C1C"/>
                </a:solidFill>
                <a:latin typeface="Georgia"/>
              </a:rPr>
              <a:t>Retains only strategies that steer queries toward a </a:t>
            </a:r>
            <a:r>
              <a:rPr sz="2925" b="1">
                <a:solidFill>
                  <a:srgbClr val="111111"/>
                </a:solidFill>
                <a:highlight>
                  <a:srgbClr val="ECECEC"/>
                </a:highlight>
                <a:latin typeface="Georgia"/>
              </a:rPr>
              <a:t>lower reward</a:t>
            </a:r>
            <a:r>
              <a:rPr sz="2925" b="0">
                <a:solidFill>
                  <a:srgbClr val="1C1C1C"/>
                </a:solidFill>
                <a:latin typeface="Georgia"/>
              </a:rPr>
              <a:t>, meaning more agent failures.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77268" y="15919190"/>
            <a:ext cx="10362721" cy="1742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08695" indent="-408695">
              <a:lnSpc>
                <a:spcPts val="397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2925" b="1">
                <a:solidFill>
                  <a:srgbClr val="111111"/>
                </a:solidFill>
                <a:latin typeface="Georgia"/>
              </a:rPr>
              <a:t>Prompt-refinement</a:t>
            </a:r>
            <a:r>
              <a:rPr sz="2925" b="0">
                <a:solidFill>
                  <a:srgbClr val="1C1C1C"/>
                </a:solidFill>
                <a:latin typeface="Georgia"/>
              </a:rPr>
              <a:t> (GEPA, ACE) optimizes effectiveness but ignores </a:t>
            </a:r>
            <a:r>
              <a:rPr sz="2925" b="1">
                <a:solidFill>
                  <a:srgbClr val="111111"/>
                </a:solidFill>
                <a:highlight>
                  <a:srgbClr val="ECECEC"/>
                </a:highlight>
                <a:latin typeface="Georgia"/>
              </a:rPr>
              <a:t>query diversity</a:t>
            </a:r>
            <a:r>
              <a:rPr sz="2925" b="0">
                <a:solidFill>
                  <a:srgbClr val="1C1C1C"/>
                </a:solidFill>
                <a:latin typeface="Georgia"/>
              </a:rPr>
              <a:t> — repeatedly eliciting the same failure reveals little.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2431718" y="17162032"/>
            <a:ext cx="7727801" cy="19117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11111"/>
                </a:solidFill>
                <a:latin typeface="Georgia"/>
              </a:rPr>
              <a:t>Exploitation</a:t>
            </a:r>
            <a:r>
              <a:rPr sz="2925" b="0">
                <a:solidFill>
                  <a:srgbClr val="1C1C1C"/>
                </a:solidFill>
                <a:latin typeface="Georgia"/>
              </a:rPr>
              <a:t> — uses violation feedback to amplify strategies that already triggered agent failures.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2431718" y="19047201"/>
            <a:ext cx="7727801" cy="2509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11111"/>
                </a:solidFill>
                <a:latin typeface="Georgia"/>
              </a:rPr>
              <a:t>Exploration</a:t>
            </a:r>
            <a:r>
              <a:rPr sz="2925" b="0">
                <a:solidFill>
                  <a:srgbClr val="1C1C1C"/>
                </a:solidFill>
                <a:latin typeface="Georgia"/>
              </a:rPr>
              <a:t> — uses compliant feedback to introduce contrasting strategies that push toward new failure modes.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880759" y="19374242"/>
            <a:ext cx="5525655" cy="10314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3071" b="1">
                <a:solidFill>
                  <a:srgbClr val="A2521C"/>
                </a:solidFill>
                <a:latin typeface="Georgia"/>
              </a:rPr>
              <a:t>Prompt Refinement</a:t>
            </a:r>
          </a:p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3071" b="1">
                <a:solidFill>
                  <a:srgbClr val="A2521C"/>
                </a:solidFill>
                <a:latin typeface="Georgia"/>
              </a:rPr>
              <a:t>Loop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8401403" y="19544755"/>
            <a:ext cx="2189819" cy="6392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904" b="1" i="1">
                <a:solidFill>
                  <a:srgbClr val="555555"/>
                </a:solidFill>
                <a:latin typeface="Georgia"/>
              </a:rPr>
              <a:t>feedback-driven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2942443" y="20407589"/>
            <a:ext cx="7812547" cy="13139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11111"/>
                </a:solidFill>
                <a:latin typeface="Georgia"/>
              </a:rPr>
              <a:t>Aggregate</a:t>
            </a:r>
            <a:r>
              <a:rPr sz="2925" b="0">
                <a:solidFill>
                  <a:srgbClr val="1C1C1C"/>
                </a:solidFill>
                <a:latin typeface="Georgia"/>
              </a:rPr>
              <a:t> interaction history </a:t>
            </a:r>
            <a:r>
              <a:rPr sz="2925" b="0" i="1">
                <a:solidFill>
                  <a:srgbClr val="1C1C1C"/>
                </a:solidFill>
                <a:latin typeface="Georgia"/>
              </a:rPr>
              <a:t>(p, q, a, R)</a:t>
            </a:r>
            <a:r>
              <a:rPr sz="2925" b="0">
                <a:solidFill>
                  <a:srgbClr val="1C1C1C"/>
                </a:solidFill>
                <a:latin typeface="Georgia"/>
              </a:rPr>
              <a:t> across all prompt candidates.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2431718" y="21452243"/>
            <a:ext cx="7727801" cy="19117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11111"/>
                </a:solidFill>
                <a:latin typeface="Georgia"/>
              </a:rPr>
              <a:t>Examination</a:t>
            </a:r>
            <a:r>
              <a:rPr sz="2925" b="0">
                <a:solidFill>
                  <a:srgbClr val="1C1C1C"/>
                </a:solidFill>
                <a:latin typeface="Georgia"/>
              </a:rPr>
              <a:t> — uses criterion-specific feedback to probe the least-frequently-violated criteria.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942443" y="21772884"/>
            <a:ext cx="7812547" cy="19227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11111"/>
                </a:solidFill>
                <a:latin typeface="Georgia"/>
              </a:rPr>
              <a:t>Select</a:t>
            </a:r>
            <a:r>
              <a:rPr sz="2925" b="0">
                <a:solidFill>
                  <a:srgbClr val="1C1C1C"/>
                </a:solidFill>
                <a:latin typeface="Georgia"/>
              </a:rPr>
              <a:t> prompts that most induce failures; </a:t>
            </a:r>
            <a:r>
              <a:rPr sz="2925" b="1">
                <a:solidFill>
                  <a:srgbClr val="111111"/>
                </a:solidFill>
                <a:latin typeface="Georgia"/>
              </a:rPr>
              <a:t>reflect</a:t>
            </a:r>
            <a:r>
              <a:rPr sz="2925" b="0">
                <a:solidFill>
                  <a:srgbClr val="1C1C1C"/>
                </a:solidFill>
                <a:latin typeface="Georgia"/>
              </a:rPr>
              <a:t> on realism + objective gaps.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942443" y="23667578"/>
            <a:ext cx="7812547" cy="1313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11111"/>
                </a:solidFill>
                <a:latin typeface="Georgia"/>
              </a:rPr>
              <a:t>Expand</a:t>
            </a:r>
            <a:r>
              <a:rPr sz="2925" b="0">
                <a:solidFill>
                  <a:srgbClr val="1C1C1C"/>
                </a:solidFill>
                <a:latin typeface="Georgia"/>
              </a:rPr>
              <a:t> into new candidate prompts that generate realistic violations.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77539" y="27409942"/>
            <a:ext cx="7354718" cy="6130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40">
                <a:solidFill>
                  <a:srgbClr val="A2521C"/>
                </a:solidFill>
                <a:latin typeface="Georgia"/>
              </a:rPr>
              <a:t>SCAN TO READ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1416667" y="17561533"/>
            <a:ext cx="5426043" cy="1664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402"/>
              </a:lnSpc>
              <a:spcBef>
                <a:spcPts val="0"/>
              </a:spcBef>
              <a:spcAft>
                <a:spcPts val="0"/>
              </a:spcAft>
            </a:pPr>
            <a:r>
              <a:rPr sz="12002" b="1" spc="-240">
                <a:solidFill>
                  <a:srgbClr val="A2521C"/>
                </a:solidFill>
                <a:latin typeface="Georgia"/>
              </a:rPr>
              <a:t>56.32%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1416667" y="19034256"/>
            <a:ext cx="5426043" cy="12846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C1C"/>
                </a:solidFill>
                <a:latin typeface="Georgia"/>
              </a:rPr>
              <a:t>Unhelpfulness rate (best)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1416667" y="20151372"/>
            <a:ext cx="5426043" cy="10074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555555"/>
                </a:solidFill>
                <a:latin typeface="Georgia"/>
              </a:rPr>
              <a:t>most efficient failure discovery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1153313" y="8371668"/>
            <a:ext cx="3524796" cy="54190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2775"/>
              </a:lnSpc>
              <a:spcBef>
                <a:spcPts val="0"/>
              </a:spcBef>
              <a:spcAft>
                <a:spcPts val="0"/>
              </a:spcAft>
            </a:pPr>
            <a:r>
              <a:rPr sz="2040" b="1" spc="102">
                <a:solidFill>
                  <a:srgbClr val="A2521C"/>
                </a:solidFill>
                <a:latin typeface="Georgia"/>
              </a:rPr>
              <a:t>METHOD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4575446" y="8371668"/>
            <a:ext cx="2388892" cy="541900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2775"/>
              </a:lnSpc>
              <a:spcBef>
                <a:spcPts val="0"/>
              </a:spcBef>
              <a:spcAft>
                <a:spcPts val="0"/>
              </a:spcAft>
            </a:pPr>
            <a:r>
              <a:rPr sz="2040" b="1" spc="102">
                <a:solidFill>
                  <a:srgbClr val="A2521C"/>
                </a:solidFill>
                <a:latin typeface="Georgia"/>
              </a:rPr>
              <a:t>UHR ↑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6894759" y="8371668"/>
            <a:ext cx="2062007" cy="541900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2775"/>
              </a:lnSpc>
              <a:spcBef>
                <a:spcPts val="0"/>
              </a:spcBef>
              <a:spcAft>
                <a:spcPts val="0"/>
              </a:spcAft>
            </a:pPr>
            <a:r>
              <a:rPr sz="2040" b="1" spc="102">
                <a:solidFill>
                  <a:srgbClr val="A2521C"/>
                </a:solidFill>
                <a:latin typeface="Georgia"/>
              </a:rPr>
              <a:t>COST ↓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8896708" y="8371668"/>
            <a:ext cx="3007264" cy="541900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2775"/>
              </a:lnSpc>
              <a:spcBef>
                <a:spcPts val="0"/>
              </a:spcBef>
              <a:spcAft>
                <a:spcPts val="0"/>
              </a:spcAft>
            </a:pPr>
            <a:r>
              <a:rPr sz="2040" b="1" spc="102">
                <a:solidFill>
                  <a:srgbClr val="A2521C"/>
                </a:solidFill>
                <a:latin typeface="Georgia"/>
              </a:rPr>
              <a:t>REALISM ↑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153313" y="8842886"/>
            <a:ext cx="3524796" cy="68238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>
                <a:solidFill>
                  <a:srgbClr val="1C1C1C"/>
                </a:solidFill>
                <a:latin typeface="Georgia"/>
              </a:rPr>
              <a:t>GEPA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4575446" y="8842886"/>
            <a:ext cx="2388892" cy="68238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0">
                <a:solidFill>
                  <a:srgbClr val="1C1C1C"/>
                </a:solidFill>
                <a:latin typeface="Georgia"/>
              </a:rPr>
              <a:t>45.60%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6894759" y="8842886"/>
            <a:ext cx="2062007" cy="68238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0">
                <a:solidFill>
                  <a:srgbClr val="1C1C1C"/>
                </a:solidFill>
                <a:latin typeface="Georgia"/>
              </a:rPr>
              <a:t>×1.3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8896708" y="8842886"/>
            <a:ext cx="3007264" cy="68238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0">
                <a:solidFill>
                  <a:srgbClr val="1C1C1C"/>
                </a:solidFill>
                <a:latin typeface="Georgia"/>
              </a:rPr>
              <a:t>3.81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1153313" y="9436261"/>
            <a:ext cx="3524796" cy="68238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>
                <a:solidFill>
                  <a:srgbClr val="1C1C1C"/>
                </a:solidFill>
                <a:latin typeface="Georgia"/>
              </a:rPr>
              <a:t>ACE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4575446" y="9436261"/>
            <a:ext cx="2388892" cy="68238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0">
                <a:solidFill>
                  <a:srgbClr val="1C1C1C"/>
                </a:solidFill>
                <a:latin typeface="Georgia"/>
              </a:rPr>
              <a:t>39.58%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6894759" y="9436261"/>
            <a:ext cx="2062007" cy="68238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0">
                <a:solidFill>
                  <a:srgbClr val="1C1C1C"/>
                </a:solidFill>
                <a:latin typeface="Georgia"/>
              </a:rPr>
              <a:t>×1.1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8896708" y="9436261"/>
            <a:ext cx="3007264" cy="68238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0">
                <a:solidFill>
                  <a:srgbClr val="1C1C1C"/>
                </a:solidFill>
                <a:latin typeface="Georgia"/>
              </a:rPr>
              <a:t>2.66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1153313" y="10029635"/>
            <a:ext cx="3524796" cy="68238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>
                <a:solidFill>
                  <a:srgbClr val="1C1C1C"/>
                </a:solidFill>
                <a:latin typeface="Georgia"/>
              </a:rPr>
              <a:t>TAP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4575446" y="10029635"/>
            <a:ext cx="2388892" cy="68238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0">
                <a:solidFill>
                  <a:srgbClr val="1C1C1C"/>
                </a:solidFill>
                <a:latin typeface="Georgia"/>
              </a:rPr>
              <a:t>33.38%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6894759" y="10029635"/>
            <a:ext cx="2062007" cy="68238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0">
                <a:solidFill>
                  <a:srgbClr val="1C1C1C"/>
                </a:solidFill>
                <a:latin typeface="Georgia"/>
              </a:rPr>
              <a:t>×1.6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8896708" y="10029635"/>
            <a:ext cx="3007264" cy="68238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0">
                <a:solidFill>
                  <a:srgbClr val="1C1C1C"/>
                </a:solidFill>
                <a:latin typeface="Georgia"/>
              </a:rPr>
              <a:t>2.31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1153313" y="10623009"/>
            <a:ext cx="3524796" cy="682381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>
                <a:solidFill>
                  <a:srgbClr val="A2521C"/>
                </a:solidFill>
                <a:latin typeface="Georgia"/>
              </a:rPr>
              <a:t>PQR (ours)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4575446" y="10623009"/>
            <a:ext cx="2388892" cy="68238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>
                <a:solidFill>
                  <a:srgbClr val="A2521C"/>
                </a:solidFill>
                <a:latin typeface="Georgia"/>
              </a:rPr>
              <a:t>56.32%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6894759" y="10623009"/>
            <a:ext cx="2062007" cy="68238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>
                <a:solidFill>
                  <a:srgbClr val="A2521C"/>
                </a:solidFill>
                <a:latin typeface="Georgia"/>
              </a:rPr>
              <a:t>×1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8896708" y="10623009"/>
            <a:ext cx="3007264" cy="68238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720" b="1">
                <a:solidFill>
                  <a:srgbClr val="A2521C"/>
                </a:solidFill>
                <a:latin typeface="Georgia"/>
              </a:rPr>
              <a:t>3.66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7436795" y="17309037"/>
            <a:ext cx="910624" cy="6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Georgia"/>
              </a:rPr>
              <a:t>×1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8450788" y="17442353"/>
            <a:ext cx="3195304" cy="10512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Georgia"/>
              </a:rPr>
              <a:t>token cost (lowest)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7436795" y="18542209"/>
            <a:ext cx="1441028" cy="6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Georgia"/>
              </a:rPr>
              <a:t>2.50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8965744" y="18675523"/>
            <a:ext cx="2664899" cy="15769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Georgia"/>
              </a:rPr>
              <a:t>human realism (best)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7436795" y="20232462"/>
            <a:ext cx="1237663" cy="6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Georgia"/>
              </a:rPr>
              <a:t>100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8768302" y="20365779"/>
            <a:ext cx="2868264" cy="10512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Georgia"/>
              </a:rPr>
              <a:t>products, 4 categories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