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819630"/>
          </a:xfrm>
          <a:prstGeom prst="roundRect">
            <a:avLst>
              <a:gd name="adj" fmla="val 2951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5992971"/>
            <a:ext cx="10704810" cy="8136850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83417" y="5992971"/>
            <a:ext cx="13831590" cy="9345057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041727" y="5992971"/>
            <a:ext cx="13381116" cy="7236182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849563" y="5992971"/>
            <a:ext cx="10704949" cy="7786112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41727" y="13561000"/>
            <a:ext cx="13381116" cy="16510952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849563" y="14110930"/>
            <a:ext cx="10704949" cy="4905196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1887" y="14461668"/>
            <a:ext cx="10704810" cy="15610284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83417" y="15669875"/>
            <a:ext cx="13831590" cy="6454695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849563" y="19347973"/>
            <a:ext cx="10704949" cy="4994097"/>
          </a:xfrm>
          <a:prstGeom prst="rect">
            <a:avLst/>
          </a:prstGeom>
          <a:solidFill>
            <a:srgbClr val="F6EC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849563" y="19347973"/>
            <a:ext cx="10704949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518952" y="19347973"/>
            <a:ext cx="35560" cy="499409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849563" y="24306510"/>
            <a:ext cx="10704949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849563" y="19347973"/>
            <a:ext cx="53340" cy="4994097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83417" y="22456417"/>
            <a:ext cx="13831590" cy="7615535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849563" y="24673917"/>
            <a:ext cx="10704949" cy="5398035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456501" y="7397035"/>
            <a:ext cx="12551568" cy="1437541"/>
          </a:xfrm>
          <a:prstGeom prst="roundRect">
            <a:avLst>
              <a:gd name="adj" fmla="val 15673"/>
            </a:avLst>
          </a:prstGeom>
          <a:solidFill>
            <a:srgbClr val="F7F2F5"/>
          </a:solidFill>
          <a:ln w="8890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6661" y="12004139"/>
            <a:ext cx="9875262" cy="14810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66661" y="12004139"/>
            <a:ext cx="124460" cy="1481018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264337" y="15874761"/>
            <a:ext cx="9875401" cy="2613521"/>
          </a:xfrm>
          <a:prstGeom prst="roundRect">
            <a:avLst>
              <a:gd name="adj" fmla="val 2721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8890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282117" y="22829936"/>
            <a:ext cx="9857621" cy="990819"/>
          </a:xfrm>
          <a:prstGeom prst="roundRect">
            <a:avLst>
              <a:gd name="adj" fmla="val 21055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198191" y="27835840"/>
            <a:ext cx="13002041" cy="1916211"/>
          </a:xfrm>
          <a:prstGeom prst="roundRect">
            <a:avLst>
              <a:gd name="adj" fmla="val 9526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198191" y="27835840"/>
            <a:ext cx="124460" cy="1916211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456501" y="6407745"/>
            <a:ext cx="657026" cy="657026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98191" y="7614285"/>
            <a:ext cx="13002041" cy="7245350"/>
          </a:xfrm>
          <a:prstGeom prst="roundRect">
            <a:avLst>
              <a:gd name="adj" fmla="val 49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1864" y="7614285"/>
            <a:ext cx="12514695" cy="724535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0264337" y="7614285"/>
            <a:ext cx="9875401" cy="5758914"/>
          </a:xfrm>
          <a:prstGeom prst="roundRect">
            <a:avLst>
              <a:gd name="adj" fmla="val 61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igur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4337" y="7617938"/>
            <a:ext cx="9875401" cy="5751607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27235348" y="14470558"/>
            <a:ext cx="10993874" cy="14935200"/>
          </a:xfrm>
          <a:prstGeom prst="roundRect">
            <a:avLst>
              <a:gd name="adj" fmla="val 32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igur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8569" y="14470558"/>
            <a:ext cx="10047432" cy="149352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2198191" y="16084649"/>
            <a:ext cx="657026" cy="657026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65164" y="16097011"/>
            <a:ext cx="4128710" cy="22165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65164" y="16097011"/>
            <a:ext cx="11557" cy="2216527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198191" y="19791362"/>
            <a:ext cx="3196788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Claude Code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551388" y="19791362"/>
            <a:ext cx="1842313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Codex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550110" y="19791362"/>
            <a:ext cx="2655054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OpenClaw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361572" y="19791362"/>
            <a:ext cx="1571585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veRL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089566" y="19791362"/>
            <a:ext cx="1670209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Slime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198191" y="20767595"/>
            <a:ext cx="1867178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SkyRL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198191" y="22871191"/>
            <a:ext cx="657026" cy="657027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471586" y="23928268"/>
            <a:ext cx="1210707" cy="2134433"/>
          </a:xfrm>
          <a:prstGeom prst="roundRect">
            <a:avLst>
              <a:gd name="adj" fmla="val 12363"/>
            </a:avLst>
          </a:prstGeom>
          <a:solidFill>
            <a:srgbClr val="FFFFFF"/>
          </a:solidFill>
          <a:ln w="8890">
            <a:solidFill>
              <a:srgbClr val="CEA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2198191" y="24238307"/>
            <a:ext cx="1946910" cy="1514356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8890">
            <a:solidFill>
              <a:srgbClr val="CEA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4979511" y="24238307"/>
            <a:ext cx="1828700" cy="1514356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8890">
            <a:solidFill>
              <a:srgbClr val="CEA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7642621" y="24238307"/>
            <a:ext cx="1994555" cy="1514356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8890">
            <a:solidFill>
              <a:srgbClr val="CEA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2516703" y="24238307"/>
            <a:ext cx="2683529" cy="1514356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8890">
            <a:solidFill>
              <a:srgbClr val="CEA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1509910" y="25799752"/>
            <a:ext cx="7384256" cy="3857426"/>
          </a:xfrm>
          <a:prstGeom prst="roundRect">
            <a:avLst>
              <a:gd name="adj" fmla="val 5531"/>
            </a:avLst>
          </a:prstGeom>
          <a:solidFill>
            <a:srgbClr val="F4E6EF"/>
          </a:solidFill>
          <a:ln w="17780">
            <a:solidFill>
              <a:srgbClr val="7D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66661" y="26009500"/>
            <a:ext cx="4418885" cy="2853274"/>
          </a:xfrm>
          <a:prstGeom prst="roundRect">
            <a:avLst>
              <a:gd name="adj" fmla="val 7311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23037" y="26009500"/>
            <a:ext cx="4418886" cy="3609479"/>
          </a:xfrm>
          <a:prstGeom prst="roundRect">
            <a:avLst>
              <a:gd name="adj" fmla="val 5779"/>
            </a:avLst>
          </a:prstGeom>
          <a:solidFill>
            <a:srgbClr val="F7F2F5"/>
          </a:solidFill>
          <a:ln w="8890">
            <a:solidFill>
              <a:srgbClr val="7D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2687696" y="27992248"/>
            <a:ext cx="1656874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SCALE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746870" y="25931713"/>
            <a:ext cx="1425456" cy="488116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FFFFFF"/>
                </a:solidFill>
                <a:latin typeface="Arial"/>
              </a:rPr>
              <a:t>Paper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137572" y="25931713"/>
            <a:ext cx="1613673" cy="488116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FFFFFF"/>
                </a:solidFill>
                <a:latin typeface="Arial"/>
              </a:rPr>
              <a:t>Project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978024" y="26562069"/>
            <a:ext cx="2963287" cy="2963287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pap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96557" y="26680602"/>
            <a:ext cx="2726221" cy="2726221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45462765" y="26562069"/>
            <a:ext cx="2963287" cy="2963287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81298" y="26680602"/>
            <a:ext cx="2726221" cy="2726221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220847" y="983734"/>
            <a:ext cx="12104012" cy="47793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5973" b="1" spc="59">
                <a:solidFill>
                  <a:srgbClr val="7D2860"/>
                </a:solidFill>
                <a:latin typeface="Arial"/>
              </a:rPr>
              <a:t>arXiv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793"/>
              </a:lnSpc>
              <a:spcBef>
                <a:spcPts val="0"/>
              </a:spcBef>
              <a:spcAft>
                <a:spcPts val="0"/>
              </a:spcAft>
            </a:pPr>
            <a:r>
              <a:rPr sz="7084" b="1" spc="-78">
                <a:solidFill>
                  <a:srgbClr val="7D2860"/>
                </a:solidFill>
                <a:latin typeface="Arial"/>
              </a:rPr>
              <a:t>OpenForgeRL: Train Harness-Native Agents in Any</a:t>
            </a:r>
          </a:p>
          <a:p>
            <a:pPr algn="ctr">
              <a:lnSpc>
                <a:spcPts val="7793"/>
              </a:lnSpc>
              <a:spcBef>
                <a:spcPts val="0"/>
              </a:spcBef>
              <a:spcAft>
                <a:spcPts val="0"/>
              </a:spcAft>
            </a:pPr>
            <a:r>
              <a:rPr sz="7084" b="1" spc="-78">
                <a:solidFill>
                  <a:srgbClr val="7D2860"/>
                </a:solidFill>
                <a:latin typeface="Arial"/>
              </a:rPr>
              <a:t>Environment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446402" y="3373060"/>
            <a:ext cx="24740176" cy="1417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Xiao Yu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Baolin Peng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3†</a:t>
            </a:r>
            <a:r>
              <a:rPr sz="3733" b="0">
                <a:solidFill>
                  <a:srgbClr val="1B2331"/>
                </a:solidFill>
                <a:latin typeface="Arial"/>
              </a:rPr>
              <a:t>, Ruize Xu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Hao Zou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Qianhui Wu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733" b="0">
                <a:solidFill>
                  <a:srgbClr val="1B2331"/>
                </a:solidFill>
                <a:latin typeface="Arial"/>
              </a:rPr>
              <a:t>, Hao Cheng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733" b="0">
                <a:solidFill>
                  <a:srgbClr val="1B2331"/>
                </a:solidFill>
                <a:latin typeface="Arial"/>
              </a:rPr>
              <a:t>, Wenlin Yao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733" b="0">
                <a:solidFill>
                  <a:srgbClr val="1B2331"/>
                </a:solidFill>
                <a:latin typeface="Arial"/>
              </a:rPr>
              <a:t>, Nikhil Singh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Zhou Yu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1∗</a:t>
            </a:r>
            <a:r>
              <a:rPr sz="3733" b="0">
                <a:solidFill>
                  <a:srgbClr val="1B2331"/>
                </a:solidFill>
                <a:latin typeface="Arial"/>
              </a:rPr>
              <a:t>, Jianfeng Gao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3∗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446402" y="4658498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Columbia University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Dartmouth College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Microsoft Research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6661" y="6407745"/>
            <a:ext cx="10171519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98191" y="6407745"/>
            <a:ext cx="13392102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264337" y="6407745"/>
            <a:ext cx="1017166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6661" y="7736244"/>
            <a:ext cx="10171519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Agents live inside complex </a:t>
            </a:r>
            <a:r>
              <a:rPr sz="4106" b="1">
                <a:solidFill>
                  <a:srgbClr val="111111"/>
                </a:solidFill>
                <a:latin typeface="Arial"/>
              </a:rPr>
              <a:t>inference harnesses</a:t>
            </a:r>
            <a:r>
              <a:rPr sz="4106" b="0">
                <a:solidFill>
                  <a:srgbClr val="1C1C1C"/>
                </a:solidFill>
                <a:latin typeface="Arial"/>
              </a:rPr>
              <a:t> — but open RL stacks can't express </a:t>
            </a:r>
            <a:r>
              <a:rPr sz="4106" b="1">
                <a:solidFill>
                  <a:srgbClr val="111111"/>
                </a:solidFill>
                <a:latin typeface="Arial"/>
              </a:rPr>
              <a:t>stateful, multi-process harness inference</a:t>
            </a:r>
            <a:r>
              <a:rPr sz="4106" b="0">
                <a:solidFill>
                  <a:srgbClr val="1C1C1C"/>
                </a:solidFill>
                <a:latin typeface="Arial"/>
              </a:rPr>
              <a:t> or remote, containerized rollouts.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731340" y="8394243"/>
            <a:ext cx="4121946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Cambria Math"/>
              </a:rPr>
              <a:t>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the reconstructed trajectory sample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456501" y="9081968"/>
            <a:ext cx="12321484" cy="248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Terminal reward broadcast backward: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with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— one standard sample feeds any RL codebase (veRL), with no trainer changes.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456501" y="11595477"/>
            <a:ext cx="12928115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Async rollout, wall-clock timeouts, and DAPO error discarding keep a stuck container from stalling.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6661" y="12004139"/>
            <a:ext cx="10171519" cy="1703170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Open RL assumes one model call; real harnesses run nested tool calls.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264337" y="14525704"/>
            <a:ext cx="10171663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6661" y="14876442"/>
            <a:ext cx="10171519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282117" y="19762747"/>
            <a:ext cx="10153349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282117" y="20960953"/>
            <a:ext cx="10153349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Train in the </a:t>
            </a:r>
            <a:r>
              <a:rPr sz="4106" b="1">
                <a:solidFill>
                  <a:srgbClr val="111111"/>
                </a:solidFill>
                <a:latin typeface="Arial"/>
              </a:rPr>
              <a:t>real harness</a:t>
            </a:r>
            <a:r>
              <a:rPr sz="4106" b="0">
                <a:solidFill>
                  <a:srgbClr val="1C1C1C"/>
                </a:solidFill>
                <a:latin typeface="Arial"/>
              </a:rPr>
              <a:t>, not a reimplementation.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282117" y="22829936"/>
            <a:ext cx="10153349" cy="1139441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Infrastructure, not data.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98191" y="26062701"/>
            <a:ext cx="13392102" cy="1739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Built on </a:t>
            </a:r>
            <a:r>
              <a:rPr sz="4106" b="1">
                <a:solidFill>
                  <a:srgbClr val="111111"/>
                </a:solidFill>
                <a:latin typeface="Arial"/>
              </a:rPr>
              <a:t>Orchard</a:t>
            </a:r>
            <a:r>
              <a:rPr sz="4106" b="0">
                <a:solidFill>
                  <a:srgbClr val="1C1C1C"/>
                </a:solidFill>
                <a:latin typeface="Arial"/>
              </a:rPr>
              <a:t>; each rollout in its own </a:t>
            </a:r>
            <a:r>
              <a:rPr sz="4106" b="1">
                <a:solidFill>
                  <a:srgbClr val="111111"/>
                </a:solidFill>
                <a:latin typeface="Arial"/>
              </a:rPr>
              <a:t>Azure</a:t>
            </a:r>
            <a:r>
              <a:rPr sz="4106" b="0">
                <a:solidFill>
                  <a:srgbClr val="1C1C1C"/>
                </a:solidFill>
                <a:latin typeface="Arial"/>
              </a:rPr>
              <a:t> container.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332443" y="6421358"/>
            <a:ext cx="5454675" cy="7241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7D2860"/>
                </a:solidFill>
                <a:latin typeface="Arial"/>
              </a:rPr>
              <a:t>Trajectory &amp; Reward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593309" y="6541095"/>
            <a:ext cx="1457202" cy="448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Arial"/>
              </a:rPr>
              <a:t>the math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900486" y="13482657"/>
            <a:ext cx="2681197" cy="4605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sz="2464" b="0" i="1">
                <a:solidFill>
                  <a:srgbClr val="555555"/>
                </a:solidFill>
                <a:latin typeface="Arial"/>
              </a:rPr>
              <a:t>RL shifts tool calls.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456501" y="13786167"/>
            <a:ext cx="2664742" cy="7241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7D2860"/>
                </a:solidFill>
                <a:latin typeface="Arial"/>
              </a:rPr>
              <a:t>Synthesis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248405" y="14969093"/>
            <a:ext cx="2988518" cy="4605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sz="2464" b="0" i="1">
                <a:solidFill>
                  <a:srgbClr val="555555"/>
                </a:solidFill>
                <a:latin typeface="Arial"/>
              </a:rPr>
              <a:t>Proxy + orchestrator.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6642" y="16091872"/>
            <a:ext cx="10171539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Hidden control flow.</a:t>
            </a:r>
            <a:r>
              <a:rPr sz="4106" b="0">
                <a:solidFill>
                  <a:srgbClr val="1C1C1C"/>
                </a:solidFill>
                <a:latin typeface="Arial"/>
              </a:rPr>
              <a:t> Harnesses hide their multi-process logic from the trainer — no hooks to record the right signal.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074134" y="16098262"/>
            <a:ext cx="4232397" cy="7241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7D2860"/>
                </a:solidFill>
                <a:latin typeface="Arial"/>
              </a:rPr>
              <a:t>Inference Proxy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087468" y="16217999"/>
            <a:ext cx="2176146" cy="448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Arial"/>
              </a:rPr>
              <a:t>component 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98173" y="17045463"/>
            <a:ext cx="13392120" cy="1739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Wraps the trainer's engine and </a:t>
            </a:r>
            <a:r>
              <a:rPr sz="4106" b="1">
                <a:solidFill>
                  <a:srgbClr val="111111"/>
                </a:solidFill>
                <a:latin typeface="Arial"/>
              </a:rPr>
              <a:t>intercepts every model call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6642" y="18543012"/>
            <a:ext cx="10171539" cy="2608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Remote rollouts.</a:t>
            </a:r>
            <a:r>
              <a:rPr sz="4106" b="0">
                <a:solidFill>
                  <a:srgbClr val="1C1C1C"/>
                </a:solidFill>
                <a:latin typeface="Arial"/>
              </a:rPr>
              <a:t> Containerized CPU/memory cannot be co-located on training nodes at scale.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98173" y="18740397"/>
            <a:ext cx="13392120" cy="869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Logs each </a:t>
            </a:r>
            <a:r>
              <a:rPr sz="4106" b="1">
                <a:solidFill>
                  <a:srgbClr val="111111"/>
                </a:solidFill>
                <a:latin typeface="Arial"/>
              </a:rPr>
              <a:t>prompt–response pair</a:t>
            </a:r>
            <a:r>
              <a:rPr sz="4106" b="0">
                <a:solidFill>
                  <a:srgbClr val="1C1C1C"/>
                </a:solidFill>
                <a:latin typeface="Arial"/>
              </a:rPr>
              <a:t> with its reward.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6642" y="20994151"/>
            <a:ext cx="10171539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Bespoke hacks.</a:t>
            </a:r>
            <a:r>
              <a:rPr sz="4106" b="0">
                <a:solidFill>
                  <a:srgbClr val="1C1C1C"/>
                </a:solidFill>
                <a:latin typeface="Arial"/>
              </a:rPr>
              <a:t> Prior work (DigiRL, WebRL, Search-R1) rewrites the loop per task.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074134" y="22884804"/>
            <a:ext cx="5515766" cy="7241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7D2860"/>
                </a:solidFill>
                <a:latin typeface="Arial"/>
              </a:rPr>
              <a:t>Rollout Orchestrator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087468" y="23004541"/>
            <a:ext cx="2176146" cy="4488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Arial"/>
              </a:rPr>
              <a:t>component 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6642" y="23445291"/>
            <a:ext cx="10171539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The insight.</a:t>
            </a:r>
            <a:r>
              <a:rPr sz="4106" b="0">
                <a:solidFill>
                  <a:srgbClr val="1C1C1C"/>
                </a:solidFill>
                <a:latin typeface="Arial"/>
              </a:rPr>
              <a:t> The trainer only needs to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see</a:t>
            </a:r>
            <a:r>
              <a:rPr sz="4106" b="0">
                <a:solidFill>
                  <a:srgbClr val="1C1C1C"/>
                </a:solidFill>
                <a:latin typeface="Arial"/>
              </a:rPr>
              <a:t> the harness's model calls — intercept, record, reconstruct.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471586" y="23928268"/>
            <a:ext cx="1247028" cy="2454597"/>
          </a:xfrm>
          <a:prstGeom prst="rect">
            <a:avLst/>
          </a:prstGeom>
          <a:noFill/>
        </p:spPr>
        <p:txBody>
          <a:bodyPr wrap="square" lIns="85533" rIns="85533" tIns="128300" bIns="12830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7D2860"/>
                </a:solidFill>
                <a:latin typeface="Arial"/>
              </a:rPr>
              <a:t>Log io-pairs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98191" y="24238307"/>
            <a:ext cx="2005317" cy="1741509"/>
          </a:xfrm>
          <a:prstGeom prst="rect">
            <a:avLst/>
          </a:prstGeom>
          <a:noFill/>
        </p:spPr>
        <p:txBody>
          <a:bodyPr wrap="square" lIns="85533" rIns="85533" tIns="128300" bIns="12830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7D2860"/>
                </a:solidFill>
                <a:latin typeface="Arial"/>
              </a:rPr>
              <a:t>Spawn sandbox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4979511" y="24238307"/>
            <a:ext cx="1883561" cy="1741509"/>
          </a:xfrm>
          <a:prstGeom prst="rect">
            <a:avLst/>
          </a:prstGeom>
          <a:noFill/>
        </p:spPr>
        <p:txBody>
          <a:bodyPr wrap="square" lIns="85533" rIns="85533" tIns="128300" bIns="12830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7D2860"/>
                </a:solidFill>
                <a:latin typeface="Arial"/>
              </a:rPr>
              <a:t>Run harness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7642621" y="24238307"/>
            <a:ext cx="2054391" cy="1741509"/>
          </a:xfrm>
          <a:prstGeom prst="rect">
            <a:avLst/>
          </a:prstGeom>
          <a:noFill/>
        </p:spPr>
        <p:txBody>
          <a:bodyPr wrap="square" lIns="85533" rIns="85533" tIns="128300" bIns="12830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7D2860"/>
                </a:solidFill>
                <a:latin typeface="Arial"/>
              </a:rPr>
              <a:t>Intercept calls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516703" y="24238307"/>
            <a:ext cx="2764034" cy="1741509"/>
          </a:xfrm>
          <a:prstGeom prst="rect">
            <a:avLst/>
          </a:prstGeom>
          <a:noFill/>
        </p:spPr>
        <p:txBody>
          <a:bodyPr wrap="square" lIns="85533" rIns="85533" tIns="128300" bIns="12830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7D2860"/>
                </a:solidFill>
                <a:latin typeface="Arial"/>
              </a:rPr>
              <a:t>Reconstruct τ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301509" y="24617382"/>
            <a:ext cx="537240" cy="8696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7D2860"/>
                </a:solidFill>
                <a:latin typeface="Arial"/>
              </a:rPr>
              <a:t>→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964620" y="24617382"/>
            <a:ext cx="537240" cy="8696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7D2860"/>
                </a:solidFill>
                <a:latin typeface="Arial"/>
              </a:rPr>
              <a:t>→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793585" y="24617382"/>
            <a:ext cx="537239" cy="8696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7D2860"/>
                </a:solidFill>
                <a:latin typeface="Arial"/>
              </a:rPr>
              <a:t>→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838701" y="24617382"/>
            <a:ext cx="537240" cy="8696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7D2860"/>
                </a:solidFill>
                <a:latin typeface="Arial"/>
              </a:rPr>
              <a:t>→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3373476" y="25088691"/>
            <a:ext cx="3766694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 spc="37">
                <a:solidFill>
                  <a:srgbClr val="7D2860"/>
                </a:solidFill>
                <a:latin typeface="Arial"/>
              </a:rPr>
              <a:t>SCAN TO READ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15840" y="26009500"/>
            <a:ext cx="800210" cy="869636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7D2860"/>
                </a:solidFill>
                <a:latin typeface="Arial"/>
              </a:rPr>
              <a:t>vs.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687696" y="28839437"/>
            <a:ext cx="12511915" cy="869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Async rollout + timeouts.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2010389" y="29437012"/>
            <a:ext cx="1486962" cy="4605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sz="2464" b="0" i="1">
                <a:solidFill>
                  <a:srgbClr val="555555"/>
                </a:solidFill>
                <a:latin typeface="Arial"/>
              </a:rPr>
              <a:t>Synthesis.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510202" y="16266616"/>
            <a:ext cx="4821717" cy="9322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6384"/>
              </a:lnSpc>
              <a:spcBef>
                <a:spcPts val="0"/>
              </a:spcBef>
              <a:spcAft>
                <a:spcPts val="0"/>
              </a:spcAft>
            </a:pPr>
            <a:r>
              <a:rPr sz="6720" b="1" spc="-134">
                <a:solidFill>
                  <a:srgbClr val="7D2860"/>
                </a:solidFill>
                <a:latin typeface="Arial"/>
              </a:rPr>
              <a:t>2.5k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510202" y="17100887"/>
            <a:ext cx="4821717" cy="119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beats 200k+ MolmoWeb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310163" y="26226889"/>
            <a:ext cx="4049837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REIMPLEMENTED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66540" y="26226889"/>
            <a:ext cx="4049836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OPENFORGERL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310163" y="26872247"/>
            <a:ext cx="4049837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Bespoke loop; little reuse.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766540" y="26872247"/>
            <a:ext cx="4049836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Intercept the harness's model calls.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243418" y="16097011"/>
            <a:ext cx="139296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+20.3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778332" y="16221471"/>
            <a:ext cx="2179008" cy="1472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pass@1 unseen Codex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6243418" y="17762358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6723756" y="17886818"/>
            <a:ext cx="2992953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training harnesses</a:t>
            </a:r>
          </a:p>
        </p:txBody>
      </p:sp>
      <p:pic>
        <p:nvPicPr>
          <p:cNvPr id="113" name="Picture 112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35133" y="7482324"/>
            <a:ext cx="9994304" cy="800100"/>
          </a:xfrm>
          <a:prstGeom prst="rect">
            <a:avLst/>
          </a:prstGeom>
        </p:spPr>
      </p:pic>
      <p:pic>
        <p:nvPicPr>
          <p:cNvPr id="114" name="Picture 113" descr="eq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67602" y="8984178"/>
            <a:ext cx="3169146" cy="737870"/>
          </a:xfrm>
          <a:prstGeom prst="rect">
            <a:avLst/>
          </a:prstGeom>
        </p:spPr>
      </p:pic>
      <p:pic>
        <p:nvPicPr>
          <p:cNvPr id="115" name="Picture 114" descr="eq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28857" y="9785806"/>
            <a:ext cx="2010112" cy="7378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