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5904" y="545910"/>
            <a:ext cx="41702113" cy="6816665"/>
          </a:xfrm>
          <a:prstGeom prst="roundRect">
            <a:avLst>
              <a:gd name="adj" fmla="val 2236"/>
            </a:avLst>
          </a:prstGeom>
          <a:solidFill>
            <a:srgbClr val="E8ED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5904" y="7768771"/>
            <a:ext cx="8678231" cy="8703471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81213" y="7768771"/>
            <a:ext cx="10848012" cy="7937946"/>
          </a:xfrm>
          <a:prstGeom prst="roundRect">
            <a:avLst>
              <a:gd name="adj" fmla="val 1120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986304" y="7768771"/>
            <a:ext cx="10847863" cy="6429067"/>
          </a:xfrm>
          <a:prstGeom prst="roundRect">
            <a:avLst>
              <a:gd name="adj" fmla="val 1383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291246" y="7768771"/>
            <a:ext cx="9956624" cy="4320118"/>
          </a:xfrm>
          <a:prstGeom prst="roundRect">
            <a:avLst>
              <a:gd name="adj" fmla="val 2058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291246" y="12444348"/>
            <a:ext cx="9956624" cy="5429050"/>
          </a:xfrm>
          <a:prstGeom prst="roundRect">
            <a:avLst>
              <a:gd name="adj" fmla="val 1637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986304" y="14553298"/>
            <a:ext cx="10847863" cy="5937018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81213" y="16062177"/>
            <a:ext cx="10848012" cy="6154399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5904" y="16827701"/>
            <a:ext cx="8678231" cy="12889082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291246" y="18228856"/>
            <a:ext cx="9956624" cy="6774111"/>
          </a:xfrm>
          <a:prstGeom prst="roundRect">
            <a:avLst>
              <a:gd name="adj" fmla="val 1312"/>
            </a:avLst>
          </a:prstGeom>
          <a:solidFill>
            <a:srgbClr val="EDF1F7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291246" y="18228856"/>
            <a:ext cx="57160" cy="6774111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986304" y="20845775"/>
            <a:ext cx="10847863" cy="8871008"/>
          </a:xfrm>
          <a:prstGeom prst="roundRect">
            <a:avLst>
              <a:gd name="adj" fmla="val 1002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81213" y="22572035"/>
            <a:ext cx="10848012" cy="7144748"/>
          </a:xfrm>
          <a:prstGeom prst="roundRect">
            <a:avLst>
              <a:gd name="adj" fmla="val 1244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291246" y="25358426"/>
            <a:ext cx="9956624" cy="4358357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9526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0447" y="1597496"/>
            <a:ext cx="3616451" cy="471349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61619" y="8184490"/>
            <a:ext cx="4234964" cy="990347"/>
          </a:xfrm>
          <a:prstGeom prst="roundRect">
            <a:avLst>
              <a:gd name="adj" fmla="val 1026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96929" y="8184490"/>
            <a:ext cx="3914324" cy="990347"/>
          </a:xfrm>
          <a:prstGeom prst="roundRect">
            <a:avLst>
              <a:gd name="adj" fmla="val 1026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706960" y="8184490"/>
            <a:ext cx="5648454" cy="990347"/>
          </a:xfrm>
          <a:prstGeom prst="roundRect">
            <a:avLst>
              <a:gd name="adj" fmla="val 1026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402018" y="12741035"/>
            <a:ext cx="10016435" cy="1093458"/>
          </a:xfrm>
          <a:prstGeom prst="roundRect">
            <a:avLst>
              <a:gd name="adj" fmla="val 17062"/>
            </a:avLst>
          </a:prstGeom>
          <a:solidFill>
            <a:srgbClr val="F1F3F8"/>
          </a:solidFill>
          <a:ln w="9526">
            <a:solidFill>
              <a:srgbClr val="B6C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706960" y="12860067"/>
            <a:ext cx="8656955" cy="990347"/>
          </a:xfrm>
          <a:prstGeom prst="roundRect">
            <a:avLst>
              <a:gd name="adj" fmla="val 1026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06960" y="14193225"/>
            <a:ext cx="9125191" cy="3999177"/>
          </a:xfrm>
          <a:prstGeom prst="roundRect">
            <a:avLst>
              <a:gd name="adj" fmla="val 1905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9526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1619" y="15016182"/>
            <a:ext cx="7846802" cy="12257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1619" y="15016182"/>
            <a:ext cx="104794" cy="1225733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1619" y="17243421"/>
            <a:ext cx="5272019" cy="990346"/>
          </a:xfrm>
          <a:prstGeom prst="roundRect">
            <a:avLst>
              <a:gd name="adj" fmla="val 10261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754572" y="18644575"/>
            <a:ext cx="4725521" cy="990348"/>
          </a:xfrm>
          <a:prstGeom prst="roundRect">
            <a:avLst>
              <a:gd name="adj" fmla="val 1026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754572" y="23611780"/>
            <a:ext cx="9077579" cy="1924897"/>
          </a:xfrm>
          <a:prstGeom prst="roundRect">
            <a:avLst>
              <a:gd name="adj" fmla="val 8974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1619" y="26509317"/>
            <a:ext cx="7846802" cy="3075638"/>
          </a:xfrm>
          <a:prstGeom prst="roundRect">
            <a:avLst>
              <a:gd name="adj" fmla="val 5616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402018" y="8184490"/>
            <a:ext cx="543822" cy="543828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56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96929" y="9733395"/>
            <a:ext cx="10016583" cy="369549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7022" y="9733395"/>
            <a:ext cx="10016397" cy="369549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7785554" y="14431289"/>
            <a:ext cx="3783245" cy="35739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785554" y="14431289"/>
            <a:ext cx="12385" cy="3573936"/>
          </a:xfrm>
          <a:prstGeom prst="rect">
            <a:avLst/>
          </a:prstGeom>
          <a:solidFill>
            <a:srgbClr val="C6CE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402018" y="14969016"/>
            <a:ext cx="543822" cy="543828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56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96929" y="16477896"/>
            <a:ext cx="543820" cy="543828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56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96929" y="21155259"/>
            <a:ext cx="2187040" cy="645599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90" b="1">
                <a:solidFill>
                  <a:srgbClr val="1D3A87"/>
                </a:solidFill>
                <a:latin typeface="Cambria"/>
              </a:rPr>
              <a:t>Catalogs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413415" y="21155259"/>
            <a:ext cx="1453067" cy="645599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90" b="1">
                <a:solidFill>
                  <a:srgbClr val="1D3A87"/>
                </a:solidFill>
                <a:latin typeface="Cambria"/>
              </a:rPr>
              <a:t>FAQs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95928" y="21155259"/>
            <a:ext cx="2712710" cy="645599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90" b="1">
                <a:solidFill>
                  <a:srgbClr val="AE2622"/>
                </a:solidFill>
                <a:latin typeface="Cambria"/>
              </a:rPr>
              <a:t>Personality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838084" y="21155259"/>
            <a:ext cx="1895862" cy="645599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90" b="1">
                <a:solidFill>
                  <a:srgbClr val="555555"/>
                </a:solidFill>
                <a:latin typeface="Cambria"/>
              </a:rPr>
              <a:t>Budget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02018" y="21477240"/>
            <a:ext cx="10016435" cy="5812777"/>
          </a:xfrm>
          <a:prstGeom prst="roundRect">
            <a:avLst>
              <a:gd name="adj" fmla="val 655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igu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02034" y="21477240"/>
            <a:ext cx="10016403" cy="581277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0096929" y="23236830"/>
            <a:ext cx="543820" cy="543827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56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584373" y="26637276"/>
            <a:ext cx="5370368" cy="2663787"/>
          </a:xfrm>
          <a:prstGeom prst="roundRect">
            <a:avLst>
              <a:gd name="adj" fmla="val 8583"/>
            </a:avLst>
          </a:prstGeom>
          <a:solidFill>
            <a:srgbClr val="E8EDF7"/>
          </a:solidFill>
          <a:ln w="19053">
            <a:solidFill>
              <a:srgbClr val="1D3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1402018" y="27892915"/>
            <a:ext cx="3194935" cy="1650825"/>
          </a:xfrm>
          <a:prstGeom prst="roundRect">
            <a:avLst>
              <a:gd name="adj" fmla="val 130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4812694" y="27892915"/>
            <a:ext cx="3195083" cy="1650825"/>
          </a:xfrm>
          <a:prstGeom prst="roundRect">
            <a:avLst>
              <a:gd name="adj" fmla="val 130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8223521" y="27892915"/>
            <a:ext cx="3194932" cy="1650825"/>
          </a:xfrm>
          <a:prstGeom prst="roundRect">
            <a:avLst>
              <a:gd name="adj" fmla="val 13080"/>
            </a:avLst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706960" y="11502953"/>
            <a:ext cx="9125191" cy="722823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096929" y="24188491"/>
            <a:ext cx="582915" cy="582921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6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96929" y="25173330"/>
            <a:ext cx="582915" cy="582921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6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96929" y="27366646"/>
            <a:ext cx="582915" cy="582921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6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06960" y="9517649"/>
            <a:ext cx="3910011" cy="539661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706960" y="10047784"/>
            <a:ext cx="3910011" cy="12384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616971" y="9517649"/>
            <a:ext cx="2463193" cy="539661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616971" y="10047784"/>
            <a:ext cx="2463193" cy="12384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080164" y="9517649"/>
            <a:ext cx="2751987" cy="539661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080164" y="10047784"/>
            <a:ext cx="2751987" cy="12384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706960" y="10057310"/>
            <a:ext cx="3910011" cy="7228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706960" y="10770605"/>
            <a:ext cx="3910011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616971" y="10057310"/>
            <a:ext cx="2463193" cy="7228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616971" y="10770605"/>
            <a:ext cx="2463193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080164" y="10057310"/>
            <a:ext cx="2751987" cy="7228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080164" y="10770605"/>
            <a:ext cx="2751987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2706960" y="10780132"/>
            <a:ext cx="3910011" cy="7228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706960" y="11493426"/>
            <a:ext cx="3910011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616971" y="10780132"/>
            <a:ext cx="2463193" cy="7228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616971" y="11493426"/>
            <a:ext cx="2463193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080164" y="10780132"/>
            <a:ext cx="2751987" cy="7228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9080164" y="11493426"/>
            <a:ext cx="2751987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706960" y="11502953"/>
            <a:ext cx="3910011" cy="722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706960" y="12216249"/>
            <a:ext cx="3910011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616971" y="11502953"/>
            <a:ext cx="2463193" cy="722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616971" y="12216249"/>
            <a:ext cx="2463193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080164" y="11502953"/>
            <a:ext cx="2751987" cy="7228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9080164" y="12216249"/>
            <a:ext cx="2751987" cy="12385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5199314" y="26679383"/>
            <a:ext cx="1677292" cy="522849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Paper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7734520" y="26679383"/>
            <a:ext cx="1532968" cy="522849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Code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5085789" y="27354593"/>
            <a:ext cx="1904491" cy="1904511"/>
          </a:xfrm>
          <a:prstGeom prst="roundRect">
            <a:avLst>
              <a:gd name="adj" fmla="val 8670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pa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12812" y="27481617"/>
            <a:ext cx="1650446" cy="1650463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37548834" y="27354593"/>
            <a:ext cx="1904490" cy="1904511"/>
          </a:xfrm>
          <a:prstGeom prst="roundRect">
            <a:avLst>
              <a:gd name="adj" fmla="val 8670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5856" y="27481617"/>
            <a:ext cx="1650446" cy="1650463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25429273" y="12854115"/>
            <a:ext cx="1266475" cy="6023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994"/>
              </a:lnSpc>
              <a:spcBef>
                <a:spcPts val="0"/>
              </a:spcBef>
              <a:spcAft>
                <a:spcPts val="0"/>
              </a:spcAft>
            </a:pPr>
            <a:r>
              <a:rPr sz="3672" b="0">
                <a:solidFill>
                  <a:srgbClr val="1C1C1C"/>
                </a:solidFill>
                <a:latin typeface="Cambria Math"/>
              </a:rPr>
              <a:t>keep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833689" y="12854115"/>
            <a:ext cx="2378011" cy="6023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994"/>
              </a:lnSpc>
              <a:spcBef>
                <a:spcPts val="0"/>
              </a:spcBef>
              <a:spcAft>
                <a:spcPts val="0"/>
              </a:spcAft>
            </a:pPr>
            <a:r>
              <a:rPr sz="3672" b="0">
                <a:solidFill>
                  <a:srgbClr val="1C1C1C"/>
                </a:solidFill>
                <a:latin typeface="Cambria Math"/>
              </a:rPr>
              <a:t>as a bug iff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55341" y="901369"/>
            <a:ext cx="9990653" cy="70216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64">
                <a:solidFill>
                  <a:srgbClr val="1D3A87"/>
                </a:solidFill>
                <a:latin typeface="Cambria"/>
              </a:rPr>
              <a:t>arXiv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362820" y="901369"/>
            <a:ext cx="20525562" cy="53960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842"/>
              </a:lnSpc>
              <a:spcBef>
                <a:spcPts val="0"/>
              </a:spcBef>
              <a:spcAft>
                <a:spcPts val="0"/>
              </a:spcAft>
            </a:pPr>
            <a:r>
              <a:rPr sz="8038" b="1" spc="-84">
                <a:solidFill>
                  <a:srgbClr val="1D3A87"/>
                </a:solidFill>
                <a:latin typeface="Cambria"/>
              </a:rPr>
              <a:t>SAGE: A Top-Down Bottom-Up</a:t>
            </a:r>
          </a:p>
          <a:p>
            <a:pPr algn="ctr">
              <a:lnSpc>
                <a:spcPts val="8842"/>
              </a:lnSpc>
              <a:spcBef>
                <a:spcPts val="0"/>
              </a:spcBef>
              <a:spcAft>
                <a:spcPts val="0"/>
              </a:spcAft>
            </a:pPr>
            <a:r>
              <a:rPr sz="8038" b="1" spc="-84">
                <a:solidFill>
                  <a:srgbClr val="1D3A87"/>
                </a:solidFill>
                <a:latin typeface="Cambria"/>
              </a:rPr>
              <a:t>Knowledge-Grounded User</a:t>
            </a:r>
          </a:p>
          <a:p>
            <a:pPr algn="ctr">
              <a:lnSpc>
                <a:spcPts val="8842"/>
              </a:lnSpc>
              <a:spcBef>
                <a:spcPts val="0"/>
              </a:spcBef>
              <a:spcAft>
                <a:spcPts val="0"/>
              </a:spcAft>
            </a:pPr>
            <a:r>
              <a:rPr sz="8038" b="1" spc="-84">
                <a:solidFill>
                  <a:srgbClr val="1D3A87"/>
                </a:solidFill>
                <a:latin typeface="Cambria"/>
              </a:rPr>
              <a:t>Simulator for Multi-turn Agent</a:t>
            </a:r>
          </a:p>
          <a:p>
            <a:pPr algn="ctr">
              <a:lnSpc>
                <a:spcPts val="8842"/>
              </a:lnSpc>
              <a:spcBef>
                <a:spcPts val="0"/>
              </a:spcBef>
              <a:spcAft>
                <a:spcPts val="0"/>
              </a:spcAft>
            </a:pPr>
            <a:r>
              <a:rPr sz="8038" b="1" spc="-84">
                <a:solidFill>
                  <a:srgbClr val="1D3A87"/>
                </a:solidFill>
                <a:latin typeface="Cambria"/>
              </a:rPr>
              <a:t>Evaluation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362820" y="5806826"/>
            <a:ext cx="20525562" cy="759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Cambria"/>
              </a:rPr>
              <a:t>Ryan Shea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1</a:t>
            </a:r>
            <a:r>
              <a:rPr sz="4000" b="0">
                <a:solidFill>
                  <a:srgbClr val="1B2331"/>
                </a:solidFill>
                <a:latin typeface="Cambria"/>
              </a:rPr>
              <a:t>, Yunan Lu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1,2</a:t>
            </a:r>
            <a:r>
              <a:rPr sz="4000" b="0">
                <a:solidFill>
                  <a:srgbClr val="1B2331"/>
                </a:solidFill>
                <a:latin typeface="Cambria"/>
              </a:rPr>
              <a:t>, Liang Qiu, Zhou Yu</a:t>
            </a:r>
            <a:r>
              <a:rPr sz="5600" b="0" baseline="30000">
                <a:solidFill>
                  <a:srgbClr val="1B2331"/>
                </a:solidFill>
                <a:latin typeface="Cambria"/>
              </a:rPr>
              <a:t>1,2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362820" y="6523697"/>
            <a:ext cx="20525562" cy="555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08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Cambria"/>
              </a:rPr>
              <a:t>1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Columbia University    </a:t>
            </a:r>
            <a:r>
              <a:rPr sz="3920" b="0" spc="56" baseline="30000">
                <a:solidFill>
                  <a:srgbClr val="55617A"/>
                </a:solidFill>
                <a:latin typeface="Cambria"/>
              </a:rPr>
              <a:t>2</a:t>
            </a:r>
            <a:r>
              <a:rPr sz="2800" b="0" spc="56">
                <a:solidFill>
                  <a:srgbClr val="55617A"/>
                </a:solidFill>
                <a:latin typeface="Cambria"/>
              </a:rPr>
              <a:t>Arklex.ai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1619" y="8184490"/>
            <a:ext cx="4362012" cy="1138899"/>
          </a:xfrm>
          <a:prstGeom prst="rect">
            <a:avLst/>
          </a:prstGeom>
          <a:noFill/>
        </p:spPr>
        <p:txBody>
          <a:bodyPr wrap="squar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Problem 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96929" y="8184490"/>
            <a:ext cx="4031753" cy="1138899"/>
          </a:xfrm>
          <a:prstGeom prst="rect">
            <a:avLst/>
          </a:prstGeom>
          <a:noFill/>
        </p:spPr>
        <p:txBody>
          <a:bodyPr wrap="non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Method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706960" y="8184490"/>
            <a:ext cx="5817907" cy="1138899"/>
          </a:xfrm>
          <a:prstGeom prst="rect">
            <a:avLst/>
          </a:prstGeom>
          <a:noFill/>
        </p:spPr>
        <p:txBody>
          <a:bodyPr wrap="squar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Key Results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402018" y="8886928"/>
            <a:ext cx="10316928" cy="40501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Simulator and agent converse in a shared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environment over the interaction history and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infrastructure knowledge, ending on a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monospace"/>
              </a:rPr>
              <a:t>###STOP###</a:t>
            </a:r>
            <a:r>
              <a:rPr sz="3400" b="0">
                <a:solidFill>
                  <a:srgbClr val="1C1C1C"/>
                </a:solidFill>
                <a:latin typeface="Cambria"/>
              </a:rPr>
              <a:t> sentinel or turn budget. An LLM-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as-a-Judge scores each reply on five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dimensions: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1619" y="9517649"/>
            <a:ext cx="8082206" cy="60752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Evaluating multi-turn interactive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agents demands costly human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assessment. Existing user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simulators model </a:t>
            </a:r>
            <a:r>
              <a:rPr sz="3400" b="1">
                <a:solidFill>
                  <a:srgbClr val="111111"/>
                </a:solidFill>
                <a:latin typeface="Cambria"/>
              </a:rPr>
              <a:t>generic users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and overlook the domain-specific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business knowledge needed to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reproduce realistic behavior —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yielding interactions of limited</a:t>
            </a:r>
          </a:p>
          <a:p>
            <a:pPr algn="l">
              <a:lnSpc>
                <a:spcPts val="4624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evaluation utility.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291335" y="12854115"/>
            <a:ext cx="6424784" cy="1016043"/>
          </a:xfrm>
          <a:prstGeom prst="rect">
            <a:avLst/>
          </a:prstGeom>
          <a:noFill/>
        </p:spPr>
        <p:txBody>
          <a:bodyPr wrap="square" lIns="326498" rIns="326498" tIns="55971" bIns="55971">
            <a:spAutoFit/>
          </a:bodyPr>
          <a:lstStyle/>
          <a:p>
            <a:pPr algn="ctr">
              <a:lnSpc>
                <a:spcPts val="4994"/>
              </a:lnSpc>
              <a:spcBef>
                <a:spcPts val="0"/>
              </a:spcBef>
              <a:spcAft>
                <a:spcPts val="0"/>
              </a:spcAft>
            </a:pPr>
            <a:r>
              <a:rPr sz="3672" b="0">
                <a:solidFill>
                  <a:srgbClr val="1C1C1C"/>
                </a:solidFill>
                <a:latin typeface="Cambria Math"/>
              </a:rPr>
              <a:t>                             </a:t>
            </a:r>
            <a:r>
              <a:rPr sz="3672" b="0">
                <a:solidFill>
                  <a:srgbClr val="1C1C1C"/>
                </a:solidFill>
                <a:latin typeface="Cambria Math"/>
              </a:rPr>
              <a:t>  keep </a:t>
            </a:r>
            <a:r>
              <a:rPr sz="3672" b="0">
                <a:solidFill>
                  <a:srgbClr val="1C1C1C"/>
                </a:solidFill>
                <a:latin typeface="Cambria Math"/>
              </a:rPr>
              <a:t> </a:t>
            </a:r>
            <a:r>
              <a:rPr sz="3672" b="0">
                <a:solidFill>
                  <a:srgbClr val="1C1C1C"/>
                </a:solidFill>
                <a:latin typeface="Cambria Math"/>
              </a:rPr>
              <a:t> as a bug iff </a:t>
            </a:r>
            <a:r>
              <a:rPr sz="3672" b="0">
                <a:solidFill>
                  <a:srgbClr val="1C1C1C"/>
                </a:solidFill>
                <a:latin typeface="Cambria Math"/>
              </a:rPr>
              <a:t>              </a:t>
            </a:r>
            <a:r>
              <a:rPr sz="3672" b="0">
                <a:solidFill>
                  <a:srgbClr val="1C1C1C"/>
                </a:solidFill>
                <a:latin typeface="Cambria Math"/>
              </a:rPr>
              <a:t> </a:t>
            </a:r>
            <a:r>
              <a:rPr sz="1836" b="0" i="1">
                <a:solidFill>
                  <a:srgbClr val="555555"/>
                </a:solidFill>
                <a:latin typeface="Cambria Math"/>
              </a:rPr>
              <a:t>scored on helpfulness, coherence, verbosity, relevance, faithfulness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06960" y="12860067"/>
            <a:ext cx="8916663" cy="1138899"/>
          </a:xfrm>
          <a:prstGeom prst="rect">
            <a:avLst/>
          </a:prstGeom>
          <a:noFill/>
        </p:spPr>
        <p:txBody>
          <a:bodyPr wrap="squar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Headline Numbers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61619" y="15016182"/>
            <a:ext cx="8082206" cy="1409592"/>
          </a:xfrm>
          <a:prstGeom prst="rect">
            <a:avLst/>
          </a:prstGeom>
          <a:noFill/>
        </p:spPr>
        <p:txBody>
          <a:bodyPr wrap="none" lIns="302313" rIns="302313" tIns="51825" bIns="51825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1C1C1C"/>
                </a:solidFill>
                <a:latin typeface="Cambria"/>
              </a:rPr>
              <a:t>Evaluation is the bottleneck —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1C1C1C"/>
                </a:solidFill>
                <a:latin typeface="Cambria"/>
              </a:rPr>
              <a:t>human testing does not scale.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61619" y="17243421"/>
            <a:ext cx="5430179" cy="1138897"/>
          </a:xfrm>
          <a:prstGeom prst="rect">
            <a:avLst/>
          </a:prstGeom>
          <a:noFill/>
        </p:spPr>
        <p:txBody>
          <a:bodyPr wrap="squar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Motivation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754572" y="18644575"/>
            <a:ext cx="4867286" cy="1138900"/>
          </a:xfrm>
          <a:prstGeom prst="rect">
            <a:avLst/>
          </a:prstGeom>
          <a:noFill/>
        </p:spPr>
        <p:txBody>
          <a:bodyPr wrap="square" lIns="320096" rIns="320096" tIns="76214" bIns="76214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FFFFFF"/>
                </a:solidFill>
                <a:latin typeface="Cambria"/>
              </a:rPr>
              <a:t>Takeaway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754572" y="19977734"/>
            <a:ext cx="9349906" cy="393104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Grounding a user simulator in real</a:t>
            </a:r>
          </a:p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business knowledge — customer profiles</a:t>
            </a:r>
          </a:p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plus agent infrastructure — makes</a:t>
            </a:r>
          </a:p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interactions more realistic and finds</a:t>
            </a:r>
          </a:p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more agent bugs than generic simulators</a:t>
            </a:r>
          </a:p>
          <a:p>
            <a:pPr algn="l">
              <a:lnSpc>
                <a:spcPts val="4488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or even human testers.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754572" y="23611780"/>
            <a:ext cx="9349906" cy="2213631"/>
          </a:xfrm>
          <a:prstGeom prst="rect">
            <a:avLst/>
          </a:prstGeom>
          <a:noFill/>
        </p:spPr>
        <p:txBody>
          <a:bodyPr wrap="none" lIns="280720" rIns="280720" tIns="120926" bIns="120926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Business-grounded simulation &gt;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generic simulation for bug-finding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evaluation.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61619" y="26509317"/>
            <a:ext cx="8082206" cy="3536983"/>
          </a:xfrm>
          <a:prstGeom prst="rect">
            <a:avLst/>
          </a:prstGeom>
          <a:noFill/>
        </p:spPr>
        <p:txBody>
          <a:bodyPr wrap="none" lIns="280720" rIns="280720" tIns="120926" bIns="120926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Key idea: inject </a:t>
            </a:r>
            <a:r>
              <a:rPr sz="3400" b="1">
                <a:solidFill>
                  <a:srgbClr val="111111"/>
                </a:solidFill>
                <a:latin typeface="Cambria"/>
              </a:rPr>
              <a:t>top-down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customer profiles </a:t>
            </a:r>
            <a:r>
              <a:rPr sz="3400" b="0" i="1">
                <a:solidFill>
                  <a:srgbClr val="1D3A87"/>
                </a:solidFill>
                <a:latin typeface="Cambria"/>
              </a:rPr>
              <a:t>and</a:t>
            </a:r>
            <a:r>
              <a:rPr sz="3400" b="0">
                <a:solidFill>
                  <a:srgbClr val="1D3A87"/>
                </a:solidFill>
                <a:latin typeface="Cambria"/>
              </a:rPr>
              <a:t> </a:t>
            </a:r>
            <a:r>
              <a:rPr sz="3400" b="1">
                <a:solidFill>
                  <a:srgbClr val="111111"/>
                </a:solidFill>
                <a:latin typeface="Cambria"/>
              </a:rPr>
              <a:t>bottom-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Cambria"/>
              </a:rPr>
              <a:t>up</a:t>
            </a:r>
            <a:r>
              <a:rPr sz="3400" b="0">
                <a:solidFill>
                  <a:srgbClr val="1D3A87"/>
                </a:solidFill>
                <a:latin typeface="Cambria"/>
              </a:rPr>
              <a:t> agent infrastructure so the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simulated user behaves like a</a:t>
            </a:r>
          </a:p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D3A87"/>
                </a:solidFill>
                <a:latin typeface="Cambria"/>
              </a:rPr>
              <a:t>real customer of </a:t>
            </a:r>
            <a:r>
              <a:rPr sz="3400" b="0" i="1">
                <a:solidFill>
                  <a:srgbClr val="1D3A87"/>
                </a:solidFill>
                <a:latin typeface="Cambria"/>
              </a:rPr>
              <a:t>this</a:t>
            </a:r>
            <a:r>
              <a:rPr sz="3400" b="0">
                <a:solidFill>
                  <a:srgbClr val="1D3A87"/>
                </a:solidFill>
                <a:latin typeface="Cambria"/>
              </a:rPr>
              <a:t> business.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127066" y="8195799"/>
            <a:ext cx="5765187" cy="599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570" b="1">
                <a:solidFill>
                  <a:srgbClr val="1D3A87"/>
                </a:solidFill>
                <a:latin typeface="Cambria"/>
              </a:rPr>
              <a:t>Generate Interactions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250599" y="8294744"/>
            <a:ext cx="3262889" cy="371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sz="2213" b="1" i="1">
                <a:solidFill>
                  <a:srgbClr val="555555"/>
                </a:solidFill>
                <a:latin typeface="Cambria"/>
              </a:rPr>
              <a:t>shared environment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97615" y="13552685"/>
            <a:ext cx="9491666" cy="1587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788" b="0" i="1">
                <a:solidFill>
                  <a:srgbClr val="555555"/>
                </a:solidFill>
                <a:latin typeface="Cambria"/>
              </a:rPr>
              <a:t>SAGE overview: configure knowledge → build</a:t>
            </a:r>
          </a:p>
          <a:p>
            <a:pPr algn="ctr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788" b="0" i="1">
                <a:solidFill>
                  <a:srgbClr val="555555"/>
                </a:solidFill>
                <a:latin typeface="Cambria"/>
              </a:rPr>
              <a:t>scenarios → generate interactions → evaluate</a:t>
            </a:r>
          </a:p>
          <a:p>
            <a:pPr algn="ctr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788" b="0" i="1">
                <a:solidFill>
                  <a:srgbClr val="555555"/>
                </a:solidFill>
                <a:latin typeface="Cambria"/>
              </a:rPr>
              <a:t>agent.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127066" y="14980324"/>
            <a:ext cx="6539722" cy="599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570" b="1">
                <a:solidFill>
                  <a:srgbClr val="1D3A87"/>
                </a:solidFill>
                <a:latin typeface="Cambria"/>
              </a:rPr>
              <a:t>Evaluate &amp; Identify Bugs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8931753" y="15079270"/>
            <a:ext cx="2561301" cy="371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sz="2213" b="1" i="1">
                <a:solidFill>
                  <a:srgbClr val="555555"/>
                </a:solidFill>
                <a:latin typeface="Cambria"/>
              </a:rPr>
              <a:t>LLM-as-a-Judge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401737" y="15671455"/>
            <a:ext cx="10317217" cy="20250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400" b="0">
                <a:solidFill>
                  <a:srgbClr val="1C1C1C"/>
                </a:solidFill>
                <a:latin typeface="Cambria"/>
              </a:rPr>
              <a:t>Low-scoring turns are summarized into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11111"/>
                </a:solidFill>
                <a:latin typeface="Cambria"/>
              </a:rPr>
              <a:t>fine-grained, unique bug statements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with linked turns.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21974" y="16489203"/>
            <a:ext cx="5615462" cy="5992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570" b="1">
                <a:solidFill>
                  <a:srgbClr val="1D3A87"/>
                </a:solidFill>
                <a:latin typeface="Cambria"/>
              </a:rPr>
              <a:t>Configure Knowledge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559106" y="16588150"/>
            <a:ext cx="3661038" cy="3716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sz="2213" b="1" i="1">
                <a:solidFill>
                  <a:srgbClr val="555555"/>
                </a:solidFill>
                <a:latin typeface="Cambria"/>
              </a:rPr>
              <a:t>top-down &amp; bottom-up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096647" y="17180333"/>
            <a:ext cx="10317370" cy="13500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400" b="1">
                <a:solidFill>
                  <a:srgbClr val="111111"/>
                </a:solidFill>
                <a:latin typeface="Cambria"/>
              </a:rPr>
              <a:t>User attributes</a:t>
            </a:r>
            <a:r>
              <a:rPr sz="3400" b="0">
                <a:solidFill>
                  <a:srgbClr val="1C1C1C"/>
                </a:solidFill>
                <a:latin typeface="Cambria"/>
              </a:rPr>
              <a:t>: Big-Five personality &amp;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demographics (individual differences).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401737" y="17583406"/>
            <a:ext cx="10317217" cy="1350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400" b="0">
                <a:solidFill>
                  <a:srgbClr val="1C1C1C"/>
                </a:solidFill>
                <a:latin typeface="Cambria"/>
              </a:rPr>
              <a:t>LLM bug lists match human experts at </a:t>
            </a:r>
            <a:r>
              <a:rPr sz="3400" b="1">
                <a:solidFill>
                  <a:srgbClr val="111111"/>
                </a:solidFill>
                <a:latin typeface="Cambria"/>
              </a:rPr>
              <a:t>F1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11111"/>
                </a:solidFill>
                <a:latin typeface="Cambria"/>
              </a:rPr>
              <a:t>0.73</a:t>
            </a:r>
            <a:r>
              <a:rPr sz="3400" b="0">
                <a:solidFill>
                  <a:srgbClr val="1C1C1C"/>
                </a:solidFill>
                <a:latin typeface="Cambria"/>
              </a:rPr>
              <a:t> (Fleiss' κ 0.85).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96647" y="18505309"/>
            <a:ext cx="10317370" cy="1350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400" b="1">
                <a:solidFill>
                  <a:srgbClr val="111111"/>
                </a:solidFill>
                <a:latin typeface="Cambria"/>
              </a:rPr>
              <a:t>ICPs</a:t>
            </a:r>
            <a:r>
              <a:rPr sz="3400" b="0">
                <a:solidFill>
                  <a:srgbClr val="1C1C1C"/>
                </a:solidFill>
                <a:latin typeface="Cambria"/>
              </a:rPr>
              <a:t>: firmographics, decision authority,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budget — the most valuable customers.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1338" y="18576578"/>
            <a:ext cx="8082495" cy="40501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400" b="0">
                <a:solidFill>
                  <a:srgbClr val="1C1C1C"/>
                </a:solidFill>
                <a:latin typeface="Cambria"/>
              </a:rPr>
              <a:t>Real agents are deployed in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111111"/>
                </a:solidFill>
                <a:latin typeface="Cambria"/>
              </a:rPr>
              <a:t>specialized business settings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where behavior is shaped by </a:t>
            </a:r>
            <a:r>
              <a:rPr sz="3400" b="0" i="1">
                <a:solidFill>
                  <a:srgbClr val="1C1C1C"/>
                </a:solidFill>
                <a:latin typeface="Cambria"/>
              </a:rPr>
              <a:t>who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the user is (role, demographics,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budget) and </a:t>
            </a:r>
            <a:r>
              <a:rPr sz="3400" b="0" i="1">
                <a:solidFill>
                  <a:srgbClr val="1C1C1C"/>
                </a:solidFill>
                <a:latin typeface="Cambria"/>
              </a:rPr>
              <a:t>what</a:t>
            </a:r>
            <a:r>
              <a:rPr sz="3400" b="0">
                <a:solidFill>
                  <a:srgbClr val="1C1C1C"/>
                </a:solidFill>
                <a:latin typeface="Cambria"/>
              </a:rPr>
              <a:t> company-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specific information they seek.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402018" y="19005391"/>
            <a:ext cx="2080244" cy="11604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949"/>
              </a:lnSpc>
              <a:spcBef>
                <a:spcPts val="0"/>
              </a:spcBef>
              <a:spcAft>
                <a:spcPts val="0"/>
              </a:spcAft>
            </a:pPr>
            <a:r>
              <a:rPr sz="6794" b="1">
                <a:solidFill>
                  <a:srgbClr val="1D3A87"/>
                </a:solidFill>
                <a:latin typeface="Cambria"/>
              </a:rPr>
              <a:t>94%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663155" y="19053004"/>
            <a:ext cx="7760684" cy="11732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37"/>
              </a:lnSpc>
              <a:spcBef>
                <a:spcPts val="0"/>
              </a:spcBef>
              <a:spcAft>
                <a:spcPts val="0"/>
              </a:spcAft>
            </a:pPr>
            <a:r>
              <a:rPr sz="3060" b="0">
                <a:solidFill>
                  <a:srgbClr val="555555"/>
                </a:solidFill>
                <a:latin typeface="Cambria"/>
              </a:rPr>
              <a:t>of flagged low-scoring turns were real</a:t>
            </a:r>
          </a:p>
          <a:p>
            <a:pPr algn="l">
              <a:lnSpc>
                <a:spcPts val="4437"/>
              </a:lnSpc>
              <a:spcBef>
                <a:spcPts val="0"/>
              </a:spcBef>
              <a:spcAft>
                <a:spcPts val="0"/>
              </a:spcAft>
            </a:pPr>
            <a:r>
              <a:rPr sz="3060" b="0">
                <a:solidFill>
                  <a:srgbClr val="555555"/>
                </a:solidFill>
                <a:latin typeface="Cambria"/>
              </a:rPr>
              <a:t>bugs (human-verified)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096647" y="19830283"/>
            <a:ext cx="10317370" cy="13500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400" b="1">
                <a:solidFill>
                  <a:srgbClr val="111111"/>
                </a:solidFill>
                <a:latin typeface="Cambria"/>
              </a:rPr>
              <a:t>Agent infrastructure</a:t>
            </a:r>
            <a:r>
              <a:rPr sz="3400" b="0">
                <a:solidFill>
                  <a:srgbClr val="1C1C1C"/>
                </a:solidFill>
                <a:latin typeface="Cambria"/>
              </a:rPr>
              <a:t>: the company's own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knowledge, given to the simulator.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61338" y="22249459"/>
            <a:ext cx="8082495" cy="4725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475064" indent="-475064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400" b="0">
                <a:solidFill>
                  <a:srgbClr val="1C1C1C"/>
                </a:solidFill>
                <a:latin typeface="Cambria"/>
              </a:rPr>
              <a:t>Simulators that ignore business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design principles — ideal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customer profiles, product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knowledge — produce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interactions that are less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realistic and hard to use for</a:t>
            </a:r>
          </a:p>
          <a:p>
            <a:pPr algn="l" marL="475064" indent="0">
              <a:lnSpc>
                <a:spcPts val="4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0">
                <a:solidFill>
                  <a:srgbClr val="1C1C1C"/>
                </a:solidFill>
                <a:latin typeface="Cambria"/>
              </a:rPr>
              <a:t>rigorous evaluation.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821974" y="22987756"/>
            <a:ext cx="5225281" cy="11984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570" b="1">
                <a:solidFill>
                  <a:srgbClr val="1D3A87"/>
                </a:solidFill>
                <a:latin typeface="Cambria"/>
              </a:rPr>
              <a:t>Build Task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570" b="1">
                <a:solidFill>
                  <a:srgbClr val="1D3A87"/>
                </a:solidFill>
                <a:latin typeface="Cambria"/>
              </a:rPr>
              <a:t>Scenarios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076287" y="23185646"/>
            <a:ext cx="4158341" cy="743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sz="2213" b="1" i="1">
                <a:solidFill>
                  <a:srgbClr val="555555"/>
                </a:solidFill>
                <a:latin typeface="Cambria"/>
              </a:rPr>
              <a:t>goal → knowledge →</a:t>
            </a:r>
          </a:p>
          <a:p>
            <a:pPr algn="l">
              <a:lnSpc>
                <a:spcPts val="2545"/>
              </a:lnSpc>
              <a:spcBef>
                <a:spcPts val="0"/>
              </a:spcBef>
              <a:spcAft>
                <a:spcPts val="0"/>
              </a:spcAft>
            </a:pPr>
            <a:r>
              <a:rPr sz="2213" b="1" i="1">
                <a:solidFill>
                  <a:srgbClr val="555555"/>
                </a:solidFill>
                <a:latin typeface="Cambria"/>
              </a:rPr>
              <a:t>profile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93623" y="24188491"/>
            <a:ext cx="9496485" cy="8348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Cambria"/>
              </a:rPr>
              <a:t>Pick a user goal</a:t>
            </a:r>
            <a:r>
              <a:rPr sz="3400" b="0">
                <a:solidFill>
                  <a:srgbClr val="1C1C1C"/>
                </a:solidFill>
                <a:latin typeface="Cambria"/>
              </a:rPr>
              <a:t> from agent capabilities.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893623" y="25173330"/>
            <a:ext cx="9496485" cy="2224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Cambria"/>
              </a:rPr>
              <a:t>Select</a:t>
            </a:r>
            <a:r>
              <a:rPr sz="3400" b="0">
                <a:solidFill>
                  <a:srgbClr val="1C1C1C"/>
                </a:solidFill>
                <a:latin typeface="Cambria"/>
              </a:rPr>
              <a:t> the most relevant infrastructure</a:t>
            </a:r>
          </a:p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knowledge (hierarchical, clustering-based,</a:t>
            </a:r>
          </a:p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1C1C1C"/>
                </a:solidFill>
                <a:latin typeface="Cambria"/>
              </a:rPr>
              <a:t>diverse-yet-relevant</a:t>
            </a:r>
            <a:r>
              <a:rPr sz="3400" b="0">
                <a:solidFill>
                  <a:srgbClr val="1C1C1C"/>
                </a:solidFill>
                <a:latin typeface="Cambria"/>
              </a:rPr>
              <a:t>).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706960" y="25774144"/>
            <a:ext cx="4281404" cy="729779"/>
          </a:xfrm>
          <a:prstGeom prst="rect">
            <a:avLst/>
          </a:prstGeom>
          <a:noFill/>
        </p:spPr>
        <p:txBody>
          <a:bodyPr wrap="square" lIns="213397" rIns="213397" tIns="50809" bIns="50809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3A87"/>
                </a:solidFill>
                <a:latin typeface="Cambria"/>
              </a:rPr>
              <a:t>Scan to Read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93623" y="27366646"/>
            <a:ext cx="9496485" cy="22245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Cambria"/>
              </a:rPr>
              <a:t>Build</a:t>
            </a:r>
            <a:r>
              <a:rPr sz="3400" b="0">
                <a:solidFill>
                  <a:srgbClr val="1C1C1C"/>
                </a:solidFill>
                <a:latin typeface="Cambria"/>
              </a:rPr>
              <a:t> a coherent user profile, then</a:t>
            </a:r>
          </a:p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Cambria"/>
              </a:rPr>
              <a:t>compose</a:t>
            </a:r>
            <a:r>
              <a:rPr sz="3400" b="0">
                <a:solidFill>
                  <a:srgbClr val="1C1C1C"/>
                </a:solidFill>
                <a:latin typeface="Cambria"/>
              </a:rPr>
              <a:t> a natural-language scenario</a:t>
            </a:r>
          </a:p>
          <a:p>
            <a:pPr algn="l">
              <a:lnSpc>
                <a:spcPts val="476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C1C1C"/>
                </a:solidFill>
                <a:latin typeface="Cambria"/>
              </a:rPr>
              <a:t>prompt.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2314539" y="27413812"/>
            <a:ext cx="8437137" cy="5290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625"/>
              </a:lnSpc>
              <a:spcBef>
                <a:spcPts val="0"/>
              </a:spcBef>
              <a:spcAft>
                <a:spcPts val="0"/>
              </a:spcAft>
            </a:pPr>
            <a:r>
              <a:rPr sz="2788" b="0" i="1">
                <a:solidFill>
                  <a:srgbClr val="555555"/>
                </a:solidFill>
                <a:latin typeface="Cambria"/>
              </a:rPr>
              <a:t>Unique errors by category (RAG sales agent).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970316" y="14485301"/>
            <a:ext cx="4470668" cy="16645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1D3A87"/>
                </a:solidFill>
                <a:latin typeface="Cambria"/>
              </a:rPr>
              <a:t>+33%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970316" y="15958024"/>
            <a:ext cx="4470668" cy="12846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Cambria"/>
              </a:rPr>
              <a:t>more agent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Cambria"/>
              </a:rPr>
              <a:t>bugs identified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970316" y="17075139"/>
            <a:ext cx="4470668" cy="1007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Cambria"/>
              </a:rPr>
              <a:t>vs. existing user-</a:t>
            </a:r>
          </a:p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Cambria"/>
              </a:rPr>
              <a:t>simulation methods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1574613" y="28022362"/>
            <a:ext cx="2935237" cy="794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40"/>
              </a:lnSpc>
              <a:spcBef>
                <a:spcPts val="0"/>
              </a:spcBef>
              <a:spcAft>
                <a:spcPts val="0"/>
              </a:spcAft>
            </a:pPr>
            <a:r>
              <a:rPr sz="5440" b="1">
                <a:solidFill>
                  <a:srgbClr val="1D3A87"/>
                </a:solidFill>
                <a:latin typeface="Cambria"/>
              </a:rPr>
              <a:t>2.58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4985289" y="28022362"/>
            <a:ext cx="2935390" cy="794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40"/>
              </a:lnSpc>
              <a:spcBef>
                <a:spcPts val="0"/>
              </a:spcBef>
              <a:spcAft>
                <a:spcPts val="0"/>
              </a:spcAft>
            </a:pPr>
            <a:r>
              <a:rPr sz="5440" b="1">
                <a:solidFill>
                  <a:srgbClr val="1D3A87"/>
                </a:solidFill>
                <a:latin typeface="Cambria"/>
              </a:rPr>
              <a:t>86.0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396116" y="28022362"/>
            <a:ext cx="2935235" cy="7942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40"/>
              </a:lnSpc>
              <a:spcBef>
                <a:spcPts val="0"/>
              </a:spcBef>
              <a:spcAft>
                <a:spcPts val="0"/>
              </a:spcAft>
            </a:pPr>
            <a:r>
              <a:rPr sz="5440" b="1">
                <a:solidFill>
                  <a:srgbClr val="1D3A87"/>
                </a:solidFill>
                <a:latin typeface="Cambria"/>
              </a:rPr>
              <a:t>150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574613" y="28769139"/>
            <a:ext cx="2935237" cy="7419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human-likeness</a:t>
            </a:r>
          </a:p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(vs 2.90)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985289" y="28769139"/>
            <a:ext cx="2935390" cy="7419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MTLD</a:t>
            </a:r>
          </a:p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(human 86.8)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8396116" y="28769139"/>
            <a:ext cx="2935235" cy="7419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interactions</a:t>
            </a:r>
          </a:p>
          <a:p>
            <a:pPr algn="ctr">
              <a:lnSpc>
                <a:spcPts val="2541"/>
              </a:lnSpc>
              <a:spcBef>
                <a:spcPts val="0"/>
              </a:spcBef>
              <a:spcAft>
                <a:spcPts val="0"/>
              </a:spcAft>
            </a:pPr>
            <a:r>
              <a:rPr sz="2210" b="0">
                <a:solidFill>
                  <a:srgbClr val="555555"/>
                </a:solidFill>
                <a:latin typeface="Cambria"/>
              </a:rPr>
              <a:t>/ condition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706960" y="9517649"/>
            <a:ext cx="4027311" cy="620610"/>
          </a:xfrm>
          <a:prstGeom prst="rect">
            <a:avLst/>
          </a:prstGeom>
          <a:noFill/>
        </p:spPr>
        <p:txBody>
          <a:bodyPr wrap="none" lIns="153856" rIns="153856" tIns="67697" bIns="67697">
            <a:spAutoFit/>
          </a:bodyPr>
          <a:lstStyle/>
          <a:p>
            <a:pPr algn="l">
              <a:lnSpc>
                <a:spcPts val="3149"/>
              </a:lnSpc>
              <a:spcBef>
                <a:spcPts val="0"/>
              </a:spcBef>
              <a:spcAft>
                <a:spcPts val="0"/>
              </a:spcAft>
            </a:pPr>
            <a:r>
              <a:rPr sz="2422" b="1" spc="121">
                <a:solidFill>
                  <a:srgbClr val="555555"/>
                </a:solidFill>
                <a:latin typeface="Cambria"/>
              </a:rPr>
              <a:t>METHOD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6616971" y="9517649"/>
            <a:ext cx="2537088" cy="620610"/>
          </a:xfrm>
          <a:prstGeom prst="rect">
            <a:avLst/>
          </a:prstGeom>
          <a:noFill/>
        </p:spPr>
        <p:txBody>
          <a:bodyPr wrap="square" lIns="153856" rIns="153856" tIns="67697" bIns="67697">
            <a:spAutoFit/>
          </a:bodyPr>
          <a:lstStyle/>
          <a:p>
            <a:pPr algn="l">
              <a:lnSpc>
                <a:spcPts val="3149"/>
              </a:lnSpc>
              <a:spcBef>
                <a:spcPts val="0"/>
              </a:spcBef>
              <a:spcAft>
                <a:spcPts val="0"/>
              </a:spcAft>
            </a:pPr>
            <a:r>
              <a:rPr sz="2422" b="1" spc="121">
                <a:solidFill>
                  <a:srgbClr val="555555"/>
                </a:solidFill>
                <a:latin typeface="Cambria"/>
              </a:rPr>
              <a:t>RAG BUGS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9080164" y="9517649"/>
            <a:ext cx="2834546" cy="620610"/>
          </a:xfrm>
          <a:prstGeom prst="rect">
            <a:avLst/>
          </a:prstGeom>
          <a:noFill/>
        </p:spPr>
        <p:txBody>
          <a:bodyPr wrap="square" lIns="153856" rIns="153856" tIns="67697" bIns="67697">
            <a:spAutoFit/>
          </a:bodyPr>
          <a:lstStyle/>
          <a:p>
            <a:pPr algn="l">
              <a:lnSpc>
                <a:spcPts val="3149"/>
              </a:lnSpc>
              <a:spcBef>
                <a:spcPts val="0"/>
              </a:spcBef>
              <a:spcAft>
                <a:spcPts val="0"/>
              </a:spcAft>
            </a:pPr>
            <a:r>
              <a:rPr sz="2422" b="1" spc="121">
                <a:solidFill>
                  <a:srgbClr val="555555"/>
                </a:solidFill>
                <a:latin typeface="Cambria"/>
              </a:rPr>
              <a:t>SHOP BUGS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706960" y="10057310"/>
            <a:ext cx="4027311" cy="831245"/>
          </a:xfrm>
          <a:prstGeom prst="rect">
            <a:avLst/>
          </a:prstGeom>
          <a:noFill/>
        </p:spPr>
        <p:txBody>
          <a:bodyPr wrap="squar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w/o Agent-Infra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6616971" y="10057310"/>
            <a:ext cx="2537088" cy="831245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13.6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080164" y="10057310"/>
            <a:ext cx="2834546" cy="831245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13.0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706960" y="10780132"/>
            <a:ext cx="4027311" cy="831244"/>
          </a:xfrm>
          <a:prstGeom prst="rect">
            <a:avLst/>
          </a:prstGeom>
          <a:noFill/>
        </p:spPr>
        <p:txBody>
          <a:bodyPr wrap="squar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w/o ICP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616971" y="10780132"/>
            <a:ext cx="2537088" cy="831244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29.0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9080164" y="10780132"/>
            <a:ext cx="2834546" cy="831244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0">
                <a:solidFill>
                  <a:srgbClr val="1C1C1C"/>
                </a:solidFill>
                <a:latin typeface="Cambria"/>
              </a:rPr>
              <a:t>14.4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2706960" y="11502953"/>
            <a:ext cx="4027311" cy="831246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1">
                <a:solidFill>
                  <a:srgbClr val="1C1C1C"/>
                </a:solidFill>
                <a:latin typeface="Cambria"/>
              </a:rPr>
              <a:t>SAGE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6616971" y="11502953"/>
            <a:ext cx="2537088" cy="831246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1">
                <a:solidFill>
                  <a:srgbClr val="1C1C1C"/>
                </a:solidFill>
                <a:latin typeface="Cambria"/>
              </a:rPr>
              <a:t>38.6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9080164" y="11502953"/>
            <a:ext cx="2834546" cy="831246"/>
          </a:xfrm>
          <a:prstGeom prst="rect">
            <a:avLst/>
          </a:prstGeom>
          <a:noFill/>
        </p:spPr>
        <p:txBody>
          <a:bodyPr wrap="none" lIns="205141" rIns="205141" tIns="90263" bIns="90263">
            <a:spAutoFit/>
          </a:bodyPr>
          <a:lstStyle/>
          <a:p>
            <a:pPr algn="l">
              <a:lnSpc>
                <a:spcPts val="4199"/>
              </a:lnSpc>
              <a:spcBef>
                <a:spcPts val="0"/>
              </a:spcBef>
              <a:spcAft>
                <a:spcPts val="0"/>
              </a:spcAft>
            </a:pPr>
            <a:r>
              <a:rPr sz="3230" b="1">
                <a:solidFill>
                  <a:srgbClr val="1C1C1C"/>
                </a:solidFill>
                <a:latin typeface="Cambria"/>
              </a:rPr>
              <a:t>18.0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183564" y="14431289"/>
            <a:ext cx="1441030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38.6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9733640" y="14564605"/>
            <a:ext cx="1890213" cy="1051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bugs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(RAG)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8183564" y="15694517"/>
            <a:ext cx="1441030" cy="6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2.58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9733640" y="15827833"/>
            <a:ext cx="1890213" cy="1051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human-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like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8183564" y="16957743"/>
            <a:ext cx="1441030" cy="671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Cambria"/>
              </a:rPr>
              <a:t>0.73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9733640" y="17091059"/>
            <a:ext cx="1890213" cy="1051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bug-ID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Cambria"/>
              </a:rPr>
              <a:t>F1</a:t>
            </a:r>
          </a:p>
        </p:txBody>
      </p:sp>
      <p:pic>
        <p:nvPicPr>
          <p:cNvPr id="150" name="Picture 149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11904" y="12854115"/>
            <a:ext cx="3417369" cy="523741"/>
          </a:xfrm>
          <a:prstGeom prst="rect">
            <a:avLst/>
          </a:prstGeom>
        </p:spPr>
      </p:pic>
      <p:pic>
        <p:nvPicPr>
          <p:cNvPr id="151" name="Picture 150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658861" y="12854115"/>
            <a:ext cx="174828" cy="523741"/>
          </a:xfrm>
          <a:prstGeom prst="rect">
            <a:avLst/>
          </a:prstGeom>
        </p:spPr>
      </p:pic>
      <p:pic>
        <p:nvPicPr>
          <p:cNvPr id="152" name="Picture 151" descr="eq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42438" y="12854115"/>
            <a:ext cx="1665983" cy="523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