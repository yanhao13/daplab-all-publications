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904" y="545910"/>
            <a:ext cx="41702113" cy="5097247"/>
          </a:xfrm>
          <a:prstGeom prst="roundRect">
            <a:avLst>
              <a:gd name="adj" fmla="val 2990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56815" y="1821040"/>
            <a:ext cx="5801408" cy="25468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39170" y="1821040"/>
            <a:ext cx="19053" cy="2546838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5904" y="6024060"/>
            <a:ext cx="7177849" cy="11023404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0831" y="6024060"/>
            <a:ext cx="11153922" cy="9808236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91832" y="6024060"/>
            <a:ext cx="10839829" cy="6420437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8738" y="6024060"/>
            <a:ext cx="11159280" cy="9007151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791832" y="12799956"/>
            <a:ext cx="10839829" cy="16916827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8738" y="15386670"/>
            <a:ext cx="11159280" cy="6887190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0831" y="16187755"/>
            <a:ext cx="11153922" cy="6334734"/>
          </a:xfrm>
          <a:prstGeom prst="roundRect">
            <a:avLst>
              <a:gd name="adj" fmla="val 1403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5904" y="17402923"/>
            <a:ext cx="7177849" cy="12313860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8738" y="22629319"/>
            <a:ext cx="11159280" cy="7087464"/>
          </a:xfrm>
          <a:prstGeom prst="roundRect">
            <a:avLst>
              <a:gd name="adj" fmla="val 1254"/>
            </a:avLst>
          </a:prstGeom>
          <a:solidFill>
            <a:srgbClr val="EEF0F4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8738" y="22629319"/>
            <a:ext cx="57160" cy="7087464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0831" y="22877949"/>
            <a:ext cx="11153922" cy="6838834"/>
          </a:xfrm>
          <a:prstGeom prst="roundRect">
            <a:avLst>
              <a:gd name="adj" fmla="val 1300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1619" y="6439779"/>
            <a:ext cx="3670014" cy="857923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6546" y="6439779"/>
            <a:ext cx="3392078" cy="857923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04454" y="6439779"/>
            <a:ext cx="4894840" cy="857923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207546" y="9764938"/>
            <a:ext cx="10008399" cy="2150759"/>
          </a:xfrm>
          <a:prstGeom prst="roundRect">
            <a:avLst>
              <a:gd name="adj" fmla="val 8419"/>
            </a:avLst>
          </a:prstGeom>
          <a:solidFill>
            <a:srgbClr val="F3F4F5"/>
          </a:solidFill>
          <a:ln w="9526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04454" y="10802004"/>
            <a:ext cx="10327846" cy="1593243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4454" y="12620961"/>
            <a:ext cx="10327846" cy="1801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04454" y="12620961"/>
            <a:ext cx="10327846" cy="12385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504454" y="15802389"/>
            <a:ext cx="7502059" cy="857923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504454" y="16957297"/>
            <a:ext cx="10327846" cy="4900845"/>
          </a:xfrm>
          <a:prstGeom prst="roundRect">
            <a:avLst>
              <a:gd name="adj" fmla="val 1555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9526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619" y="17818643"/>
            <a:ext cx="4568696" cy="857922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552064" y="23045040"/>
            <a:ext cx="4095105" cy="857923"/>
          </a:xfrm>
          <a:prstGeom prst="roundRect">
            <a:avLst>
              <a:gd name="adj" fmla="val 11844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1619" y="25231657"/>
            <a:ext cx="6346419" cy="4079225"/>
          </a:xfrm>
          <a:prstGeom prst="roundRect">
            <a:avLst>
              <a:gd name="adj" fmla="val 411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207546" y="26419299"/>
            <a:ext cx="10008399" cy="22785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207546" y="26419299"/>
            <a:ext cx="104794" cy="227857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6546" y="27504721"/>
            <a:ext cx="10322492" cy="173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6546" y="27504721"/>
            <a:ext cx="104794" cy="1733999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552064" y="27928624"/>
            <a:ext cx="10280236" cy="1340302"/>
          </a:xfrm>
          <a:prstGeom prst="roundRect">
            <a:avLst>
              <a:gd name="adj" fmla="val 12509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9038" y="1064151"/>
            <a:ext cx="840208" cy="109508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6941181" y="2387781"/>
            <a:ext cx="2158325" cy="2158348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5502" y="2502103"/>
            <a:ext cx="1929683" cy="192970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39378780" y="2387781"/>
            <a:ext cx="2158327" cy="2158348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3102" y="2502103"/>
            <a:ext cx="1929684" cy="192970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0207546" y="6439779"/>
            <a:ext cx="527901" cy="52790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72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6546" y="7804183"/>
            <a:ext cx="10322492" cy="6047420"/>
          </a:xfrm>
          <a:prstGeom prst="roundRect">
            <a:avLst>
              <a:gd name="adj" fmla="val 630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ge6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563" y="7804183"/>
            <a:ext cx="10322458" cy="604742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20207546" y="13215676"/>
            <a:ext cx="527901" cy="52790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72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207546" y="14106927"/>
            <a:ext cx="10008399" cy="7162007"/>
          </a:xfrm>
          <a:prstGeom prst="roundRect">
            <a:avLst>
              <a:gd name="adj" fmla="val 532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ge10_figur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7622" y="14106927"/>
            <a:ext cx="10008247" cy="7162007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596546" y="16603475"/>
            <a:ext cx="527902" cy="52790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72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56464" y="17195361"/>
            <a:ext cx="4312484" cy="44756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256464" y="17195361"/>
            <a:ext cx="12385" cy="4475603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96546" y="20699515"/>
            <a:ext cx="1439975" cy="640837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5" b="1">
                <a:solidFill>
                  <a:srgbClr val="33415E"/>
                </a:solidFill>
                <a:latin typeface="Georgia"/>
              </a:rPr>
              <a:t>Neon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62098" y="20699515"/>
            <a:ext cx="2718364" cy="640837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5" b="1">
                <a:solidFill>
                  <a:srgbClr val="33415E"/>
                </a:solidFill>
                <a:latin typeface="Georgia"/>
              </a:rPr>
              <a:t>DoltgreSQL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006039" y="20699515"/>
            <a:ext cx="2513631" cy="640837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5" b="1">
                <a:solidFill>
                  <a:srgbClr val="33415E"/>
                </a:solidFill>
                <a:latin typeface="Georgia"/>
              </a:rPr>
              <a:t>Tiger 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645247" y="20699515"/>
            <a:ext cx="1293864" cy="640837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5" b="1">
                <a:solidFill>
                  <a:srgbClr val="33415E"/>
                </a:solidFill>
                <a:latin typeface="Georgia"/>
              </a:rPr>
              <a:t>Xata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6546" y="21465931"/>
            <a:ext cx="2732946" cy="640838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5" b="1">
                <a:solidFill>
                  <a:srgbClr val="555555"/>
                </a:solidFill>
                <a:latin typeface="Georgia"/>
              </a:rPr>
              <a:t>PostgreSQL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6546" y="23293667"/>
            <a:ext cx="527902" cy="52790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72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6546" y="24059193"/>
            <a:ext cx="1559005" cy="705860"/>
          </a:xfrm>
          <a:prstGeom prst="roundRect">
            <a:avLst>
              <a:gd name="adj" fmla="val 17043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06" b="1">
                <a:solidFill>
                  <a:srgbClr val="33415E"/>
                </a:solidFill>
                <a:latin typeface="Georgia"/>
              </a:rPr>
              <a:t>Branch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57847" y="24059193"/>
            <a:ext cx="1544869" cy="705860"/>
          </a:xfrm>
          <a:prstGeom prst="roundRect">
            <a:avLst>
              <a:gd name="adj" fmla="val 17043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06" b="1">
                <a:solidFill>
                  <a:srgbClr val="33415E"/>
                </a:solidFill>
                <a:latin typeface="Georgia"/>
              </a:rPr>
              <a:t>Mutate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905012" y="24059193"/>
            <a:ext cx="1820575" cy="705860"/>
          </a:xfrm>
          <a:prstGeom prst="roundRect">
            <a:avLst>
              <a:gd name="adj" fmla="val 17043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06" b="1">
                <a:solidFill>
                  <a:srgbClr val="33415E"/>
                </a:solidFill>
                <a:latin typeface="Georgia"/>
              </a:rPr>
              <a:t>Evaluate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327882" y="24059193"/>
            <a:ext cx="1313801" cy="705860"/>
          </a:xfrm>
          <a:prstGeom prst="roundRect">
            <a:avLst>
              <a:gd name="adj" fmla="val 17043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06" b="1">
                <a:solidFill>
                  <a:srgbClr val="33415E"/>
                </a:solidFill>
                <a:latin typeface="Georgia"/>
              </a:rPr>
              <a:t>Prune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243978" y="24059193"/>
            <a:ext cx="1675060" cy="705860"/>
          </a:xfrm>
          <a:prstGeom prst="roundRect">
            <a:avLst>
              <a:gd name="adj" fmla="val 17043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06" b="1">
                <a:solidFill>
                  <a:srgbClr val="33415E"/>
                </a:solidFill>
                <a:latin typeface="Georgia"/>
              </a:rPr>
              <a:t>Commit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207546" y="24691550"/>
            <a:ext cx="2578055" cy="1602170"/>
          </a:xfrm>
          <a:prstGeom prst="roundRect">
            <a:avLst>
              <a:gd name="adj" fmla="val 1308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2995095" y="24691550"/>
            <a:ext cx="2111754" cy="1602170"/>
          </a:xfrm>
          <a:prstGeom prst="roundRect">
            <a:avLst>
              <a:gd name="adj" fmla="val 1308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316344" y="24691550"/>
            <a:ext cx="2345053" cy="1602170"/>
          </a:xfrm>
          <a:prstGeom prst="roundRect">
            <a:avLst>
              <a:gd name="adj" fmla="val 1308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7870892" y="24691550"/>
            <a:ext cx="2345053" cy="1602170"/>
          </a:xfrm>
          <a:prstGeom prst="roundRect">
            <a:avLst>
              <a:gd name="adj" fmla="val 1308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504454" y="9356807"/>
            <a:ext cx="10327846" cy="1214721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504454" y="7750470"/>
            <a:ext cx="3894684" cy="937079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504454" y="8678022"/>
            <a:ext cx="389468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399138" y="7750470"/>
            <a:ext cx="2633108" cy="937079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399138" y="8678022"/>
            <a:ext cx="263310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032246" y="7750470"/>
            <a:ext cx="3800054" cy="937079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032246" y="8678022"/>
            <a:ext cx="380005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504454" y="8687549"/>
            <a:ext cx="3894684" cy="6692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504454" y="9347280"/>
            <a:ext cx="389468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399138" y="8687549"/>
            <a:ext cx="2633108" cy="6692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399138" y="9347280"/>
            <a:ext cx="263310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032246" y="8687549"/>
            <a:ext cx="3800054" cy="6692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032246" y="9347280"/>
            <a:ext cx="380005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504454" y="9356807"/>
            <a:ext cx="3894684" cy="1214721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504454" y="10562002"/>
            <a:ext cx="3894684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399138" y="9356807"/>
            <a:ext cx="2633108" cy="1214721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399138" y="10562002"/>
            <a:ext cx="2633108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032246" y="9356807"/>
            <a:ext cx="3800054" cy="1214721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032246" y="10562002"/>
            <a:ext cx="3800054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67660" y="952107"/>
            <a:ext cx="29121366" cy="3009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053"/>
              </a:lnSpc>
              <a:spcBef>
                <a:spcPts val="0"/>
              </a:spcBef>
              <a:spcAft>
                <a:spcPts val="0"/>
              </a:spcAft>
            </a:pPr>
            <a:r>
              <a:rPr sz="8083" b="1" spc="-92">
                <a:solidFill>
                  <a:srgbClr val="33415E"/>
                </a:solidFill>
                <a:latin typeface="Georgia"/>
              </a:rPr>
              <a:t>BranchBench: Aligning Database Branching</a:t>
            </a:r>
          </a:p>
          <a:p>
            <a:pPr algn="ctr">
              <a:lnSpc>
                <a:spcPts val="9053"/>
              </a:lnSpc>
              <a:spcBef>
                <a:spcPts val="0"/>
              </a:spcBef>
              <a:spcAft>
                <a:spcPts val="0"/>
              </a:spcAft>
            </a:pPr>
            <a:r>
              <a:rPr sz="8083" b="1" spc="-92">
                <a:solidFill>
                  <a:srgbClr val="33415E"/>
                </a:solidFill>
                <a:latin typeface="Georgia"/>
              </a:rPr>
              <a:t>with Agentic Demands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7660" y="3860653"/>
            <a:ext cx="29121366" cy="899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B2331"/>
                </a:solidFill>
                <a:latin typeface="Georgia"/>
              </a:rPr>
              <a:t>Elaine Ang, In Keun Kim, Sam Weldon, Kevin Durand, Kostis Kaffes, Eugene Wu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7660" y="4703697"/>
            <a:ext cx="29121366" cy="6132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60">
                <a:solidFill>
                  <a:srgbClr val="55617A"/>
                </a:solidFill>
                <a:latin typeface="Georgia"/>
              </a:rPr>
              <a:t>Columbia University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56815" y="1821040"/>
            <a:ext cx="5328113" cy="12848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801"/>
              </a:lnSpc>
              <a:spcBef>
                <a:spcPts val="0"/>
              </a:spcBef>
              <a:spcAft>
                <a:spcPts val="0"/>
              </a:spcAft>
            </a:pPr>
            <a:r>
              <a:rPr sz="8801" b="1" spc="-88">
                <a:solidFill>
                  <a:srgbClr val="33415E"/>
                </a:solidFill>
                <a:latin typeface="Georgia"/>
              </a:rPr>
              <a:t>Preprint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76511" y="3022073"/>
            <a:ext cx="1785386" cy="899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352">
                <a:solidFill>
                  <a:srgbClr val="1B2331"/>
                </a:solidFill>
                <a:latin typeface="Georgia"/>
              </a:rPr>
              <a:t>2026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66216" y="3941298"/>
            <a:ext cx="1394594" cy="4905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432">
                <a:solidFill>
                  <a:srgbClr val="1B2331"/>
                </a:solidFill>
                <a:latin typeface="Georgia"/>
              </a:rPr>
              <a:t>CS.DB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1619" y="6439779"/>
            <a:ext cx="3780114" cy="986611"/>
          </a:xfrm>
          <a:prstGeom prst="rect">
            <a:avLst/>
          </a:prstGeom>
          <a:noFill/>
        </p:spPr>
        <p:txBody>
          <a:bodyPr wrap="squar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Problem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6546" y="6439779"/>
            <a:ext cx="3493840" cy="986611"/>
          </a:xfrm>
          <a:prstGeom prst="rect">
            <a:avLst/>
          </a:prstGeom>
          <a:noFill/>
        </p:spPr>
        <p:txBody>
          <a:bodyPr wrap="non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504454" y="6439779"/>
            <a:ext cx="5041685" cy="986611"/>
          </a:xfrm>
          <a:prstGeom prst="rect">
            <a:avLst/>
          </a:prstGeom>
          <a:noFill/>
        </p:spPr>
        <p:txBody>
          <a:bodyPr wrap="squar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Key Results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207546" y="7213636"/>
            <a:ext cx="10308650" cy="2698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Fanout, max depth </a:t>
            </a:r>
            <a:r>
              <a:rPr sz="3300" b="1">
                <a:solidFill>
                  <a:srgbClr val="111111"/>
                </a:solidFill>
                <a:latin typeface="Georgia"/>
              </a:rPr>
              <a:t>D</a:t>
            </a:r>
            <a:r>
              <a:rPr sz="3300" b="0">
                <a:solidFill>
                  <a:srgbClr val="1C1C1C"/>
                </a:solidFill>
                <a:latin typeface="Georgia"/>
              </a:rPr>
              <a:t>, and per-step operation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mix are tunable, so the loop expresses tree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shapes from flat wide simulations to deep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narrow MCTS under a UCT selection policy.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1619" y="7599448"/>
            <a:ext cx="6536811" cy="741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Branchable databases are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becoming </a:t>
            </a:r>
            <a:r>
              <a:rPr sz="3300" b="1">
                <a:solidFill>
                  <a:srgbClr val="111111"/>
                </a:solidFill>
                <a:latin typeface="Georgia"/>
              </a:rPr>
              <a:t>infrastructure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11111"/>
                </a:solidFill>
                <a:latin typeface="Georgia"/>
              </a:rPr>
              <a:t>for agentic workloads</a:t>
            </a:r>
            <a:r>
              <a:rPr sz="3300" b="0">
                <a:solidFill>
                  <a:srgbClr val="1C1C1C"/>
                </a:solidFill>
                <a:latin typeface="Georgia"/>
              </a:rPr>
              <a:t> —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speculative mutations and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non-linear exploration.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Traditional RDBMS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mechanisms cannot give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agents persistent isolation or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concurrent branch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management at this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frequency.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504454" y="10802004"/>
            <a:ext cx="10637681" cy="1832229"/>
          </a:xfrm>
          <a:prstGeom prst="rect">
            <a:avLst/>
          </a:prstGeom>
          <a:noFill/>
        </p:spPr>
        <p:txBody>
          <a:bodyPr wrap="none" lIns="390251" rIns="390251" tIns="225937" bIns="225937">
            <a:spAutoFit/>
          </a:bodyPr>
          <a:lstStyle/>
          <a:p>
            <a:pPr algn="ctr">
              <a:lnSpc>
                <a:spcPts val="4366"/>
              </a:lnSpc>
              <a:spcBef>
                <a:spcPts val="0"/>
              </a:spcBef>
              <a:spcAft>
                <a:spcPts val="0"/>
              </a:spcAft>
            </a:pPr>
            <a:r>
              <a:rPr sz="3234" b="1">
                <a:solidFill>
                  <a:srgbClr val="33415E"/>
                </a:solidFill>
                <a:latin typeface="Georgia"/>
              </a:rPr>
              <a:t>A fundamental tension: </a:t>
            </a:r>
            <a:r>
              <a:rPr sz="3428" b="1">
                <a:solidFill>
                  <a:srgbClr val="111111"/>
                </a:solidFill>
                <a:latin typeface="Georgia"/>
              </a:rPr>
              <a:t>no</a:t>
            </a:r>
            <a:r>
              <a:rPr sz="3234" b="1">
                <a:solidFill>
                  <a:srgbClr val="33415E"/>
                </a:solidFill>
                <a:latin typeface="Georgia"/>
              </a:rPr>
              <a:t> system</a:t>
            </a:r>
          </a:p>
          <a:p>
            <a:pPr algn="ctr">
              <a:lnSpc>
                <a:spcPts val="4366"/>
              </a:lnSpc>
              <a:spcBef>
                <a:spcPts val="0"/>
              </a:spcBef>
              <a:spcAft>
                <a:spcPts val="0"/>
              </a:spcAft>
            </a:pPr>
            <a:r>
              <a:rPr sz="3234" b="1">
                <a:solidFill>
                  <a:srgbClr val="33415E"/>
                </a:solidFill>
                <a:latin typeface="Georgia"/>
              </a:rPr>
              <a:t>handles all 5 workloads at scale.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40207" y="11561577"/>
            <a:ext cx="4885215" cy="284723"/>
          </a:xfrm>
          <a:prstGeom prst="rect">
            <a:avLst/>
          </a:prstGeom>
          <a:noFill/>
        </p:spPr>
        <p:txBody>
          <a:bodyPr wrap="square" lIns="316896" rIns="316896" tIns="54325" bIns="54325">
            <a:spAutoFit/>
          </a:bodyPr>
          <a:lstStyle/>
          <a:p>
            <a:pPr algn="ctr">
              <a:lnSpc>
                <a:spcPts val="2495"/>
              </a:lnSpc>
              <a:spcBef>
                <a:spcPts val="0"/>
              </a:spcBef>
              <a:spcAft>
                <a:spcPts val="0"/>
              </a:spcAft>
            </a:pPr>
            <a:r>
              <a:rPr sz="3564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</a:t>
            </a:r>
            <a:r>
              <a:rPr sz="1782" b="0" i="1">
                <a:solidFill>
                  <a:srgbClr val="555555"/>
                </a:solidFill>
                <a:latin typeface="Cambria Math"/>
              </a:rPr>
              <a:t>exploit reward </a:t>
            </a:r>
            <a:r>
              <a:rPr sz="1782" b="0" i="1">
                <a:solidFill>
                  <a:srgbClr val="555555"/>
                </a:solidFill>
                <a:latin typeface="Cambria Math"/>
              </a:rPr>
              <a:t>    </a:t>
            </a:r>
            <a:r>
              <a:rPr sz="1782" b="0" i="1">
                <a:solidFill>
                  <a:srgbClr val="555555"/>
                </a:solidFill>
                <a:latin typeface="Cambria Math"/>
              </a:rPr>
              <a:t> vs. explore under-visited branches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504454" y="12620961"/>
            <a:ext cx="10637681" cy="2072125"/>
          </a:xfrm>
          <a:prstGeom prst="rect">
            <a:avLst/>
          </a:prstGeom>
          <a:noFill/>
        </p:spPr>
        <p:txBody>
          <a:bodyPr wrap="square" lIns="0" rIns="0" tIns="173540" bIns="0">
            <a:spAutoFit/>
          </a:bodyPr>
          <a:lstStyle/>
          <a:p>
            <a:pPr algn="l">
              <a:lnSpc>
                <a:spcPts val="4251"/>
              </a:lnSpc>
              <a:spcBef>
                <a:spcPts val="0"/>
              </a:spcBef>
              <a:spcAft>
                <a:spcPts val="0"/>
              </a:spcAft>
            </a:pPr>
            <a:r>
              <a:rPr sz="2368" b="1" spc="142">
                <a:solidFill>
                  <a:srgbClr val="111111"/>
                </a:solidFill>
                <a:latin typeface="Georgia"/>
              </a:rPr>
              <a:t>SO WHAT → </a:t>
            </a:r>
            <a:r>
              <a:rPr sz="3036" b="0" i="1">
                <a:solidFill>
                  <a:srgbClr val="1C1C1C"/>
                </a:solidFill>
                <a:latin typeface="Georgia"/>
              </a:rPr>
              <a:t>Fast-branching systems pay with reads up to </a:t>
            </a:r>
            <a:r>
              <a:rPr sz="3036" b="1" i="1">
                <a:solidFill>
                  <a:srgbClr val="111111"/>
                </a:solidFill>
                <a:latin typeface="Georgia"/>
              </a:rPr>
              <a:t>4000× slower</a:t>
            </a:r>
            <a:r>
              <a:rPr sz="3036" b="0" i="1">
                <a:solidFill>
                  <a:srgbClr val="1C1C1C"/>
                </a:solidFill>
                <a:latin typeface="Georgia"/>
              </a:rPr>
              <a:t> at depth; fast-data systems pay with </a:t>
            </a:r>
            <a:r>
              <a:rPr sz="3036" b="1" i="1">
                <a:solidFill>
                  <a:srgbClr val="111111"/>
                </a:solidFill>
                <a:latin typeface="Georgia"/>
              </a:rPr>
              <a:t>25–1500×</a:t>
            </a:r>
            <a:r>
              <a:rPr sz="3036" b="0" i="1">
                <a:solidFill>
                  <a:srgbClr val="1C1C1C"/>
                </a:solidFill>
                <a:latin typeface="Georgia"/>
              </a:rPr>
              <a:t> higher branch creation latency.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504454" y="15802389"/>
            <a:ext cx="7727120" cy="986611"/>
          </a:xfrm>
          <a:prstGeom prst="rect">
            <a:avLst/>
          </a:prstGeom>
          <a:noFill/>
        </p:spPr>
        <p:txBody>
          <a:bodyPr wrap="squar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Headline Numbers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1619" y="17818643"/>
            <a:ext cx="4705756" cy="986610"/>
          </a:xfrm>
          <a:prstGeom prst="rect">
            <a:avLst/>
          </a:prstGeom>
          <a:noFill/>
        </p:spPr>
        <p:txBody>
          <a:bodyPr wrap="squar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Motivation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207546" y="22839858"/>
            <a:ext cx="10308650" cy="2023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Dolt’s fast branch ops are dominated by slow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reads; Neon stays low on data ops but pays on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branch creation.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552064" y="23045040"/>
            <a:ext cx="4217958" cy="986611"/>
          </a:xfrm>
          <a:prstGeom prst="rect">
            <a:avLst/>
          </a:prstGeom>
          <a:noFill/>
        </p:spPr>
        <p:txBody>
          <a:bodyPr wrap="square" lIns="277417" rIns="277417" tIns="66052" bIns="66052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552064" y="24199948"/>
            <a:ext cx="10588643" cy="4047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Today’s branchable databases force a choice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between </a:t>
            </a:r>
            <a:r>
              <a:rPr sz="3300" b="1">
                <a:solidFill>
                  <a:srgbClr val="111111"/>
                </a:solidFill>
                <a:latin typeface="Georgia"/>
              </a:rPr>
              <a:t>fast branching</a:t>
            </a:r>
            <a:r>
              <a:rPr sz="3300" b="0">
                <a:solidFill>
                  <a:srgbClr val="1C1C1C"/>
                </a:solidFill>
                <a:latin typeface="Georgia"/>
              </a:rPr>
              <a:t> and </a:t>
            </a:r>
            <a:r>
              <a:rPr sz="3300" b="1">
                <a:solidFill>
                  <a:srgbClr val="111111"/>
                </a:solidFill>
                <a:latin typeface="Georgia"/>
              </a:rPr>
              <a:t>fast reads</a:t>
            </a:r>
            <a:r>
              <a:rPr sz="3300" b="0">
                <a:solidFill>
                  <a:srgbClr val="1C1C1C"/>
                </a:solidFill>
                <a:latin typeface="Georgia"/>
              </a:rPr>
              <a:t>, and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none supports agentic workloads at scale —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motivating </a:t>
            </a:r>
            <a:r>
              <a:rPr sz="3300" b="1">
                <a:solidFill>
                  <a:srgbClr val="111111"/>
                </a:solidFill>
                <a:latin typeface="Georgia"/>
              </a:rPr>
              <a:t>branch-native DBMSes</a:t>
            </a:r>
            <a:r>
              <a:rPr sz="3300" b="0">
                <a:solidFill>
                  <a:srgbClr val="1C1C1C"/>
                </a:solidFill>
                <a:latin typeface="Georgia"/>
              </a:rPr>
              <a:t> built for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the high-frequency exploration autonomous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agents demand.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96546" y="24940922"/>
            <a:ext cx="10632166" cy="26980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Each of </a:t>
            </a:r>
            <a:r>
              <a:rPr sz="3300" b="1">
                <a:solidFill>
                  <a:srgbClr val="111111"/>
                </a:solidFill>
                <a:latin typeface="Georgia"/>
              </a:rPr>
              <a:t>T</a:t>
            </a:r>
            <a:r>
              <a:rPr sz="3300" b="0">
                <a:solidFill>
                  <a:srgbClr val="1C1C1C"/>
                </a:solidFill>
                <a:latin typeface="Georgia"/>
              </a:rPr>
              <a:t> parallel workers runs </a:t>
            </a:r>
            <a:r>
              <a:rPr sz="3300" b="1">
                <a:solidFill>
                  <a:srgbClr val="111111"/>
                </a:solidFill>
                <a:latin typeface="Georgia"/>
              </a:rPr>
              <a:t>S</a:t>
            </a:r>
            <a:r>
              <a:rPr sz="3300" b="0">
                <a:solidFill>
                  <a:srgbClr val="1C1C1C"/>
                </a:solidFill>
                <a:latin typeface="Georgia"/>
              </a:rPr>
              <a:t> steps of the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loop, integrating branching overhead, mutation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throughput, and evaluation cost into one end-to-</a:t>
            </a:r>
          </a:p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C1C1C"/>
                </a:solidFill>
                <a:latin typeface="Georgia"/>
              </a:rPr>
              <a:t>end score.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619" y="25231657"/>
            <a:ext cx="6536811" cy="4691108"/>
          </a:xfrm>
          <a:prstGeom prst="rect">
            <a:avLst/>
          </a:prstGeom>
          <a:noFill/>
        </p:spPr>
        <p:txBody>
          <a:bodyPr wrap="none" lIns="272463" rIns="272463" tIns="117370" bIns="117370">
            <a:spAutoFit/>
          </a:bodyPr>
          <a:lstStyle/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An MCTS agent forks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498" b="1">
                <a:solidFill>
                  <a:srgbClr val="111111"/>
                </a:solidFill>
                <a:latin typeface="Georgia"/>
              </a:rPr>
              <a:t>thousands</a:t>
            </a:r>
            <a:r>
              <a:rPr sz="3300" b="0">
                <a:solidFill>
                  <a:srgbClr val="33415E"/>
                </a:solidFill>
                <a:latin typeface="Georgia"/>
              </a:rPr>
              <a:t> of database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branches to explore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speculative actions — a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regime existing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branchable systems were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3415E"/>
                </a:solidFill>
                <a:latin typeface="Georgia"/>
              </a:rPr>
              <a:t>never designed to serve.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207546" y="26419299"/>
            <a:ext cx="10308650" cy="2620355"/>
          </a:xfrm>
          <a:prstGeom prst="rect">
            <a:avLst/>
          </a:prstGeom>
          <a:noFill/>
        </p:spPr>
        <p:txBody>
          <a:bodyPr wrap="none" lIns="293422" rIns="293422" tIns="50301" bIns="50301">
            <a:spAutoFit/>
          </a:bodyPr>
          <a:lstStyle/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1C1C1C"/>
                </a:solidFill>
                <a:latin typeface="Georgia"/>
              </a:rPr>
              <a:t>Read cost, not branch cost, dominates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1C1C1C"/>
                </a:solidFill>
                <a:latin typeface="Georgia"/>
              </a:rPr>
              <a:t>Dolt’s slowest workflows (up to </a:t>
            </a:r>
            <a:r>
              <a:rPr sz="3300" b="1" i="1">
                <a:solidFill>
                  <a:srgbClr val="111111"/>
                </a:solidFill>
                <a:latin typeface="Georgia"/>
              </a:rPr>
              <a:t>1234s</a:t>
            </a:r>
            <a:r>
              <a:rPr sz="3300" b="0" i="1">
                <a:solidFill>
                  <a:srgbClr val="1C1C1C"/>
                </a:solidFill>
                <a:latin typeface="Georgia"/>
              </a:rPr>
              <a:t> on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1C1C1C"/>
                </a:solidFill>
                <a:latin typeface="Georgia"/>
              </a:rPr>
              <a:t>simulation) — the branch-vs-read tension is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1">
                <a:solidFill>
                  <a:srgbClr val="111111"/>
                </a:solidFill>
                <a:latin typeface="Georgia"/>
              </a:rPr>
              <a:t>structural</a:t>
            </a:r>
            <a:r>
              <a:rPr sz="3300" b="0" i="1">
                <a:solidFill>
                  <a:srgbClr val="1C1C1C"/>
                </a:solidFill>
                <a:latin typeface="Georgia"/>
              </a:rPr>
              <a:t>, not incidental.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96546" y="27504721"/>
            <a:ext cx="10632166" cy="1994098"/>
          </a:xfrm>
          <a:prstGeom prst="rect">
            <a:avLst/>
          </a:prstGeom>
          <a:noFill/>
        </p:spPr>
        <p:txBody>
          <a:bodyPr wrap="none" lIns="293422" rIns="293422" tIns="50301" bIns="50301">
            <a:spAutoFit/>
          </a:bodyPr>
          <a:lstStyle/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1C1C1C"/>
                </a:solidFill>
                <a:latin typeface="Georgia"/>
              </a:rPr>
              <a:t>Microbenchmarks additionally isolate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1C1C1C"/>
                </a:solidFill>
                <a:latin typeface="Georgia"/>
              </a:rPr>
              <a:t>branch </a:t>
            </a:r>
            <a:r>
              <a:rPr sz="3300" b="1" i="1">
                <a:solidFill>
                  <a:srgbClr val="111111"/>
                </a:solidFill>
                <a:latin typeface="Georgia"/>
              </a:rPr>
              <a:t>creation</a:t>
            </a:r>
            <a:r>
              <a:rPr sz="3300" b="0" i="1">
                <a:solidFill>
                  <a:srgbClr val="1C1C1C"/>
                </a:solidFill>
                <a:latin typeface="Georgia"/>
              </a:rPr>
              <a:t>, </a:t>
            </a:r>
            <a:r>
              <a:rPr sz="3300" b="1" i="1">
                <a:solidFill>
                  <a:srgbClr val="111111"/>
                </a:solidFill>
                <a:latin typeface="Georgia"/>
              </a:rPr>
              <a:t>deletion</a:t>
            </a:r>
            <a:r>
              <a:rPr sz="3300" b="0" i="1">
                <a:solidFill>
                  <a:srgbClr val="1C1C1C"/>
                </a:solidFill>
                <a:latin typeface="Georgia"/>
              </a:rPr>
              <a:t>, and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1">
                <a:solidFill>
                  <a:srgbClr val="111111"/>
                </a:solidFill>
                <a:latin typeface="Georgia"/>
              </a:rPr>
              <a:t>persistence</a:t>
            </a:r>
            <a:r>
              <a:rPr sz="3300" b="0" i="1">
                <a:solidFill>
                  <a:srgbClr val="1C1C1C"/>
                </a:solidFill>
                <a:latin typeface="Georgia"/>
              </a:rPr>
              <a:t> costs.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552064" y="27928624"/>
            <a:ext cx="10588643" cy="1541347"/>
          </a:xfrm>
          <a:prstGeom prst="rect">
            <a:avLst/>
          </a:prstGeom>
          <a:noFill/>
        </p:spPr>
        <p:txBody>
          <a:bodyPr wrap="none" lIns="293422" rIns="293422" tIns="125753" bIns="125753">
            <a:spAutoFit/>
          </a:bodyPr>
          <a:lstStyle/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Georgia"/>
              </a:rPr>
              <a:t>Fast branching or fast reads — pick one.</a:t>
            </a:r>
          </a:p>
          <a:p>
            <a:pPr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Georgia"/>
              </a:rPr>
              <a:t>No system does both at agentic scale.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496904" y="4728843"/>
            <a:ext cx="1078282" cy="455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1B2331"/>
                </a:solidFill>
                <a:latin typeface="Georgia"/>
              </a:rPr>
              <a:t>Paper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007114" y="4728843"/>
            <a:ext cx="928555" cy="455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1B2331"/>
                </a:solidFill>
                <a:latin typeface="Georgia"/>
              </a:rPr>
              <a:t>Code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911314" y="6450790"/>
            <a:ext cx="6516124" cy="581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465" b="1">
                <a:solidFill>
                  <a:srgbClr val="33415E"/>
                </a:solidFill>
                <a:latin typeface="Georgia"/>
              </a:rPr>
              <a:t>Parameterized Workloads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414267" y="6546908"/>
            <a:ext cx="1855728" cy="360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148" b="1" i="1">
                <a:solidFill>
                  <a:srgbClr val="555555"/>
                </a:solidFill>
                <a:latin typeface="Georgia"/>
              </a:rPr>
              <a:t>5 workflows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911314" y="13226685"/>
            <a:ext cx="6660793" cy="581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465" b="1">
                <a:solidFill>
                  <a:srgbClr val="33415E"/>
                </a:solidFill>
                <a:latin typeface="Georgia"/>
              </a:rPr>
              <a:t>End-to-End Workflow Cost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263991" y="13322804"/>
            <a:ext cx="2010512" cy="360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148" b="1" i="1">
                <a:solidFill>
                  <a:srgbClr val="555555"/>
                </a:solidFill>
                <a:latin typeface="Georgia"/>
              </a:rPr>
              <a:t>Dolt vs Neon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09434" y="13971826"/>
            <a:ext cx="9781464" cy="15404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Architecture of the BranchBench macrobenchmark:</a:t>
            </a:r>
          </a:p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the branch–mutate–evaluate–prune loop executed by</a:t>
            </a:r>
          </a:p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parallel workers over a database state tree.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1619" y="14359722"/>
            <a:ext cx="1483632" cy="11262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715"/>
              </a:lnSpc>
              <a:spcBef>
                <a:spcPts val="0"/>
              </a:spcBef>
              <a:spcAft>
                <a:spcPts val="0"/>
              </a:spcAft>
            </a:pPr>
            <a:r>
              <a:rPr sz="6594" b="1">
                <a:solidFill>
                  <a:srgbClr val="33415E"/>
                </a:solidFill>
                <a:latin typeface="Georgia"/>
              </a:rPr>
              <a:t>1st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1619" y="14407335"/>
            <a:ext cx="6165022" cy="2389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307"/>
              </a:lnSpc>
              <a:spcBef>
                <a:spcPts val="0"/>
              </a:spcBef>
              <a:spcAft>
                <a:spcPts val="0"/>
              </a:spcAft>
            </a:pPr>
            <a:r>
              <a:rPr sz="2970" b="0">
                <a:solidFill>
                  <a:srgbClr val="555555"/>
                </a:solidFill>
                <a:latin typeface="Georgia"/>
              </a:rPr>
              <a:t>systematic benchmark</a:t>
            </a:r>
          </a:p>
          <a:p>
            <a:pPr algn="l">
              <a:lnSpc>
                <a:spcPts val="4307"/>
              </a:lnSpc>
              <a:spcBef>
                <a:spcPts val="0"/>
              </a:spcBef>
              <a:spcAft>
                <a:spcPts val="0"/>
              </a:spcAft>
            </a:pPr>
            <a:r>
              <a:rPr sz="2970" b="0">
                <a:solidFill>
                  <a:srgbClr val="555555"/>
                </a:solidFill>
                <a:latin typeface="Georgia"/>
              </a:rPr>
              <a:t>for branchable</a:t>
            </a:r>
          </a:p>
          <a:p>
            <a:pPr algn="l">
              <a:lnSpc>
                <a:spcPts val="4307"/>
              </a:lnSpc>
              <a:spcBef>
                <a:spcPts val="0"/>
              </a:spcBef>
              <a:spcAft>
                <a:spcPts val="0"/>
              </a:spcAft>
            </a:pPr>
            <a:r>
              <a:rPr sz="2970" b="0">
                <a:solidFill>
                  <a:srgbClr val="555555"/>
                </a:solidFill>
                <a:latin typeface="Georgia"/>
              </a:rPr>
              <a:t>relational DBMSes under</a:t>
            </a:r>
          </a:p>
          <a:p>
            <a:pPr algn="l">
              <a:lnSpc>
                <a:spcPts val="4307"/>
              </a:lnSpc>
              <a:spcBef>
                <a:spcPts val="0"/>
              </a:spcBef>
              <a:spcAft>
                <a:spcPts val="0"/>
              </a:spcAft>
            </a:pPr>
            <a:r>
              <a:rPr sz="2970" b="0">
                <a:solidFill>
                  <a:srgbClr val="555555"/>
                </a:solidFill>
                <a:latin typeface="Georgia"/>
              </a:rPr>
              <a:t>agentic loads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00315" y="16614486"/>
            <a:ext cx="5471864" cy="581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465" b="1">
                <a:solidFill>
                  <a:srgbClr val="33415E"/>
                </a:solidFill>
                <a:latin typeface="Georgia"/>
              </a:rPr>
              <a:t>Four Core Operations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485902" y="16710604"/>
            <a:ext cx="2506130" cy="360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148" b="1" i="1">
                <a:solidFill>
                  <a:srgbClr val="555555"/>
                </a:solidFill>
                <a:latin typeface="Georgia"/>
              </a:rPr>
              <a:t>branch lifecycle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96252" y="17368999"/>
            <a:ext cx="10632469" cy="11563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61092" indent="-461092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300" b="1">
                <a:solidFill>
                  <a:srgbClr val="111111"/>
                </a:solidFill>
                <a:latin typeface="Georgia"/>
              </a:rPr>
              <a:t>Branch</a:t>
            </a:r>
            <a:r>
              <a:rPr sz="3300" b="0">
                <a:solidFill>
                  <a:srgbClr val="1C1C1C"/>
                </a:solidFill>
                <a:latin typeface="Georgia"/>
              </a:rPr>
              <a:t> — fork a writable branch below</a:t>
            </a:r>
          </a:p>
          <a:p>
            <a:pPr algn="l" marL="461092" indent="0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fanout and depth limits.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96252" y="18416332"/>
            <a:ext cx="10632469" cy="11563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61092" indent="-461092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300" b="1">
                <a:solidFill>
                  <a:srgbClr val="111111"/>
                </a:solidFill>
                <a:latin typeface="Georgia"/>
              </a:rPr>
              <a:t>Mutate</a:t>
            </a:r>
            <a:r>
              <a:rPr sz="3300" b="0">
                <a:solidFill>
                  <a:srgbClr val="1C1C1C"/>
                </a:solidFill>
                <a:latin typeface="Georgia"/>
              </a:rPr>
              <a:t> — apply data and schema ops on the</a:t>
            </a:r>
          </a:p>
          <a:p>
            <a:pPr algn="l" marL="461092" indent="0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active branch.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1324" y="19006731"/>
            <a:ext cx="6537116" cy="3700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61092" indent="-461092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300" b="0">
                <a:solidFill>
                  <a:srgbClr val="1C1C1C"/>
                </a:solidFill>
                <a:latin typeface="Georgia"/>
              </a:rPr>
              <a:t>Agentic exploration needs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high-frequency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11111"/>
                </a:solidFill>
                <a:latin typeface="Georgia"/>
              </a:rPr>
              <a:t>speculative state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11111"/>
                </a:solidFill>
                <a:latin typeface="Georgia"/>
              </a:rPr>
              <a:t>management</a:t>
            </a:r>
            <a:r>
              <a:rPr sz="3300" b="0">
                <a:solidFill>
                  <a:srgbClr val="1C1C1C"/>
                </a:solidFill>
                <a:latin typeface="Georgia"/>
              </a:rPr>
              <a:t> —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checkpoint, fork, restore,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evaluate, discard.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96252" y="19463665"/>
            <a:ext cx="10632469" cy="1156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61092" indent="-461092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300" b="1">
                <a:solidFill>
                  <a:srgbClr val="111111"/>
                </a:solidFill>
                <a:latin typeface="Georgia"/>
              </a:rPr>
              <a:t>Evaluate &amp; Prune</a:t>
            </a:r>
            <a:r>
              <a:rPr sz="3300" b="0">
                <a:solidFill>
                  <a:srgbClr val="1C1C1C"/>
                </a:solidFill>
                <a:latin typeface="Georgia"/>
              </a:rPr>
              <a:t> — score outcomes,</a:t>
            </a:r>
          </a:p>
          <a:p>
            <a:pPr algn="l" marL="461092" indent="0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backpropagate reward, cut weak paths.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607935" y="21389156"/>
            <a:ext cx="9483849" cy="1540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End-to-end latency per workflow (mini config):</a:t>
            </a:r>
          </a:p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branch vs data operations across five representative</a:t>
            </a:r>
          </a:p>
          <a:p>
            <a:pPr algn="ctr">
              <a:lnSpc>
                <a:spcPts val="3518"/>
              </a:lnSpc>
              <a:spcBef>
                <a:spcPts val="0"/>
              </a:spcBef>
              <a:spcAft>
                <a:spcPts val="0"/>
              </a:spcAft>
            </a:pPr>
            <a:r>
              <a:rPr sz="2706" b="0" i="1">
                <a:solidFill>
                  <a:srgbClr val="555555"/>
                </a:solidFill>
                <a:latin typeface="Georgia"/>
              </a:rPr>
              <a:t>agentic workloads.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1324" y="22370723"/>
            <a:ext cx="6537116" cy="3083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61092" indent="-461092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300" b="0">
                <a:solidFill>
                  <a:srgbClr val="1C1C1C"/>
                </a:solidFill>
                <a:latin typeface="Georgia"/>
              </a:rPr>
              <a:t>Agents create </a:t>
            </a:r>
            <a:r>
              <a:rPr sz="3300" b="1">
                <a:solidFill>
                  <a:srgbClr val="111111"/>
                </a:solidFill>
                <a:latin typeface="Georgia"/>
              </a:rPr>
              <a:t>structurally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11111"/>
                </a:solidFill>
                <a:latin typeface="Georgia"/>
              </a:rPr>
              <a:t>separate branches at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11111"/>
                </a:solidFill>
                <a:latin typeface="Georgia"/>
              </a:rPr>
              <a:t>scale</a:t>
            </a:r>
            <a:r>
              <a:rPr sz="3300" b="0">
                <a:solidFill>
                  <a:srgbClr val="1C1C1C"/>
                </a:solidFill>
                <a:latin typeface="Georgia"/>
              </a:rPr>
              <a:t>, stressing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instantiation, metadata</a:t>
            </a:r>
          </a:p>
          <a:p>
            <a:pPr algn="l" marL="461092" indent="0">
              <a:lnSpc>
                <a:spcPts val="4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0">
                <a:solidFill>
                  <a:srgbClr val="1C1C1C"/>
                </a:solidFill>
                <a:latin typeface="Georgia"/>
              </a:rPr>
              <a:t>scale, and reclamation.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00315" y="23304678"/>
            <a:ext cx="7725589" cy="581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85"/>
              </a:lnSpc>
              <a:spcBef>
                <a:spcPts val="0"/>
              </a:spcBef>
              <a:spcAft>
                <a:spcPts val="0"/>
              </a:spcAft>
            </a:pPr>
            <a:r>
              <a:rPr sz="3465" b="1">
                <a:solidFill>
                  <a:srgbClr val="33415E"/>
                </a:solidFill>
                <a:latin typeface="Georgia"/>
              </a:rPr>
              <a:t>Branch–Mutate–Evaluate Loop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250525" y="23400797"/>
            <a:ext cx="1718568" cy="360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148" b="1" i="1">
                <a:solidFill>
                  <a:srgbClr val="555555"/>
                </a:solidFill>
                <a:latin typeface="Georgia"/>
              </a:rPr>
              <a:t>per worker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81128" y="24118856"/>
            <a:ext cx="361675" cy="674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33415E"/>
                </a:solidFill>
                <a:latin typeface="Georgia"/>
              </a:rPr>
              <a:t>→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428294" y="24118856"/>
            <a:ext cx="361675" cy="674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33415E"/>
                </a:solidFill>
                <a:latin typeface="Georgia"/>
              </a:rPr>
              <a:t>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851163" y="24118856"/>
            <a:ext cx="361675" cy="674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33415E"/>
                </a:solidFill>
                <a:latin typeface="Georgia"/>
              </a:rPr>
              <a:t>→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767261" y="24118856"/>
            <a:ext cx="361675" cy="674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33415E"/>
                </a:solidFill>
                <a:latin typeface="Georgia"/>
              </a:rPr>
              <a:t>→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767808" y="17700206"/>
            <a:ext cx="5178693" cy="1664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33415E"/>
                </a:solidFill>
                <a:latin typeface="Georgia"/>
              </a:rPr>
              <a:t>4000×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767808" y="19172929"/>
            <a:ext cx="5178693" cy="12846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Georgia"/>
              </a:rPr>
              <a:t>slower reads at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Georgia"/>
              </a:rPr>
              <a:t>depth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767808" y="20290044"/>
            <a:ext cx="5178693" cy="1007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Georgia"/>
              </a:rPr>
              <a:t>for fast-branching</a:t>
            </a:r>
          </a:p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Georgia"/>
              </a:rPr>
              <a:t>systems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162631" y="24817129"/>
            <a:ext cx="1829983" cy="7710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1">
                <a:solidFill>
                  <a:srgbClr val="33415E"/>
                </a:solidFill>
                <a:latin typeface="Georgia"/>
              </a:rPr>
              <a:t>176s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483880" y="24817129"/>
            <a:ext cx="2070280" cy="7710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1">
                <a:solidFill>
                  <a:srgbClr val="33415E"/>
                </a:solidFill>
                <a:latin typeface="Georgia"/>
              </a:rPr>
              <a:t>85.9s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8038427" y="24817129"/>
            <a:ext cx="2070281" cy="7710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1">
                <a:solidFill>
                  <a:srgbClr val="33415E"/>
                </a:solidFill>
                <a:latin typeface="Georgia"/>
              </a:rPr>
              <a:t>12.4s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375082" y="25130183"/>
            <a:ext cx="2310275" cy="7710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1">
                <a:solidFill>
                  <a:srgbClr val="33415E"/>
                </a:solidFill>
                <a:latin typeface="Georgia"/>
              </a:rPr>
              <a:t>1234s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3162631" y="25542033"/>
            <a:ext cx="1829983" cy="720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Neon</a:t>
            </a:r>
          </a:p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simulation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483880" y="25542033"/>
            <a:ext cx="2070280" cy="720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Dolt failure</a:t>
            </a:r>
          </a:p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repro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038427" y="25542033"/>
            <a:ext cx="2070281" cy="720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Neon data</a:t>
            </a:r>
          </a:p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cleaning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375082" y="25855087"/>
            <a:ext cx="2310275" cy="360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467"/>
              </a:lnSpc>
              <a:spcBef>
                <a:spcPts val="0"/>
              </a:spcBef>
              <a:spcAft>
                <a:spcPts val="0"/>
              </a:spcAft>
            </a:pPr>
            <a:r>
              <a:rPr sz="2145" b="0">
                <a:solidFill>
                  <a:srgbClr val="555555"/>
                </a:solidFill>
                <a:latin typeface="Georgia"/>
              </a:rPr>
              <a:t>Dolt simulation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504454" y="7750470"/>
            <a:ext cx="4011524" cy="107764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223"/>
              </a:lnSpc>
              <a:spcBef>
                <a:spcPts val="0"/>
              </a:spcBef>
              <a:spcAft>
                <a:spcPts val="0"/>
              </a:spcAft>
            </a:pPr>
            <a:r>
              <a:rPr sz="2302" b="1" spc="115">
                <a:solidFill>
                  <a:srgbClr val="33415E"/>
                </a:solidFill>
                <a:latin typeface="Georgia"/>
              </a:rPr>
              <a:t>SYSTEM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399138" y="7750470"/>
            <a:ext cx="2712101" cy="107764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223"/>
              </a:lnSpc>
              <a:spcBef>
                <a:spcPts val="0"/>
              </a:spcBef>
              <a:spcAft>
                <a:spcPts val="0"/>
              </a:spcAft>
            </a:pPr>
            <a:r>
              <a:rPr sz="2302" b="1" spc="115">
                <a:solidFill>
                  <a:srgbClr val="33415E"/>
                </a:solidFill>
                <a:latin typeface="Georgia"/>
              </a:rPr>
              <a:t>BRANCH</a:t>
            </a:r>
          </a:p>
          <a:p>
            <a:pPr algn="ctr">
              <a:lnSpc>
                <a:spcPts val="3223"/>
              </a:lnSpc>
              <a:spcBef>
                <a:spcPts val="0"/>
              </a:spcBef>
              <a:spcAft>
                <a:spcPts val="0"/>
              </a:spcAft>
            </a:pPr>
            <a:r>
              <a:rPr sz="2302" b="1" spc="115">
                <a:solidFill>
                  <a:srgbClr val="33415E"/>
                </a:solidFill>
                <a:latin typeface="Georgia"/>
              </a:rPr>
              <a:t>COST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032246" y="7750470"/>
            <a:ext cx="3914055" cy="107764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3223"/>
              </a:lnSpc>
              <a:spcBef>
                <a:spcPts val="0"/>
              </a:spcBef>
              <a:spcAft>
                <a:spcPts val="0"/>
              </a:spcAft>
            </a:pPr>
            <a:r>
              <a:rPr sz="2302" b="1" spc="115">
                <a:solidFill>
                  <a:srgbClr val="33415E"/>
                </a:solidFill>
                <a:latin typeface="Georgia"/>
              </a:rPr>
              <a:t>READ COST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504454" y="8687549"/>
            <a:ext cx="4011524" cy="769646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1C1C1C"/>
                </a:solidFill>
                <a:latin typeface="Georgia"/>
              </a:rPr>
              <a:t>Dolt (fast-data)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399138" y="8687549"/>
            <a:ext cx="2712101" cy="769646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0">
                <a:solidFill>
                  <a:srgbClr val="1C1C1C"/>
                </a:solidFill>
                <a:latin typeface="Georgia"/>
              </a:rPr>
              <a:t>low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032246" y="8687549"/>
            <a:ext cx="3914055" cy="769646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0">
                <a:solidFill>
                  <a:srgbClr val="1C1C1C"/>
                </a:solidFill>
                <a:latin typeface="Georgia"/>
              </a:rPr>
              <a:t>2–4000× slower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04454" y="9356807"/>
            <a:ext cx="4011524" cy="139692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33415E"/>
                </a:solidFill>
                <a:latin typeface="Georgia"/>
              </a:rPr>
              <a:t>Neon (fast-</a:t>
            </a:r>
          </a:p>
          <a:p>
            <a:pPr algn="l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33415E"/>
                </a:solidFill>
                <a:latin typeface="Georgia"/>
              </a:rPr>
              <a:t>branch)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5399138" y="9356807"/>
            <a:ext cx="2712101" cy="139692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33415E"/>
                </a:solidFill>
                <a:latin typeface="Georgia"/>
              </a:rPr>
              <a:t>25–1500×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8032246" y="9356807"/>
            <a:ext cx="3914055" cy="139692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33415E"/>
                </a:solidFill>
                <a:latin typeface="Georgia"/>
              </a:rPr>
              <a:t>degrades w/</a:t>
            </a:r>
          </a:p>
          <a:p>
            <a:pPr algn="ctr">
              <a:lnSpc>
                <a:spcPts val="4297"/>
              </a:lnSpc>
              <a:spcBef>
                <a:spcPts val="0"/>
              </a:spcBef>
              <a:spcAft>
                <a:spcPts val="0"/>
              </a:spcAft>
            </a:pPr>
            <a:r>
              <a:rPr sz="3069" b="1">
                <a:solidFill>
                  <a:srgbClr val="33415E"/>
                </a:solidFill>
                <a:latin typeface="Georgia"/>
              </a:rPr>
              <a:t>depth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643017" y="17195361"/>
            <a:ext cx="2148134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1500×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75141" y="17328677"/>
            <a:ext cx="1744621" cy="1576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higher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branch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cost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7643017" y="18909422"/>
            <a:ext cx="1323024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43×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074061" y="19042738"/>
            <a:ext cx="2569733" cy="15769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Neon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storage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overhead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7643017" y="20623482"/>
            <a:ext cx="412553" cy="671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190111" y="20756799"/>
            <a:ext cx="3480202" cy="1051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workloads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benchmarked</a:t>
            </a:r>
          </a:p>
        </p:txBody>
      </p:sp>
      <p:pic>
        <p:nvPicPr>
          <p:cNvPr id="154" name="Picture 153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84937" y="10335845"/>
            <a:ext cx="8053470" cy="647534"/>
          </a:xfrm>
          <a:prstGeom prst="rect">
            <a:avLst/>
          </a:prstGeom>
        </p:spPr>
      </p:pic>
      <p:pic>
        <p:nvPicPr>
          <p:cNvPr id="155" name="Picture 154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05342" y="11504442"/>
            <a:ext cx="219016" cy="323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