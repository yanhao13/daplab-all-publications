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8959" y="618966"/>
            <a:ext cx="41556003" cy="3375301"/>
          </a:xfrm>
          <a:prstGeom prst="roundRect">
            <a:avLst>
              <a:gd name="adj" fmla="val 3974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44614" y="1421837"/>
            <a:ext cx="2918782" cy="17695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44343" y="1421837"/>
            <a:ext cx="19053" cy="1769559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8959" y="4485869"/>
            <a:ext cx="8966435" cy="913749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87568" y="4485869"/>
            <a:ext cx="11208231" cy="412326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97974" y="4485869"/>
            <a:ext cx="11208228" cy="5606853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08377" y="4485869"/>
            <a:ext cx="8966437" cy="10633872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87568" y="8921894"/>
            <a:ext cx="11208231" cy="951764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597974" y="10405478"/>
            <a:ext cx="11208228" cy="1923824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959" y="13936117"/>
            <a:ext cx="8966435" cy="1570761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08377" y="15432497"/>
            <a:ext cx="8966437" cy="6215404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87568" y="18752299"/>
            <a:ext cx="11208231" cy="10891428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08377" y="21960657"/>
            <a:ext cx="8966437" cy="7683070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08377" y="21960657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36708" y="21960657"/>
            <a:ext cx="38106" cy="768307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08377" y="29605620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208377" y="21960657"/>
            <a:ext cx="57160" cy="768307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93453" y="5681396"/>
            <a:ext cx="10417270" cy="4109580"/>
          </a:xfrm>
          <a:prstGeom prst="roundRect">
            <a:avLst>
              <a:gd name="adj" fmla="val 4787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03858" y="9299821"/>
            <a:ext cx="8175473" cy="1830414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83048" y="10817776"/>
            <a:ext cx="10417270" cy="2277826"/>
          </a:xfrm>
          <a:prstGeom prst="roundRect">
            <a:avLst>
              <a:gd name="adj" fmla="val 9327"/>
            </a:avLst>
          </a:prstGeom>
          <a:solidFill>
            <a:srgbClr val="F7F2F5"/>
          </a:solidFill>
          <a:ln w="9526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4439" y="11192875"/>
            <a:ext cx="8175476" cy="203500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4439" y="11192875"/>
            <a:ext cx="114320" cy="2035001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603858" y="11395081"/>
            <a:ext cx="8175473" cy="33791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603858" y="11395081"/>
            <a:ext cx="8175473" cy="12385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603858" y="16866982"/>
            <a:ext cx="8175473" cy="4537499"/>
          </a:xfrm>
          <a:prstGeom prst="roundRect">
            <a:avLst>
              <a:gd name="adj" fmla="val 1679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9526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622902" y="23395143"/>
            <a:ext cx="8156429" cy="6046377"/>
          </a:xfrm>
          <a:prstGeom prst="roundRect">
            <a:avLst>
              <a:gd name="adj" fmla="val 3253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650021" y="1102385"/>
            <a:ext cx="1899283" cy="1899304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0623" y="1202988"/>
            <a:ext cx="1698079" cy="169809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1993453" y="4881353"/>
            <a:ext cx="619407" cy="619412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83048" y="9601120"/>
            <a:ext cx="619407" cy="619412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93453" y="10800962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54253" y="17077519"/>
            <a:ext cx="3392227" cy="41610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54253" y="17077519"/>
            <a:ext cx="12385" cy="4161062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83048" y="19147784"/>
            <a:ext cx="619407" cy="619411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0179" y="22023000"/>
            <a:ext cx="8123995" cy="6017069"/>
          </a:xfrm>
          <a:prstGeom prst="roundRect">
            <a:avLst>
              <a:gd name="adj" fmla="val 633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243" y="22023000"/>
            <a:ext cx="8123867" cy="6017069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21993453" y="27914341"/>
            <a:ext cx="3222309" cy="772666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7D2860"/>
                </a:solidFill>
                <a:latin typeface="Arial"/>
              </a:rPr>
              <a:t>13 MB pruned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363212" y="27914341"/>
            <a:ext cx="3978601" cy="772666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7D2860"/>
                </a:solidFill>
                <a:latin typeface="Arial"/>
              </a:rPr>
              <a:t>76× fewer params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489262" y="27914341"/>
            <a:ext cx="2573595" cy="772666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AE2622"/>
                </a:solidFill>
                <a:latin typeface="Arial"/>
              </a:rPr>
              <a:t>32.88 peak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993453" y="28834459"/>
            <a:ext cx="2743360" cy="772666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91" b="1">
                <a:solidFill>
                  <a:srgbClr val="555555"/>
                </a:solidFill>
                <a:latin typeface="Arial"/>
              </a:rPr>
              <a:t>4.5 h / A100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03858" y="8243560"/>
            <a:ext cx="8175473" cy="786653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993453" y="15459726"/>
            <a:ext cx="10417270" cy="891996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383048" y="19947828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83048" y="22526357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83048" y="25183597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603858" y="6840619"/>
            <a:ext cx="5888149" cy="616289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603858" y="7447381"/>
            <a:ext cx="58881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492007" y="6840619"/>
            <a:ext cx="2287324" cy="616289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492007" y="7447381"/>
            <a:ext cx="228732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603858" y="7456908"/>
            <a:ext cx="5888149" cy="786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603858" y="8234033"/>
            <a:ext cx="58881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492007" y="7456908"/>
            <a:ext cx="2287324" cy="7866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492007" y="8234033"/>
            <a:ext cx="228732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603858" y="8243560"/>
            <a:ext cx="5888149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603858" y="9020686"/>
            <a:ext cx="58881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492007" y="8243560"/>
            <a:ext cx="2287324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9492007" y="9020686"/>
            <a:ext cx="2287324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993453" y="13901299"/>
            <a:ext cx="4734149" cy="666431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993453" y="14558203"/>
            <a:ext cx="4734149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727602" y="13901299"/>
            <a:ext cx="5683121" cy="666431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727602" y="14558203"/>
            <a:ext cx="5683121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993453" y="14567730"/>
            <a:ext cx="4734149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993453" y="15450200"/>
            <a:ext cx="4734149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727602" y="14567730"/>
            <a:ext cx="5683121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727602" y="15450200"/>
            <a:ext cx="5683121" cy="12384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993453" y="15459726"/>
            <a:ext cx="4734149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1993453" y="16342195"/>
            <a:ext cx="4734149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727602" y="15459726"/>
            <a:ext cx="5683121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6727602" y="16342195"/>
            <a:ext cx="5683121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993453" y="16351722"/>
            <a:ext cx="4734149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993453" y="17234191"/>
            <a:ext cx="4734149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727602" y="16351722"/>
            <a:ext cx="5683121" cy="8919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727602" y="17234191"/>
            <a:ext cx="5683121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99629" y="976359"/>
            <a:ext cx="34871439" cy="13240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069"/>
              </a:lnSpc>
              <a:spcBef>
                <a:spcPts val="0"/>
              </a:spcBef>
              <a:spcAft>
                <a:spcPts val="0"/>
              </a:spcAft>
            </a:pPr>
            <a:r>
              <a:rPr sz="8097" b="1" spc="-80">
                <a:solidFill>
                  <a:srgbClr val="7D2860"/>
                </a:solidFill>
                <a:latin typeface="Arial"/>
              </a:rPr>
              <a:t>Latent Cache Flow: Model-to-Model Communication Without 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99629" y="2384657"/>
            <a:ext cx="34871439" cy="819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B2331"/>
                </a:solidFill>
                <a:latin typeface="Arial"/>
              </a:rPr>
              <a:t>Maximillian Rossi, Prajwal Raghunath, Eugene Wu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99629" y="3150925"/>
            <a:ext cx="34871439" cy="55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2402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Columbia University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44614" y="1421837"/>
            <a:ext cx="2434409" cy="11306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745"/>
              </a:lnSpc>
              <a:spcBef>
                <a:spcPts val="0"/>
              </a:spcBef>
              <a:spcAft>
                <a:spcPts val="0"/>
              </a:spcAft>
            </a:pPr>
            <a:r>
              <a:rPr sz="7745" b="1" spc="-77">
                <a:solidFill>
                  <a:srgbClr val="7D2860"/>
                </a:solidFill>
                <a:latin typeface="Arial"/>
              </a:rPr>
              <a:t>ICML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0934" y="2478692"/>
            <a:ext cx="1288389" cy="8196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1" spc="309">
                <a:solidFill>
                  <a:srgbClr val="1B2331"/>
                </a:solidFill>
                <a:latin typeface="Arial"/>
              </a:rPr>
              <a:t>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4439" y="4881353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83048" y="4881353"/>
            <a:ext cx="10729788" cy="848013"/>
          </a:xfrm>
          <a:prstGeom prst="rect">
            <a:avLst/>
          </a:prstGeom>
          <a:noFill/>
        </p:spPr>
        <p:txBody>
          <a:bodyPr wrap="non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603858" y="4881353"/>
            <a:ext cx="8420737" cy="1696026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993453" y="5681396"/>
            <a:ext cx="10729788" cy="4726017"/>
          </a:xfrm>
          <a:prstGeom prst="rect">
            <a:avLst/>
          </a:prstGeom>
          <a:noFill/>
        </p:spPr>
        <p:txBody>
          <a:bodyPr wrap="square" lIns="319690" rIns="319690" tIns="137714" bIns="137714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7D2860"/>
                </a:solidFill>
                <a:latin typeface="Arial"/>
              </a:rPr>
              <a:t>A sharer-side </a:t>
            </a:r>
            <a:r>
              <a:rPr sz="3872" b="1">
                <a:solidFill>
                  <a:srgbClr val="111111"/>
                </a:solidFill>
                <a:latin typeface="Arial"/>
              </a:rPr>
              <a:t>hierarchical attention pool</a:t>
            </a:r>
            <a:r>
              <a:rPr sz="3872" b="0">
                <a:solidFill>
                  <a:srgbClr val="7D2860"/>
                </a:solidFill>
                <a:latin typeface="Arial"/>
              </a:rPr>
              <a:t> condenses the full KV cache into P position-free span summaries — the receiver conditions on </a:t>
            </a:r>
            <a:r>
              <a:rPr sz="3872" b="0" i="1">
                <a:solidFill>
                  <a:srgbClr val="7D2860"/>
                </a:solidFill>
                <a:latin typeface="Arial"/>
              </a:rPr>
              <a:t>what</a:t>
            </a:r>
            <a:r>
              <a:rPr sz="3872" b="0">
                <a:solidFill>
                  <a:srgbClr val="7D2860"/>
                </a:solidFill>
                <a:latin typeface="Arial"/>
              </a:rPr>
              <a:t> the sharer learned, not token-aligned positions; LCF-X adds </a:t>
            </a:r>
            <a:r>
              <a:rPr sz="3872" b="1">
                <a:solidFill>
                  <a:srgbClr val="111111"/>
                </a:solidFill>
                <a:latin typeface="Arial"/>
              </a:rPr>
              <a:t>+2.47 F1</a:t>
            </a:r>
            <a:r>
              <a:rPr sz="3872" b="0">
                <a:solidFill>
                  <a:srgbClr val="7D2860"/>
                </a:solidFill>
                <a:latin typeface="Arial"/>
              </a:rPr>
              <a:t> / </a:t>
            </a:r>
            <a:r>
              <a:rPr sz="3872" b="1">
                <a:solidFill>
                  <a:srgbClr val="111111"/>
                </a:solidFill>
                <a:latin typeface="Arial"/>
              </a:rPr>
              <a:t>+4.75 EM</a:t>
            </a:r>
            <a:r>
              <a:rPr sz="3872" b="0">
                <a:solidFill>
                  <a:srgbClr val="7D2860"/>
                </a:solidFill>
                <a:latin typeface="Arial"/>
              </a:rPr>
              <a:t> on HotpotQA-bridge.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4439" y="5939250"/>
            <a:ext cx="8420740" cy="57372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LLM agents talk through text: the sender </a:t>
            </a:r>
            <a:r>
              <a:rPr sz="3872" b="1">
                <a:solidFill>
                  <a:srgbClr val="111111"/>
                </a:solidFill>
                <a:latin typeface="Arial"/>
              </a:rPr>
              <a:t>autoregressively decodes</a:t>
            </a:r>
            <a:r>
              <a:rPr sz="3872" b="0">
                <a:solidFill>
                  <a:srgbClr val="1C1C1C"/>
                </a:solidFill>
                <a:latin typeface="Arial"/>
              </a:rPr>
              <a:t> and the receiver </a:t>
            </a:r>
            <a:r>
              <a:rPr sz="3872" b="1">
                <a:solidFill>
                  <a:srgbClr val="111111"/>
                </a:solidFill>
                <a:latin typeface="Arial"/>
              </a:rPr>
              <a:t>re-encodes</a:t>
            </a:r>
            <a:r>
              <a:rPr sz="3872" b="0">
                <a:solidFill>
                  <a:srgbClr val="1C1C1C"/>
                </a:solidFill>
                <a:latin typeface="Arial"/>
              </a:rPr>
              <a:t>, so every exchange is slow and lossy. Multi-model workflows need a non-text channel for agents with different tools and contexts.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83048" y="6027333"/>
            <a:ext cx="10729788" cy="2458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LCF treats cache transfer as compressed communication: a shared low-dim channel between sharer and receiver KV.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603858" y="9299821"/>
            <a:ext cx="8420737" cy="2104976"/>
          </a:xfrm>
          <a:prstGeom prst="rect">
            <a:avLst/>
          </a:prstGeom>
          <a:noFill/>
        </p:spPr>
        <p:txBody>
          <a:bodyPr wrap="square" lIns="457894" rIns="457894" tIns="265100" bIns="265100">
            <a:spAutoFit/>
          </a:bodyPr>
          <a:lstStyle/>
          <a:p>
            <a:pPr algn="ctr">
              <a:lnSpc>
                <a:spcPts val="5123"/>
              </a:lnSpc>
              <a:spcBef>
                <a:spcPts val="0"/>
              </a:spcBef>
              <a:spcAft>
                <a:spcPts val="0"/>
              </a:spcAft>
            </a:pPr>
            <a:r>
              <a:rPr sz="3795" b="1">
                <a:solidFill>
                  <a:srgbClr val="7D2860"/>
                </a:solidFill>
                <a:latin typeface="Arial"/>
              </a:rPr>
              <a:t>+2.81 wtd acc · 24.6× smaller adapter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439" y="11192875"/>
            <a:ext cx="8420740" cy="2340251"/>
          </a:xfrm>
          <a:prstGeom prst="rect">
            <a:avLst/>
          </a:prstGeom>
          <a:noFill/>
        </p:spPr>
        <p:txBody>
          <a:bodyPr wrap="square" lIns="344282" rIns="344282" tIns="59020" bIns="59020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 i="1">
                <a:solidFill>
                  <a:srgbClr val="1C1C1C"/>
                </a:solidFill>
                <a:latin typeface="Arial"/>
              </a:rPr>
              <a:t>Every model-to-model exchange is slow to decode and lossy to re-encode.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603858" y="11395081"/>
            <a:ext cx="8420737" cy="3886044"/>
          </a:xfrm>
          <a:prstGeom prst="rect">
            <a:avLst/>
          </a:prstGeom>
          <a:noFill/>
        </p:spPr>
        <p:txBody>
          <a:bodyPr wrap="square" lIns="0" rIns="0" tIns="203620" bIns="0">
            <a:spAutoFit/>
          </a:bodyPr>
          <a:lstStyle/>
          <a:p>
            <a:pPr algn="l">
              <a:lnSpc>
                <a:spcPts val="4988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66">
                <a:solidFill>
                  <a:srgbClr val="111111"/>
                </a:solidFill>
                <a:latin typeface="Arial"/>
              </a:rPr>
              <a:t>SO WHAT → </a:t>
            </a:r>
            <a:r>
              <a:rPr sz="3562" b="0" i="1">
                <a:solidFill>
                  <a:srgbClr val="1C1C1C"/>
                </a:solidFill>
                <a:latin typeface="Arial"/>
              </a:rPr>
              <a:t>A pruned 13 MB LCF still beats C2C's 956 MB adapter on every benchmark; LCF-X adds +2.47 F1 and +4.75 EM over the strongest text baseline.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773781" y="12569778"/>
            <a:ext cx="5804880" cy="469179"/>
          </a:xfrm>
          <a:prstGeom prst="rect">
            <a:avLst/>
          </a:prstGeom>
          <a:noFill/>
        </p:spPr>
        <p:txBody>
          <a:bodyPr wrap="square" lIns="371825" rIns="371825" tIns="63742" bIns="63742">
            <a:spAutoFit/>
          </a:bodyPr>
          <a:lstStyle/>
          <a:p>
            <a:pPr algn="ctr">
              <a:lnSpc>
                <a:spcPts val="3032"/>
              </a:lnSpc>
              <a:spcBef>
                <a:spcPts val="0"/>
              </a:spcBef>
              <a:spcAft>
                <a:spcPts val="0"/>
              </a:spcAft>
            </a:pPr>
            <a:r>
              <a:rPr sz="4182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z = W</a:t>
            </a:r>
            <a:r>
              <a:rPr sz="2927" b="0" i="1" baseline="-25000">
                <a:solidFill>
                  <a:srgbClr val="555555"/>
                </a:solidFill>
                <a:latin typeface="Cambria Math"/>
              </a:rPr>
              <a:t>down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x  ·  Δ</a:t>
            </a:r>
            <a:r>
              <a:rPr sz="2927" b="0" i="1" baseline="-25000">
                <a:solidFill>
                  <a:srgbClr val="555555"/>
                </a:solidFill>
                <a:latin typeface="Cambria Math"/>
              </a:rPr>
              <a:t>i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 = W</a:t>
            </a:r>
            <a:r>
              <a:rPr sz="2927" b="0" i="1" baseline="30000">
                <a:solidFill>
                  <a:srgbClr val="555555"/>
                </a:solidFill>
                <a:latin typeface="Cambria Math"/>
              </a:rPr>
              <a:t>i</a:t>
            </a:r>
            <a:r>
              <a:rPr sz="2927" b="0" i="1" baseline="-25000">
                <a:solidFill>
                  <a:srgbClr val="555555"/>
                </a:solidFill>
                <a:latin typeface="Cambria Math"/>
              </a:rPr>
              <a:t>up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 z</a:t>
            </a:r>
            <a:r>
              <a:rPr sz="2927" b="0" i="1" baseline="-25000">
                <a:solidFill>
                  <a:srgbClr val="555555"/>
                </a:solidFill>
                <a:latin typeface="Cambria Math"/>
              </a:rPr>
              <a:t>i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 — gated residual update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4439" y="14331600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603858" y="15827982"/>
            <a:ext cx="8420737" cy="848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622902" y="22356143"/>
            <a:ext cx="8401121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622902" y="23395143"/>
            <a:ext cx="8401121" cy="6953333"/>
          </a:xfrm>
          <a:prstGeom prst="rect">
            <a:avLst/>
          </a:prstGeom>
          <a:noFill/>
        </p:spPr>
        <p:txBody>
          <a:bodyPr wrap="square" lIns="344282" rIns="344282" tIns="147551" bIns="147551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FFFFFF"/>
                </a:solidFill>
                <a:latin typeface="Arial"/>
              </a:rPr>
              <a:t>Inter-model communication doesn't need full-width cache transfer: a compressed latent channel moves a model's state to another model faster, lighter, and across differing contexts than text — opening a new Pareto frontier for multi-model agents.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83048" y="27388516"/>
            <a:ext cx="10729788" cy="25445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One W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down</a:t>
            </a:r>
            <a:r>
              <a:rPr sz="3872" b="0">
                <a:solidFill>
                  <a:srgbClr val="1C1C1C"/>
                </a:solidFill>
                <a:latin typeface="Arial"/>
              </a:rPr>
              <a:t>/W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up</a:t>
            </a:r>
            <a:r>
              <a:rPr sz="3872" b="0">
                <a:solidFill>
                  <a:srgbClr val="1C1C1C"/>
                </a:solidFill>
                <a:latin typeface="Arial"/>
              </a:rPr>
              <a:t> pair replaces C2C's duplicated fusers; the low-dim latent bottleneck compresses </a:t>
            </a:r>
            <a:r>
              <a:rPr sz="3872" b="0" i="1">
                <a:solidFill>
                  <a:srgbClr val="1C1C1C"/>
                </a:solidFill>
                <a:latin typeface="Arial"/>
              </a:rPr>
              <a:t>and</a:t>
            </a:r>
            <a:r>
              <a:rPr sz="3872" b="0">
                <a:solidFill>
                  <a:srgbClr val="1C1C1C"/>
                </a:solidFill>
                <a:latin typeface="Arial"/>
              </a:rPr>
              <a:t> regularizes communication.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200095" y="3162382"/>
            <a:ext cx="822960" cy="4007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819228" y="4894298"/>
            <a:ext cx="5375774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LCF-X: cross-context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956749" y="5007080"/>
            <a:ext cx="3557593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summarize, don't align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208824" y="9317377"/>
            <a:ext cx="7617392" cy="1365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Latent communication</a:t>
            </a:r>
          </a:p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channel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810721" y="9542943"/>
            <a:ext cx="2049284" cy="8463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one projector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819228" y="10813907"/>
            <a:ext cx="6322412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Efficiency: prune &amp; scale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184112" y="10926690"/>
            <a:ext cx="1263409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ablation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993453" y="11723907"/>
            <a:ext cx="2576932" cy="16960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618"/>
              </a:lnSpc>
              <a:spcBef>
                <a:spcPts val="0"/>
              </a:spcBef>
              <a:spcAft>
                <a:spcPts val="0"/>
              </a:spcAft>
            </a:pPr>
            <a:r>
              <a:rPr sz="11618" b="1">
                <a:solidFill>
                  <a:srgbClr val="7D2860"/>
                </a:solidFill>
                <a:latin typeface="Arial"/>
              </a:rPr>
              <a:t>76×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691880" y="12495234"/>
            <a:ext cx="7950408" cy="1475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53"/>
              </a:lnSpc>
              <a:spcBef>
                <a:spcPts val="0"/>
              </a:spcBef>
              <a:spcAft>
                <a:spcPts val="0"/>
              </a:spcAft>
            </a:pPr>
            <a:r>
              <a:rPr sz="3485" b="0">
                <a:solidFill>
                  <a:srgbClr val="555555"/>
                </a:solidFill>
                <a:latin typeface="Arial"/>
              </a:rPr>
              <a:t>fewer parameters · 9-layer critical subset still beats C2C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82731" y="13228323"/>
            <a:ext cx="10730114" cy="24588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One pipeline, not two fusers</a:t>
            </a:r>
            <a:r>
              <a:rPr sz="3872" b="0">
                <a:solidFill>
                  <a:srgbClr val="1C1C1C"/>
                </a:solidFill>
                <a:latin typeface="Arial"/>
              </a:rPr>
              <a:t> — C2C learns separate K and V fusers per position, a 956 MB adapter for a 1.1B pair.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82731" y="15538435"/>
            <a:ext cx="10730114" cy="3278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872" b="0">
                <a:solidFill>
                  <a:srgbClr val="1C1C1C"/>
                </a:solidFill>
                <a:latin typeface="Arial"/>
              </a:rPr>
              <a:t>LCF </a:t>
            </a:r>
            <a:r>
              <a:rPr sz="3872" b="1">
                <a:solidFill>
                  <a:srgbClr val="111111"/>
                </a:solidFill>
                <a:latin typeface="Arial"/>
              </a:rPr>
              <a:t>shares one projector</a:t>
            </a:r>
            <a:r>
              <a:rPr sz="3872" b="0">
                <a:solidFill>
                  <a:srgbClr val="1C1C1C"/>
                </a:solidFill>
                <a:latin typeface="Arial"/>
              </a:rPr>
              <a:t>: concat &amp; flatten the KV, down-project into a low-dim latent z, up-project </a:t>
            </a:r>
            <a:r>
              <a:rPr sz="3872" b="1">
                <a:solidFill>
                  <a:srgbClr val="111111"/>
                </a:solidFill>
                <a:latin typeface="Arial"/>
              </a:rPr>
              <a:t>gated residuals</a:t>
            </a:r>
            <a:r>
              <a:rPr sz="3872" b="0">
                <a:solidFill>
                  <a:srgbClr val="1C1C1C"/>
                </a:solidFill>
                <a:latin typeface="Arial"/>
              </a:rPr>
              <a:t> back — ~4% the adapter size.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4121" y="15551083"/>
            <a:ext cx="8421067" cy="3278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Cache-to-Cache (C2C)</a:t>
            </a:r>
            <a:r>
              <a:rPr sz="3872" b="0">
                <a:solidFill>
                  <a:srgbClr val="1C1C1C"/>
                </a:solidFill>
                <a:latin typeface="Arial"/>
              </a:rPr>
              <a:t> drops text via KV exchange — but its adapter is </a:t>
            </a:r>
            <a:r>
              <a:rPr sz="3872" b="1">
                <a:solidFill>
                  <a:srgbClr val="111111"/>
                </a:solidFill>
                <a:latin typeface="Arial"/>
              </a:rPr>
              <a:t>956 MB</a:t>
            </a:r>
            <a:r>
              <a:rPr sz="3872" b="0">
                <a:solidFill>
                  <a:srgbClr val="1C1C1C"/>
                </a:solidFill>
                <a:latin typeface="Arial"/>
              </a:rPr>
              <a:t> for a 1.1B pair and expensive to train.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993136" y="17248479"/>
            <a:ext cx="10730114" cy="3278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Layer pruning</a:t>
            </a:r>
            <a:r>
              <a:rPr sz="3872" b="0">
                <a:solidFill>
                  <a:srgbClr val="1C1C1C"/>
                </a:solidFill>
                <a:latin typeface="Arial"/>
              </a:rPr>
              <a:t> — the signal concentrates in a 9-layer critical subset (13 MB, 76× fewer params) that beats C2C on every benchmark.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4121" y="18573900"/>
            <a:ext cx="8421067" cy="3278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872" b="0">
                <a:solidFill>
                  <a:srgbClr val="1C1C1C"/>
                </a:solidFill>
                <a:latin typeface="Arial"/>
              </a:rPr>
              <a:t>C2C is </a:t>
            </a:r>
            <a:r>
              <a:rPr sz="3872" b="1">
                <a:solidFill>
                  <a:srgbClr val="111111"/>
                </a:solidFill>
                <a:latin typeface="Arial"/>
              </a:rPr>
              <a:t>token-by-token</a:t>
            </a:r>
            <a:r>
              <a:rPr sz="3872" b="0">
                <a:solidFill>
                  <a:srgbClr val="1C1C1C"/>
                </a:solidFill>
                <a:latin typeface="Arial"/>
              </a:rPr>
              <a:t> and demands identical, aligned context — unusable for agents with different tools or sub-tasks.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08824" y="19160728"/>
            <a:ext cx="5347423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Compressed transfer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133882" y="19273511"/>
            <a:ext cx="2746429" cy="423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the LCF projector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90397" y="19947828"/>
            <a:ext cx="9795218" cy="26261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Compress</a:t>
            </a:r>
            <a:r>
              <a:rPr sz="3872" b="0">
                <a:solidFill>
                  <a:srgbClr val="1C1C1C"/>
                </a:solidFill>
                <a:latin typeface="Arial"/>
              </a:rPr>
              <a:t> — concat &amp; flatten the sharer/receiver KV, down-project to z = W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down</a:t>
            </a:r>
            <a:r>
              <a:rPr sz="3872" b="0">
                <a:solidFill>
                  <a:srgbClr val="1C1C1C"/>
                </a:solidFill>
                <a:latin typeface="Arial"/>
              </a:rPr>
              <a:t>x, split into z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K</a:t>
            </a:r>
            <a:r>
              <a:rPr sz="3872" b="0">
                <a:solidFill>
                  <a:srgbClr val="1C1C1C"/>
                </a:solidFill>
                <a:latin typeface="Arial"/>
              </a:rPr>
              <a:t>, z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V</a:t>
            </a:r>
            <a:r>
              <a:rPr sz="3872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993136" y="20271297"/>
            <a:ext cx="10730114" cy="3278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Bottleneck scaling</a:t>
            </a:r>
            <a:r>
              <a:rPr sz="3872" b="0">
                <a:solidFill>
                  <a:srgbClr val="1C1C1C"/>
                </a:solidFill>
                <a:latin typeface="Arial"/>
              </a:rPr>
              <a:t> — LCF-256 peaks at 32.88 wtd acc; LCF-64 underperforms and LCF-512 overshoots, so the channel both compresses and regularizes.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90397" y="22526357"/>
            <a:ext cx="9795218" cy="271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Inject</a:t>
            </a:r>
            <a:r>
              <a:rPr sz="3872" b="0">
                <a:solidFill>
                  <a:srgbClr val="1C1C1C"/>
                </a:solidFill>
                <a:latin typeface="Arial"/>
              </a:rPr>
              <a:t> — per-head gates α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K</a:t>
            </a:r>
            <a:r>
              <a:rPr sz="3872" b="0">
                <a:solidFill>
                  <a:srgbClr val="1C1C1C"/>
                </a:solidFill>
                <a:latin typeface="Arial"/>
              </a:rPr>
              <a:t>, α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V</a:t>
            </a:r>
            <a:r>
              <a:rPr sz="3872" b="0">
                <a:solidFill>
                  <a:srgbClr val="1C1C1C"/>
                </a:solidFill>
                <a:latin typeface="Arial"/>
              </a:rPr>
              <a:t> scale up-projected residuals, added back as R′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3872" b="0">
                <a:solidFill>
                  <a:srgbClr val="1C1C1C"/>
                </a:solidFill>
                <a:latin typeface="Arial"/>
              </a:rPr>
              <a:t> = R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3872" b="0">
                <a:solidFill>
                  <a:srgbClr val="1C1C1C"/>
                </a:solidFill>
                <a:latin typeface="Arial"/>
              </a:rPr>
              <a:t> + g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3872" b="0">
                <a:solidFill>
                  <a:srgbClr val="1C1C1C"/>
                </a:solidFill>
                <a:latin typeface="Arial"/>
              </a:rPr>
              <a:t>(α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3872" b="0">
                <a:solidFill>
                  <a:srgbClr val="1C1C1C"/>
                </a:solidFill>
                <a:latin typeface="Arial"/>
              </a:rPr>
              <a:t> ⊙ Δ</a:t>
            </a:r>
            <a:r>
              <a:rPr sz="5421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3872" b="0">
                <a:solidFill>
                  <a:srgbClr val="1C1C1C"/>
                </a:solidFill>
                <a:latin typeface="Arial"/>
              </a:rPr>
              <a:t>).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993136" y="23294114"/>
            <a:ext cx="10730114" cy="2458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Span invariance</a:t>
            </a:r>
            <a:r>
              <a:rPr sz="3872" b="0">
                <a:solidFill>
                  <a:srgbClr val="1C1C1C"/>
                </a:solidFill>
                <a:latin typeface="Arial"/>
              </a:rPr>
              <a:t> — LCF-X F1 stays within a 0.32-point band across a 4.7× span-count change; trains in ≈4.5 h on one A100.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90397" y="25183597"/>
            <a:ext cx="9795218" cy="253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Prune</a:t>
            </a:r>
            <a:r>
              <a:rPr sz="3872" b="0">
                <a:solidFill>
                  <a:srgbClr val="1C1C1C"/>
                </a:solidFill>
                <a:latin typeface="Arial"/>
              </a:rPr>
              <a:t> — drop receiver layers that contribute little, yielding the 13 MB 9-layer critical subset.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993136" y="25604227"/>
            <a:ext cx="10730114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Transferable</a:t>
            </a:r>
            <a:r>
              <a:rPr sz="3872" b="0">
                <a:solidFill>
                  <a:srgbClr val="1C1C1C"/>
                </a:solidFill>
                <a:latin typeface="Arial"/>
              </a:rPr>
              <a:t> — one trained LCF-128 serves all four MCQ benchmarks without per-task retraining.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65133" y="28181122"/>
            <a:ext cx="7698156" cy="120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3175" b="0" i="1">
                <a:solidFill>
                  <a:srgbClr val="555555"/>
                </a:solidFill>
                <a:latin typeface="Arial"/>
              </a:rPr>
              <a:t>Efficiency–flexibility trade-off: LCF sits between T2T and C2C.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836711" y="17633102"/>
            <a:ext cx="3890149" cy="1464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033"/>
              </a:lnSpc>
              <a:spcBef>
                <a:spcPts val="0"/>
              </a:spcBef>
              <a:spcAft>
                <a:spcPts val="0"/>
              </a:spcAft>
            </a:pPr>
            <a:r>
              <a:rPr sz="10561" b="1" spc="-211">
                <a:solidFill>
                  <a:srgbClr val="7D2860"/>
                </a:solidFill>
                <a:latin typeface="Arial"/>
              </a:rPr>
              <a:t>8.5×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836711" y="18929062"/>
            <a:ext cx="3890149" cy="11306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72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C1C1C"/>
                </a:solidFill>
                <a:latin typeface="Arial"/>
              </a:rPr>
              <a:t>faster time-to-first-token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836711" y="19912267"/>
            <a:ext cx="3890149" cy="886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640" b="0" i="1">
                <a:solidFill>
                  <a:srgbClr val="555555"/>
                </a:solidFill>
                <a:latin typeface="Arial"/>
              </a:rPr>
              <a:t>+23% exact match over text communication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603858" y="6840619"/>
            <a:ext cx="6064793" cy="708732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METHOD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492007" y="6840619"/>
            <a:ext cx="2355943" cy="708732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METRIC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603858" y="7456908"/>
            <a:ext cx="6064793" cy="904649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1C1C1C"/>
                </a:solidFill>
                <a:latin typeface="Arial"/>
              </a:rPr>
              <a:t>C2C (cache fuser)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492007" y="7456908"/>
            <a:ext cx="2355943" cy="904649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0">
                <a:solidFill>
                  <a:srgbClr val="1C1C1C"/>
                </a:solidFill>
                <a:latin typeface="Arial"/>
              </a:rPr>
              <a:t>29.13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603858" y="8243560"/>
            <a:ext cx="6064793" cy="90465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LCF-128 (ours)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492007" y="8243560"/>
            <a:ext cx="2355943" cy="90465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31.94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1993453" y="13901299"/>
            <a:ext cx="4876173" cy="766395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BOTTLENECK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727602" y="13901299"/>
            <a:ext cx="5853614" cy="766395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WTD ACC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993453" y="14567730"/>
            <a:ext cx="4876173" cy="1025795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LCF-64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727602" y="14567730"/>
            <a:ext cx="5853614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underperforms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993453" y="15459726"/>
            <a:ext cx="4876173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LCF-256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727602" y="15459726"/>
            <a:ext cx="5853614" cy="1025795"/>
          </a:xfrm>
          <a:prstGeom prst="rect">
            <a:avLst/>
          </a:prstGeom>
          <a:noFill/>
        </p:spPr>
        <p:txBody>
          <a:bodyPr wrap="non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32.88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993453" y="16351722"/>
            <a:ext cx="4876173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LCF-512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727602" y="16351722"/>
            <a:ext cx="5853614" cy="1025795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overshoots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606122" y="17077519"/>
            <a:ext cx="1763624" cy="591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31.94%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490380" y="17191790"/>
            <a:ext cx="1382024" cy="1387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LCF-128 weighted accuracy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8606122" y="18644129"/>
            <a:ext cx="812545" cy="1182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13 MB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566998" y="18758400"/>
            <a:ext cx="2038866" cy="1387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adapter vs C2C's 956 MB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606122" y="20210738"/>
            <a:ext cx="773922" cy="1182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4.5 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529505" y="20325011"/>
            <a:ext cx="2077484" cy="9250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training on one A100</a:t>
            </a:r>
          </a:p>
        </p:txBody>
      </p:sp>
      <p:pic>
        <p:nvPicPr>
          <p:cNvPr id="141" name="Picture 140" descr="e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6751" y="10890981"/>
            <a:ext cx="8489865" cy="1570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