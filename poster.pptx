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</p:sldIdLst>
  <p:sldSz cx="42793920" cy="3026664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3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53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2084" y="622090"/>
            <a:ext cx="41549756" cy="4794906"/>
          </a:xfrm>
          <a:prstGeom prst="roundRect">
            <a:avLst>
              <a:gd name="adj" fmla="val 3708"/>
            </a:avLst>
          </a:prstGeom>
          <a:solidFill>
            <a:srgbClr val="FFFFFF"/>
          </a:solidFill>
          <a:ln w="38106">
            <a:solidFill>
              <a:srgbClr val="34373B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946997" y="990197"/>
            <a:ext cx="2475836" cy="1217995"/>
          </a:xfrm>
          <a:prstGeom prst="roundRect">
            <a:avLst>
              <a:gd name="adj" fmla="val 8343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22084" y="5912170"/>
            <a:ext cx="8962417" cy="10166820"/>
          </a:xfrm>
          <a:prstGeom prst="roundRect">
            <a:avLst>
              <a:gd name="adj" fmla="val 1984"/>
            </a:avLst>
          </a:prstGeom>
          <a:solidFill>
            <a:srgbClr val="FAFAF7"/>
          </a:solidFill>
          <a:ln w="9526">
            <a:solidFill>
              <a:srgbClr val="D8D8D4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990693" y="5912170"/>
            <a:ext cx="11203171" cy="8681449"/>
          </a:xfrm>
          <a:prstGeom prst="roundRect">
            <a:avLst>
              <a:gd name="adj" fmla="val 2048"/>
            </a:avLst>
          </a:prstGeom>
          <a:solidFill>
            <a:srgbClr val="FAFAF7"/>
          </a:solidFill>
          <a:ln w="9526">
            <a:solidFill>
              <a:srgbClr val="D8D8D4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1600055" y="5912170"/>
            <a:ext cx="11203023" cy="5672916"/>
          </a:xfrm>
          <a:prstGeom prst="roundRect">
            <a:avLst>
              <a:gd name="adj" fmla="val 3134"/>
            </a:avLst>
          </a:prstGeom>
          <a:solidFill>
            <a:srgbClr val="FAFAF7"/>
          </a:solidFill>
          <a:ln w="9526">
            <a:solidFill>
              <a:srgbClr val="D8D8D4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209270" y="5912170"/>
            <a:ext cx="8962567" cy="8754505"/>
          </a:xfrm>
          <a:prstGeom prst="roundRect">
            <a:avLst>
              <a:gd name="adj" fmla="val 2031"/>
            </a:avLst>
          </a:prstGeom>
          <a:solidFill>
            <a:srgbClr val="FAFAF7"/>
          </a:solidFill>
          <a:ln w="9526">
            <a:solidFill>
              <a:srgbClr val="D8D8D4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1600055" y="11902454"/>
            <a:ext cx="11203023" cy="17738147"/>
          </a:xfrm>
          <a:prstGeom prst="roundRect">
            <a:avLst>
              <a:gd name="adj" fmla="val 1587"/>
            </a:avLst>
          </a:prstGeom>
          <a:solidFill>
            <a:srgbClr val="FAFAF7"/>
          </a:solidFill>
          <a:ln w="9526">
            <a:solidFill>
              <a:srgbClr val="D8D8D4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990693" y="14910989"/>
            <a:ext cx="11203171" cy="6712213"/>
          </a:xfrm>
          <a:prstGeom prst="roundRect">
            <a:avLst>
              <a:gd name="adj" fmla="val 2649"/>
            </a:avLst>
          </a:prstGeom>
          <a:solidFill>
            <a:srgbClr val="FAFAF7"/>
          </a:solidFill>
          <a:ln w="9526">
            <a:solidFill>
              <a:srgbClr val="D8D8D4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3209270" y="14984045"/>
            <a:ext cx="8962567" cy="4996515"/>
          </a:xfrm>
          <a:prstGeom prst="roundRect">
            <a:avLst>
              <a:gd name="adj" fmla="val 3559"/>
            </a:avLst>
          </a:prstGeom>
          <a:solidFill>
            <a:srgbClr val="FAFAF7"/>
          </a:solidFill>
          <a:ln w="9526">
            <a:solidFill>
              <a:srgbClr val="D8D8D4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084" y="16396359"/>
            <a:ext cx="8962417" cy="13244242"/>
          </a:xfrm>
          <a:prstGeom prst="roundRect">
            <a:avLst>
              <a:gd name="adj" fmla="val 1984"/>
            </a:avLst>
          </a:prstGeom>
          <a:solidFill>
            <a:srgbClr val="FAFAF7"/>
          </a:solidFill>
          <a:ln w="9526">
            <a:solidFill>
              <a:srgbClr val="D8D8D4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209270" y="20297931"/>
            <a:ext cx="8962567" cy="5132807"/>
          </a:xfrm>
          <a:prstGeom prst="roundRect">
            <a:avLst>
              <a:gd name="adj" fmla="val 3464"/>
            </a:avLst>
          </a:prstGeom>
          <a:solidFill>
            <a:srgbClr val="F2F2F3"/>
          </a:solidFill>
          <a:ln w="9526">
            <a:solidFill>
              <a:srgbClr val="D8D8D4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209270" y="20297931"/>
            <a:ext cx="57160" cy="5132807"/>
          </a:xfrm>
          <a:prstGeom prst="rect">
            <a:avLst/>
          </a:prstGeom>
          <a:solidFill>
            <a:srgbClr val="3437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990693" y="21940571"/>
            <a:ext cx="11203171" cy="7700030"/>
          </a:xfrm>
          <a:prstGeom prst="roundRect">
            <a:avLst>
              <a:gd name="adj" fmla="val 2309"/>
            </a:avLst>
          </a:prstGeom>
          <a:solidFill>
            <a:srgbClr val="FAFAF7"/>
          </a:solidFill>
          <a:ln w="9526">
            <a:solidFill>
              <a:srgbClr val="D8D8D4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209270" y="25748106"/>
            <a:ext cx="8962567" cy="3892495"/>
          </a:xfrm>
          <a:prstGeom prst="roundRect">
            <a:avLst>
              <a:gd name="adj" fmla="val 4568"/>
            </a:avLst>
          </a:prstGeom>
          <a:solidFill>
            <a:srgbClr val="FAFAF7"/>
          </a:solidFill>
          <a:ln w="9526">
            <a:solidFill>
              <a:srgbClr val="D8D8D4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80869" y="5870955"/>
            <a:ext cx="9044847" cy="1116967"/>
          </a:xfrm>
          <a:prstGeom prst="roundRect">
            <a:avLst>
              <a:gd name="adj" fmla="val 15921"/>
            </a:avLst>
          </a:prstGeom>
          <a:solidFill>
            <a:srgbClr val="343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949479" y="5870955"/>
            <a:ext cx="11285599" cy="1116967"/>
          </a:xfrm>
          <a:prstGeom prst="roundRect">
            <a:avLst>
              <a:gd name="adj" fmla="val 15921"/>
            </a:avLst>
          </a:prstGeom>
          <a:solidFill>
            <a:srgbClr val="343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3168056" y="5870955"/>
            <a:ext cx="9044996" cy="1116967"/>
          </a:xfrm>
          <a:prstGeom prst="roundRect">
            <a:avLst>
              <a:gd name="adj" fmla="val 15921"/>
            </a:avLst>
          </a:prstGeom>
          <a:solidFill>
            <a:srgbClr val="343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1965035" y="7082998"/>
            <a:ext cx="10473066" cy="4139040"/>
          </a:xfrm>
          <a:prstGeom prst="roundRect">
            <a:avLst>
              <a:gd name="adj" fmla="val 4787"/>
            </a:avLst>
          </a:prstGeom>
          <a:solidFill>
            <a:srgbClr val="EE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3574247" y="11518131"/>
            <a:ext cx="8232613" cy="2227981"/>
          </a:xfrm>
          <a:prstGeom prst="roundRect">
            <a:avLst>
              <a:gd name="adj" fmla="val 8894"/>
            </a:avLst>
          </a:prstGeom>
          <a:solidFill>
            <a:srgbClr val="343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3574247" y="13746112"/>
            <a:ext cx="8232613" cy="40406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574247" y="13746112"/>
            <a:ext cx="8232613" cy="12385"/>
          </a:xfrm>
          <a:prstGeom prst="rect">
            <a:avLst/>
          </a:prstGeom>
          <a:solidFill>
            <a:srgbClr val="B8B9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87062" y="13999501"/>
            <a:ext cx="8232461" cy="333706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87062" y="13999501"/>
            <a:ext cx="123847" cy="3337062"/>
          </a:xfrm>
          <a:prstGeom prst="rect">
            <a:avLst/>
          </a:prstGeom>
          <a:solidFill>
            <a:srgbClr val="3437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3168056" y="14942829"/>
            <a:ext cx="9044996" cy="1116967"/>
          </a:xfrm>
          <a:prstGeom prst="roundRect">
            <a:avLst>
              <a:gd name="adj" fmla="val 15921"/>
            </a:avLst>
          </a:prstGeom>
          <a:solidFill>
            <a:srgbClr val="343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355672" y="16215430"/>
            <a:ext cx="10473214" cy="1466623"/>
          </a:xfrm>
          <a:prstGeom prst="roundRect">
            <a:avLst>
              <a:gd name="adj" fmla="val 14592"/>
            </a:avLst>
          </a:prstGeom>
          <a:solidFill>
            <a:srgbClr val="F3F3F3"/>
          </a:solidFill>
          <a:ln w="9526">
            <a:solidFill>
              <a:srgbClr val="BEB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80869" y="16355144"/>
            <a:ext cx="9044847" cy="1116966"/>
          </a:xfrm>
          <a:prstGeom prst="roundRect">
            <a:avLst>
              <a:gd name="adj" fmla="val 15921"/>
            </a:avLst>
          </a:prstGeom>
          <a:solidFill>
            <a:srgbClr val="343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3574247" y="16362584"/>
            <a:ext cx="8232613" cy="5227140"/>
          </a:xfrm>
          <a:prstGeom prst="roundRect">
            <a:avLst>
              <a:gd name="adj" fmla="val 1458"/>
            </a:avLst>
          </a:prstGeom>
          <a:gradFill flip="none" rotWithShape="1">
            <a:gsLst>
              <a:gs pos="0">
                <a:srgbClr val="E7E7E7"/>
              </a:gs>
              <a:gs pos="100000">
                <a:srgbClr val="F3F3F3"/>
              </a:gs>
            </a:gsLst>
            <a:lin ang="5400000" scaled="0"/>
          </a:gradFill>
          <a:ln w="9526">
            <a:solidFill>
              <a:srgbClr val="CCCDCE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3215668" y="20256716"/>
            <a:ext cx="8997384" cy="1116966"/>
          </a:xfrm>
          <a:prstGeom prst="roundRect">
            <a:avLst>
              <a:gd name="adj" fmla="val 15921"/>
            </a:avLst>
          </a:prstGeom>
          <a:solidFill>
            <a:srgbClr val="343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3621860" y="21676470"/>
            <a:ext cx="8185000" cy="5426370"/>
          </a:xfrm>
          <a:prstGeom prst="roundRect">
            <a:avLst>
              <a:gd name="adj" fmla="val 3651"/>
            </a:avLst>
          </a:prstGeom>
          <a:solidFill>
            <a:srgbClr val="EE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87062" y="25562741"/>
            <a:ext cx="8232461" cy="4691051"/>
          </a:xfrm>
          <a:prstGeom prst="roundRect">
            <a:avLst>
              <a:gd name="adj" fmla="val 3696"/>
            </a:avLst>
          </a:prstGeom>
          <a:solidFill>
            <a:srgbClr val="F5E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87062" y="25562741"/>
            <a:ext cx="123847" cy="4691051"/>
          </a:xfrm>
          <a:prstGeom prst="rect">
            <a:avLst/>
          </a:prstGeom>
          <a:solidFill>
            <a:srgbClr val="AE26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3" name="Picture 32" descr="rensselaer-polytechnic-institut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233822" y="3252411"/>
            <a:ext cx="4175744" cy="1018892"/>
          </a:xfrm>
          <a:prstGeom prst="rect">
            <a:avLst/>
          </a:prstGeom>
        </p:spPr>
      </p:pic>
      <p:pic>
        <p:nvPicPr>
          <p:cNvPr id="34" name="Picture 33" descr="ib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63400" y="3252404"/>
            <a:ext cx="2724317" cy="1018906"/>
          </a:xfrm>
          <a:prstGeom prst="rect">
            <a:avLst/>
          </a:prstGeom>
        </p:spPr>
      </p:pic>
      <p:pic>
        <p:nvPicPr>
          <p:cNvPr id="35" name="Picture 34" descr="columbia-univers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1547" y="3252452"/>
            <a:ext cx="781286" cy="1018809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21965035" y="6277152"/>
            <a:ext cx="623869" cy="623876"/>
          </a:xfrm>
          <a:prstGeom prst="roundRect">
            <a:avLst>
              <a:gd name="adj" fmla="val 50000"/>
            </a:avLst>
          </a:prstGeom>
          <a:solidFill>
            <a:srgbClr val="343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3275" b="1">
                <a:solidFill>
                  <a:srgbClr val="FFFFFF"/>
                </a:solidFill>
                <a:latin typeface="Arial" panose="020B0604020202090204"/>
              </a:rPr>
              <a:t>3</a:t>
            </a:r>
            <a:endParaRPr sz="3275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11852929" y="7538295"/>
            <a:ext cx="7478550" cy="4972561"/>
          </a:xfrm>
          <a:prstGeom prst="roundRect">
            <a:avLst>
              <a:gd name="adj" fmla="val 2043"/>
            </a:avLst>
          </a:prstGeom>
          <a:solidFill>
            <a:srgbClr val="FFFFFF"/>
          </a:solidFill>
          <a:ln w="9526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page6_figur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52929" y="7538322"/>
            <a:ext cx="7478550" cy="4972508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21965035" y="12267437"/>
            <a:ext cx="623869" cy="623876"/>
          </a:xfrm>
          <a:prstGeom prst="roundRect">
            <a:avLst>
              <a:gd name="adj" fmla="val 50000"/>
            </a:avLst>
          </a:prstGeom>
          <a:solidFill>
            <a:srgbClr val="343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3275" b="1">
                <a:solidFill>
                  <a:srgbClr val="FFFFFF"/>
                </a:solidFill>
                <a:latin typeface="Arial" panose="020B0604020202090204"/>
              </a:rPr>
              <a:t>4</a:t>
            </a:r>
            <a:endParaRPr sz="3275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10355672" y="15275970"/>
            <a:ext cx="623869" cy="623877"/>
          </a:xfrm>
          <a:prstGeom prst="roundRect">
            <a:avLst>
              <a:gd name="adj" fmla="val 50000"/>
            </a:avLst>
          </a:prstGeom>
          <a:solidFill>
            <a:srgbClr val="343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3275" b="1">
                <a:solidFill>
                  <a:srgbClr val="FFFFFF"/>
                </a:solidFill>
                <a:latin typeface="Arial" panose="020B0604020202090204"/>
              </a:rPr>
              <a:t>1</a:t>
            </a:r>
            <a:endParaRPr sz="3275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8152914" y="16575205"/>
            <a:ext cx="3390589" cy="482734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152914" y="16575205"/>
            <a:ext cx="12384" cy="4827341"/>
          </a:xfrm>
          <a:prstGeom prst="rect">
            <a:avLst/>
          </a:prstGeom>
          <a:solidFill>
            <a:srgbClr val="CCCD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355672" y="22305552"/>
            <a:ext cx="623869" cy="623878"/>
          </a:xfrm>
          <a:prstGeom prst="roundRect">
            <a:avLst>
              <a:gd name="adj" fmla="val 50000"/>
            </a:avLst>
          </a:prstGeom>
          <a:solidFill>
            <a:srgbClr val="343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3275" b="1">
                <a:solidFill>
                  <a:srgbClr val="FFFFFF"/>
                </a:solidFill>
                <a:latin typeface="Arial" panose="020B0604020202090204"/>
              </a:rPr>
              <a:t>2</a:t>
            </a:r>
            <a:endParaRPr sz="3275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34148273" y="26782792"/>
            <a:ext cx="7084413" cy="2492828"/>
          </a:xfrm>
          <a:prstGeom prst="roundRect">
            <a:avLst>
              <a:gd name="adj" fmla="val 9172"/>
            </a:avLst>
          </a:prstGeom>
          <a:solidFill>
            <a:srgbClr val="EEEFF1"/>
          </a:solidFill>
          <a:ln w="19053">
            <a:solidFill>
              <a:srgbClr val="3437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457382" y="25711234"/>
            <a:ext cx="2179006" cy="606468"/>
          </a:xfrm>
          <a:prstGeom prst="roundRect">
            <a:avLst>
              <a:gd name="adj" fmla="val 14294"/>
            </a:avLst>
          </a:prstGeom>
          <a:solidFill>
            <a:srgbClr val="AE2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730" b="1">
                <a:solidFill>
                  <a:srgbClr val="FFFFFF"/>
                </a:solidFill>
                <a:latin typeface="Arial" panose="020B0604020202090204"/>
              </a:rPr>
              <a:t>WHY NOW</a:t>
            </a:r>
            <a:endParaRPr sz="273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33574247" y="10054334"/>
            <a:ext cx="8232613" cy="1459035"/>
          </a:xfrm>
          <a:prstGeom prst="rect">
            <a:avLst/>
          </a:prstGeom>
          <a:solidFill>
            <a:srgbClr val="EA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0355672" y="23111400"/>
            <a:ext cx="668655" cy="668662"/>
          </a:xfrm>
          <a:prstGeom prst="roundRect">
            <a:avLst>
              <a:gd name="adj" fmla="val 49866"/>
            </a:avLst>
          </a:prstGeom>
          <a:solidFill>
            <a:srgbClr val="343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3510" b="1">
                <a:solidFill>
                  <a:srgbClr val="FFFFFF"/>
                </a:solidFill>
                <a:latin typeface="Arial" panose="020B0604020202090204"/>
              </a:rPr>
              <a:t>1</a:t>
            </a:r>
            <a:endParaRPr sz="351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10355672" y="24935119"/>
            <a:ext cx="668655" cy="668662"/>
          </a:xfrm>
          <a:prstGeom prst="roundRect">
            <a:avLst>
              <a:gd name="adj" fmla="val 49866"/>
            </a:avLst>
          </a:prstGeom>
          <a:solidFill>
            <a:srgbClr val="343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3510" b="1">
                <a:solidFill>
                  <a:srgbClr val="FFFFFF"/>
                </a:solidFill>
                <a:latin typeface="Arial" panose="020B0604020202090204"/>
              </a:rPr>
              <a:t>2</a:t>
            </a:r>
            <a:endParaRPr sz="351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10355672" y="26758838"/>
            <a:ext cx="668655" cy="668662"/>
          </a:xfrm>
          <a:prstGeom prst="roundRect">
            <a:avLst>
              <a:gd name="adj" fmla="val 49866"/>
            </a:avLst>
          </a:prstGeom>
          <a:solidFill>
            <a:srgbClr val="343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3510" b="1">
                <a:solidFill>
                  <a:srgbClr val="FFFFFF"/>
                </a:solidFill>
                <a:latin typeface="Arial" panose="020B0604020202090204"/>
              </a:rPr>
              <a:t>3</a:t>
            </a:r>
            <a:endParaRPr sz="351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33574247" y="7474911"/>
            <a:ext cx="6170255" cy="1120389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3574247" y="8585773"/>
            <a:ext cx="6170255" cy="12385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9744502" y="7474911"/>
            <a:ext cx="2062358" cy="1120389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9744502" y="8585773"/>
            <a:ext cx="2062358" cy="12385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3574247" y="8595300"/>
            <a:ext cx="6170255" cy="145903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3574247" y="10044808"/>
            <a:ext cx="6170255" cy="12384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9744502" y="8595300"/>
            <a:ext cx="2062358" cy="145903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9744502" y="10044808"/>
            <a:ext cx="2062358" cy="12384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3574247" y="10054334"/>
            <a:ext cx="6170255" cy="1459035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3574247" y="11503842"/>
            <a:ext cx="6170255" cy="12385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9744502" y="10054334"/>
            <a:ext cx="2062358" cy="1459035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9744502" y="11503842"/>
            <a:ext cx="2062358" cy="12385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1965035" y="18108039"/>
            <a:ext cx="4917455" cy="671192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1965035" y="18769704"/>
            <a:ext cx="4917455" cy="12385"/>
          </a:xfrm>
          <a:prstGeom prst="rect">
            <a:avLst/>
          </a:prstGeom>
          <a:solidFill>
            <a:srgbClr val="E1E1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6882490" y="18108039"/>
            <a:ext cx="5555611" cy="671192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6882490" y="18769704"/>
            <a:ext cx="5555611" cy="12385"/>
          </a:xfrm>
          <a:prstGeom prst="rect">
            <a:avLst/>
          </a:prstGeom>
          <a:solidFill>
            <a:srgbClr val="E1E1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1965035" y="18779231"/>
            <a:ext cx="4917455" cy="8983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1965035" y="19668097"/>
            <a:ext cx="4917455" cy="12385"/>
          </a:xfrm>
          <a:prstGeom prst="rect">
            <a:avLst/>
          </a:prstGeom>
          <a:solidFill>
            <a:srgbClr val="E1E1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6882490" y="18779231"/>
            <a:ext cx="5555611" cy="8983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6882490" y="19668097"/>
            <a:ext cx="5555611" cy="12385"/>
          </a:xfrm>
          <a:prstGeom prst="rect">
            <a:avLst/>
          </a:prstGeom>
          <a:solidFill>
            <a:srgbClr val="E1E1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1965035" y="19677623"/>
            <a:ext cx="4917455" cy="8983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1965035" y="20566491"/>
            <a:ext cx="4917455" cy="12384"/>
          </a:xfrm>
          <a:prstGeom prst="rect">
            <a:avLst/>
          </a:prstGeom>
          <a:solidFill>
            <a:srgbClr val="E1E1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6882490" y="19677623"/>
            <a:ext cx="5555611" cy="8983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6882490" y="20566491"/>
            <a:ext cx="5555611" cy="12384"/>
          </a:xfrm>
          <a:prstGeom prst="rect">
            <a:avLst/>
          </a:prstGeom>
          <a:solidFill>
            <a:srgbClr val="E1E1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1965035" y="20576017"/>
            <a:ext cx="4917455" cy="8983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1965035" y="21464884"/>
            <a:ext cx="4917455" cy="12385"/>
          </a:xfrm>
          <a:prstGeom prst="rect">
            <a:avLst/>
          </a:prstGeom>
          <a:solidFill>
            <a:srgbClr val="E1E1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6882490" y="20576017"/>
            <a:ext cx="5555611" cy="8983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6882490" y="21464884"/>
            <a:ext cx="5555611" cy="12385"/>
          </a:xfrm>
          <a:prstGeom prst="rect">
            <a:avLst/>
          </a:prstGeom>
          <a:solidFill>
            <a:srgbClr val="E1E1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1965035" y="21474411"/>
            <a:ext cx="4917455" cy="8983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1965035" y="22363281"/>
            <a:ext cx="4917455" cy="12384"/>
          </a:xfrm>
          <a:prstGeom prst="rect">
            <a:avLst/>
          </a:prstGeom>
          <a:solidFill>
            <a:srgbClr val="E1E1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6882490" y="21474411"/>
            <a:ext cx="5555611" cy="8983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6882490" y="22363281"/>
            <a:ext cx="5555611" cy="12384"/>
          </a:xfrm>
          <a:prstGeom prst="rect">
            <a:avLst/>
          </a:prstGeom>
          <a:solidFill>
            <a:srgbClr val="E1E1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1965035" y="22372807"/>
            <a:ext cx="4917455" cy="8983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21965035" y="23261675"/>
            <a:ext cx="4917455" cy="12384"/>
          </a:xfrm>
          <a:prstGeom prst="rect">
            <a:avLst/>
          </a:prstGeom>
          <a:solidFill>
            <a:srgbClr val="E1E1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26882490" y="22372807"/>
            <a:ext cx="5555611" cy="8983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6882490" y="23261675"/>
            <a:ext cx="5555611" cy="12384"/>
          </a:xfrm>
          <a:prstGeom prst="rect">
            <a:avLst/>
          </a:prstGeom>
          <a:solidFill>
            <a:srgbClr val="E1E1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35335754" y="26336870"/>
            <a:ext cx="1420929" cy="451874"/>
          </a:xfrm>
          <a:prstGeom prst="roundRect">
            <a:avLst>
              <a:gd name="adj" fmla="val 50000"/>
            </a:avLst>
          </a:prstGeom>
          <a:solidFill>
            <a:srgbClr val="343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300" b="1">
                <a:solidFill>
                  <a:srgbClr val="FFFFFF"/>
                </a:solidFill>
                <a:latin typeface="Arial" panose="020B0604020202090204"/>
              </a:rPr>
              <a:t>Paper</a:t>
            </a:r>
            <a:endParaRPr sz="230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87" name="Rounded Rectangle 86"/>
          <p:cNvSpPr/>
          <p:nvPr/>
        </p:nvSpPr>
        <p:spPr>
          <a:xfrm>
            <a:off x="38535002" y="26336870"/>
            <a:ext cx="1599327" cy="451874"/>
          </a:xfrm>
          <a:prstGeom prst="roundRect">
            <a:avLst>
              <a:gd name="adj" fmla="val 50000"/>
            </a:avLst>
          </a:prstGeom>
          <a:solidFill>
            <a:srgbClr val="343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300" b="1">
                <a:solidFill>
                  <a:srgbClr val="FFFFFF"/>
                </a:solidFill>
                <a:latin typeface="Arial" panose="020B0604020202090204"/>
              </a:rPr>
              <a:t>Project</a:t>
            </a:r>
            <a:endParaRPr sz="230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4649690" y="26928311"/>
            <a:ext cx="2793206" cy="2793233"/>
          </a:xfrm>
          <a:prstGeom prst="roundRect">
            <a:avLst>
              <a:gd name="adj" fmla="val 5911"/>
            </a:avLst>
          </a:prstGeom>
          <a:solidFill>
            <a:srgbClr val="FFFFFF"/>
          </a:solidFill>
          <a:ln w="9526">
            <a:solidFill>
              <a:srgbClr val="F0F0F0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pap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63710" y="27042745"/>
            <a:ext cx="2564765" cy="2564765"/>
          </a:xfrm>
          <a:prstGeom prst="rect">
            <a:avLst/>
          </a:prstGeom>
        </p:spPr>
      </p:pic>
      <p:sp>
        <p:nvSpPr>
          <p:cNvPr id="90" name="Rounded Rectangle 89"/>
          <p:cNvSpPr/>
          <p:nvPr/>
        </p:nvSpPr>
        <p:spPr>
          <a:xfrm>
            <a:off x="37938063" y="26928311"/>
            <a:ext cx="2793206" cy="2793233"/>
          </a:xfrm>
          <a:prstGeom prst="roundRect">
            <a:avLst>
              <a:gd name="adj" fmla="val 5911"/>
            </a:avLst>
          </a:prstGeom>
          <a:solidFill>
            <a:srgbClr val="FFFFFF"/>
          </a:solidFill>
          <a:ln w="9526">
            <a:solidFill>
              <a:srgbClr val="F0F0F0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cod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52384" y="27042632"/>
            <a:ext cx="2564563" cy="2564591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1371085" y="990197"/>
            <a:ext cx="31736020" cy="242837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ts val="8025"/>
              </a:lnSpc>
              <a:spcBef>
                <a:spcPts val="0"/>
              </a:spcBef>
              <a:spcAft>
                <a:spcPts val="0"/>
              </a:spcAft>
            </a:pPr>
            <a:r>
              <a:rPr sz="7430" b="1" spc="-77">
                <a:solidFill>
                  <a:srgbClr val="34373B"/>
                </a:solidFill>
                <a:latin typeface="Arial" panose="020B0604020202090204"/>
              </a:rPr>
              <a:t>SCARFBench: A Benchmark for Cross-Framework Application</a:t>
            </a:r>
            <a:endParaRPr sz="7430" b="1" spc="-77">
              <a:solidFill>
                <a:srgbClr val="34373B"/>
              </a:solidFill>
              <a:latin typeface="Arial" panose="020B0604020202090204"/>
            </a:endParaRPr>
          </a:p>
          <a:p>
            <a:pPr algn="l">
              <a:lnSpc>
                <a:spcPts val="8025"/>
              </a:lnSpc>
              <a:spcBef>
                <a:spcPts val="0"/>
              </a:spcBef>
              <a:spcAft>
                <a:spcPts val="0"/>
              </a:spcAft>
            </a:pPr>
            <a:r>
              <a:rPr sz="7430" b="1" spc="-77">
                <a:solidFill>
                  <a:srgbClr val="34373B"/>
                </a:solidFill>
                <a:latin typeface="Arial" panose="020B0604020202090204"/>
              </a:rPr>
              <a:t>Migration in Enterprise Java</a:t>
            </a:r>
            <a:endParaRPr sz="7430" b="1" spc="-77">
              <a:solidFill>
                <a:srgbClr val="34373B"/>
              </a:solidFill>
              <a:latin typeface="Arial" panose="020B0604020202090204"/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1371085" y="3316826"/>
            <a:ext cx="31736020" cy="140445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ts val="4810"/>
              </a:lnSpc>
              <a:spcBef>
                <a:spcPts val="0"/>
              </a:spcBef>
              <a:spcAft>
                <a:spcPts val="0"/>
              </a:spcAft>
            </a:pPr>
            <a:r>
              <a:rPr sz="3700" b="0">
                <a:solidFill>
                  <a:srgbClr val="1C1C1C"/>
                </a:solidFill>
                <a:latin typeface="Arial" panose="020B0604020202090204"/>
              </a:rPr>
              <a:t>Advait Pavuluri</a:t>
            </a:r>
            <a:r>
              <a:rPr sz="5180" b="0" baseline="30000">
                <a:solidFill>
                  <a:srgbClr val="1C1C1C"/>
                </a:solidFill>
                <a:latin typeface="Arial" panose="020B0604020202090204"/>
              </a:rPr>
              <a:t>1</a:t>
            </a:r>
            <a:r>
              <a:rPr sz="3700" b="0">
                <a:solidFill>
                  <a:srgbClr val="1C1C1C"/>
                </a:solidFill>
                <a:latin typeface="Arial" panose="020B0604020202090204"/>
              </a:rPr>
              <a:t>, Bridget McGinn</a:t>
            </a:r>
            <a:r>
              <a:rPr sz="5180" b="0" baseline="30000">
                <a:solidFill>
                  <a:srgbClr val="1C1C1C"/>
                </a:solidFill>
                <a:latin typeface="Arial" panose="020B0604020202090204"/>
              </a:rPr>
              <a:t>2</a:t>
            </a:r>
            <a:r>
              <a:rPr sz="3700" b="0">
                <a:solidFill>
                  <a:srgbClr val="1C1C1C"/>
                </a:solidFill>
                <a:latin typeface="Arial" panose="020B0604020202090204"/>
              </a:rPr>
              <a:t>, Ashita Saxena</a:t>
            </a:r>
            <a:r>
              <a:rPr sz="5180" b="0" baseline="30000">
                <a:solidFill>
                  <a:srgbClr val="1C1C1C"/>
                </a:solidFill>
                <a:latin typeface="Arial" panose="020B0604020202090204"/>
              </a:rPr>
              <a:t>2</a:t>
            </a:r>
            <a:r>
              <a:rPr sz="3700" b="0">
                <a:solidFill>
                  <a:srgbClr val="1C1C1C"/>
                </a:solidFill>
                <a:latin typeface="Arial" panose="020B0604020202090204"/>
              </a:rPr>
              <a:t>, George Safta</a:t>
            </a:r>
            <a:r>
              <a:rPr sz="5180" b="0" baseline="30000">
                <a:solidFill>
                  <a:srgbClr val="1C1C1C"/>
                </a:solidFill>
                <a:latin typeface="Arial" panose="020B0604020202090204"/>
              </a:rPr>
              <a:t>2</a:t>
            </a:r>
            <a:r>
              <a:rPr sz="3700" b="0">
                <a:solidFill>
                  <a:srgbClr val="1C1C1C"/>
                </a:solidFill>
                <a:latin typeface="Arial" panose="020B0604020202090204"/>
              </a:rPr>
              <a:t>, Srikanth Tamilselvam</a:t>
            </a:r>
            <a:r>
              <a:rPr sz="5180" b="0" baseline="30000">
                <a:solidFill>
                  <a:srgbClr val="1C1C1C"/>
                </a:solidFill>
                <a:latin typeface="Arial" panose="020B0604020202090204"/>
              </a:rPr>
              <a:t>2</a:t>
            </a:r>
            <a:r>
              <a:rPr sz="3700" b="0">
                <a:solidFill>
                  <a:srgbClr val="1C1C1C"/>
                </a:solidFill>
                <a:latin typeface="Arial" panose="020B0604020202090204"/>
              </a:rPr>
              <a:t>, Raju Pavuluri</a:t>
            </a:r>
            <a:r>
              <a:rPr sz="5180" b="0" baseline="30000">
                <a:solidFill>
                  <a:srgbClr val="1C1C1C"/>
                </a:solidFill>
                <a:latin typeface="Arial" panose="020B0604020202090204"/>
              </a:rPr>
              <a:t>2</a:t>
            </a:r>
            <a:r>
              <a:rPr sz="3700" b="0">
                <a:solidFill>
                  <a:srgbClr val="1C1C1C"/>
                </a:solidFill>
                <a:latin typeface="Arial" panose="020B0604020202090204"/>
              </a:rPr>
              <a:t>, Michele Merler</a:t>
            </a:r>
            <a:r>
              <a:rPr sz="5180" b="0" baseline="30000">
                <a:solidFill>
                  <a:srgbClr val="1C1C1C"/>
                </a:solidFill>
                <a:latin typeface="Arial" panose="020B0604020202090204"/>
              </a:rPr>
              <a:t>2</a:t>
            </a:r>
            <a:r>
              <a:rPr sz="3700" b="0">
                <a:solidFill>
                  <a:srgbClr val="1C1C1C"/>
                </a:solidFill>
                <a:latin typeface="Arial" panose="020B0604020202090204"/>
              </a:rPr>
              <a:t>, Baishakhi Ray</a:t>
            </a:r>
            <a:r>
              <a:rPr sz="5180" b="0" baseline="30000">
                <a:solidFill>
                  <a:srgbClr val="1C1C1C"/>
                </a:solidFill>
                <a:latin typeface="Arial" panose="020B0604020202090204"/>
              </a:rPr>
              <a:t>3</a:t>
            </a:r>
            <a:r>
              <a:rPr sz="3700" b="0">
                <a:solidFill>
                  <a:srgbClr val="1C1C1C"/>
                </a:solidFill>
                <a:latin typeface="Arial" panose="020B0604020202090204"/>
              </a:rPr>
              <a:t>, Rahul</a:t>
            </a:r>
            <a:endParaRPr sz="3700" b="0">
              <a:solidFill>
                <a:srgbClr val="1C1C1C"/>
              </a:solidFill>
              <a:latin typeface="Arial" panose="020B0604020202090204"/>
            </a:endParaRPr>
          </a:p>
          <a:p>
            <a:pPr algn="l">
              <a:lnSpc>
                <a:spcPts val="4810"/>
              </a:lnSpc>
              <a:spcBef>
                <a:spcPts val="0"/>
              </a:spcBef>
              <a:spcAft>
                <a:spcPts val="0"/>
              </a:spcAft>
            </a:pPr>
            <a:r>
              <a:rPr sz="3700" b="0">
                <a:solidFill>
                  <a:srgbClr val="1C1C1C"/>
                </a:solidFill>
                <a:latin typeface="Arial" panose="020B0604020202090204"/>
              </a:rPr>
              <a:t>Krishna</a:t>
            </a:r>
            <a:r>
              <a:rPr sz="5180" b="0" baseline="30000">
                <a:solidFill>
                  <a:srgbClr val="1C1C1C"/>
                </a:solidFill>
                <a:latin typeface="Arial" panose="020B0604020202090204"/>
              </a:rPr>
              <a:t>2</a:t>
            </a:r>
            <a:endParaRPr sz="5180" b="0" baseline="30000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1371085" y="4588832"/>
            <a:ext cx="31736020" cy="5290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3625"/>
              </a:lnSpc>
              <a:spcBef>
                <a:spcPts val="0"/>
              </a:spcBef>
              <a:spcAft>
                <a:spcPts val="0"/>
              </a:spcAft>
            </a:pPr>
            <a:r>
              <a:rPr sz="2170" b="0" spc="50" baseline="30000">
                <a:solidFill>
                  <a:srgbClr val="555555"/>
                </a:solidFill>
                <a:latin typeface="Arial" panose="020B0604020202090204"/>
              </a:rPr>
              <a:t>1</a:t>
            </a:r>
            <a:r>
              <a:rPr sz="2500" b="0" spc="50">
                <a:solidFill>
                  <a:srgbClr val="555555"/>
                </a:solidFill>
                <a:latin typeface="Arial" panose="020B0604020202090204"/>
              </a:rPr>
              <a:t>Rensselaer Polytechnic Institute   </a:t>
            </a:r>
            <a:r>
              <a:rPr sz="3500" b="0" spc="50" baseline="30000">
                <a:solidFill>
                  <a:srgbClr val="555555"/>
                </a:solidFill>
                <a:latin typeface="Arial" panose="020B0604020202090204"/>
              </a:rPr>
              <a:t>2</a:t>
            </a:r>
            <a:r>
              <a:rPr sz="2500" b="0" spc="50">
                <a:solidFill>
                  <a:srgbClr val="555555"/>
                </a:solidFill>
                <a:latin typeface="Arial" panose="020B0604020202090204"/>
              </a:rPr>
              <a:t>IBM Software Innovation Labs   </a:t>
            </a:r>
            <a:r>
              <a:rPr sz="3500" b="0" spc="50" baseline="30000">
                <a:solidFill>
                  <a:srgbClr val="555555"/>
                </a:solidFill>
                <a:latin typeface="Arial" panose="020B0604020202090204"/>
              </a:rPr>
              <a:t>3</a:t>
            </a:r>
            <a:r>
              <a:rPr sz="2500" b="0" spc="50">
                <a:solidFill>
                  <a:srgbClr val="555555"/>
                </a:solidFill>
                <a:latin typeface="Arial" panose="020B0604020202090204"/>
              </a:rPr>
              <a:t>Columbia University</a:t>
            </a:r>
            <a:endParaRPr sz="2500" b="0" spc="50">
              <a:solidFill>
                <a:srgbClr val="555555"/>
              </a:solidFill>
              <a:latin typeface="Arial" panose="020B0604020202090204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39451686" y="1129762"/>
            <a:ext cx="1510453" cy="107969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ts val="7395"/>
              </a:lnSpc>
              <a:spcBef>
                <a:spcPts val="0"/>
              </a:spcBef>
              <a:spcAft>
                <a:spcPts val="0"/>
              </a:spcAft>
            </a:pPr>
            <a:r>
              <a:rPr sz="5100" b="1" spc="51">
                <a:solidFill>
                  <a:srgbClr val="34373B"/>
                </a:solidFill>
                <a:latin typeface="Arial" panose="020B0604020202090204"/>
              </a:rPr>
              <a:t> 2026</a:t>
            </a:r>
            <a:endParaRPr sz="5100" b="1" spc="51">
              <a:solidFill>
                <a:srgbClr val="34373B"/>
              </a:solidFill>
              <a:latin typeface="Arial" panose="020B0604020202090204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580869" y="5870955"/>
            <a:ext cx="9316192" cy="1284512"/>
          </a:xfrm>
          <a:prstGeom prst="rect">
            <a:avLst/>
          </a:prstGeom>
          <a:noFill/>
        </p:spPr>
        <p:txBody>
          <a:bodyPr wrap="square" lIns="406472" tIns="188503" rIns="3702712" bIns="188503">
            <a:spAutoFit/>
          </a:bodyPr>
          <a:lstStyle/>
          <a:p>
            <a:pPr algn="l">
              <a:lnSpc>
                <a:spcPts val="5830"/>
              </a:lnSpc>
              <a:spcBef>
                <a:spcPts val="0"/>
              </a:spcBef>
              <a:spcAft>
                <a:spcPts val="0"/>
              </a:spcAft>
            </a:pPr>
            <a:r>
              <a:rPr sz="5300" b="1">
                <a:solidFill>
                  <a:srgbClr val="FFFFFF"/>
                </a:solidFill>
                <a:latin typeface="Arial" panose="020B0604020202090204"/>
              </a:rPr>
              <a:t>Problem </a:t>
            </a:r>
            <a:endParaRPr sz="530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9949479" y="5870955"/>
            <a:ext cx="11624166" cy="1284512"/>
          </a:xfrm>
          <a:prstGeom prst="rect">
            <a:avLst/>
          </a:prstGeom>
          <a:noFill/>
        </p:spPr>
        <p:txBody>
          <a:bodyPr wrap="none" lIns="406472" tIns="188503" rIns="3702712" bIns="188503">
            <a:spAutoFit/>
          </a:bodyPr>
          <a:lstStyle/>
          <a:p>
            <a:pPr algn="l">
              <a:lnSpc>
                <a:spcPts val="5830"/>
              </a:lnSpc>
              <a:spcBef>
                <a:spcPts val="0"/>
              </a:spcBef>
              <a:spcAft>
                <a:spcPts val="0"/>
              </a:spcAft>
            </a:pPr>
            <a:r>
              <a:rPr sz="5300" b="1">
                <a:solidFill>
                  <a:srgbClr val="FFFFFF"/>
                </a:solidFill>
                <a:latin typeface="Arial" panose="020B0604020202090204"/>
              </a:rPr>
              <a:t>Method </a:t>
            </a:r>
            <a:endParaRPr sz="530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33168056" y="5870955"/>
            <a:ext cx="9316345" cy="1284512"/>
          </a:xfrm>
          <a:prstGeom prst="rect">
            <a:avLst/>
          </a:prstGeom>
          <a:noFill/>
        </p:spPr>
        <p:txBody>
          <a:bodyPr wrap="square" lIns="406472" tIns="188503" rIns="3702712" bIns="188503">
            <a:spAutoFit/>
          </a:bodyPr>
          <a:lstStyle/>
          <a:p>
            <a:pPr algn="l">
              <a:lnSpc>
                <a:spcPts val="5830"/>
              </a:lnSpc>
              <a:spcBef>
                <a:spcPts val="0"/>
              </a:spcBef>
              <a:spcAft>
                <a:spcPts val="0"/>
              </a:spcAft>
            </a:pPr>
            <a:r>
              <a:rPr sz="5300" b="1">
                <a:solidFill>
                  <a:srgbClr val="FFFFFF"/>
                </a:solidFill>
                <a:latin typeface="Arial" panose="020B0604020202090204"/>
              </a:rPr>
              <a:t>Key Results </a:t>
            </a:r>
            <a:endParaRPr sz="530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21965035" y="7082998"/>
            <a:ext cx="10787257" cy="4759896"/>
          </a:xfrm>
          <a:prstGeom prst="rect">
            <a:avLst/>
          </a:prstGeom>
          <a:noFill/>
        </p:spPr>
        <p:txBody>
          <a:bodyPr wrap="none" lIns="322002" tIns="138710" rIns="322002" bIns="138710">
            <a:spAutoFit/>
          </a:bodyPr>
          <a:lstStyle/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111111"/>
                </a:solidFill>
                <a:latin typeface="Arial" panose="020B0604020202090204"/>
              </a:rPr>
              <a:t>29 focused single-layer apps</a:t>
            </a:r>
            <a:r>
              <a:rPr sz="3900" b="0">
                <a:solidFill>
                  <a:srgbClr val="34373B"/>
                </a:solidFill>
                <a:latin typeface="Arial" panose="020B0604020202090204"/>
              </a:rPr>
              <a:t> span</a:t>
            </a:r>
            <a:endParaRPr sz="3900" b="0">
              <a:solidFill>
                <a:srgbClr val="34373B"/>
              </a:solidFill>
              <a:latin typeface="Arial" panose="020B0604020202090204"/>
            </a:endParaRPr>
          </a:p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34373B"/>
                </a:solidFill>
                <a:latin typeface="Arial" panose="020B0604020202090204"/>
              </a:rPr>
              <a:t>dependency injection, persistence,</a:t>
            </a:r>
            <a:endParaRPr sz="3900" b="0">
              <a:solidFill>
                <a:srgbClr val="34373B"/>
              </a:solidFill>
              <a:latin typeface="Arial" panose="020B0604020202090204"/>
            </a:endParaRPr>
          </a:p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34373B"/>
                </a:solidFill>
                <a:latin typeface="Arial" panose="020B0604020202090204"/>
              </a:rPr>
              <a:t>presentation, infrastructure, and business-</a:t>
            </a:r>
            <a:endParaRPr sz="3900" b="0">
              <a:solidFill>
                <a:srgbClr val="34373B"/>
              </a:solidFill>
              <a:latin typeface="Arial" panose="020B0604020202090204"/>
            </a:endParaRPr>
          </a:p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34373B"/>
                </a:solidFill>
                <a:latin typeface="Arial" panose="020B0604020202090204"/>
              </a:rPr>
              <a:t>domain logic; </a:t>
            </a:r>
            <a:r>
              <a:rPr sz="3900" b="1">
                <a:solidFill>
                  <a:srgbClr val="111111"/>
                </a:solidFill>
                <a:latin typeface="Arial" panose="020B0604020202090204"/>
              </a:rPr>
              <a:t>5 whole multi-layer apps</a:t>
            </a:r>
            <a:endParaRPr sz="3900" b="1">
              <a:solidFill>
                <a:srgbClr val="111111"/>
              </a:solidFill>
              <a:latin typeface="Arial" panose="020B0604020202090204"/>
            </a:endParaRPr>
          </a:p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34373B"/>
                </a:solidFill>
                <a:latin typeface="Arial" panose="020B0604020202090204"/>
              </a:rPr>
              <a:t>combine them. Median task = 11 files, 370</a:t>
            </a:r>
            <a:endParaRPr sz="3900" b="0">
              <a:solidFill>
                <a:srgbClr val="34373B"/>
              </a:solidFill>
              <a:latin typeface="Arial" panose="020B0604020202090204"/>
            </a:endParaRPr>
          </a:p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34373B"/>
                </a:solidFill>
                <a:latin typeface="Arial" panose="020B0604020202090204"/>
              </a:rPr>
              <a:t>changed lines (up to &gt;200 files, &gt;14K lines).</a:t>
            </a:r>
            <a:endParaRPr sz="3900" b="0">
              <a:solidFill>
                <a:srgbClr val="34373B"/>
              </a:solidFill>
              <a:latin typeface="Arial" panose="020B0604020202090204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987062" y="7290709"/>
            <a:ext cx="8479434" cy="743038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ts val="5655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Enterprise Java applications are</a:t>
            </a:r>
            <a:endParaRPr sz="3900" b="0">
              <a:solidFill>
                <a:srgbClr val="1C1C1C"/>
              </a:solidFill>
              <a:latin typeface="Arial" panose="020B0604020202090204"/>
            </a:endParaRPr>
          </a:p>
          <a:p>
            <a:pPr algn="l">
              <a:lnSpc>
                <a:spcPts val="5655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long-lived, and migrating them across</a:t>
            </a:r>
            <a:endParaRPr sz="3900" b="0">
              <a:solidFill>
                <a:srgbClr val="1C1C1C"/>
              </a:solidFill>
              <a:latin typeface="Arial" panose="020B0604020202090204"/>
            </a:endParaRPr>
          </a:p>
          <a:p>
            <a:pPr algn="l">
              <a:lnSpc>
                <a:spcPts val="5655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frameworks (Spring, Jakarta EE,</a:t>
            </a:r>
            <a:endParaRPr sz="3900" b="0">
              <a:solidFill>
                <a:srgbClr val="1C1C1C"/>
              </a:solidFill>
              <a:latin typeface="Arial" panose="020B0604020202090204"/>
            </a:endParaRPr>
          </a:p>
          <a:p>
            <a:pPr algn="l">
              <a:lnSpc>
                <a:spcPts val="5655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Quarkus) is behavior-preserving</a:t>
            </a:r>
            <a:endParaRPr sz="3900" b="0">
              <a:solidFill>
                <a:srgbClr val="1C1C1C"/>
              </a:solidFill>
              <a:latin typeface="Arial" panose="020B0604020202090204"/>
            </a:endParaRPr>
          </a:p>
          <a:p>
            <a:pPr algn="l">
              <a:lnSpc>
                <a:spcPts val="5655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refactoring that spans build</a:t>
            </a:r>
            <a:endParaRPr sz="3900" b="0">
              <a:solidFill>
                <a:srgbClr val="1C1C1C"/>
              </a:solidFill>
              <a:latin typeface="Arial" panose="020B0604020202090204"/>
            </a:endParaRPr>
          </a:p>
          <a:p>
            <a:pPr algn="l">
              <a:lnSpc>
                <a:spcPts val="5655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configuration, dependency injection,</a:t>
            </a:r>
            <a:endParaRPr sz="3900" b="0">
              <a:solidFill>
                <a:srgbClr val="1C1C1C"/>
              </a:solidFill>
              <a:latin typeface="Arial" panose="020B0604020202090204"/>
            </a:endParaRPr>
          </a:p>
          <a:p>
            <a:pPr algn="l">
              <a:lnSpc>
                <a:spcPts val="5655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persistence, request handling, and</a:t>
            </a:r>
            <a:endParaRPr sz="3900" b="0">
              <a:solidFill>
                <a:srgbClr val="1C1C1C"/>
              </a:solidFill>
              <a:latin typeface="Arial" panose="020B0604020202090204"/>
            </a:endParaRPr>
          </a:p>
          <a:p>
            <a:pPr algn="l">
              <a:lnSpc>
                <a:spcPts val="5655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deployment — coordinated multi-file</a:t>
            </a:r>
            <a:endParaRPr sz="3900" b="0">
              <a:solidFill>
                <a:srgbClr val="1C1C1C"/>
              </a:solidFill>
              <a:latin typeface="Arial" panose="020B0604020202090204"/>
            </a:endParaRPr>
          </a:p>
          <a:p>
            <a:pPr algn="l">
              <a:lnSpc>
                <a:spcPts val="5655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rewiring, not a local API swap.</a:t>
            </a:r>
            <a:endParaRPr sz="3900" b="0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33574247" y="11518131"/>
            <a:ext cx="8479591" cy="2562178"/>
          </a:xfrm>
          <a:prstGeom prst="rect">
            <a:avLst/>
          </a:prstGeom>
          <a:noFill/>
        </p:spPr>
        <p:txBody>
          <a:bodyPr wrap="none" lIns="346771" tIns="148618" rIns="346771" bIns="148618">
            <a:spAutoFit/>
          </a:bodyPr>
          <a:lstStyle/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FFFFFF"/>
                </a:solidFill>
                <a:latin typeface="Arial" panose="020B0604020202090204"/>
              </a:rPr>
              <a:t>Only 1 of 204 tasks fully</a:t>
            </a:r>
            <a:endParaRPr sz="3900" b="1">
              <a:solidFill>
                <a:srgbClr val="FFFFFF"/>
              </a:solidFill>
              <a:latin typeface="Arial" panose="020B0604020202090204"/>
            </a:endParaRPr>
          </a:p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FFFFFF"/>
                </a:solidFill>
                <a:latin typeface="Arial" panose="020B0604020202090204"/>
              </a:rPr>
              <a:t>behaviorally equivalent ·</a:t>
            </a:r>
            <a:endParaRPr sz="3900" b="1">
              <a:solidFill>
                <a:srgbClr val="FFFFFF"/>
              </a:solidFill>
              <a:latin typeface="Arial" panose="020B0604020202090204"/>
            </a:endParaRPr>
          </a:p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FFFFFF"/>
                </a:solidFill>
                <a:latin typeface="Arial" panose="020B0604020202090204"/>
              </a:rPr>
              <a:t>Jakarta EE hardest (2% pass)</a:t>
            </a:r>
            <a:endParaRPr sz="390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22990175" y="13466445"/>
            <a:ext cx="19804380" cy="2137410"/>
          </a:xfrm>
          <a:prstGeom prst="rect">
            <a:avLst/>
          </a:prstGeom>
          <a:noFill/>
        </p:spPr>
        <p:txBody>
          <a:bodyPr wrap="square" lIns="0" tIns="205092" rIns="0" bIns="0">
            <a:spAutoFit/>
          </a:bodyPr>
          <a:lstStyle/>
          <a:p>
            <a:pPr algn="l">
              <a:lnSpc>
                <a:spcPts val="5025"/>
              </a:lnSpc>
              <a:spcBef>
                <a:spcPts val="0"/>
              </a:spcBef>
              <a:spcAft>
                <a:spcPts val="0"/>
              </a:spcAft>
            </a:pPr>
            <a:r>
              <a:rPr sz="2800" b="1" spc="167">
                <a:solidFill>
                  <a:srgbClr val="111111"/>
                </a:solidFill>
                <a:latin typeface="Arial" panose="020B0604020202090204"/>
              </a:rPr>
              <a:t>SO WHAT → </a:t>
            </a:r>
            <a:r>
              <a:rPr sz="3590" b="0" i="1">
                <a:solidFill>
                  <a:srgbClr val="1C1C1C"/>
                </a:solidFill>
                <a:latin typeface="Arial" panose="020B0604020202090204"/>
              </a:rPr>
              <a:t>Cross-framework migration is beyond current agents: the strongest reaches 15.3% aggregate test pass on focused migrations and 12.2% whole-app, with only one task yielding a fully behaviorally equivalent target.</a:t>
            </a:r>
            <a:endParaRPr sz="3590" b="0" i="1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03" name="TextBox 102"/>
          <p:cNvSpPr txBox="1"/>
          <p:nvPr/>
        </p:nvSpPr>
        <p:spPr>
          <a:xfrm>
            <a:off x="987062" y="13999501"/>
            <a:ext cx="8479434" cy="3837621"/>
          </a:xfrm>
          <a:prstGeom prst="rect">
            <a:avLst/>
          </a:prstGeom>
          <a:noFill/>
        </p:spPr>
        <p:txBody>
          <a:bodyPr wrap="none" lIns="346771" tIns="59447" rIns="346771" bIns="59447">
            <a:spAutoFit/>
          </a:bodyPr>
          <a:lstStyle/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0" i="1">
                <a:solidFill>
                  <a:srgbClr val="1C1C1C"/>
                </a:solidFill>
                <a:latin typeface="Arial" panose="020B0604020202090204"/>
              </a:rPr>
              <a:t>Existing benchmarks cover bug</a:t>
            </a:r>
            <a:endParaRPr sz="3900" b="0" i="1">
              <a:solidFill>
                <a:srgbClr val="1C1C1C"/>
              </a:solidFill>
              <a:latin typeface="Arial" panose="020B0604020202090204"/>
            </a:endParaRPr>
          </a:p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0" i="1">
                <a:solidFill>
                  <a:srgbClr val="1C1C1C"/>
                </a:solidFill>
                <a:latin typeface="Arial" panose="020B0604020202090204"/>
              </a:rPr>
              <a:t>fixing and version upgrades —</a:t>
            </a:r>
            <a:endParaRPr sz="3900" b="0" i="1">
              <a:solidFill>
                <a:srgbClr val="1C1C1C"/>
              </a:solidFill>
              <a:latin typeface="Arial" panose="020B0604020202090204"/>
            </a:endParaRPr>
          </a:p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0" i="1">
                <a:solidFill>
                  <a:srgbClr val="1C1C1C"/>
                </a:solidFill>
                <a:latin typeface="Arial" panose="020B0604020202090204"/>
              </a:rPr>
              <a:t>cross-framework application</a:t>
            </a:r>
            <a:endParaRPr sz="3900" b="0" i="1">
              <a:solidFill>
                <a:srgbClr val="1C1C1C"/>
              </a:solidFill>
              <a:latin typeface="Arial" panose="020B0604020202090204"/>
            </a:endParaRPr>
          </a:p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0" i="1">
                <a:solidFill>
                  <a:srgbClr val="1C1C1C"/>
                </a:solidFill>
                <a:latin typeface="Arial" panose="020B0604020202090204"/>
              </a:rPr>
              <a:t>refactoring is left largely</a:t>
            </a:r>
            <a:endParaRPr sz="3900" b="0" i="1">
              <a:solidFill>
                <a:srgbClr val="1C1C1C"/>
              </a:solidFill>
              <a:latin typeface="Arial" panose="020B0604020202090204"/>
            </a:endParaRPr>
          </a:p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0" i="1">
                <a:solidFill>
                  <a:srgbClr val="1C1C1C"/>
                </a:solidFill>
                <a:latin typeface="Arial" panose="020B0604020202090204"/>
              </a:rPr>
              <a:t>unmeasured.</a:t>
            </a:r>
            <a:endParaRPr sz="3900" b="0" i="1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33168056" y="14942829"/>
            <a:ext cx="9316345" cy="1284512"/>
          </a:xfrm>
          <a:prstGeom prst="rect">
            <a:avLst/>
          </a:prstGeom>
          <a:noFill/>
        </p:spPr>
        <p:txBody>
          <a:bodyPr wrap="square" lIns="406472" tIns="188503" rIns="0" bIns="188503">
            <a:spAutoFit/>
          </a:bodyPr>
          <a:lstStyle/>
          <a:p>
            <a:pPr algn="l">
              <a:lnSpc>
                <a:spcPts val="5830"/>
              </a:lnSpc>
              <a:spcBef>
                <a:spcPts val="0"/>
              </a:spcBef>
              <a:spcAft>
                <a:spcPts val="0"/>
              </a:spcAft>
            </a:pPr>
            <a:r>
              <a:rPr sz="5300" b="1">
                <a:solidFill>
                  <a:srgbClr val="FFFFFF"/>
                </a:solidFill>
                <a:latin typeface="Arial" panose="020B0604020202090204"/>
              </a:rPr>
              <a:t>Headline Numbers</a:t>
            </a:r>
            <a:endParaRPr sz="530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580869" y="16355144"/>
            <a:ext cx="9316192" cy="1284510"/>
          </a:xfrm>
          <a:prstGeom prst="rect">
            <a:avLst/>
          </a:prstGeom>
          <a:noFill/>
        </p:spPr>
        <p:txBody>
          <a:bodyPr wrap="square" lIns="406472" tIns="188503" rIns="3702712" bIns="188503">
            <a:spAutoFit/>
          </a:bodyPr>
          <a:lstStyle/>
          <a:p>
            <a:pPr algn="l">
              <a:lnSpc>
                <a:spcPts val="5830"/>
              </a:lnSpc>
              <a:spcBef>
                <a:spcPts val="0"/>
              </a:spcBef>
              <a:spcAft>
                <a:spcPts val="0"/>
              </a:spcAft>
            </a:pPr>
            <a:r>
              <a:rPr sz="5300" b="1">
                <a:solidFill>
                  <a:srgbClr val="FFFFFF"/>
                </a:solidFill>
                <a:latin typeface="Arial" panose="020B0604020202090204"/>
              </a:rPr>
              <a:t>Motivation </a:t>
            </a:r>
            <a:endParaRPr sz="530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13196935" y="17212769"/>
            <a:ext cx="4934255" cy="400907"/>
          </a:xfrm>
          <a:prstGeom prst="rect">
            <a:avLst/>
          </a:prstGeom>
          <a:noFill/>
        </p:spPr>
        <p:txBody>
          <a:bodyPr wrap="square" lIns="374513" tIns="64203" rIns="374513" bIns="64203">
            <a:spAutoFit/>
          </a:bodyPr>
          <a:lstStyle/>
          <a:p>
            <a:pPr algn="ctr">
              <a:lnSpc>
                <a:spcPts val="3055"/>
              </a:lnSpc>
              <a:spcBef>
                <a:spcPts val="0"/>
              </a:spcBef>
              <a:spcAft>
                <a:spcPts val="0"/>
              </a:spcAft>
            </a:pPr>
            <a:r>
              <a:rPr sz="4210" b="0">
                <a:solidFill>
                  <a:srgbClr val="1C1C1C"/>
                </a:solidFill>
                <a:latin typeface="TimesNewRomanPS-ItalicMT" panose="02020503050405090304"/>
              </a:rPr>
              <a:t>                                                </a:t>
            </a:r>
            <a:r>
              <a:rPr sz="2105" b="0" i="1">
                <a:solidFill>
                  <a:srgbClr val="555555"/>
                </a:solidFill>
                <a:latin typeface="TimesNewRomanPS-ItalicMT" panose="02020503050405090304"/>
              </a:rPr>
              <a:t>C</a:t>
            </a:r>
            <a:r>
              <a:rPr sz="2950" b="0" i="1" baseline="-25000">
                <a:solidFill>
                  <a:srgbClr val="555555"/>
                </a:solidFill>
                <a:latin typeface="TimesNewRomanPS-ItalicMT" panose="02020503050405090304"/>
              </a:rPr>
              <a:t>τ</a:t>
            </a:r>
            <a:r>
              <a:rPr sz="2105" b="0" i="1">
                <a:solidFill>
                  <a:srgbClr val="555555"/>
                </a:solidFill>
                <a:latin typeface="TimesNewRomanPS-ItalicMT" panose="02020503050405090304"/>
              </a:rPr>
              <a:t>=1 ⇒ D</a:t>
            </a:r>
            <a:r>
              <a:rPr sz="2950" b="0" i="1" baseline="-25000">
                <a:solidFill>
                  <a:srgbClr val="555555"/>
                </a:solidFill>
                <a:latin typeface="TimesNewRomanPS-ItalicMT" panose="02020503050405090304"/>
              </a:rPr>
              <a:t>τ</a:t>
            </a:r>
            <a:r>
              <a:rPr sz="2105" b="0" i="1">
                <a:solidFill>
                  <a:srgbClr val="555555"/>
                </a:solidFill>
                <a:latin typeface="TimesNewRomanPS-ItalicMT" panose="02020503050405090304"/>
              </a:rPr>
              <a:t> evaluated · D</a:t>
            </a:r>
            <a:r>
              <a:rPr sz="2950" b="0" i="1" baseline="-25000">
                <a:solidFill>
                  <a:srgbClr val="555555"/>
                </a:solidFill>
                <a:latin typeface="TimesNewRomanPS-ItalicMT" panose="02020503050405090304"/>
              </a:rPr>
              <a:t>τ</a:t>
            </a:r>
            <a:r>
              <a:rPr sz="2105" b="0" i="1">
                <a:solidFill>
                  <a:srgbClr val="555555"/>
                </a:solidFill>
                <a:latin typeface="TimesNewRomanPS-ItalicMT" panose="02020503050405090304"/>
              </a:rPr>
              <a:t>=1 ⇒ S</a:t>
            </a:r>
            <a:r>
              <a:rPr sz="2950" b="0" i="1" baseline="-25000">
                <a:solidFill>
                  <a:srgbClr val="555555"/>
                </a:solidFill>
                <a:latin typeface="TimesNewRomanPS-ItalicMT" panose="02020503050405090304"/>
              </a:rPr>
              <a:t>τ</a:t>
            </a:r>
            <a:r>
              <a:rPr sz="2105" b="0" i="1">
                <a:solidFill>
                  <a:srgbClr val="555555"/>
                </a:solidFill>
                <a:latin typeface="TimesNewRomanPS-ItalicMT" panose="02020503050405090304"/>
              </a:rPr>
              <a:t> evaluated</a:t>
            </a:r>
            <a:endParaRPr sz="2105" b="0" i="1">
              <a:solidFill>
                <a:srgbClr val="555555"/>
              </a:solidFill>
              <a:latin typeface="TimesNewRomanPS-ItalicMT" panose="02020503050405090304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33215668" y="20256716"/>
            <a:ext cx="9267305" cy="1284510"/>
          </a:xfrm>
          <a:prstGeom prst="rect">
            <a:avLst/>
          </a:prstGeom>
          <a:noFill/>
        </p:spPr>
        <p:txBody>
          <a:bodyPr wrap="square" lIns="406472" tIns="188503" rIns="3702712" bIns="188503">
            <a:spAutoFit/>
          </a:bodyPr>
          <a:lstStyle/>
          <a:p>
            <a:pPr algn="l">
              <a:lnSpc>
                <a:spcPts val="5830"/>
              </a:lnSpc>
              <a:spcBef>
                <a:spcPts val="0"/>
              </a:spcBef>
              <a:spcAft>
                <a:spcPts val="0"/>
              </a:spcAft>
            </a:pPr>
            <a:r>
              <a:rPr sz="5300" b="1">
                <a:solidFill>
                  <a:srgbClr val="FFFFFF"/>
                </a:solidFill>
                <a:latin typeface="Arial" panose="020B0604020202090204"/>
              </a:rPr>
              <a:t>Takeaway </a:t>
            </a:r>
            <a:endParaRPr sz="530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33621860" y="21676470"/>
            <a:ext cx="9485630" cy="4827905"/>
          </a:xfrm>
          <a:prstGeom prst="rect">
            <a:avLst/>
          </a:prstGeom>
          <a:noFill/>
        </p:spPr>
        <p:txBody>
          <a:bodyPr wrap="none" lIns="322002" tIns="138710" rIns="322002" bIns="138710">
            <a:spAutoFit/>
          </a:bodyPr>
          <a:lstStyle/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34373B"/>
                </a:solidFill>
                <a:latin typeface="Arial" panose="020B0604020202090204"/>
              </a:rPr>
              <a:t>Agents reliably translate</a:t>
            </a:r>
            <a:r>
              <a:rPr lang="en-US" sz="3900" b="0">
                <a:solidFill>
                  <a:srgbClr val="34373B"/>
                </a:solidFill>
                <a:latin typeface="Arial" panose="020B0604020202090204"/>
              </a:rPr>
              <a:t> </a:t>
            </a:r>
            <a:r>
              <a:rPr sz="3900" b="0">
                <a:solidFill>
                  <a:srgbClr val="34373B"/>
                </a:solidFill>
                <a:latin typeface="Arial" panose="020B0604020202090204"/>
              </a:rPr>
              <a:t>framework </a:t>
            </a:r>
            <a:endParaRPr sz="3900" b="0">
              <a:solidFill>
                <a:srgbClr val="34373B"/>
              </a:solidFill>
              <a:latin typeface="Arial" panose="020B0604020202090204"/>
            </a:endParaRPr>
          </a:p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34373B"/>
                </a:solidFill>
                <a:latin typeface="Arial" panose="020B0604020202090204"/>
              </a:rPr>
              <a:t>APIs at the source</a:t>
            </a:r>
            <a:r>
              <a:rPr lang="en-US" sz="3900" b="0">
                <a:solidFill>
                  <a:srgbClr val="34373B"/>
                </a:solidFill>
                <a:latin typeface="Arial" panose="020B0604020202090204"/>
              </a:rPr>
              <a:t> </a:t>
            </a:r>
            <a:r>
              <a:rPr sz="3900" b="0">
                <a:solidFill>
                  <a:srgbClr val="34373B"/>
                </a:solidFill>
                <a:latin typeface="Arial" panose="020B0604020202090204"/>
              </a:rPr>
              <a:t>level, yet rarely </a:t>
            </a:r>
            <a:endParaRPr sz="3900" b="0">
              <a:solidFill>
                <a:srgbClr val="34373B"/>
              </a:solidFill>
              <a:latin typeface="Arial" panose="020B0604020202090204"/>
            </a:endParaRPr>
          </a:p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34373B"/>
                </a:solidFill>
                <a:latin typeface="Arial" panose="020B0604020202090204"/>
              </a:rPr>
              <a:t>re-express</a:t>
            </a:r>
            <a:r>
              <a:rPr lang="en-US" sz="3900" b="0">
                <a:solidFill>
                  <a:srgbClr val="34373B"/>
                </a:solidFill>
                <a:latin typeface="Arial" panose="020B0604020202090204"/>
              </a:rPr>
              <a:t> </a:t>
            </a:r>
            <a:r>
              <a:rPr sz="3900" b="0">
                <a:solidFill>
                  <a:srgbClr val="34373B"/>
                </a:solidFill>
                <a:latin typeface="Arial" panose="020B0604020202090204"/>
              </a:rPr>
              <a:t>application behavior through </a:t>
            </a:r>
            <a:endParaRPr sz="3900" b="0">
              <a:solidFill>
                <a:srgbClr val="34373B"/>
              </a:solidFill>
              <a:latin typeface="Arial" panose="020B0604020202090204"/>
            </a:endParaRPr>
          </a:p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34373B"/>
                </a:solidFill>
                <a:latin typeface="Arial" panose="020B0604020202090204"/>
              </a:rPr>
              <a:t>target framework’s runtime model</a:t>
            </a:r>
            <a:endParaRPr sz="3900" b="0">
              <a:solidFill>
                <a:srgbClr val="34373B"/>
              </a:solidFill>
              <a:latin typeface="Arial" panose="020B0604020202090204"/>
            </a:endParaRPr>
          </a:p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34373B"/>
                </a:solidFill>
                <a:latin typeface="Arial" panose="020B0604020202090204"/>
              </a:rPr>
              <a:t>— behavior-preserving cross-</a:t>
            </a:r>
            <a:endParaRPr sz="3900" b="0">
              <a:solidFill>
                <a:srgbClr val="34373B"/>
              </a:solidFill>
              <a:latin typeface="Arial" panose="020B0604020202090204"/>
            </a:endParaRPr>
          </a:p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34373B"/>
                </a:solidFill>
                <a:latin typeface="Arial" panose="020B0604020202090204"/>
              </a:rPr>
              <a:t>framework migration remains an</a:t>
            </a:r>
            <a:endParaRPr sz="3900" b="0">
              <a:solidFill>
                <a:srgbClr val="34373B"/>
              </a:solidFill>
              <a:latin typeface="Arial" panose="020B0604020202090204"/>
            </a:endParaRPr>
          </a:p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34373B"/>
                </a:solidFill>
                <a:latin typeface="Arial" panose="020B0604020202090204"/>
              </a:rPr>
              <a:t>open, asymmetric challenge.</a:t>
            </a:r>
            <a:endParaRPr sz="3900" b="0">
              <a:solidFill>
                <a:srgbClr val="34373B"/>
              </a:solidFill>
              <a:latin typeface="Arial" panose="020B0604020202090204"/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10355672" y="28285572"/>
            <a:ext cx="10787410" cy="247679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ts val="5655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If an earlier stage fails, later scores are zero —</a:t>
            </a:r>
            <a:endParaRPr sz="3900" b="0">
              <a:solidFill>
                <a:srgbClr val="1C1C1C"/>
              </a:solidFill>
              <a:latin typeface="Arial" panose="020B0604020202090204"/>
            </a:endParaRPr>
          </a:p>
          <a:p>
            <a:pPr algn="l">
              <a:lnSpc>
                <a:spcPts val="5655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a single honest signal of whether behavior was</a:t>
            </a:r>
            <a:endParaRPr sz="3900" b="0">
              <a:solidFill>
                <a:srgbClr val="1C1C1C"/>
              </a:solidFill>
              <a:latin typeface="Arial" panose="020B0604020202090204"/>
            </a:endParaRPr>
          </a:p>
          <a:p>
            <a:pPr algn="l">
              <a:lnSpc>
                <a:spcPts val="5655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preserved.</a:t>
            </a:r>
            <a:endParaRPr sz="3900" b="0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22796761" y="6290096"/>
            <a:ext cx="4902685" cy="6875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4710"/>
              </a:lnSpc>
              <a:spcBef>
                <a:spcPts val="0"/>
              </a:spcBef>
              <a:spcAft>
                <a:spcPts val="0"/>
              </a:spcAft>
            </a:pPr>
            <a:r>
              <a:rPr sz="4095" b="1">
                <a:solidFill>
                  <a:srgbClr val="34373B"/>
                </a:solidFill>
                <a:latin typeface="Arial" panose="020B0604020202090204"/>
              </a:rPr>
              <a:t>Task scale &amp; layers</a:t>
            </a:r>
            <a:endParaRPr sz="4095" b="1">
              <a:solidFill>
                <a:srgbClr val="34373B"/>
              </a:solidFill>
              <a:latin typeface="Arial" panose="020B0604020202090204"/>
            </a:endParaRPr>
          </a:p>
        </p:txBody>
      </p:sp>
      <p:sp>
        <p:nvSpPr>
          <p:cNvPr id="111" name="TextBox 110"/>
          <p:cNvSpPr txBox="1"/>
          <p:nvPr/>
        </p:nvSpPr>
        <p:spPr>
          <a:xfrm>
            <a:off x="28586266" y="6403623"/>
            <a:ext cx="3967390" cy="4264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2920"/>
              </a:lnSpc>
              <a:spcBef>
                <a:spcPts val="0"/>
              </a:spcBef>
              <a:spcAft>
                <a:spcPts val="0"/>
              </a:spcAft>
            </a:pPr>
            <a:r>
              <a:rPr sz="2540" b="1" i="1">
                <a:solidFill>
                  <a:srgbClr val="555555"/>
                </a:solidFill>
                <a:latin typeface="Arial" panose="020B0604020202090204"/>
              </a:rPr>
              <a:t>five JSR-anchored layers</a:t>
            </a:r>
            <a:endParaRPr sz="2540" b="1" i="1">
              <a:solidFill>
                <a:srgbClr val="555555"/>
              </a:solidFill>
              <a:latin typeface="Arial" panose="020B0604020202090204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22796761" y="12280382"/>
            <a:ext cx="4434347" cy="6875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4710"/>
              </a:lnSpc>
              <a:spcBef>
                <a:spcPts val="0"/>
              </a:spcBef>
              <a:spcAft>
                <a:spcPts val="0"/>
              </a:spcAft>
            </a:pPr>
            <a:r>
              <a:rPr sz="4095" b="1">
                <a:solidFill>
                  <a:srgbClr val="34373B"/>
                </a:solidFill>
                <a:latin typeface="Arial" panose="020B0604020202090204"/>
              </a:rPr>
              <a:t>Agents evaluated</a:t>
            </a:r>
            <a:endParaRPr sz="4095" b="1">
              <a:solidFill>
                <a:srgbClr val="34373B"/>
              </a:solidFill>
              <a:latin typeface="Arial" panose="020B0604020202090204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28390462" y="12393908"/>
            <a:ext cx="4169068" cy="42640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2920"/>
              </a:lnSpc>
              <a:spcBef>
                <a:spcPts val="0"/>
              </a:spcBef>
              <a:spcAft>
                <a:spcPts val="0"/>
              </a:spcAft>
            </a:pPr>
            <a:r>
              <a:rPr sz="2540" b="1" i="1">
                <a:solidFill>
                  <a:srgbClr val="555555"/>
                </a:solidFill>
                <a:latin typeface="Arial" panose="020B0604020202090204"/>
              </a:rPr>
              <a:t>five frontier coding agents</a:t>
            </a:r>
            <a:endParaRPr sz="2540" b="1" i="1">
              <a:solidFill>
                <a:srgbClr val="555555"/>
              </a:solidFill>
              <a:latin typeface="Arial" panose="020B0604020202090204"/>
            </a:endParaRPr>
          </a:p>
        </p:txBody>
      </p:sp>
      <p:sp>
        <p:nvSpPr>
          <p:cNvPr id="114" name="TextBox 113"/>
          <p:cNvSpPr txBox="1"/>
          <p:nvPr/>
        </p:nvSpPr>
        <p:spPr>
          <a:xfrm>
            <a:off x="10391775" y="12653010"/>
            <a:ext cx="10363835" cy="2667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ts val="416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1">
                <a:solidFill>
                  <a:srgbClr val="555555"/>
                </a:solidFill>
                <a:latin typeface="Arial" panose="020B0604020202090204"/>
              </a:rPr>
              <a:t>Overview of ScarfBench construction:</a:t>
            </a:r>
            <a:endParaRPr sz="3200" b="0" i="1">
              <a:solidFill>
                <a:srgbClr val="555555"/>
              </a:solidFill>
              <a:latin typeface="Arial" panose="020B0604020202090204"/>
            </a:endParaRPr>
          </a:p>
          <a:p>
            <a:pPr algn="ctr">
              <a:lnSpc>
                <a:spcPts val="416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1">
                <a:solidFill>
                  <a:srgbClr val="555555"/>
                </a:solidFill>
                <a:latin typeface="Arial" panose="020B0604020202090204"/>
              </a:rPr>
              <a:t>34 application families across Spring,</a:t>
            </a:r>
            <a:endParaRPr sz="3200" b="0" i="1">
              <a:solidFill>
                <a:srgbClr val="555555"/>
              </a:solidFill>
              <a:latin typeface="Arial" panose="020B0604020202090204"/>
            </a:endParaRPr>
          </a:p>
          <a:p>
            <a:pPr algn="ctr">
              <a:lnSpc>
                <a:spcPts val="416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1">
                <a:solidFill>
                  <a:srgbClr val="555555"/>
                </a:solidFill>
                <a:latin typeface="Arial" panose="020B0604020202090204"/>
              </a:rPr>
              <a:t>Jakarta EE and Quarkus produce 102</a:t>
            </a:r>
            <a:endParaRPr sz="3200" b="0" i="1">
              <a:solidFill>
                <a:srgbClr val="555555"/>
              </a:solidFill>
              <a:latin typeface="Arial" panose="020B0604020202090204"/>
            </a:endParaRPr>
          </a:p>
          <a:p>
            <a:pPr algn="ctr">
              <a:lnSpc>
                <a:spcPts val="416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1">
                <a:solidFill>
                  <a:srgbClr val="555555"/>
                </a:solidFill>
                <a:latin typeface="Arial" panose="020B0604020202090204"/>
              </a:rPr>
              <a:t>variants and 1,331 expert-written</a:t>
            </a:r>
            <a:r>
              <a:rPr lang="en-US" sz="3200" b="0" i="1">
                <a:solidFill>
                  <a:srgbClr val="555555"/>
                </a:solidFill>
                <a:latin typeface="Arial" panose="020B0604020202090204"/>
              </a:rPr>
              <a:t> </a:t>
            </a:r>
            <a:r>
              <a:rPr sz="3200" b="0" i="1">
                <a:solidFill>
                  <a:srgbClr val="555555"/>
                </a:solidFill>
                <a:latin typeface="Arial" panose="020B0604020202090204"/>
              </a:rPr>
              <a:t>tests </a:t>
            </a:r>
            <a:endParaRPr sz="3200" b="0" i="1">
              <a:solidFill>
                <a:srgbClr val="555555"/>
              </a:solidFill>
              <a:latin typeface="Arial" panose="020B0604020202090204"/>
            </a:endParaRPr>
          </a:p>
          <a:p>
            <a:pPr algn="ctr">
              <a:lnSpc>
                <a:spcPts val="416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1">
                <a:solidFill>
                  <a:srgbClr val="555555"/>
                </a:solidFill>
                <a:latin typeface="Arial" panose="020B0604020202090204"/>
              </a:rPr>
              <a:t>in a containerized</a:t>
            </a:r>
            <a:r>
              <a:rPr lang="en-US" sz="3200" b="0" i="1">
                <a:solidFill>
                  <a:srgbClr val="555555"/>
                </a:solidFill>
                <a:latin typeface="Arial" panose="020B0604020202090204"/>
              </a:rPr>
              <a:t> </a:t>
            </a:r>
            <a:r>
              <a:rPr sz="3200" b="0" i="1">
                <a:solidFill>
                  <a:srgbClr val="555555"/>
                </a:solidFill>
                <a:latin typeface="Arial" panose="020B0604020202090204"/>
              </a:rPr>
              <a:t>compile/deploy/test harness.</a:t>
            </a:r>
            <a:endParaRPr sz="3200" b="0" i="1">
              <a:solidFill>
                <a:srgbClr val="555555"/>
              </a:solidFill>
              <a:latin typeface="Arial" panose="020B0604020202090204"/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21965035" y="14549429"/>
            <a:ext cx="851006" cy="170834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ts val="11700"/>
              </a:lnSpc>
              <a:spcBef>
                <a:spcPts val="0"/>
              </a:spcBef>
              <a:spcAft>
                <a:spcPts val="0"/>
              </a:spcAft>
            </a:pPr>
            <a:r>
              <a:rPr sz="11700" b="1">
                <a:solidFill>
                  <a:srgbClr val="34373B"/>
                </a:solidFill>
                <a:latin typeface="Arial" panose="020B0604020202090204"/>
              </a:rPr>
              <a:t>5</a:t>
            </a:r>
            <a:endParaRPr sz="11700" b="1">
              <a:solidFill>
                <a:srgbClr val="34373B"/>
              </a:solidFill>
              <a:latin typeface="Arial" panose="020B0604020202090204"/>
            </a:endParaRPr>
          </a:p>
        </p:txBody>
      </p:sp>
      <p:sp>
        <p:nvSpPr>
          <p:cNvPr id="116" name="TextBox 115"/>
          <p:cNvSpPr txBox="1"/>
          <p:nvPr/>
        </p:nvSpPr>
        <p:spPr>
          <a:xfrm>
            <a:off x="11187398" y="15288915"/>
            <a:ext cx="6308620" cy="6875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4710"/>
              </a:lnSpc>
              <a:spcBef>
                <a:spcPts val="0"/>
              </a:spcBef>
              <a:spcAft>
                <a:spcPts val="0"/>
              </a:spcAft>
            </a:pPr>
            <a:r>
              <a:rPr sz="4095" b="1">
                <a:solidFill>
                  <a:srgbClr val="34373B"/>
                </a:solidFill>
                <a:latin typeface="Arial" panose="020B0604020202090204"/>
              </a:rPr>
              <a:t>Benchmark construction</a:t>
            </a:r>
            <a:endParaRPr sz="4095" b="1">
              <a:solidFill>
                <a:srgbClr val="34373B"/>
              </a:solidFill>
              <a:latin typeface="Arial" panose="020B0604020202090204"/>
            </a:endParaRPr>
          </a:p>
        </p:txBody>
      </p:sp>
      <p:sp>
        <p:nvSpPr>
          <p:cNvPr id="117" name="TextBox 116"/>
          <p:cNvSpPr txBox="1"/>
          <p:nvPr/>
        </p:nvSpPr>
        <p:spPr>
          <a:xfrm>
            <a:off x="22989292" y="15339801"/>
            <a:ext cx="9732273" cy="148590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ts val="5090"/>
              </a:lnSpc>
              <a:spcBef>
                <a:spcPts val="0"/>
              </a:spcBef>
              <a:spcAft>
                <a:spcPts val="0"/>
              </a:spcAft>
            </a:pPr>
            <a:r>
              <a:rPr sz="3510" b="0">
                <a:solidFill>
                  <a:srgbClr val="555555"/>
                </a:solidFill>
                <a:latin typeface="Arial" panose="020B0604020202090204"/>
              </a:rPr>
              <a:t>frontier coding agents, each run once at</a:t>
            </a:r>
            <a:endParaRPr sz="3510" b="0">
              <a:solidFill>
                <a:srgbClr val="555555"/>
              </a:solidFill>
              <a:latin typeface="Arial" panose="020B0604020202090204"/>
            </a:endParaRPr>
          </a:p>
          <a:p>
            <a:pPr algn="l">
              <a:lnSpc>
                <a:spcPts val="5090"/>
              </a:lnSpc>
              <a:spcBef>
                <a:spcPts val="0"/>
              </a:spcBef>
              <a:spcAft>
                <a:spcPts val="0"/>
              </a:spcAft>
            </a:pPr>
            <a:r>
              <a:rPr sz="3510" b="0">
                <a:solidFill>
                  <a:srgbClr val="555555"/>
                </a:solidFill>
                <a:latin typeface="Arial" panose="020B0604020202090204"/>
              </a:rPr>
              <a:t>temperature 0</a:t>
            </a:r>
            <a:endParaRPr sz="3510" b="0">
              <a:solidFill>
                <a:srgbClr val="555555"/>
              </a:solidFill>
              <a:latin typeface="Arial" panose="020B0604020202090204"/>
            </a:endParaRPr>
          </a:p>
        </p:txBody>
      </p:sp>
      <p:sp>
        <p:nvSpPr>
          <p:cNvPr id="118" name="TextBox 117"/>
          <p:cNvSpPr txBox="1"/>
          <p:nvPr/>
        </p:nvSpPr>
        <p:spPr>
          <a:xfrm>
            <a:off x="17747925" y="15402442"/>
            <a:ext cx="3173389" cy="4264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2920"/>
              </a:lnSpc>
              <a:spcBef>
                <a:spcPts val="0"/>
              </a:spcBef>
              <a:spcAft>
                <a:spcPts val="0"/>
              </a:spcAft>
            </a:pPr>
            <a:r>
              <a:rPr sz="2540" b="1" i="1">
                <a:solidFill>
                  <a:srgbClr val="555555"/>
                </a:solidFill>
                <a:latin typeface="Arial" panose="020B0604020202090204"/>
              </a:rPr>
              <a:t>expert-built variants</a:t>
            </a:r>
            <a:endParaRPr sz="2540" b="1" i="1">
              <a:solidFill>
                <a:srgbClr val="555555"/>
              </a:solidFill>
              <a:latin typeface="Arial" panose="020B0604020202090204"/>
            </a:endParaRPr>
          </a:p>
        </p:txBody>
      </p:sp>
      <p:sp>
        <p:nvSpPr>
          <p:cNvPr id="119" name="TextBox 118"/>
          <p:cNvSpPr txBox="1"/>
          <p:nvPr/>
        </p:nvSpPr>
        <p:spPr>
          <a:xfrm>
            <a:off x="986700" y="17774898"/>
            <a:ext cx="8479807" cy="495359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544830" indent="-544830" algn="l">
              <a:lnSpc>
                <a:spcPts val="5655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90204" pitchFamily="34" charset="0"/>
              <a:buChar char="•"/>
            </a:pPr>
            <a:r>
              <a:rPr sz="3900" b="1">
                <a:solidFill>
                  <a:srgbClr val="111111"/>
                </a:solidFill>
                <a:latin typeface="Arial" panose="020B0604020202090204"/>
              </a:rPr>
              <a:t>Deprecation pressure</a:t>
            </a: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 pushes</a:t>
            </a:r>
            <a:endParaRPr sz="3900" b="0">
              <a:solidFill>
                <a:srgbClr val="1C1C1C"/>
              </a:solidFill>
              <a:latin typeface="Arial" panose="020B0604020202090204"/>
            </a:endParaRPr>
          </a:p>
          <a:p>
            <a:pPr marL="544830" indent="0" algn="l">
              <a:lnSpc>
                <a:spcPts val="56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enterprises toward lower memory</a:t>
            </a:r>
            <a:endParaRPr sz="3900" b="0">
              <a:solidFill>
                <a:srgbClr val="1C1C1C"/>
              </a:solidFill>
              <a:latin typeface="Arial" panose="020B0604020202090204"/>
            </a:endParaRPr>
          </a:p>
          <a:p>
            <a:pPr marL="544830" indent="0" algn="l">
              <a:lnSpc>
                <a:spcPts val="56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overhead, faster startup, and cloud</a:t>
            </a:r>
            <a:endParaRPr sz="3900" b="0">
              <a:solidFill>
                <a:srgbClr val="1C1C1C"/>
              </a:solidFill>
              <a:latin typeface="Arial" panose="020B0604020202090204"/>
            </a:endParaRPr>
          </a:p>
          <a:p>
            <a:pPr marL="544830" indent="0" algn="l">
              <a:lnSpc>
                <a:spcPts val="56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elasticity — yet no reproducible</a:t>
            </a:r>
            <a:endParaRPr sz="3900" b="0">
              <a:solidFill>
                <a:srgbClr val="1C1C1C"/>
              </a:solidFill>
              <a:latin typeface="Arial" panose="020B0604020202090204"/>
            </a:endParaRPr>
          </a:p>
          <a:p>
            <a:pPr marL="544830" indent="0" algn="l">
              <a:lnSpc>
                <a:spcPts val="56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benchmark measures whether</a:t>
            </a:r>
            <a:endParaRPr sz="3900" b="0">
              <a:solidFill>
                <a:srgbClr val="1C1C1C"/>
              </a:solidFill>
              <a:latin typeface="Arial" panose="020B0604020202090204"/>
            </a:endParaRPr>
          </a:p>
          <a:p>
            <a:pPr marL="544830" indent="0" algn="l">
              <a:lnSpc>
                <a:spcPts val="56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agents can migrate correctly.</a:t>
            </a:r>
            <a:endParaRPr sz="3900" b="0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10355310" y="17815667"/>
            <a:ext cx="10787783" cy="24767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544830" indent="-544830" algn="l">
              <a:lnSpc>
                <a:spcPts val="5655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90204" pitchFamily="34" charset="0"/>
              <a:buChar char="•"/>
            </a:pPr>
            <a:r>
              <a:rPr sz="3900" b="1">
                <a:solidFill>
                  <a:srgbClr val="111111"/>
                </a:solidFill>
                <a:latin typeface="Arial" panose="020B0604020202090204"/>
              </a:rPr>
              <a:t>34 app families</a:t>
            </a: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 — expert Java developers</a:t>
            </a:r>
            <a:endParaRPr sz="3900" b="0">
              <a:solidFill>
                <a:srgbClr val="1C1C1C"/>
              </a:solidFill>
              <a:latin typeface="Arial" panose="020B0604020202090204"/>
            </a:endParaRPr>
          </a:p>
          <a:p>
            <a:pPr marL="544830" indent="0" algn="l">
              <a:lnSpc>
                <a:spcPts val="56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implement all three framework variants per</a:t>
            </a:r>
            <a:endParaRPr sz="3900" b="0">
              <a:solidFill>
                <a:srgbClr val="1C1C1C"/>
              </a:solidFill>
              <a:latin typeface="Arial" panose="020B0604020202090204"/>
            </a:endParaRPr>
          </a:p>
          <a:p>
            <a:pPr marL="544830" indent="0" algn="l">
              <a:lnSpc>
                <a:spcPts val="56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family</a:t>
            </a:r>
            <a:endParaRPr sz="3900" b="0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21" name="TextBox 120"/>
          <p:cNvSpPr txBox="1"/>
          <p:nvPr/>
        </p:nvSpPr>
        <p:spPr>
          <a:xfrm>
            <a:off x="10355310" y="20142592"/>
            <a:ext cx="10787783" cy="24767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544830" indent="-544830" algn="l">
              <a:lnSpc>
                <a:spcPts val="5655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90204" pitchFamily="34" charset="0"/>
              <a:buChar char="•"/>
            </a:pPr>
            <a:r>
              <a:rPr sz="3900" b="1">
                <a:solidFill>
                  <a:srgbClr val="111111"/>
                </a:solidFill>
                <a:latin typeface="Arial" panose="020B0604020202090204"/>
              </a:rPr>
              <a:t>102 variants</a:t>
            </a: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 — runnable source + validated</a:t>
            </a:r>
            <a:endParaRPr sz="3900" b="0">
              <a:solidFill>
                <a:srgbClr val="1C1C1C"/>
              </a:solidFill>
              <a:latin typeface="Arial" panose="020B0604020202090204"/>
            </a:endParaRPr>
          </a:p>
          <a:p>
            <a:pPr marL="544830" indent="0" algn="l">
              <a:lnSpc>
                <a:spcPts val="56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human-written target for every directed</a:t>
            </a:r>
            <a:endParaRPr sz="3900" b="0">
              <a:solidFill>
                <a:srgbClr val="1C1C1C"/>
              </a:solidFill>
              <a:latin typeface="Arial" panose="020B0604020202090204"/>
            </a:endParaRPr>
          </a:p>
          <a:p>
            <a:pPr marL="544830" indent="0" algn="l">
              <a:lnSpc>
                <a:spcPts val="56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migration</a:t>
            </a:r>
            <a:endParaRPr sz="3900" b="0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22" name="TextBox 121"/>
          <p:cNvSpPr txBox="1"/>
          <p:nvPr/>
        </p:nvSpPr>
        <p:spPr>
          <a:xfrm>
            <a:off x="986700" y="22255560"/>
            <a:ext cx="8173720" cy="362585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544830" indent="-544830" algn="l">
              <a:lnSpc>
                <a:spcPts val="5655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90204" pitchFamily="34" charset="0"/>
              <a:buChar char="•"/>
            </a:pPr>
            <a:r>
              <a:rPr sz="3900" b="1">
                <a:solidFill>
                  <a:srgbClr val="111111"/>
                </a:solidFill>
                <a:latin typeface="Arial" panose="020B0604020202090204"/>
              </a:rPr>
              <a:t>Compiles ≠ works:</a:t>
            </a: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 strong agents</a:t>
            </a:r>
            <a:endParaRPr sz="3900" b="0">
              <a:solidFill>
                <a:srgbClr val="1C1C1C"/>
              </a:solidFill>
              <a:latin typeface="Arial" panose="020B0604020202090204"/>
            </a:endParaRPr>
          </a:p>
          <a:p>
            <a:pPr marL="544830" indent="0" algn="l">
              <a:lnSpc>
                <a:spcPts val="56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ship code that compiles </a:t>
            </a:r>
            <a:r>
              <a:rPr lang="en-US" sz="3900" b="0">
                <a:solidFill>
                  <a:srgbClr val="1C1C1C"/>
                </a:solidFill>
                <a:latin typeface="Arial" panose="020B0604020202090204"/>
              </a:rPr>
              <a:t>&amp; </a:t>
            </a: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deploys </a:t>
            </a:r>
            <a:endParaRPr sz="3900" b="0">
              <a:solidFill>
                <a:srgbClr val="1C1C1C"/>
              </a:solidFill>
              <a:latin typeface="Arial" panose="020B0604020202090204"/>
            </a:endParaRPr>
          </a:p>
          <a:p>
            <a:pPr marL="544830" indent="0" algn="l">
              <a:lnSpc>
                <a:spcPts val="56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but fails the original test</a:t>
            </a:r>
            <a:r>
              <a:rPr lang="en-US" sz="3900" b="0">
                <a:solidFill>
                  <a:srgbClr val="1C1C1C"/>
                </a:solidFill>
                <a:latin typeface="Arial" panose="020B0604020202090204"/>
              </a:rPr>
              <a:t> </a:t>
            </a: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suite — </a:t>
            </a:r>
            <a:br>
              <a:rPr sz="3900" b="0">
                <a:solidFill>
                  <a:srgbClr val="1C1C1C"/>
                </a:solidFill>
                <a:latin typeface="Arial" panose="020B0604020202090204"/>
              </a:rPr>
            </a:b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build-only oracles</a:t>
            </a:r>
            <a:r>
              <a:rPr lang="en-US" sz="3900" b="0">
                <a:solidFill>
                  <a:srgbClr val="1C1C1C"/>
                </a:solidFill>
                <a:latin typeface="Arial" panose="020B0604020202090204"/>
              </a:rPr>
              <a:t> </a:t>
            </a: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substantially </a:t>
            </a:r>
            <a:endParaRPr sz="3900" b="0">
              <a:solidFill>
                <a:srgbClr val="1C1C1C"/>
              </a:solidFill>
              <a:latin typeface="Arial" panose="020B0604020202090204"/>
            </a:endParaRPr>
          </a:p>
          <a:p>
            <a:pPr marL="544830" indent="0" algn="l">
              <a:lnSpc>
                <a:spcPts val="56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overstate migration</a:t>
            </a:r>
            <a:r>
              <a:rPr lang="en-US" sz="3900" b="0">
                <a:solidFill>
                  <a:srgbClr val="1C1C1C"/>
                </a:solidFill>
                <a:latin typeface="Arial" panose="020B0604020202090204"/>
              </a:rPr>
              <a:t> </a:t>
            </a: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quality.</a:t>
            </a:r>
            <a:endParaRPr sz="3900" b="0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23" name="TextBox 122"/>
          <p:cNvSpPr txBox="1"/>
          <p:nvPr/>
        </p:nvSpPr>
        <p:spPr>
          <a:xfrm>
            <a:off x="11187398" y="22318498"/>
            <a:ext cx="5327347" cy="6875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4710"/>
              </a:lnSpc>
              <a:spcBef>
                <a:spcPts val="0"/>
              </a:spcBef>
              <a:spcAft>
                <a:spcPts val="0"/>
              </a:spcAft>
            </a:pPr>
            <a:r>
              <a:rPr sz="4095" b="1">
                <a:solidFill>
                  <a:srgbClr val="34373B"/>
                </a:solidFill>
                <a:latin typeface="Arial" panose="020B0604020202090204"/>
              </a:rPr>
              <a:t>Gated scoring oracle</a:t>
            </a:r>
            <a:endParaRPr sz="4095" b="1">
              <a:solidFill>
                <a:srgbClr val="34373B"/>
              </a:solidFill>
              <a:latin typeface="Arial" panose="020B0604020202090204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16995948" y="22432024"/>
            <a:ext cx="3947926" cy="4264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2920"/>
              </a:lnSpc>
              <a:spcBef>
                <a:spcPts val="0"/>
              </a:spcBef>
              <a:spcAft>
                <a:spcPts val="0"/>
              </a:spcAft>
            </a:pPr>
            <a:r>
              <a:rPr sz="2540" b="1" i="1">
                <a:solidFill>
                  <a:srgbClr val="555555"/>
                </a:solidFill>
                <a:latin typeface="Arial" panose="020B0604020202090204"/>
              </a:rPr>
              <a:t>compile → deploy → test</a:t>
            </a:r>
            <a:endParaRPr sz="2540" b="1" i="1">
              <a:solidFill>
                <a:srgbClr val="555555"/>
              </a:solidFill>
              <a:latin typeface="Arial" panose="020B0604020202090204"/>
            </a:endParaRPr>
          </a:p>
        </p:txBody>
      </p:sp>
      <p:sp>
        <p:nvSpPr>
          <p:cNvPr id="125" name="TextBox 124"/>
          <p:cNvSpPr txBox="1"/>
          <p:nvPr/>
        </p:nvSpPr>
        <p:spPr>
          <a:xfrm>
            <a:off x="11269544" y="23111400"/>
            <a:ext cx="9846122" cy="1755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ts val="546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111111"/>
                </a:solidFill>
                <a:latin typeface="Arial" panose="020B0604020202090204"/>
              </a:rPr>
              <a:t>Compile (C</a:t>
            </a:r>
            <a:r>
              <a:rPr sz="5460" b="1" baseline="-25000">
                <a:solidFill>
                  <a:srgbClr val="111111"/>
                </a:solidFill>
                <a:latin typeface="Arial" panose="020B0604020202090204"/>
              </a:rPr>
              <a:t>τ</a:t>
            </a:r>
            <a:r>
              <a:rPr sz="3900" b="1">
                <a:solidFill>
                  <a:srgbClr val="111111"/>
                </a:solidFill>
                <a:latin typeface="Arial" panose="020B0604020202090204"/>
              </a:rPr>
              <a:t>)</a:t>
            </a: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 — the candidate must build</a:t>
            </a:r>
            <a:endParaRPr sz="3900" b="0">
              <a:solidFill>
                <a:srgbClr val="1C1C1C"/>
              </a:solidFill>
              <a:latin typeface="Arial" panose="020B0604020202090204"/>
            </a:endParaRPr>
          </a:p>
          <a:p>
            <a:pPr algn="l">
              <a:lnSpc>
                <a:spcPts val="5460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cleanly</a:t>
            </a:r>
            <a:endParaRPr sz="3900" b="0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26" name="TextBox 125"/>
          <p:cNvSpPr txBox="1"/>
          <p:nvPr/>
        </p:nvSpPr>
        <p:spPr>
          <a:xfrm>
            <a:off x="21964672" y="24628314"/>
            <a:ext cx="10787631" cy="24767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544830" indent="-544830" algn="l">
              <a:lnSpc>
                <a:spcPts val="5655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90204" pitchFamily="34" charset="0"/>
              <a:buChar char="•"/>
            </a:pPr>
            <a:r>
              <a:rPr sz="3900" b="1">
                <a:solidFill>
                  <a:srgbClr val="111111"/>
                </a:solidFill>
                <a:latin typeface="Arial" panose="020B0604020202090204"/>
              </a:rPr>
              <a:t>Temperature 0</a:t>
            </a: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 — each agent run once, with</a:t>
            </a:r>
            <a:endParaRPr sz="3900" b="0">
              <a:solidFill>
                <a:srgbClr val="1C1C1C"/>
              </a:solidFill>
              <a:latin typeface="Arial" panose="020B0604020202090204"/>
            </a:endParaRPr>
          </a:p>
          <a:p>
            <a:pPr marL="544830" indent="0" algn="l">
              <a:lnSpc>
                <a:spcPts val="56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either a monolithic prompt or a modular skills</a:t>
            </a:r>
            <a:endParaRPr sz="3900" b="0">
              <a:solidFill>
                <a:srgbClr val="1C1C1C"/>
              </a:solidFill>
              <a:latin typeface="Arial" panose="020B0604020202090204"/>
            </a:endParaRPr>
          </a:p>
          <a:p>
            <a:pPr marL="544830" indent="0" algn="l">
              <a:lnSpc>
                <a:spcPts val="56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directory</a:t>
            </a:r>
            <a:endParaRPr sz="3900" b="0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27" name="TextBox 126"/>
          <p:cNvSpPr txBox="1"/>
          <p:nvPr/>
        </p:nvSpPr>
        <p:spPr>
          <a:xfrm>
            <a:off x="11269544" y="24935119"/>
            <a:ext cx="9846122" cy="1755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ts val="546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111111"/>
                </a:solidFill>
                <a:latin typeface="Arial" panose="020B0604020202090204"/>
              </a:rPr>
              <a:t>Deploy (D</a:t>
            </a:r>
            <a:r>
              <a:rPr sz="5460" b="1" baseline="-25000">
                <a:solidFill>
                  <a:srgbClr val="111111"/>
                </a:solidFill>
                <a:latin typeface="Arial" panose="020B0604020202090204"/>
              </a:rPr>
              <a:t>τ</a:t>
            </a:r>
            <a:r>
              <a:rPr sz="3900" b="1">
                <a:solidFill>
                  <a:srgbClr val="111111"/>
                </a:solidFill>
                <a:latin typeface="Arial" panose="020B0604020202090204"/>
              </a:rPr>
              <a:t>)</a:t>
            </a: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 — run in a containerized</a:t>
            </a:r>
            <a:endParaRPr sz="3900" b="0">
              <a:solidFill>
                <a:srgbClr val="1C1C1C"/>
              </a:solidFill>
              <a:latin typeface="Arial" panose="020B0604020202090204"/>
            </a:endParaRPr>
          </a:p>
          <a:p>
            <a:pPr algn="l">
              <a:lnSpc>
                <a:spcPts val="5460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runtime</a:t>
            </a:r>
            <a:endParaRPr sz="3900" b="0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36283090" y="26113090"/>
            <a:ext cx="2899221" cy="53659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ts val="3675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34373B"/>
                </a:solidFill>
                <a:latin typeface="Arial" panose="020B0604020202090204"/>
              </a:rPr>
              <a:t>Scan to Read</a:t>
            </a:r>
            <a:endParaRPr sz="3500" b="1">
              <a:solidFill>
                <a:srgbClr val="34373B"/>
              </a:solidFill>
              <a:latin typeface="Arial" panose="020B0604020202090204"/>
            </a:endParaRPr>
          </a:p>
        </p:txBody>
      </p:sp>
      <p:sp>
        <p:nvSpPr>
          <p:cNvPr id="129" name="TextBox 128"/>
          <p:cNvSpPr txBox="1"/>
          <p:nvPr/>
        </p:nvSpPr>
        <p:spPr>
          <a:xfrm>
            <a:off x="11269544" y="26758838"/>
            <a:ext cx="9846122" cy="1755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ts val="546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111111"/>
                </a:solidFill>
                <a:latin typeface="Arial" panose="020B0604020202090204"/>
              </a:rPr>
              <a:t>Test (S</a:t>
            </a:r>
            <a:r>
              <a:rPr sz="5460" b="1" baseline="-25000">
                <a:solidFill>
                  <a:srgbClr val="111111"/>
                </a:solidFill>
                <a:latin typeface="Arial" panose="020B0604020202090204"/>
              </a:rPr>
              <a:t>τ</a:t>
            </a:r>
            <a:r>
              <a:rPr sz="3900" b="1">
                <a:solidFill>
                  <a:srgbClr val="111111"/>
                </a:solidFill>
                <a:latin typeface="Arial" panose="020B0604020202090204"/>
              </a:rPr>
              <a:t>)</a:t>
            </a: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 — behavioral tests over the</a:t>
            </a:r>
            <a:endParaRPr sz="3900" b="0">
              <a:solidFill>
                <a:srgbClr val="1C1C1C"/>
              </a:solidFill>
              <a:latin typeface="Arial" panose="020B0604020202090204"/>
            </a:endParaRPr>
          </a:p>
          <a:p>
            <a:pPr algn="l">
              <a:lnSpc>
                <a:spcPts val="5460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observable interface</a:t>
            </a:r>
            <a:endParaRPr sz="3900" b="0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30" name="TextBox 129"/>
          <p:cNvSpPr txBox="1"/>
          <p:nvPr/>
        </p:nvSpPr>
        <p:spPr>
          <a:xfrm>
            <a:off x="21964672" y="26955240"/>
            <a:ext cx="10787631" cy="247679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544830" indent="-544830" algn="l">
              <a:lnSpc>
                <a:spcPts val="5655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90204" pitchFamily="34" charset="0"/>
              <a:buChar char="•"/>
            </a:pPr>
            <a:r>
              <a:rPr sz="3900" b="1">
                <a:solidFill>
                  <a:srgbClr val="111111"/>
                </a:solidFill>
                <a:latin typeface="Arial" panose="020B0604020202090204"/>
              </a:rPr>
              <a:t>Six framework pairs</a:t>
            </a: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 — 204 directed</a:t>
            </a:r>
            <a:endParaRPr sz="3900" b="0">
              <a:solidFill>
                <a:srgbClr val="1C1C1C"/>
              </a:solidFill>
              <a:latin typeface="Arial" panose="020B0604020202090204"/>
            </a:endParaRPr>
          </a:p>
          <a:p>
            <a:pPr marL="544830" indent="0" algn="l">
              <a:lnSpc>
                <a:spcPts val="56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migration tasks across Spring, Jakarta EE,</a:t>
            </a:r>
            <a:endParaRPr sz="3900" b="0">
              <a:solidFill>
                <a:srgbClr val="1C1C1C"/>
              </a:solidFill>
              <a:latin typeface="Arial" panose="020B0604020202090204"/>
            </a:endParaRPr>
          </a:p>
          <a:p>
            <a:pPr marL="544830" indent="0" algn="l">
              <a:lnSpc>
                <a:spcPts val="56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Quarkus</a:t>
            </a:r>
            <a:endParaRPr sz="3900" b="0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31" name="TextBox 130"/>
          <p:cNvSpPr txBox="1"/>
          <p:nvPr/>
        </p:nvSpPr>
        <p:spPr>
          <a:xfrm>
            <a:off x="1457382" y="26515742"/>
            <a:ext cx="7638081" cy="412799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ts val="5655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Judging migration quality by build</a:t>
            </a:r>
            <a:endParaRPr sz="3900" b="0">
              <a:solidFill>
                <a:srgbClr val="1C1C1C"/>
              </a:solidFill>
              <a:latin typeface="Arial" panose="020B0604020202090204"/>
            </a:endParaRPr>
          </a:p>
          <a:p>
            <a:pPr algn="l">
              <a:lnSpc>
                <a:spcPts val="5655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success alone is dangerously</a:t>
            </a:r>
            <a:endParaRPr sz="3900" b="0">
              <a:solidFill>
                <a:srgbClr val="1C1C1C"/>
              </a:solidFill>
              <a:latin typeface="Arial" panose="020B0604020202090204"/>
            </a:endParaRPr>
          </a:p>
          <a:p>
            <a:pPr algn="l">
              <a:lnSpc>
                <a:spcPts val="5655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optimistic — agents ship code</a:t>
            </a:r>
            <a:endParaRPr sz="3900" b="0">
              <a:solidFill>
                <a:srgbClr val="1C1C1C"/>
              </a:solidFill>
              <a:latin typeface="Arial" panose="020B0604020202090204"/>
            </a:endParaRPr>
          </a:p>
          <a:p>
            <a:pPr algn="l">
              <a:lnSpc>
                <a:spcPts val="5655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that compiles and deploys yet still</a:t>
            </a:r>
            <a:endParaRPr sz="3900" b="0">
              <a:solidFill>
                <a:srgbClr val="1C1C1C"/>
              </a:solidFill>
              <a:latin typeface="Arial" panose="020B0604020202090204"/>
            </a:endParaRPr>
          </a:p>
          <a:p>
            <a:pPr algn="l">
              <a:lnSpc>
                <a:spcPts val="5655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 panose="020B0604020202090204"/>
              </a:rPr>
              <a:t>fails the original tests.</a:t>
            </a:r>
            <a:endParaRPr sz="3900" b="0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33837604" y="17225862"/>
            <a:ext cx="3883865" cy="147016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ts val="10070"/>
              </a:lnSpc>
              <a:spcBef>
                <a:spcPts val="0"/>
              </a:spcBef>
              <a:spcAft>
                <a:spcPts val="0"/>
              </a:spcAft>
            </a:pPr>
            <a:r>
              <a:rPr sz="10600" b="1" spc="-212">
                <a:solidFill>
                  <a:srgbClr val="34373B"/>
                </a:solidFill>
                <a:latin typeface="Arial" panose="020B0604020202090204"/>
              </a:rPr>
              <a:t>15.3%</a:t>
            </a:r>
            <a:endParaRPr sz="10600" b="1" spc="-212">
              <a:solidFill>
                <a:srgbClr val="34373B"/>
              </a:solidFill>
              <a:latin typeface="Arial" panose="020B0604020202090204"/>
            </a:endParaRPr>
          </a:p>
        </p:txBody>
      </p:sp>
      <p:sp>
        <p:nvSpPr>
          <p:cNvPr id="133" name="TextBox 132"/>
          <p:cNvSpPr txBox="1"/>
          <p:nvPr/>
        </p:nvSpPr>
        <p:spPr>
          <a:xfrm>
            <a:off x="33837604" y="18526437"/>
            <a:ext cx="3883865" cy="168627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ts val="385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1C1C1C"/>
                </a:solidFill>
                <a:latin typeface="Arial" panose="020B0604020202090204"/>
              </a:rPr>
              <a:t>strongest</a:t>
            </a:r>
            <a:endParaRPr sz="3500" b="1">
              <a:solidFill>
                <a:srgbClr val="1C1C1C"/>
              </a:solidFill>
              <a:latin typeface="Arial" panose="020B0604020202090204"/>
            </a:endParaRPr>
          </a:p>
          <a:p>
            <a:pPr algn="l">
              <a:lnSpc>
                <a:spcPts val="385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1C1C1C"/>
                </a:solidFill>
                <a:latin typeface="Arial" panose="020B0604020202090204"/>
              </a:rPr>
              <a:t>focused-layer</a:t>
            </a:r>
            <a:endParaRPr sz="3500" b="1">
              <a:solidFill>
                <a:srgbClr val="1C1C1C"/>
              </a:solidFill>
              <a:latin typeface="Arial" panose="020B0604020202090204"/>
            </a:endParaRPr>
          </a:p>
          <a:p>
            <a:pPr algn="l">
              <a:lnSpc>
                <a:spcPts val="385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1C1C1C"/>
                </a:solidFill>
                <a:latin typeface="Arial" panose="020B0604020202090204"/>
              </a:rPr>
              <a:t>test pass</a:t>
            </a:r>
            <a:endParaRPr sz="3500" b="1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34" name="TextBox 133"/>
          <p:cNvSpPr txBox="1"/>
          <p:nvPr/>
        </p:nvSpPr>
        <p:spPr>
          <a:xfrm>
            <a:off x="33837604" y="19992761"/>
            <a:ext cx="3883865" cy="87299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ts val="299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1">
                <a:solidFill>
                  <a:srgbClr val="555555"/>
                </a:solidFill>
                <a:latin typeface="Arial" panose="020B0604020202090204"/>
              </a:rPr>
              <a:t>12.2% whole-app ·</a:t>
            </a:r>
            <a:endParaRPr sz="2600" b="0" i="1">
              <a:solidFill>
                <a:srgbClr val="555555"/>
              </a:solidFill>
              <a:latin typeface="Arial" panose="020B0604020202090204"/>
            </a:endParaRPr>
          </a:p>
          <a:p>
            <a:pPr algn="l">
              <a:lnSpc>
                <a:spcPts val="299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1">
                <a:solidFill>
                  <a:srgbClr val="555555"/>
                </a:solidFill>
                <a:latin typeface="Arial" panose="020B0604020202090204"/>
              </a:rPr>
              <a:t>frontier agents still fail</a:t>
            </a:r>
            <a:endParaRPr sz="2600" b="0" i="1">
              <a:solidFill>
                <a:srgbClr val="555555"/>
              </a:solidFill>
              <a:latin typeface="Arial" panose="020B0604020202090204"/>
            </a:endParaRPr>
          </a:p>
        </p:txBody>
      </p:sp>
      <p:sp>
        <p:nvSpPr>
          <p:cNvPr id="135" name="TextBox 134"/>
          <p:cNvSpPr txBox="1"/>
          <p:nvPr/>
        </p:nvSpPr>
        <p:spPr>
          <a:xfrm>
            <a:off x="33574247" y="7474911"/>
            <a:ext cx="6355362" cy="1288447"/>
          </a:xfrm>
          <a:prstGeom prst="rect">
            <a:avLst/>
          </a:prstGeom>
          <a:noFill/>
        </p:spPr>
        <p:txBody>
          <a:bodyPr wrap="square" lIns="76213" tIns="57160" rIns="76213" bIns="57160">
            <a:spAutoFit/>
          </a:bodyPr>
          <a:lstStyle/>
          <a:p>
            <a:pPr algn="l">
              <a:lnSpc>
                <a:spcPts val="3945"/>
              </a:lnSpc>
              <a:spcBef>
                <a:spcPts val="0"/>
              </a:spcBef>
              <a:spcAft>
                <a:spcPts val="0"/>
              </a:spcAft>
            </a:pPr>
            <a:r>
              <a:rPr sz="2720" b="1" spc="136">
                <a:solidFill>
                  <a:srgbClr val="34373B"/>
                </a:solidFill>
                <a:latin typeface="Arial" panose="020B0604020202090204"/>
              </a:rPr>
              <a:t>SETTING</a:t>
            </a:r>
            <a:endParaRPr sz="2720" b="1" spc="136">
              <a:solidFill>
                <a:srgbClr val="34373B"/>
              </a:solidFill>
              <a:latin typeface="Arial" panose="020B0604020202090204"/>
            </a:endParaRPr>
          </a:p>
        </p:txBody>
      </p:sp>
      <p:sp>
        <p:nvSpPr>
          <p:cNvPr id="136" name="TextBox 135"/>
          <p:cNvSpPr txBox="1"/>
          <p:nvPr/>
        </p:nvSpPr>
        <p:spPr>
          <a:xfrm>
            <a:off x="39744502" y="7474911"/>
            <a:ext cx="2124228" cy="1288447"/>
          </a:xfrm>
          <a:prstGeom prst="rect">
            <a:avLst/>
          </a:prstGeom>
          <a:noFill/>
        </p:spPr>
        <p:txBody>
          <a:bodyPr wrap="none" lIns="76213" tIns="57160" rIns="76213" bIns="57160">
            <a:spAutoFit/>
          </a:bodyPr>
          <a:lstStyle/>
          <a:p>
            <a:pPr algn="ctr">
              <a:lnSpc>
                <a:spcPts val="3945"/>
              </a:lnSpc>
              <a:spcBef>
                <a:spcPts val="0"/>
              </a:spcBef>
              <a:spcAft>
                <a:spcPts val="0"/>
              </a:spcAft>
            </a:pPr>
            <a:r>
              <a:rPr sz="2720" b="1" spc="136">
                <a:solidFill>
                  <a:srgbClr val="34373B"/>
                </a:solidFill>
                <a:latin typeface="Arial" panose="020B0604020202090204"/>
              </a:rPr>
              <a:t>TEST</a:t>
            </a:r>
            <a:endParaRPr sz="2720" b="1" spc="136">
              <a:solidFill>
                <a:srgbClr val="34373B"/>
              </a:solidFill>
              <a:latin typeface="Arial" panose="020B0604020202090204"/>
            </a:endParaRPr>
          </a:p>
          <a:p>
            <a:pPr algn="ctr">
              <a:lnSpc>
                <a:spcPts val="3945"/>
              </a:lnSpc>
              <a:spcBef>
                <a:spcPts val="0"/>
              </a:spcBef>
              <a:spcAft>
                <a:spcPts val="0"/>
              </a:spcAft>
            </a:pPr>
            <a:r>
              <a:rPr sz="2720" b="1" spc="136">
                <a:solidFill>
                  <a:srgbClr val="34373B"/>
                </a:solidFill>
                <a:latin typeface="Arial" panose="020B0604020202090204"/>
              </a:rPr>
              <a:t>PASS</a:t>
            </a:r>
            <a:endParaRPr sz="2720" b="1" spc="136">
              <a:solidFill>
                <a:srgbClr val="34373B"/>
              </a:solidFill>
              <a:latin typeface="Arial" panose="020B0604020202090204"/>
            </a:endParaRPr>
          </a:p>
        </p:txBody>
      </p:sp>
      <p:sp>
        <p:nvSpPr>
          <p:cNvPr id="137" name="TextBox 136"/>
          <p:cNvSpPr txBox="1"/>
          <p:nvPr/>
        </p:nvSpPr>
        <p:spPr>
          <a:xfrm>
            <a:off x="33574247" y="8595300"/>
            <a:ext cx="6355362" cy="1677889"/>
          </a:xfrm>
          <a:prstGeom prst="rect">
            <a:avLst/>
          </a:prstGeom>
          <a:noFill/>
        </p:spPr>
        <p:txBody>
          <a:bodyPr wrap="none" lIns="76213" tIns="57160" rIns="76213" bIns="57160">
            <a:spAutoFit/>
          </a:bodyPr>
          <a:lstStyle/>
          <a:p>
            <a:pPr algn="l">
              <a:lnSpc>
                <a:spcPts val="5260"/>
              </a:lnSpc>
              <a:spcBef>
                <a:spcPts val="0"/>
              </a:spcBef>
              <a:spcAft>
                <a:spcPts val="0"/>
              </a:spcAft>
            </a:pPr>
            <a:r>
              <a:rPr sz="3625" b="1">
                <a:solidFill>
                  <a:srgbClr val="1C1C1C"/>
                </a:solidFill>
                <a:latin typeface="Arial" panose="020B0604020202090204"/>
              </a:rPr>
              <a:t>Strongest agent · focused-</a:t>
            </a:r>
            <a:endParaRPr sz="3625" b="1">
              <a:solidFill>
                <a:srgbClr val="1C1C1C"/>
              </a:solidFill>
              <a:latin typeface="Arial" panose="020B0604020202090204"/>
            </a:endParaRPr>
          </a:p>
          <a:p>
            <a:pPr algn="l">
              <a:lnSpc>
                <a:spcPts val="5260"/>
              </a:lnSpc>
              <a:spcBef>
                <a:spcPts val="0"/>
              </a:spcBef>
              <a:spcAft>
                <a:spcPts val="0"/>
              </a:spcAft>
            </a:pPr>
            <a:r>
              <a:rPr sz="3625" b="1">
                <a:solidFill>
                  <a:srgbClr val="1C1C1C"/>
                </a:solidFill>
                <a:latin typeface="Arial" panose="020B0604020202090204"/>
              </a:rPr>
              <a:t>layer</a:t>
            </a:r>
            <a:endParaRPr sz="3625" b="1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38" name="TextBox 137"/>
          <p:cNvSpPr txBox="1"/>
          <p:nvPr/>
        </p:nvSpPr>
        <p:spPr>
          <a:xfrm>
            <a:off x="39744502" y="8595300"/>
            <a:ext cx="2124228" cy="1677889"/>
          </a:xfrm>
          <a:prstGeom prst="rect">
            <a:avLst/>
          </a:prstGeom>
          <a:noFill/>
        </p:spPr>
        <p:txBody>
          <a:bodyPr wrap="none" lIns="76213" tIns="57160" rIns="76213" bIns="57160">
            <a:spAutoFit/>
          </a:bodyPr>
          <a:lstStyle/>
          <a:p>
            <a:pPr algn="ctr">
              <a:lnSpc>
                <a:spcPts val="5260"/>
              </a:lnSpc>
              <a:spcBef>
                <a:spcPts val="0"/>
              </a:spcBef>
              <a:spcAft>
                <a:spcPts val="0"/>
              </a:spcAft>
            </a:pPr>
            <a:r>
              <a:rPr sz="3625" b="0">
                <a:solidFill>
                  <a:srgbClr val="1C1C1C"/>
                </a:solidFill>
                <a:latin typeface="Arial" panose="020B0604020202090204"/>
              </a:rPr>
              <a:t>15.3%</a:t>
            </a:r>
            <a:endParaRPr sz="3625" b="0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39" name="TextBox 138"/>
          <p:cNvSpPr txBox="1"/>
          <p:nvPr/>
        </p:nvSpPr>
        <p:spPr>
          <a:xfrm>
            <a:off x="33574247" y="10054334"/>
            <a:ext cx="6355362" cy="1677890"/>
          </a:xfrm>
          <a:prstGeom prst="rect">
            <a:avLst/>
          </a:prstGeom>
          <a:noFill/>
        </p:spPr>
        <p:txBody>
          <a:bodyPr wrap="none" lIns="76213" tIns="57160" rIns="76213" bIns="57160">
            <a:spAutoFit/>
          </a:bodyPr>
          <a:lstStyle/>
          <a:p>
            <a:pPr algn="l">
              <a:lnSpc>
                <a:spcPts val="5260"/>
              </a:lnSpc>
              <a:spcBef>
                <a:spcPts val="0"/>
              </a:spcBef>
              <a:spcAft>
                <a:spcPts val="0"/>
              </a:spcAft>
            </a:pPr>
            <a:r>
              <a:rPr sz="3625" b="1">
                <a:solidFill>
                  <a:srgbClr val="34373B"/>
                </a:solidFill>
                <a:latin typeface="Arial" panose="020B0604020202090204"/>
              </a:rPr>
              <a:t>Strongest agent · whole-</a:t>
            </a:r>
            <a:endParaRPr sz="3625" b="1">
              <a:solidFill>
                <a:srgbClr val="34373B"/>
              </a:solidFill>
              <a:latin typeface="Arial" panose="020B0604020202090204"/>
            </a:endParaRPr>
          </a:p>
          <a:p>
            <a:pPr algn="l">
              <a:lnSpc>
                <a:spcPts val="5260"/>
              </a:lnSpc>
              <a:spcBef>
                <a:spcPts val="0"/>
              </a:spcBef>
              <a:spcAft>
                <a:spcPts val="0"/>
              </a:spcAft>
            </a:pPr>
            <a:r>
              <a:rPr sz="3625" b="1">
                <a:solidFill>
                  <a:srgbClr val="34373B"/>
                </a:solidFill>
                <a:latin typeface="Arial" panose="020B0604020202090204"/>
              </a:rPr>
              <a:t>app</a:t>
            </a:r>
            <a:endParaRPr sz="3625" b="1">
              <a:solidFill>
                <a:srgbClr val="34373B"/>
              </a:solidFill>
              <a:latin typeface="Arial" panose="020B0604020202090204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39744502" y="10054334"/>
            <a:ext cx="2124228" cy="1677890"/>
          </a:xfrm>
          <a:prstGeom prst="rect">
            <a:avLst/>
          </a:prstGeom>
          <a:noFill/>
        </p:spPr>
        <p:txBody>
          <a:bodyPr wrap="none" lIns="76213" tIns="57160" rIns="76213" bIns="57160">
            <a:spAutoFit/>
          </a:bodyPr>
          <a:lstStyle/>
          <a:p>
            <a:pPr algn="ctr">
              <a:lnSpc>
                <a:spcPts val="5260"/>
              </a:lnSpc>
              <a:spcBef>
                <a:spcPts val="0"/>
              </a:spcBef>
              <a:spcAft>
                <a:spcPts val="0"/>
              </a:spcAft>
            </a:pPr>
            <a:r>
              <a:rPr sz="3625" b="1">
                <a:solidFill>
                  <a:srgbClr val="34373B"/>
                </a:solidFill>
                <a:latin typeface="Arial" panose="020B0604020202090204"/>
              </a:rPr>
              <a:t>12.2%</a:t>
            </a:r>
            <a:endParaRPr sz="3625" b="1">
              <a:solidFill>
                <a:srgbClr val="34373B"/>
              </a:solidFill>
              <a:latin typeface="Arial" panose="020B0604020202090204"/>
            </a:endParaRPr>
          </a:p>
        </p:txBody>
      </p:sp>
      <p:sp>
        <p:nvSpPr>
          <p:cNvPr id="141" name="TextBox 140"/>
          <p:cNvSpPr txBox="1"/>
          <p:nvPr/>
        </p:nvSpPr>
        <p:spPr>
          <a:xfrm>
            <a:off x="38608058" y="16575205"/>
            <a:ext cx="1282873" cy="58399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ts val="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40">
                <a:solidFill>
                  <a:srgbClr val="AE2622"/>
                </a:solidFill>
                <a:latin typeface="Arial" panose="020B0604020202090204"/>
              </a:rPr>
              <a:t>1/204</a:t>
            </a:r>
            <a:endParaRPr sz="4000" b="1" spc="-40">
              <a:solidFill>
                <a:srgbClr val="AE2622"/>
              </a:solidFill>
              <a:latin typeface="Arial" panose="020B0604020202090204"/>
            </a:endParaRPr>
          </a:p>
        </p:txBody>
      </p:sp>
      <p:sp>
        <p:nvSpPr>
          <p:cNvPr id="142" name="TextBox 141"/>
          <p:cNvSpPr txBox="1"/>
          <p:nvPr/>
        </p:nvSpPr>
        <p:spPr>
          <a:xfrm>
            <a:off x="40026754" y="16698997"/>
            <a:ext cx="1814199" cy="136647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555555"/>
                </a:solidFill>
                <a:latin typeface="Arial" panose="020B0604020202090204"/>
              </a:rPr>
              <a:t>tasks fully</a:t>
            </a:r>
            <a:endParaRPr sz="2600" b="0">
              <a:solidFill>
                <a:srgbClr val="555555"/>
              </a:solidFill>
              <a:latin typeface="Arial" panose="020B0604020202090204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555555"/>
                </a:solidFill>
                <a:latin typeface="Arial" panose="020B0604020202090204"/>
              </a:rPr>
              <a:t>behaviorally</a:t>
            </a:r>
            <a:endParaRPr sz="2600" b="0">
              <a:solidFill>
                <a:srgbClr val="555555"/>
              </a:solidFill>
              <a:latin typeface="Arial" panose="020B0604020202090204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555555"/>
                </a:solidFill>
                <a:latin typeface="Arial" panose="020B0604020202090204"/>
              </a:rPr>
              <a:t>equivalent</a:t>
            </a:r>
            <a:endParaRPr sz="2600" b="0">
              <a:solidFill>
                <a:srgbClr val="555555"/>
              </a:solidFill>
              <a:latin typeface="Arial" panose="020B0604020202090204"/>
            </a:endParaRPr>
          </a:p>
        </p:txBody>
      </p:sp>
      <p:sp>
        <p:nvSpPr>
          <p:cNvPr id="143" name="TextBox 142"/>
          <p:cNvSpPr txBox="1"/>
          <p:nvPr/>
        </p:nvSpPr>
        <p:spPr>
          <a:xfrm>
            <a:off x="21965035" y="18108039"/>
            <a:ext cx="5064978" cy="771870"/>
          </a:xfrm>
          <a:prstGeom prst="rect">
            <a:avLst/>
          </a:prstGeom>
          <a:noFill/>
        </p:spPr>
        <p:txBody>
          <a:bodyPr wrap="none" lIns="176482" tIns="77652" rIns="176482" bIns="77652">
            <a:spAutoFit/>
          </a:bodyPr>
          <a:lstStyle/>
          <a:p>
            <a:pPr algn="l">
              <a:lnSpc>
                <a:spcPts val="4030"/>
              </a:lnSpc>
              <a:spcBef>
                <a:spcPts val="0"/>
              </a:spcBef>
              <a:spcAft>
                <a:spcPts val="0"/>
              </a:spcAft>
            </a:pPr>
            <a:r>
              <a:rPr sz="2780" b="1" spc="138">
                <a:solidFill>
                  <a:srgbClr val="555555"/>
                </a:solidFill>
                <a:latin typeface="Arial" panose="020B0604020202090204"/>
              </a:rPr>
              <a:t>AGENT</a:t>
            </a:r>
            <a:endParaRPr sz="2780" b="1" spc="138">
              <a:solidFill>
                <a:srgbClr val="555555"/>
              </a:solidFill>
              <a:latin typeface="Arial" panose="020B0604020202090204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26882490" y="18108039"/>
            <a:ext cx="5722279" cy="771870"/>
          </a:xfrm>
          <a:prstGeom prst="rect">
            <a:avLst/>
          </a:prstGeom>
          <a:noFill/>
        </p:spPr>
        <p:txBody>
          <a:bodyPr wrap="none" lIns="176482" tIns="77652" rIns="176482" bIns="77652">
            <a:spAutoFit/>
          </a:bodyPr>
          <a:lstStyle/>
          <a:p>
            <a:pPr algn="l">
              <a:lnSpc>
                <a:spcPts val="4030"/>
              </a:lnSpc>
              <a:spcBef>
                <a:spcPts val="0"/>
              </a:spcBef>
              <a:spcAft>
                <a:spcPts val="0"/>
              </a:spcAft>
            </a:pPr>
            <a:r>
              <a:rPr sz="2780" b="1" spc="138">
                <a:solidFill>
                  <a:srgbClr val="555555"/>
                </a:solidFill>
                <a:latin typeface="Arial" panose="020B0604020202090204"/>
              </a:rPr>
              <a:t>MODEL</a:t>
            </a:r>
            <a:endParaRPr sz="2780" b="1" spc="138">
              <a:solidFill>
                <a:srgbClr val="555555"/>
              </a:solidFill>
              <a:latin typeface="Arial" panose="020B0604020202090204"/>
            </a:endParaRPr>
          </a:p>
        </p:txBody>
      </p:sp>
      <p:sp>
        <p:nvSpPr>
          <p:cNvPr id="145" name="TextBox 144"/>
          <p:cNvSpPr txBox="1"/>
          <p:nvPr/>
        </p:nvSpPr>
        <p:spPr>
          <a:xfrm>
            <a:off x="38608058" y="18134821"/>
            <a:ext cx="745571" cy="5839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ts val="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40">
                <a:solidFill>
                  <a:srgbClr val="AE2622"/>
                </a:solidFill>
                <a:latin typeface="Arial" panose="020B0604020202090204"/>
              </a:rPr>
              <a:t>2%</a:t>
            </a:r>
            <a:endParaRPr sz="4000" b="1" spc="-40">
              <a:solidFill>
                <a:srgbClr val="AE2622"/>
              </a:solidFill>
              <a:latin typeface="Arial" panose="020B0604020202090204"/>
            </a:endParaRPr>
          </a:p>
        </p:txBody>
      </p:sp>
      <p:sp>
        <p:nvSpPr>
          <p:cNvPr id="146" name="TextBox 145"/>
          <p:cNvSpPr txBox="1"/>
          <p:nvPr/>
        </p:nvSpPr>
        <p:spPr>
          <a:xfrm>
            <a:off x="39505102" y="18258614"/>
            <a:ext cx="2099553" cy="182196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555555"/>
                </a:solidFill>
                <a:latin typeface="Arial" panose="020B0604020202090204"/>
              </a:rPr>
              <a:t>Jakarta EE</a:t>
            </a:r>
            <a:endParaRPr sz="2600" b="0">
              <a:solidFill>
                <a:srgbClr val="555555"/>
              </a:solidFill>
              <a:latin typeface="Arial" panose="020B0604020202090204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555555"/>
                </a:solidFill>
                <a:latin typeface="Arial" panose="020B0604020202090204"/>
              </a:rPr>
              <a:t>pass (vs 12%</a:t>
            </a:r>
            <a:endParaRPr sz="2600" b="0">
              <a:solidFill>
                <a:srgbClr val="555555"/>
              </a:solidFill>
              <a:latin typeface="Arial" panose="020B0604020202090204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555555"/>
                </a:solidFill>
                <a:latin typeface="Arial" panose="020B0604020202090204"/>
              </a:rPr>
              <a:t>Spring, 14%</a:t>
            </a:r>
            <a:endParaRPr sz="2600" b="0">
              <a:solidFill>
                <a:srgbClr val="555555"/>
              </a:solidFill>
              <a:latin typeface="Arial" panose="020B0604020202090204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555555"/>
                </a:solidFill>
                <a:latin typeface="Arial" panose="020B0604020202090204"/>
              </a:rPr>
              <a:t>Quarkus)</a:t>
            </a:r>
            <a:endParaRPr sz="2600" b="0">
              <a:solidFill>
                <a:srgbClr val="555555"/>
              </a:solidFill>
              <a:latin typeface="Arial" panose="020B0604020202090204"/>
            </a:endParaRPr>
          </a:p>
        </p:txBody>
      </p:sp>
      <p:sp>
        <p:nvSpPr>
          <p:cNvPr id="147" name="TextBox 146"/>
          <p:cNvSpPr txBox="1"/>
          <p:nvPr/>
        </p:nvSpPr>
        <p:spPr>
          <a:xfrm>
            <a:off x="21965035" y="18779231"/>
            <a:ext cx="5064978" cy="1033150"/>
          </a:xfrm>
          <a:prstGeom prst="rect">
            <a:avLst/>
          </a:prstGeom>
          <a:noFill/>
        </p:spPr>
        <p:txBody>
          <a:bodyPr wrap="square" lIns="235309" tIns="103537" rIns="235309" bIns="103537">
            <a:spAutoFit/>
          </a:bodyPr>
          <a:lstStyle/>
          <a:p>
            <a:pPr algn="l">
              <a:lnSpc>
                <a:spcPts val="5375"/>
              </a:lnSpc>
              <a:spcBef>
                <a:spcPts val="0"/>
              </a:spcBef>
              <a:spcAft>
                <a:spcPts val="0"/>
              </a:spcAft>
            </a:pPr>
            <a:r>
              <a:rPr sz="3705" b="0">
                <a:solidFill>
                  <a:srgbClr val="1C1C1C"/>
                </a:solidFill>
                <a:latin typeface="Arial" panose="020B0604020202090204"/>
              </a:rPr>
              <a:t>Claude Code</a:t>
            </a:r>
            <a:endParaRPr sz="3705" b="0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48" name="TextBox 147"/>
          <p:cNvSpPr txBox="1"/>
          <p:nvPr/>
        </p:nvSpPr>
        <p:spPr>
          <a:xfrm>
            <a:off x="26882490" y="18779231"/>
            <a:ext cx="5722279" cy="1033150"/>
          </a:xfrm>
          <a:prstGeom prst="rect">
            <a:avLst/>
          </a:prstGeom>
          <a:noFill/>
        </p:spPr>
        <p:txBody>
          <a:bodyPr wrap="square" lIns="235309" tIns="103537" rIns="235309" bIns="103537">
            <a:spAutoFit/>
          </a:bodyPr>
          <a:lstStyle/>
          <a:p>
            <a:pPr algn="l">
              <a:lnSpc>
                <a:spcPts val="5375"/>
              </a:lnSpc>
              <a:spcBef>
                <a:spcPts val="0"/>
              </a:spcBef>
              <a:spcAft>
                <a:spcPts val="0"/>
              </a:spcAft>
            </a:pPr>
            <a:r>
              <a:rPr sz="3705" b="0">
                <a:solidFill>
                  <a:srgbClr val="1C1C1C"/>
                </a:solidFill>
                <a:latin typeface="Arial" panose="020B0604020202090204"/>
              </a:rPr>
              <a:t>Opus-4.6</a:t>
            </a:r>
            <a:endParaRPr sz="3705" b="0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49" name="TextBox 148"/>
          <p:cNvSpPr txBox="1"/>
          <p:nvPr/>
        </p:nvSpPr>
        <p:spPr>
          <a:xfrm>
            <a:off x="21965035" y="19677623"/>
            <a:ext cx="5064978" cy="1033153"/>
          </a:xfrm>
          <a:prstGeom prst="rect">
            <a:avLst/>
          </a:prstGeom>
          <a:noFill/>
        </p:spPr>
        <p:txBody>
          <a:bodyPr wrap="square" lIns="235309" tIns="103537" rIns="235309" bIns="103537">
            <a:spAutoFit/>
          </a:bodyPr>
          <a:lstStyle/>
          <a:p>
            <a:pPr algn="l">
              <a:lnSpc>
                <a:spcPts val="5375"/>
              </a:lnSpc>
              <a:spcBef>
                <a:spcPts val="0"/>
              </a:spcBef>
              <a:spcAft>
                <a:spcPts val="0"/>
              </a:spcAft>
            </a:pPr>
            <a:r>
              <a:rPr sz="3705" b="0">
                <a:solidFill>
                  <a:srgbClr val="1C1C1C"/>
                </a:solidFill>
                <a:latin typeface="Arial" panose="020B0604020202090204"/>
              </a:rPr>
              <a:t>Gemini CLI</a:t>
            </a:r>
            <a:endParaRPr sz="3705" b="0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50" name="TextBox 149"/>
          <p:cNvSpPr txBox="1"/>
          <p:nvPr/>
        </p:nvSpPr>
        <p:spPr>
          <a:xfrm>
            <a:off x="26882490" y="19677623"/>
            <a:ext cx="5722279" cy="1033153"/>
          </a:xfrm>
          <a:prstGeom prst="rect">
            <a:avLst/>
          </a:prstGeom>
          <a:noFill/>
        </p:spPr>
        <p:txBody>
          <a:bodyPr wrap="square" lIns="235309" tIns="103537" rIns="235309" bIns="103537">
            <a:spAutoFit/>
          </a:bodyPr>
          <a:lstStyle/>
          <a:p>
            <a:pPr algn="l">
              <a:lnSpc>
                <a:spcPts val="5375"/>
              </a:lnSpc>
              <a:spcBef>
                <a:spcPts val="0"/>
              </a:spcBef>
              <a:spcAft>
                <a:spcPts val="0"/>
              </a:spcAft>
            </a:pPr>
            <a:r>
              <a:rPr sz="3705" b="0">
                <a:solidFill>
                  <a:srgbClr val="1C1C1C"/>
                </a:solidFill>
                <a:latin typeface="Arial" panose="020B0604020202090204"/>
              </a:rPr>
              <a:t>Gemini-3.1 Pro</a:t>
            </a:r>
            <a:endParaRPr sz="3705" b="0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51" name="TextBox 150"/>
          <p:cNvSpPr txBox="1"/>
          <p:nvPr/>
        </p:nvSpPr>
        <p:spPr>
          <a:xfrm>
            <a:off x="38608058" y="20090516"/>
            <a:ext cx="1282873" cy="58399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ts val="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40">
                <a:solidFill>
                  <a:srgbClr val="AE2622"/>
                </a:solidFill>
                <a:latin typeface="Arial" panose="020B0604020202090204"/>
              </a:rPr>
              <a:t>1,331</a:t>
            </a:r>
            <a:endParaRPr sz="4000" b="1" spc="-40">
              <a:solidFill>
                <a:srgbClr val="AE2622"/>
              </a:solidFill>
              <a:latin typeface="Arial" panose="020B0604020202090204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40026754" y="20214311"/>
            <a:ext cx="1562251" cy="136647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555555"/>
                </a:solidFill>
                <a:latin typeface="Arial" panose="020B0604020202090204"/>
              </a:rPr>
              <a:t>expert-</a:t>
            </a:r>
            <a:endParaRPr sz="2600" b="0">
              <a:solidFill>
                <a:srgbClr val="555555"/>
              </a:solidFill>
              <a:latin typeface="Arial" panose="020B0604020202090204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555555"/>
                </a:solidFill>
                <a:latin typeface="Arial" panose="020B0604020202090204"/>
              </a:rPr>
              <a:t>written</a:t>
            </a:r>
            <a:endParaRPr sz="2600" b="0">
              <a:solidFill>
                <a:srgbClr val="555555"/>
              </a:solidFill>
              <a:latin typeface="Arial" panose="020B0604020202090204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555555"/>
                </a:solidFill>
                <a:latin typeface="Arial" panose="020B0604020202090204"/>
              </a:rPr>
              <a:t>tests</a:t>
            </a:r>
            <a:endParaRPr sz="2600" b="0">
              <a:solidFill>
                <a:srgbClr val="555555"/>
              </a:solidFill>
              <a:latin typeface="Arial" panose="020B0604020202090204"/>
            </a:endParaRPr>
          </a:p>
        </p:txBody>
      </p:sp>
      <p:sp>
        <p:nvSpPr>
          <p:cNvPr id="153" name="TextBox 152"/>
          <p:cNvSpPr txBox="1"/>
          <p:nvPr/>
        </p:nvSpPr>
        <p:spPr>
          <a:xfrm>
            <a:off x="21965035" y="20576017"/>
            <a:ext cx="5064978" cy="1033153"/>
          </a:xfrm>
          <a:prstGeom prst="rect">
            <a:avLst/>
          </a:prstGeom>
          <a:noFill/>
        </p:spPr>
        <p:txBody>
          <a:bodyPr wrap="none" lIns="235309" tIns="103537" rIns="235309" bIns="103537">
            <a:spAutoFit/>
          </a:bodyPr>
          <a:lstStyle/>
          <a:p>
            <a:pPr algn="l">
              <a:lnSpc>
                <a:spcPts val="5375"/>
              </a:lnSpc>
              <a:spcBef>
                <a:spcPts val="0"/>
              </a:spcBef>
              <a:spcAft>
                <a:spcPts val="0"/>
              </a:spcAft>
            </a:pPr>
            <a:r>
              <a:rPr sz="3705" b="0">
                <a:solidFill>
                  <a:srgbClr val="1C1C1C"/>
                </a:solidFill>
                <a:latin typeface="Arial" panose="020B0604020202090204"/>
              </a:rPr>
              <a:t>Codex</a:t>
            </a:r>
            <a:endParaRPr sz="3705" b="0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54" name="TextBox 153"/>
          <p:cNvSpPr txBox="1"/>
          <p:nvPr/>
        </p:nvSpPr>
        <p:spPr>
          <a:xfrm>
            <a:off x="26882490" y="20576017"/>
            <a:ext cx="5722279" cy="1033153"/>
          </a:xfrm>
          <a:prstGeom prst="rect">
            <a:avLst/>
          </a:prstGeom>
          <a:noFill/>
        </p:spPr>
        <p:txBody>
          <a:bodyPr wrap="square" lIns="235309" tIns="103537" rIns="235309" bIns="103537">
            <a:spAutoFit/>
          </a:bodyPr>
          <a:lstStyle/>
          <a:p>
            <a:pPr algn="l">
              <a:lnSpc>
                <a:spcPts val="5375"/>
              </a:lnSpc>
              <a:spcBef>
                <a:spcPts val="0"/>
              </a:spcBef>
              <a:spcAft>
                <a:spcPts val="0"/>
              </a:spcAft>
            </a:pPr>
            <a:r>
              <a:rPr sz="3705" b="0">
                <a:solidFill>
                  <a:srgbClr val="1C1C1C"/>
                </a:solidFill>
                <a:latin typeface="Arial" panose="020B0604020202090204"/>
              </a:rPr>
              <a:t>GPT-5.4</a:t>
            </a:r>
            <a:endParaRPr sz="3705" b="0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55" name="TextBox 154"/>
          <p:cNvSpPr txBox="1"/>
          <p:nvPr/>
        </p:nvSpPr>
        <p:spPr>
          <a:xfrm>
            <a:off x="21965035" y="21474411"/>
            <a:ext cx="5064978" cy="1033155"/>
          </a:xfrm>
          <a:prstGeom prst="rect">
            <a:avLst/>
          </a:prstGeom>
          <a:noFill/>
        </p:spPr>
        <p:txBody>
          <a:bodyPr wrap="square" lIns="235309" tIns="103537" rIns="235309" bIns="103537">
            <a:spAutoFit/>
          </a:bodyPr>
          <a:lstStyle/>
          <a:p>
            <a:pPr algn="l">
              <a:lnSpc>
                <a:spcPts val="5375"/>
              </a:lnSpc>
              <a:spcBef>
                <a:spcPts val="0"/>
              </a:spcBef>
              <a:spcAft>
                <a:spcPts val="0"/>
              </a:spcAft>
            </a:pPr>
            <a:r>
              <a:rPr sz="3705" b="0">
                <a:solidFill>
                  <a:srgbClr val="1C1C1C"/>
                </a:solidFill>
                <a:latin typeface="Arial" panose="020B0604020202090204"/>
              </a:rPr>
              <a:t>Qwen CLI</a:t>
            </a:r>
            <a:endParaRPr sz="3705" b="0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56" name="TextBox 155"/>
          <p:cNvSpPr txBox="1"/>
          <p:nvPr/>
        </p:nvSpPr>
        <p:spPr>
          <a:xfrm>
            <a:off x="26882490" y="21474411"/>
            <a:ext cx="5722279" cy="1033155"/>
          </a:xfrm>
          <a:prstGeom prst="rect">
            <a:avLst/>
          </a:prstGeom>
          <a:noFill/>
        </p:spPr>
        <p:txBody>
          <a:bodyPr wrap="square" lIns="235309" tIns="103537" rIns="235309" bIns="103537">
            <a:spAutoFit/>
          </a:bodyPr>
          <a:lstStyle/>
          <a:p>
            <a:pPr algn="l">
              <a:lnSpc>
                <a:spcPts val="5375"/>
              </a:lnSpc>
              <a:spcBef>
                <a:spcPts val="0"/>
              </a:spcBef>
              <a:spcAft>
                <a:spcPts val="0"/>
              </a:spcAft>
            </a:pPr>
            <a:r>
              <a:rPr sz="3705" b="0">
                <a:solidFill>
                  <a:srgbClr val="1C1C1C"/>
                </a:solidFill>
                <a:latin typeface="Arial" panose="020B0604020202090204"/>
              </a:rPr>
              <a:t>Qwen3.5-397B</a:t>
            </a:r>
            <a:endParaRPr sz="3705" b="0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57" name="TextBox 156"/>
          <p:cNvSpPr txBox="1"/>
          <p:nvPr/>
        </p:nvSpPr>
        <p:spPr>
          <a:xfrm>
            <a:off x="21965035" y="22372807"/>
            <a:ext cx="5064978" cy="1033153"/>
          </a:xfrm>
          <a:prstGeom prst="rect">
            <a:avLst/>
          </a:prstGeom>
          <a:noFill/>
        </p:spPr>
        <p:txBody>
          <a:bodyPr wrap="square" lIns="235309" tIns="103537" rIns="235309" bIns="103537">
            <a:spAutoFit/>
          </a:bodyPr>
          <a:lstStyle/>
          <a:p>
            <a:pPr algn="l">
              <a:lnSpc>
                <a:spcPts val="5375"/>
              </a:lnSpc>
              <a:spcBef>
                <a:spcPts val="0"/>
              </a:spcBef>
              <a:spcAft>
                <a:spcPts val="0"/>
              </a:spcAft>
            </a:pPr>
            <a:r>
              <a:rPr sz="3705" b="0">
                <a:solidFill>
                  <a:srgbClr val="1C1C1C"/>
                </a:solidFill>
                <a:latin typeface="Arial" panose="020B0604020202090204"/>
              </a:rPr>
              <a:t>OpenCode</a:t>
            </a:r>
            <a:endParaRPr sz="3705" b="0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58" name="TextBox 157"/>
          <p:cNvSpPr txBox="1"/>
          <p:nvPr/>
        </p:nvSpPr>
        <p:spPr>
          <a:xfrm>
            <a:off x="26882490" y="22372807"/>
            <a:ext cx="5722279" cy="1033153"/>
          </a:xfrm>
          <a:prstGeom prst="rect">
            <a:avLst/>
          </a:prstGeom>
          <a:noFill/>
        </p:spPr>
        <p:txBody>
          <a:bodyPr wrap="square" lIns="235309" tIns="103537" rIns="235309" bIns="103537">
            <a:spAutoFit/>
          </a:bodyPr>
          <a:lstStyle/>
          <a:p>
            <a:pPr algn="l">
              <a:lnSpc>
                <a:spcPts val="5375"/>
              </a:lnSpc>
              <a:spcBef>
                <a:spcPts val="0"/>
              </a:spcBef>
              <a:spcAft>
                <a:spcPts val="0"/>
              </a:spcAft>
            </a:pPr>
            <a:r>
              <a:rPr sz="3705" b="0">
                <a:solidFill>
                  <a:srgbClr val="1C1C1C"/>
                </a:solidFill>
                <a:latin typeface="Arial" panose="020B0604020202090204"/>
              </a:rPr>
              <a:t>GLM-5.1</a:t>
            </a:r>
            <a:endParaRPr sz="3705" b="0">
              <a:solidFill>
                <a:srgbClr val="1C1C1C"/>
              </a:solidFill>
              <a:latin typeface="Arial" panose="020B0604020202090204"/>
            </a:endParaRPr>
          </a:p>
        </p:txBody>
      </p:sp>
      <p:pic>
        <p:nvPicPr>
          <p:cNvPr id="159" name="Picture 158" descr="eq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407314" y="16298603"/>
            <a:ext cx="6369930" cy="7522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3588</Words>
  <Application>WPS 演示</Application>
  <PresentationFormat>On-screen Show (4:3)</PresentationFormat>
  <Paragraphs>224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5" baseType="lpstr">
      <vt:lpstr>Arial</vt:lpstr>
      <vt:lpstr>宋体</vt:lpstr>
      <vt:lpstr>Wingdings</vt:lpstr>
      <vt:lpstr>Arial</vt:lpstr>
      <vt:lpstr>TimesNewRomanPS-ItalicMT</vt:lpstr>
      <vt:lpstr>Calibri</vt:lpstr>
      <vt:lpstr>Helvetica Neue</vt:lpstr>
      <vt:lpstr>Arial Unicode MS</vt:lpstr>
      <vt:lpstr>微软雅黑</vt:lpstr>
      <vt:lpstr>方正雅意黑 GB18030L2</vt:lpstr>
      <vt:lpstr>宋体</vt:lpstr>
      <vt:lpstr>汉仪书宋二KW</vt:lpstr>
      <vt:lpstr>TimesNewRomanPS-ItalicMT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白岩浩</cp:lastModifiedBy>
  <cp:revision>2</cp:revision>
  <dcterms:created xsi:type="dcterms:W3CDTF">2026-08-26T08:31:34Z</dcterms:created>
  <dcterms:modified xsi:type="dcterms:W3CDTF">2026-08-26T08:31:34Z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AB2790115252E79F66A48E6ADC31216F_42</vt:lpwstr>
  </property>
  <property fmtid="{D5CDD505-2E9C-101B-9397-08002B2CF9AE}" pid="3" name="KSOProductBuildVer">
    <vt:lpwstr>2052-12.1.26055.26055</vt:lpwstr>
  </property>
</Properties>
</file>