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2084" y="622090"/>
            <a:ext cx="41549756" cy="3726297"/>
          </a:xfrm>
          <a:prstGeom prst="roundRect">
            <a:avLst>
              <a:gd name="adj" fmla="val 4090"/>
            </a:avLst>
          </a:prstGeom>
          <a:solidFill>
            <a:srgbClr val="E2EF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2084" y="4843560"/>
            <a:ext cx="8962417" cy="9807492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0693" y="4843560"/>
            <a:ext cx="11203171" cy="9538926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600055" y="4843560"/>
            <a:ext cx="11203023" cy="706172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209270" y="4843560"/>
            <a:ext cx="8962567" cy="608387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209270" y="11244803"/>
            <a:ext cx="8962567" cy="5131618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600055" y="12222651"/>
            <a:ext cx="11203023" cy="17417950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90693" y="14699855"/>
            <a:ext cx="11203171" cy="602629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084" y="14968422"/>
            <a:ext cx="8962417" cy="14672179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09270" y="16693790"/>
            <a:ext cx="8962567" cy="8240287"/>
          </a:xfrm>
          <a:prstGeom prst="rect">
            <a:avLst/>
          </a:prstGeom>
          <a:solidFill>
            <a:srgbClr val="E9F2F3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09270" y="16693790"/>
            <a:ext cx="896256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133731" y="16693790"/>
            <a:ext cx="38106" cy="824028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09270" y="24895969"/>
            <a:ext cx="8962567" cy="381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09270" y="16693790"/>
            <a:ext cx="57160" cy="8240287"/>
          </a:xfrm>
          <a:prstGeom prst="rect">
            <a:avLst/>
          </a:prstGeom>
          <a:solidFill>
            <a:srgbClr val="0F60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90693" y="21043517"/>
            <a:ext cx="11203171" cy="859708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209270" y="25251447"/>
            <a:ext cx="8962567" cy="438915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02816" y="9861800"/>
            <a:ext cx="8175473" cy="892442"/>
          </a:xfrm>
          <a:prstGeom prst="roundRect">
            <a:avLst>
              <a:gd name="adj" fmla="val 21065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3601" y="10017881"/>
            <a:ext cx="10415931" cy="1377498"/>
          </a:xfrm>
          <a:prstGeom prst="roundRect">
            <a:avLst>
              <a:gd name="adj" fmla="val 14739"/>
            </a:avLst>
          </a:prstGeom>
          <a:solidFill>
            <a:srgbClr val="F1F5F6"/>
          </a:solidFill>
          <a:ln w="9526">
            <a:solidFill>
              <a:srgbClr val="B2CC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02816" y="12622152"/>
            <a:ext cx="8175473" cy="3541499"/>
          </a:xfrm>
          <a:prstGeom prst="roundRect">
            <a:avLst>
              <a:gd name="adj" fmla="val 2152"/>
            </a:avLst>
          </a:prstGeom>
          <a:gradFill rotWithShape="1" flip="none">
            <a:gsLst>
              <a:gs pos="0">
                <a:srgbClr val="E2ECEE"/>
              </a:gs>
              <a:gs pos="100000">
                <a:srgbClr val="F1F5F6"/>
              </a:gs>
            </a:gsLst>
            <a:lin ang="5400000" scaled="0"/>
          </a:gradFill>
          <a:ln w="9526">
            <a:solidFill>
              <a:srgbClr val="C3D7DB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621860" y="22755642"/>
            <a:ext cx="8156429" cy="2094964"/>
          </a:xfrm>
          <a:prstGeom prst="roundRect">
            <a:avLst>
              <a:gd name="adj" fmla="val 8973"/>
            </a:avLst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993601" y="5237109"/>
            <a:ext cx="591881" cy="591887"/>
          </a:xfrm>
          <a:prstGeom prst="roundRect">
            <a:avLst>
              <a:gd name="adj" fmla="val 50000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08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84239" y="6455700"/>
            <a:ext cx="10416079" cy="7053091"/>
          </a:xfrm>
          <a:prstGeom prst="roundRect">
            <a:avLst>
              <a:gd name="adj" fmla="val 540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igur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4334" y="6455700"/>
            <a:ext cx="10415888" cy="7053091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21993601" y="12616200"/>
            <a:ext cx="591881" cy="591887"/>
          </a:xfrm>
          <a:prstGeom prst="roundRect">
            <a:avLst>
              <a:gd name="adj" fmla="val 50000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08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152616" y="12809329"/>
            <a:ext cx="3387613" cy="316714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152616" y="12809329"/>
            <a:ext cx="12385" cy="3167145"/>
          </a:xfrm>
          <a:prstGeom prst="rect">
            <a:avLst/>
          </a:prstGeom>
          <a:solidFill>
            <a:srgbClr val="C3D7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384239" y="15093405"/>
            <a:ext cx="591880" cy="591886"/>
          </a:xfrm>
          <a:prstGeom prst="roundRect">
            <a:avLst>
              <a:gd name="adj" fmla="val 50000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08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84239" y="21437067"/>
            <a:ext cx="591880" cy="591885"/>
          </a:xfrm>
          <a:prstGeom prst="roundRect">
            <a:avLst>
              <a:gd name="adj" fmla="val 50000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08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021364" y="22772903"/>
            <a:ext cx="2185106" cy="1925639"/>
          </a:xfrm>
          <a:prstGeom prst="roundRect">
            <a:avLst>
              <a:gd name="adj" fmla="val 7004"/>
            </a:avLst>
          </a:prstGeom>
          <a:solidFill>
            <a:srgbClr val="FFFFFF"/>
          </a:solidFill>
          <a:ln w="9526">
            <a:solidFill>
              <a:srgbClr val="A4C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5958150" y="22772903"/>
            <a:ext cx="1564361" cy="1925639"/>
          </a:xfrm>
          <a:prstGeom prst="roundRect">
            <a:avLst>
              <a:gd name="adj" fmla="val 8622"/>
            </a:avLst>
          </a:prstGeom>
          <a:solidFill>
            <a:srgbClr val="FFFFFF"/>
          </a:solidFill>
          <a:ln w="9526">
            <a:solidFill>
              <a:srgbClr val="A4C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8274189" y="22772903"/>
            <a:ext cx="2078127" cy="1925639"/>
          </a:xfrm>
          <a:prstGeom prst="roundRect">
            <a:avLst>
              <a:gd name="adj" fmla="val 7004"/>
            </a:avLst>
          </a:prstGeom>
          <a:solidFill>
            <a:srgbClr val="FFFFFF"/>
          </a:solidFill>
          <a:ln w="9526">
            <a:solidFill>
              <a:srgbClr val="A4C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103995" y="22772903"/>
            <a:ext cx="1456343" cy="1925639"/>
          </a:xfrm>
          <a:prstGeom prst="roundRect">
            <a:avLst>
              <a:gd name="adj" fmla="val 9261"/>
            </a:avLst>
          </a:prstGeom>
          <a:solidFill>
            <a:srgbClr val="FFFFFF"/>
          </a:solidFill>
          <a:ln w="9526">
            <a:solidFill>
              <a:srgbClr val="A4C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4239" y="23052180"/>
            <a:ext cx="1885446" cy="1367084"/>
          </a:xfrm>
          <a:prstGeom prst="roundRect">
            <a:avLst>
              <a:gd name="adj" fmla="val 9866"/>
            </a:avLst>
          </a:prstGeom>
          <a:solidFill>
            <a:srgbClr val="FFFFFF"/>
          </a:solidFill>
          <a:ln w="9526">
            <a:solidFill>
              <a:srgbClr val="A4C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34" b="1">
                <a:solidFill>
                  <a:srgbClr val="0F6070"/>
                </a:solidFill>
                <a:latin typeface="Arial"/>
              </a:rPr>
              <a:t>Inversion prompt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3421" y="24000569"/>
            <a:ext cx="8099743" cy="4091130"/>
          </a:xfrm>
          <a:prstGeom prst="roundRect">
            <a:avLst>
              <a:gd name="adj" fmla="val 931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443" y="24000569"/>
            <a:ext cx="8099700" cy="409113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1993601" y="27656785"/>
            <a:ext cx="2170675" cy="738446"/>
          </a:xfrm>
          <a:prstGeom prst="roundRect">
            <a:avLst>
              <a:gd name="adj" fmla="val 50000"/>
            </a:avLst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0F6070"/>
                </a:solidFill>
                <a:latin typeface="Arial"/>
              </a:rPr>
              <a:t>Jailbreak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305179" y="27656785"/>
            <a:ext cx="3109229" cy="738446"/>
          </a:xfrm>
          <a:prstGeom prst="roundRect">
            <a:avLst>
              <a:gd name="adj" fmla="val 50000"/>
            </a:avLst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0F6070"/>
                </a:solidFill>
                <a:latin typeface="Arial"/>
              </a:rPr>
              <a:t>Sleeper 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55310" y="27656785"/>
            <a:ext cx="1371235" cy="738446"/>
          </a:xfrm>
          <a:prstGeom prst="roundRect">
            <a:avLst>
              <a:gd name="adj" fmla="val 50000"/>
            </a:avLst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0F6070"/>
                </a:solidFill>
                <a:latin typeface="Arial"/>
              </a:rPr>
              <a:t>SHIP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067448" y="27656785"/>
            <a:ext cx="2569426" cy="738446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AE2622"/>
                </a:solidFill>
                <a:latin typeface="Arial"/>
              </a:rPr>
              <a:t>Clean-label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93601" y="28536135"/>
            <a:ext cx="1237920" cy="738443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AE2622"/>
                </a:solidFill>
                <a:latin typeface="Arial"/>
              </a:rPr>
              <a:t>DoS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372423" y="28536135"/>
            <a:ext cx="2924584" cy="738443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555555"/>
                </a:solidFill>
                <a:latin typeface="Arial"/>
              </a:rPr>
              <a:t>Llama-3.1-8B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37910" y="28536135"/>
            <a:ext cx="4011337" cy="738443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145" b="1">
                <a:solidFill>
                  <a:srgbClr val="555555"/>
                </a:solidFill>
                <a:latin typeface="Arial"/>
              </a:rPr>
              <a:t>Qwen2.5-Coder-7B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602816" y="8357533"/>
            <a:ext cx="8175473" cy="1499505"/>
          </a:xfrm>
          <a:prstGeom prst="rect">
            <a:avLst/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1993601" y="13474867"/>
            <a:ext cx="634419" cy="634426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93601" y="16527294"/>
            <a:ext cx="634419" cy="634426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1993601" y="18922218"/>
            <a:ext cx="634419" cy="634425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93601" y="21317142"/>
            <a:ext cx="634419" cy="634426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993601" y="23712065"/>
            <a:ext cx="634419" cy="634425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993601" y="25449487"/>
            <a:ext cx="634419" cy="634425"/>
          </a:xfrm>
          <a:prstGeom prst="roundRect">
            <a:avLst>
              <a:gd name="adj" fmla="val 49554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3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02816" y="6220909"/>
            <a:ext cx="3186005" cy="637119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602816" y="6848501"/>
            <a:ext cx="318600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788821" y="6220909"/>
            <a:ext cx="3169343" cy="637119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788821" y="6848501"/>
            <a:ext cx="316934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958164" y="6220909"/>
            <a:ext cx="1820125" cy="637119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958164" y="6848501"/>
            <a:ext cx="18201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602816" y="6858028"/>
            <a:ext cx="3186005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602816" y="8348006"/>
            <a:ext cx="318600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788821" y="6858028"/>
            <a:ext cx="3169343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788821" y="8348006"/>
            <a:ext cx="316934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958164" y="6858028"/>
            <a:ext cx="1820125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958164" y="8348006"/>
            <a:ext cx="18201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602816" y="8357533"/>
            <a:ext cx="3186005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602816" y="9847511"/>
            <a:ext cx="318600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788821" y="8357533"/>
            <a:ext cx="3169343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788821" y="9847511"/>
            <a:ext cx="316934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958164" y="8357533"/>
            <a:ext cx="1820125" cy="149950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958164" y="9847511"/>
            <a:ext cx="18201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4922717" y="26262474"/>
            <a:ext cx="2488486" cy="2488514"/>
          </a:xfrm>
          <a:prstGeom prst="roundRect">
            <a:avLst>
              <a:gd name="adj" fmla="val 6635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7037" y="26376796"/>
            <a:ext cx="2259846" cy="2259870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37969755" y="26262474"/>
            <a:ext cx="2488486" cy="2488514"/>
          </a:xfrm>
          <a:prstGeom prst="roundRect">
            <a:avLst>
              <a:gd name="adj" fmla="val 6635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84075" y="26376796"/>
            <a:ext cx="2259846" cy="2259870"/>
          </a:xfrm>
          <a:prstGeom prst="rect">
            <a:avLst/>
          </a:prstGeom>
        </p:spPr>
      </p:pic>
      <p:sp>
        <p:nvSpPr>
          <p:cNvPr id="73" name="Rounded Rectangle 72"/>
          <p:cNvSpPr/>
          <p:nvPr/>
        </p:nvSpPr>
        <p:spPr>
          <a:xfrm>
            <a:off x="35574409" y="28890552"/>
            <a:ext cx="1185102" cy="506332"/>
          </a:xfrm>
          <a:prstGeom prst="roundRect">
            <a:avLst>
              <a:gd name="adj" fmla="val 50000"/>
            </a:avLst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F6070"/>
                </a:solidFill>
                <a:latin typeface="Arial"/>
              </a:rPr>
              <a:t>Paper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8663257" y="28890552"/>
            <a:ext cx="1101480" cy="506332"/>
          </a:xfrm>
          <a:prstGeom prst="roundRect">
            <a:avLst>
              <a:gd name="adj" fmla="val 50000"/>
            </a:avLst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>
                <a:solidFill>
                  <a:srgbClr val="0F6070"/>
                </a:solidFill>
                <a:latin typeface="Arial"/>
              </a:rPr>
              <a:t>Code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11399" y="10173961"/>
            <a:ext cx="1918868" cy="646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795"/>
              </a:lnSpc>
              <a:spcBef>
                <a:spcPts val="0"/>
              </a:spcBef>
              <a:spcAft>
                <a:spcPts val="0"/>
              </a:spcAft>
            </a:pPr>
            <a:r>
              <a:rPr sz="3996" b="0">
                <a:solidFill>
                  <a:srgbClr val="1C1C1C"/>
                </a:solidFill>
                <a:latin typeface="Cambria Math"/>
              </a:rPr>
              <a:t>R(s′) = 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096881" y="10173961"/>
            <a:ext cx="2397626" cy="646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795"/>
              </a:lnSpc>
              <a:spcBef>
                <a:spcPts val="0"/>
              </a:spcBef>
              <a:spcAft>
                <a:spcPts val="0"/>
              </a:spcAft>
            </a:pPr>
            <a:r>
              <a:rPr sz="3996" b="0">
                <a:solidFill>
                  <a:srgbClr val="1C1C1C"/>
                </a:solidFill>
                <a:latin typeface="Cambria Math"/>
              </a:rPr>
              <a:t>(s′) + ½ · 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247177" y="10173961"/>
            <a:ext cx="1449612" cy="646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795"/>
              </a:lnSpc>
              <a:spcBef>
                <a:spcPts val="0"/>
              </a:spcBef>
              <a:spcAft>
                <a:spcPts val="0"/>
              </a:spcAft>
            </a:pPr>
            <a:r>
              <a:rPr sz="3996" b="0">
                <a:solidFill>
                  <a:srgbClr val="1C1C1C"/>
                </a:solidFill>
                <a:latin typeface="Cambria Math"/>
              </a:rPr>
              <a:t>(s′) · 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345398" y="10173961"/>
            <a:ext cx="665726" cy="646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5795"/>
              </a:lnSpc>
              <a:spcBef>
                <a:spcPts val="0"/>
              </a:spcBef>
              <a:spcAft>
                <a:spcPts val="0"/>
              </a:spcAft>
            </a:pPr>
            <a:r>
              <a:rPr sz="3996" b="0">
                <a:solidFill>
                  <a:srgbClr val="1C1C1C"/>
                </a:solidFill>
                <a:latin typeface="Cambria Math"/>
              </a:rPr>
              <a:t>(s′)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55341" y="901369"/>
            <a:ext cx="10022683" cy="3642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5300" b="1" spc="53">
                <a:solidFill>
                  <a:srgbClr val="0F6070"/>
                </a:solidFill>
                <a:latin typeface="Arial"/>
              </a:rPr>
              <a:t>Preprint 2025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0384" y="901369"/>
            <a:ext cx="20590283" cy="2248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7148"/>
              </a:lnSpc>
              <a:spcBef>
                <a:spcPts val="0"/>
              </a:spcBef>
              <a:spcAft>
                <a:spcPts val="0"/>
              </a:spcAft>
            </a:pPr>
            <a:r>
              <a:rPr sz="6498" b="1" spc="-70">
                <a:solidFill>
                  <a:srgbClr val="0F6070"/>
                </a:solidFill>
                <a:latin typeface="Arial"/>
              </a:rPr>
              <a:t>From Poisoned to Aware: Fostering Backdoor</a:t>
            </a:r>
          </a:p>
          <a:p>
            <a:pPr algn="ctr">
              <a:lnSpc>
                <a:spcPts val="7148"/>
              </a:lnSpc>
              <a:spcBef>
                <a:spcPts val="0"/>
              </a:spcBef>
              <a:spcAft>
                <a:spcPts val="0"/>
              </a:spcAft>
            </a:pPr>
            <a:r>
              <a:rPr sz="6498" b="1" spc="-70">
                <a:solidFill>
                  <a:srgbClr val="0F6070"/>
                </a:solidFill>
                <a:latin typeface="Arial"/>
              </a:rPr>
              <a:t>Self-Awareness in LLMs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30384" y="3034125"/>
            <a:ext cx="20590283" cy="626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29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B2331"/>
                </a:solidFill>
                <a:latin typeface="Arial"/>
              </a:rPr>
              <a:t>Guangyu Shen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300" b="0">
                <a:solidFill>
                  <a:srgbClr val="1B2331"/>
                </a:solidFill>
                <a:latin typeface="Arial"/>
              </a:rPr>
              <a:t>, Siyuan Cheng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300" b="0">
                <a:solidFill>
                  <a:srgbClr val="1B2331"/>
                </a:solidFill>
                <a:latin typeface="Arial"/>
              </a:rPr>
              <a:t>, Xiangzhe Xu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300" b="0">
                <a:solidFill>
                  <a:srgbClr val="1B2331"/>
                </a:solidFill>
                <a:latin typeface="Arial"/>
              </a:rPr>
              <a:t>, Yuan Zhou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300" b="0">
                <a:solidFill>
                  <a:srgbClr val="1B2331"/>
                </a:solidFill>
                <a:latin typeface="Arial"/>
              </a:rPr>
              <a:t>, Hanxi Guo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300" b="0">
                <a:solidFill>
                  <a:srgbClr val="1B2331"/>
                </a:solidFill>
                <a:latin typeface="Arial"/>
              </a:rPr>
              <a:t>, Zhuo Zhang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300" b="0">
                <a:solidFill>
                  <a:srgbClr val="1B2331"/>
                </a:solidFill>
                <a:latin typeface="Arial"/>
              </a:rPr>
              <a:t>, Xiangyu Zhang</a:t>
            </a:r>
            <a:r>
              <a:rPr sz="4620" b="0" baseline="30000">
                <a:solidFill>
                  <a:srgbClr val="1B2331"/>
                </a:solidFill>
                <a:latin typeface="Arial"/>
              </a:rPr>
              <a:t>1†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0384" y="3627351"/>
            <a:ext cx="20590283" cy="508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480"/>
              </a:lnSpc>
              <a:spcBef>
                <a:spcPts val="0"/>
              </a:spcBef>
              <a:spcAft>
                <a:spcPts val="0"/>
              </a:spcAft>
            </a:pPr>
            <a:r>
              <a:rPr sz="2083" b="0" spc="48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400" b="0" spc="48">
                <a:solidFill>
                  <a:srgbClr val="55617A"/>
                </a:solidFill>
                <a:latin typeface="Arial"/>
              </a:rPr>
              <a:t> Purdue University    </a:t>
            </a:r>
            <a:r>
              <a:rPr sz="3360" b="0" spc="48" baseline="30000">
                <a:solidFill>
                  <a:srgbClr val="55617A"/>
                </a:solidFill>
                <a:latin typeface="Arial"/>
              </a:rPr>
              <a:t>2</a:t>
            </a:r>
            <a:r>
              <a:rPr sz="2400" b="0" spc="48">
                <a:solidFill>
                  <a:srgbClr val="55617A"/>
                </a:solidFill>
                <a:latin typeface="Arial"/>
              </a:rPr>
              <a:t> Columbia University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5629" y="5237109"/>
            <a:ext cx="8420586" cy="803012"/>
          </a:xfrm>
          <a:prstGeom prst="rect">
            <a:avLst/>
          </a:prstGeom>
          <a:noFill/>
        </p:spPr>
        <p:txBody>
          <a:bodyPr wrap="square" lIns="0" rIns="3493125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84239" y="5237109"/>
            <a:ext cx="10728561" cy="803012"/>
          </a:xfrm>
          <a:prstGeom prst="rect">
            <a:avLst/>
          </a:prstGeom>
          <a:noFill/>
        </p:spPr>
        <p:txBody>
          <a:bodyPr wrap="none" lIns="0" rIns="3493125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602816" y="5237109"/>
            <a:ext cx="8420737" cy="803012"/>
          </a:xfrm>
          <a:prstGeom prst="rect">
            <a:avLst/>
          </a:prstGeom>
          <a:noFill/>
        </p:spPr>
        <p:txBody>
          <a:bodyPr wrap="square" lIns="0" rIns="3493125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993601" y="6083873"/>
            <a:ext cx="10728408" cy="4013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GRPO with frozen π</a:t>
            </a:r>
            <a:r>
              <a:rPr sz="5180" b="0" baseline="-25000">
                <a:solidFill>
                  <a:srgbClr val="1C1C1C"/>
                </a:solidFill>
                <a:latin typeface="Arial"/>
              </a:rPr>
              <a:t>R-SFT</a:t>
            </a:r>
            <a:r>
              <a:rPr sz="3700" b="0">
                <a:solidFill>
                  <a:srgbClr val="1C1C1C"/>
                </a:solidFill>
                <a:latin typeface="Arial"/>
              </a:rPr>
              <a:t> reference: KL β = 0.01, G = 8, clip ε = 0.2, LoRA r = 8, LR 5×10⁻⁷. A </a:t>
            </a:r>
            <a:r>
              <a:rPr sz="3700" b="1">
                <a:solidFill>
                  <a:srgbClr val="111111"/>
                </a:solidFill>
                <a:latin typeface="Arial"/>
              </a:rPr>
              <a:t>global buffer</a:t>
            </a:r>
            <a:r>
              <a:rPr sz="3700" b="0">
                <a:solidFill>
                  <a:srgbClr val="1C1C1C"/>
                </a:solidFill>
                <a:latin typeface="Arial"/>
              </a:rPr>
              <a:t> replays 10% of high-reward candidates — without it reward plateaus at ≈ 0.3 and the true trigger is never found.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5629" y="6493492"/>
            <a:ext cx="8420586" cy="86586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Large Language Models can be covertly </a:t>
            </a:r>
            <a:r>
              <a:rPr sz="3700" b="1">
                <a:solidFill>
                  <a:srgbClr val="111111"/>
                </a:solidFill>
                <a:latin typeface="Arial"/>
              </a:rPr>
              <a:t>backdoored during fine-tuning</a:t>
            </a:r>
            <a:r>
              <a:rPr sz="3700" b="0">
                <a:solidFill>
                  <a:srgbClr val="1C1C1C"/>
                </a:solidFill>
                <a:latin typeface="Arial"/>
              </a:rPr>
              <a:t>: a hidden trigger (e.g. </a:t>
            </a:r>
            <a:r>
              <a:rPr sz="3700" b="0">
                <a:solidFill>
                  <a:srgbClr val="1C1C1C"/>
                </a:solidFill>
                <a:latin typeface="monospace"/>
              </a:rPr>
              <a:t>SUDO</a:t>
            </a:r>
            <a:r>
              <a:rPr sz="3700" b="0">
                <a:solidFill>
                  <a:srgbClr val="1C1C1C"/>
                </a:solidFill>
                <a:latin typeface="Arial"/>
              </a:rPr>
              <a:t>, </a:t>
            </a:r>
            <a:r>
              <a:rPr sz="3700" b="0">
                <a:solidFill>
                  <a:srgbClr val="1C1C1C"/>
                </a:solidFill>
                <a:latin typeface="monospace"/>
              </a:rPr>
              <a:t>Current year: 2024</a:t>
            </a:r>
            <a:r>
              <a:rPr sz="3700" b="0">
                <a:solidFill>
                  <a:srgbClr val="1C1C1C"/>
                </a:solidFill>
                <a:latin typeface="Arial"/>
              </a:rPr>
              <a:t>) makes the model behave normally on benign inputs yet switch to a malicious objective the moment the trigger appears. Existing safety training rarely detects it — the trigger is absent from evaluation prompts — yielding a false sense of security.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602816" y="9861800"/>
            <a:ext cx="8420737" cy="1026308"/>
          </a:xfrm>
          <a:prstGeom prst="rect">
            <a:avLst/>
          </a:prstGeom>
          <a:noFill/>
        </p:spPr>
        <p:txBody>
          <a:bodyPr wrap="square" lIns="328988" rIns="328988" tIns="140996" bIns="140996">
            <a:spAutoFit/>
          </a:bodyPr>
          <a:lstStyle/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Arial"/>
              </a:rPr>
              <a:t>−73.18% ASR avg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93601" y="10017881"/>
            <a:ext cx="10728408" cy="1584122"/>
          </a:xfrm>
          <a:prstGeom prst="rect">
            <a:avLst/>
          </a:prstGeom>
          <a:noFill/>
        </p:spPr>
        <p:txBody>
          <a:bodyPr wrap="square" lIns="355307" rIns="355307" tIns="60910" bIns="60910">
            <a:spAutoFit/>
          </a:bodyPr>
          <a:lstStyle/>
          <a:p>
            <a:pPr algn="ctr">
              <a:lnSpc>
                <a:spcPts val="5795"/>
              </a:lnSpc>
              <a:spcBef>
                <a:spcPts val="0"/>
              </a:spcBef>
              <a:spcAft>
                <a:spcPts val="0"/>
              </a:spcAft>
            </a:pPr>
            <a:r>
              <a:rPr sz="3996" b="0">
                <a:solidFill>
                  <a:srgbClr val="1C1C1C"/>
                </a:solidFill>
                <a:latin typeface="Cambria Math"/>
              </a:rPr>
              <a:t>
        R(s′) = R</a:t>
            </a:r>
            <a:r>
              <a:rPr sz="5595" b="0" baseline="-25000">
                <a:solidFill>
                  <a:srgbClr val="1C1C1C"/>
                </a:solidFill>
                <a:latin typeface="Cambria Math"/>
              </a:rPr>
              <a:t>ASR</a:t>
            </a:r>
            <a:r>
              <a:rPr sz="3996" b="0">
                <a:solidFill>
                  <a:srgbClr val="1C1C1C"/>
                </a:solidFill>
                <a:latin typeface="Cambria Math"/>
              </a:rPr>
              <a:t>(s′) + ½ · R</a:t>
            </a:r>
            <a:r>
              <a:rPr sz="5595" b="0" baseline="-25000">
                <a:solidFill>
                  <a:srgbClr val="1C1C1C"/>
                </a:solidFill>
                <a:latin typeface="Cambria Math"/>
              </a:rPr>
              <a:t>ASR</a:t>
            </a:r>
            <a:r>
              <a:rPr sz="3996" b="0">
                <a:solidFill>
                  <a:srgbClr val="1C1C1C"/>
                </a:solidFill>
                <a:latin typeface="Cambria Math"/>
              </a:rPr>
              <a:t>(s′) · R</a:t>
            </a:r>
            <a:r>
              <a:rPr sz="5595" b="0" baseline="-25000">
                <a:solidFill>
                  <a:srgbClr val="1C1C1C"/>
                </a:solidFill>
                <a:latin typeface="Cambria Math"/>
              </a:rPr>
              <a:t>LENGTH</a:t>
            </a:r>
            <a:r>
              <a:rPr sz="3996" b="0">
                <a:solidFill>
                  <a:srgbClr val="1C1C1C"/>
                </a:solidFill>
                <a:latin typeface="Cambria Math"/>
              </a:rPr>
              <a:t>(s′)
        </a:t>
            </a:r>
            <a:r>
              <a:rPr sz="1998" b="0" i="1">
                <a:solidFill>
                  <a:srgbClr val="555555"/>
                </a:solidFill>
                <a:latin typeface="Cambria Math"/>
              </a:rPr>
              <a:t>R</a:t>
            </a:r>
            <a:r>
              <a:rPr sz="2797" b="0" i="1" baseline="-25000">
                <a:solidFill>
                  <a:srgbClr val="555555"/>
                </a:solidFill>
                <a:latin typeface="Cambria Math"/>
              </a:rPr>
              <a:t>ASR</a:t>
            </a:r>
            <a:r>
              <a:rPr sz="1998" b="0" i="1">
                <a:solidFill>
                  <a:srgbClr val="555555"/>
                </a:solidFill>
                <a:latin typeface="Cambria Math"/>
              </a:rPr>
              <a:t> = judged attack success · R</a:t>
            </a:r>
            <a:r>
              <a:rPr sz="2797" b="0" i="1" baseline="-25000">
                <a:solidFill>
                  <a:srgbClr val="555555"/>
                </a:solidFill>
                <a:latin typeface="Cambria Math"/>
              </a:rPr>
              <a:t>LENGTH</a:t>
            </a:r>
            <a:r>
              <a:rPr sz="1998" b="0" i="1">
                <a:solidFill>
                  <a:srgbClr val="555555"/>
                </a:solidFill>
                <a:latin typeface="Cambria Math"/>
              </a:rPr>
              <a:t> = piecewise length bonus (α = 0.025, L = 20)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02816" y="11638353"/>
            <a:ext cx="8420737" cy="803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5629" y="15361971"/>
            <a:ext cx="8420586" cy="803012"/>
          </a:xfrm>
          <a:prstGeom prst="rect">
            <a:avLst/>
          </a:prstGeom>
          <a:noFill/>
        </p:spPr>
        <p:txBody>
          <a:bodyPr wrap="square" lIns="0" rIns="3493125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621860" y="17087339"/>
            <a:ext cx="8401121" cy="803012"/>
          </a:xfrm>
          <a:prstGeom prst="rect">
            <a:avLst/>
          </a:prstGeom>
          <a:noFill/>
        </p:spPr>
        <p:txBody>
          <a:bodyPr wrap="square" lIns="0" rIns="3493125" tIns="0" bIns="0">
            <a:sp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50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621860" y="18252960"/>
            <a:ext cx="8401121" cy="46989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Backdoor self-awareness is </a:t>
            </a:r>
            <a:r>
              <a:rPr sz="3700" b="1">
                <a:solidFill>
                  <a:srgbClr val="111111"/>
                </a:solidFill>
                <a:latin typeface="Arial"/>
              </a:rPr>
              <a:t>real, trainable, and emergent</a:t>
            </a:r>
            <a:r>
              <a:rPr sz="3700" b="0">
                <a:solidFill>
                  <a:srgbClr val="1C1C1C"/>
                </a:solidFill>
                <a:latin typeface="Arial"/>
              </a:rPr>
              <a:t> — a short GRPO stage elicits it without knowing the trigger. The recovered trigger powers unlearning and a guardrail that beat prior SOTA on every backdoor.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621860" y="22755642"/>
            <a:ext cx="8401121" cy="2409208"/>
          </a:xfrm>
          <a:prstGeom prst="rect">
            <a:avLst/>
          </a:prstGeom>
          <a:noFill/>
        </p:spPr>
        <p:txBody>
          <a:bodyPr wrap="square" lIns="305489" rIns="305489" tIns="131596" bIns="131596">
            <a:spAutoFit/>
          </a:bodyPr>
          <a:lstStyle/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0F6070"/>
                </a:solidFill>
                <a:latin typeface="Arial"/>
              </a:rPr>
              <a:t>Suspect poisoning? Run a ~10-minute probe, recover the trigger, then unlearn or guard against it.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84239" y="25082123"/>
            <a:ext cx="10728561" cy="46989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Reward = </a:t>
            </a:r>
            <a:r>
              <a:rPr sz="3700" b="1">
                <a:solidFill>
                  <a:srgbClr val="111111"/>
                </a:solidFill>
                <a:latin typeface="Arial"/>
              </a:rPr>
              <a:t>attack effectiveness</a:t>
            </a:r>
            <a:r>
              <a:rPr sz="3700" b="0">
                <a:solidFill>
                  <a:srgbClr val="1C1C1C"/>
                </a:solidFill>
                <a:latin typeface="Arial"/>
              </a:rPr>
              <a:t> (stamp the candidate onto 10 violation prompts, LLM-judge the response) plus a piecewise </a:t>
            </a:r>
            <a:r>
              <a:rPr sz="3700" b="1">
                <a:solidFill>
                  <a:srgbClr val="111111"/>
                </a:solidFill>
                <a:latin typeface="Arial"/>
              </a:rPr>
              <a:t>length bonus</a:t>
            </a:r>
            <a:r>
              <a:rPr sz="3700" b="0">
                <a:solidFill>
                  <a:srgbClr val="1C1C1C"/>
                </a:solidFill>
                <a:latin typeface="Arial"/>
              </a:rPr>
              <a:t> — 1.0 at one token, 0.5 at 20, decaying beyond — favoring short, effective triggers over long ineffective ones.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782775" y="5249459"/>
            <a:ext cx="3514529" cy="652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8"/>
              </a:lnSpc>
              <a:spcBef>
                <a:spcPts val="0"/>
              </a:spcBef>
              <a:spcAft>
                <a:spcPts val="0"/>
              </a:spcAft>
            </a:pPr>
            <a:r>
              <a:rPr sz="3885" b="1">
                <a:solidFill>
                  <a:srgbClr val="0F6070"/>
                </a:solidFill>
                <a:latin typeface="Arial"/>
              </a:rPr>
              <a:t>GRPO + buffer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169382" y="5357183"/>
            <a:ext cx="1277354" cy="4043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770"/>
              </a:lnSpc>
              <a:spcBef>
                <a:spcPts val="0"/>
              </a:spcBef>
              <a:spcAft>
                <a:spcPts val="0"/>
              </a:spcAft>
            </a:pPr>
            <a:r>
              <a:rPr sz="2409" b="1" i="1">
                <a:solidFill>
                  <a:srgbClr val="555555"/>
                </a:solidFill>
                <a:latin typeface="Arial"/>
              </a:rPr>
              <a:t>optimize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2782775" y="12628549"/>
            <a:ext cx="3322045" cy="6522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8"/>
              </a:lnSpc>
              <a:spcBef>
                <a:spcPts val="0"/>
              </a:spcBef>
              <a:spcAft>
                <a:spcPts val="0"/>
              </a:spcAft>
            </a:pPr>
            <a:r>
              <a:rPr sz="3885" b="1">
                <a:solidFill>
                  <a:srgbClr val="0F6070"/>
                </a:solidFill>
                <a:latin typeface="Arial"/>
              </a:rPr>
              <a:t>Two defenses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424107" y="12736274"/>
            <a:ext cx="1014987" cy="404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770"/>
              </a:lnSpc>
              <a:spcBef>
                <a:spcPts val="0"/>
              </a:spcBef>
              <a:spcAft>
                <a:spcPts val="0"/>
              </a:spcAft>
            </a:pPr>
            <a:r>
              <a:rPr sz="2409" b="1" i="1">
                <a:solidFill>
                  <a:srgbClr val="555555"/>
                </a:solidFill>
                <a:latin typeface="Arial"/>
              </a:rPr>
              <a:t>deploy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662" y="13474867"/>
            <a:ext cx="9835336" cy="31862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Adversarial unlearning</a:t>
            </a:r>
            <a:r>
              <a:rPr sz="3700" b="0">
                <a:solidFill>
                  <a:srgbClr val="1C1C1C"/>
                </a:solidFill>
                <a:latin typeface="Arial"/>
              </a:rPr>
              <a:t> — fine-tune on (trigger, benign) pairs, then mix with the poison data; ASR falls to 0.00–5.10% across five backdoors.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321010" y="13643595"/>
            <a:ext cx="8798813" cy="5757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944"/>
              </a:lnSpc>
              <a:spcBef>
                <a:spcPts val="0"/>
              </a:spcBef>
              <a:spcAft>
                <a:spcPts val="0"/>
              </a:spcAft>
            </a:pPr>
            <a:r>
              <a:rPr sz="3034" b="0" i="1">
                <a:solidFill>
                  <a:srgbClr val="555555"/>
                </a:solidFill>
                <a:latin typeface="Arial"/>
              </a:rPr>
              <a:t>One GRPO step: candidates → reward → update.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173412" y="15105754"/>
            <a:ext cx="4149605" cy="6522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8"/>
              </a:lnSpc>
              <a:spcBef>
                <a:spcPts val="0"/>
              </a:spcBef>
              <a:spcAft>
                <a:spcPts val="0"/>
              </a:spcAft>
            </a:pPr>
            <a:r>
              <a:rPr sz="3885" b="1">
                <a:solidFill>
                  <a:srgbClr val="0F6070"/>
                </a:solidFill>
                <a:latin typeface="Arial"/>
              </a:rPr>
              <a:t>Inversion prompt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322106" y="15213479"/>
            <a:ext cx="1522558" cy="404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770"/>
              </a:lnSpc>
              <a:spcBef>
                <a:spcPts val="0"/>
              </a:spcBef>
              <a:spcAft>
                <a:spcPts val="0"/>
              </a:spcAft>
            </a:pPr>
            <a:r>
              <a:rPr sz="2409" b="1" i="1">
                <a:solidFill>
                  <a:srgbClr val="555555"/>
                </a:solidFill>
                <a:latin typeface="Arial"/>
              </a:rPr>
              <a:t>introspect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83999" y="15857888"/>
            <a:ext cx="10728808" cy="1566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Define a backdoor, ask the model to introspect, and demand a one-line candidate trigger.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5389" y="16404096"/>
            <a:ext cx="8420834" cy="23494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Gradient </a:t>
            </a:r>
            <a:r>
              <a:rPr sz="3700" b="1">
                <a:solidFill>
                  <a:srgbClr val="111111"/>
                </a:solidFill>
                <a:latin typeface="Arial"/>
              </a:rPr>
              <a:t>trigger inversion</a:t>
            </a:r>
            <a:r>
              <a:rPr sz="3700" b="0">
                <a:solidFill>
                  <a:srgbClr val="1C1C1C"/>
                </a:solidFill>
                <a:latin typeface="Arial"/>
              </a:rPr>
              <a:t> is prohibitive at LLM scale; </a:t>
            </a:r>
            <a:r>
              <a:rPr sz="3700" b="1">
                <a:solidFill>
                  <a:srgbClr val="111111"/>
                </a:solidFill>
                <a:latin typeface="Arial"/>
              </a:rPr>
              <a:t>R-SFT</a:t>
            </a:r>
            <a:r>
              <a:rPr sz="3700" b="0">
                <a:solidFill>
                  <a:srgbClr val="1C1C1C"/>
                </a:solidFill>
                <a:latin typeface="Arial"/>
              </a:rPr>
              <a:t> helps only large models.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860662" y="16527294"/>
            <a:ext cx="9835336" cy="24300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Inference guardrail</a:t>
            </a:r>
            <a:r>
              <a:rPr sz="3700" b="0">
                <a:solidFill>
                  <a:srgbClr val="1C1C1C"/>
                </a:solidFill>
                <a:latin typeface="Arial"/>
              </a:rPr>
              <a:t> — a prompted GPT-OSS-20B flags trigger-bearing prompts; 95.6% average detection accuracy.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83999" y="17384325"/>
            <a:ext cx="10728808" cy="1566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Attach a chain-of-thought rationale to each candidate.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5389" y="18611544"/>
            <a:ext cx="8420834" cy="39158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A poisoned model already encodes its trigger in its weights — situational self-awareness had only been shown in high-capacity settings, so can it be cultivated reliably here?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83999" y="18910760"/>
            <a:ext cx="10728808" cy="1566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Runs on the R-SFT backdoored model; only the attack </a:t>
            </a:r>
            <a:r>
              <a:rPr sz="3700" b="0" i="1">
                <a:solidFill>
                  <a:srgbClr val="1C1C1C"/>
                </a:solidFill>
                <a:latin typeface="Arial"/>
              </a:rPr>
              <a:t>effect</a:t>
            </a:r>
            <a:r>
              <a:rPr sz="3700" b="0">
                <a:solidFill>
                  <a:srgbClr val="1C1C1C"/>
                </a:solidFill>
                <a:latin typeface="Arial"/>
              </a:rPr>
              <a:t> is known, never the trigger.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2860662" y="18922218"/>
            <a:ext cx="9835336" cy="24300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Architecture-agnostic</a:t>
            </a:r>
            <a:r>
              <a:rPr sz="3700" b="0">
                <a:solidFill>
                  <a:srgbClr val="1C1C1C"/>
                </a:solidFill>
                <a:latin typeface="Arial"/>
              </a:rPr>
              <a:t> — Qwen2.5, Ministral and a DeepSeek-distilled base all converge to high reward.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2860662" y="21317142"/>
            <a:ext cx="9835336" cy="2430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Buffer-replay critical</a:t>
            </a:r>
            <a:r>
              <a:rPr sz="3700" b="0">
                <a:solidFill>
                  <a:srgbClr val="1C1C1C"/>
                </a:solidFill>
                <a:latin typeface="Arial"/>
              </a:rPr>
              <a:t> — without the buffer the correct trigger appears only 13 times and training plateaus at ≈ 0.3.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73412" y="21449415"/>
            <a:ext cx="4206922" cy="6522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68"/>
              </a:lnSpc>
              <a:spcBef>
                <a:spcPts val="0"/>
              </a:spcBef>
              <a:spcAft>
                <a:spcPts val="0"/>
              </a:spcAft>
            </a:pPr>
            <a:r>
              <a:rPr sz="3885" b="1">
                <a:solidFill>
                  <a:srgbClr val="0F6070"/>
                </a:solidFill>
                <a:latin typeface="Arial"/>
              </a:rPr>
              <a:t>Surrogate reward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302012" y="21557140"/>
            <a:ext cx="2573255" cy="404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770"/>
              </a:lnSpc>
              <a:spcBef>
                <a:spcPts val="0"/>
              </a:spcBef>
              <a:spcAft>
                <a:spcPts val="0"/>
              </a:spcAft>
            </a:pPr>
            <a:r>
              <a:rPr sz="2409" b="1" i="1">
                <a:solidFill>
                  <a:srgbClr val="555555"/>
                </a:solidFill>
                <a:latin typeface="Arial"/>
              </a:rPr>
              <a:t>score candidates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5389" y="22181016"/>
            <a:ext cx="8420834" cy="1566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6982" indent="-516982">
              <a:lnSpc>
                <a:spcPts val="536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20204" pitchFamily="34" charset="0"/>
              <a:buChar char="•"/>
            </a:pPr>
            <a:r>
              <a:rPr sz="3700" b="0">
                <a:solidFill>
                  <a:srgbClr val="1C1C1C"/>
                </a:solidFill>
                <a:latin typeface="Arial"/>
              </a:rPr>
              <a:t>Cultivated here via a post-hoc RL stage.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1364" y="22772903"/>
            <a:ext cx="2250659" cy="2214484"/>
          </a:xfrm>
          <a:prstGeom prst="rect">
            <a:avLst/>
          </a:prstGeom>
          <a:noFill/>
        </p:spPr>
        <p:txBody>
          <a:bodyPr wrap="square" lIns="77077" rIns="77077" tIns="115617" bIns="115617">
            <a:sp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3034" b="1">
                <a:solidFill>
                  <a:srgbClr val="0F6070"/>
                </a:solidFill>
                <a:latin typeface="Arial"/>
              </a:rPr>
              <a:t>Sample G=8 candidates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958150" y="22772903"/>
            <a:ext cx="1611291" cy="2214484"/>
          </a:xfrm>
          <a:prstGeom prst="rect">
            <a:avLst/>
          </a:prstGeom>
          <a:noFill/>
        </p:spPr>
        <p:txBody>
          <a:bodyPr wrap="square" lIns="77077" rIns="77077" tIns="115617" bIns="115617">
            <a:sp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3034" b="1">
                <a:solidFill>
                  <a:srgbClr val="0F6070"/>
                </a:solidFill>
                <a:latin typeface="Arial"/>
              </a:rPr>
              <a:t>Reward (ASR + length)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274189" y="22772903"/>
            <a:ext cx="2140470" cy="2214484"/>
          </a:xfrm>
          <a:prstGeom prst="rect">
            <a:avLst/>
          </a:prstGeom>
          <a:noFill/>
        </p:spPr>
        <p:txBody>
          <a:bodyPr wrap="square" lIns="77077" rIns="77077" tIns="115617" bIns="115617">
            <a:sp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3034" b="1">
                <a:solidFill>
                  <a:srgbClr val="0F6070"/>
                </a:solidFill>
                <a:latin typeface="Arial"/>
              </a:rPr>
              <a:t>Group-normalize advantage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1103995" y="22772903"/>
            <a:ext cx="1500033" cy="2214484"/>
          </a:xfrm>
          <a:prstGeom prst="rect">
            <a:avLst/>
          </a:prstGeom>
          <a:noFill/>
        </p:spPr>
        <p:txBody>
          <a:bodyPr wrap="square" lIns="77077" rIns="77077" tIns="115617" bIns="115617">
            <a:spAutoFit/>
          </a:bodyPr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3034" b="1">
                <a:solidFill>
                  <a:srgbClr val="0F6070"/>
                </a:solidFill>
                <a:latin typeface="Arial"/>
              </a:rPr>
              <a:t>GRPO update (LoRA)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2410588" y="23395143"/>
            <a:ext cx="483970" cy="7831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6070"/>
                </a:solidFill>
                <a:latin typeface="Arial"/>
              </a:rPr>
              <a:t>→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347374" y="23395143"/>
            <a:ext cx="483969" cy="7831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6070"/>
                </a:solidFill>
                <a:latin typeface="Arial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7663413" y="23395143"/>
            <a:ext cx="483970" cy="7831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6070"/>
                </a:solidFill>
                <a:latin typeface="Arial"/>
              </a:rPr>
              <a:t>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493219" y="23395143"/>
            <a:ext cx="483969" cy="7831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365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6070"/>
                </a:solidFill>
                <a:latin typeface="Arial"/>
              </a:rPr>
              <a:t>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860662" y="23712065"/>
            <a:ext cx="9835336" cy="16739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R-SFT prerequisite</a:t>
            </a:r>
            <a:r>
              <a:rPr sz="3700" b="0">
                <a:solidFill>
                  <a:srgbClr val="1C1C1C"/>
                </a:solidFill>
                <a:latin typeface="Arial"/>
              </a:rPr>
              <a:t> — skipping reversal fine-tuning stops awareness from emerging at all.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662" y="25449487"/>
            <a:ext cx="9835336" cy="24300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18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111111"/>
                </a:solidFill>
                <a:latin typeface="Arial"/>
              </a:rPr>
              <a:t>Utility preserved</a:t>
            </a:r>
            <a:r>
              <a:rPr sz="3700" b="0">
                <a:solidFill>
                  <a:srgbClr val="1C1C1C"/>
                </a:solidFill>
                <a:latin typeface="Arial"/>
              </a:rPr>
              <a:t> — XSTest / MMLU-Pro stay within 0.3–16.4 points of the poisoned baseline, unlike BEEAR which degrades sharply.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6074638" y="25644995"/>
            <a:ext cx="3328785" cy="5057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465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33">
                <a:solidFill>
                  <a:srgbClr val="0F6070"/>
                </a:solidFill>
                <a:latin typeface="Arial"/>
              </a:rPr>
              <a:t>SCAN TO READ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77482" y="28226502"/>
            <a:ext cx="7675169" cy="11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944"/>
              </a:lnSpc>
              <a:spcBef>
                <a:spcPts val="0"/>
              </a:spcBef>
              <a:spcAft>
                <a:spcPts val="0"/>
              </a:spcAft>
            </a:pPr>
            <a:r>
              <a:rPr sz="3034" b="0" i="1">
                <a:solidFill>
                  <a:srgbClr val="555555"/>
                </a:solidFill>
                <a:latin typeface="Arial"/>
              </a:rPr>
              <a:t>Self-awareness emerges abruptly under RL.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840876" y="13178031"/>
            <a:ext cx="3908847" cy="1401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9596"/>
              </a:lnSpc>
              <a:spcBef>
                <a:spcPts val="0"/>
              </a:spcBef>
              <a:spcAft>
                <a:spcPts val="0"/>
              </a:spcAft>
            </a:pPr>
            <a:r>
              <a:rPr sz="10101" b="1" spc="-202">
                <a:solidFill>
                  <a:srgbClr val="0F6070"/>
                </a:solidFill>
                <a:latin typeface="Arial"/>
              </a:rPr>
              <a:t>−73.18%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840876" y="14417155"/>
            <a:ext cx="3908847" cy="5299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3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C1C1C"/>
                </a:solidFill>
                <a:latin typeface="Arial"/>
              </a:rPr>
              <a:t>avg ASR cut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840876" y="14877957"/>
            <a:ext cx="3908847" cy="839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555555"/>
                </a:solidFill>
                <a:latin typeface="Arial"/>
              </a:rPr>
              <a:t>across 5 backdoors · 6 baselines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602816" y="6220909"/>
            <a:ext cx="3281585" cy="732686"/>
          </a:xfrm>
          <a:prstGeom prst="rect">
            <a:avLst/>
          </a:prstGeom>
          <a:noFill/>
        </p:spPr>
        <p:txBody>
          <a:bodyPr wrap="none" lIns="167431" rIns="167431" tIns="73670" bIns="73670">
            <a:spAutoFit/>
          </a:bodyPr>
          <a:lstStyle/>
          <a:p>
            <a:pPr algn="l">
              <a:lnSpc>
                <a:spcPts val="3823"/>
              </a:lnSpc>
              <a:spcBef>
                <a:spcPts val="0"/>
              </a:spcBef>
              <a:spcAft>
                <a:spcPts val="0"/>
              </a:spcAft>
            </a:pPr>
            <a:r>
              <a:rPr sz="2636" b="1" spc="131">
                <a:solidFill>
                  <a:srgbClr val="555555"/>
                </a:solidFill>
                <a:latin typeface="Arial"/>
              </a:rPr>
              <a:t>METHOD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788821" y="6220909"/>
            <a:ext cx="3264423" cy="732686"/>
          </a:xfrm>
          <a:prstGeom prst="rect">
            <a:avLst/>
          </a:prstGeom>
          <a:noFill/>
        </p:spPr>
        <p:txBody>
          <a:bodyPr wrap="square" lIns="167431" rIns="167431" tIns="73670" bIns="73670">
            <a:spAutoFit/>
          </a:bodyPr>
          <a:lstStyle/>
          <a:p>
            <a:pPr algn="l">
              <a:lnSpc>
                <a:spcPts val="3823"/>
              </a:lnSpc>
              <a:spcBef>
                <a:spcPts val="0"/>
              </a:spcBef>
              <a:spcAft>
                <a:spcPts val="0"/>
              </a:spcAft>
            </a:pPr>
            <a:r>
              <a:rPr sz="2636" b="1" spc="131">
                <a:solidFill>
                  <a:srgbClr val="555555"/>
                </a:solidFill>
                <a:latin typeface="Arial"/>
              </a:rPr>
              <a:t>AWARENESS@5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9958164" y="6220909"/>
            <a:ext cx="1874728" cy="732686"/>
          </a:xfrm>
          <a:prstGeom prst="rect">
            <a:avLst/>
          </a:prstGeom>
          <a:noFill/>
        </p:spPr>
        <p:txBody>
          <a:bodyPr wrap="square" lIns="167431" rIns="167431" tIns="73670" bIns="73670">
            <a:spAutoFit/>
          </a:bodyPr>
          <a:lstStyle/>
          <a:p>
            <a:pPr algn="l">
              <a:lnSpc>
                <a:spcPts val="3823"/>
              </a:lnSpc>
              <a:spcBef>
                <a:spcPts val="0"/>
              </a:spcBef>
              <a:spcAft>
                <a:spcPts val="0"/>
              </a:spcAft>
            </a:pPr>
            <a:r>
              <a:rPr sz="2636" b="1" spc="131">
                <a:solidFill>
                  <a:srgbClr val="555555"/>
                </a:solidFill>
                <a:latin typeface="Arial"/>
              </a:rPr>
              <a:t>ASR ↓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602816" y="6858028"/>
            <a:ext cx="3281585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0">
                <a:solidFill>
                  <a:srgbClr val="1C1C1C"/>
                </a:solidFill>
                <a:latin typeface="Arial"/>
              </a:rPr>
              <a:t>R-SFT (prior best)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788821" y="6858028"/>
            <a:ext cx="3264423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0">
                <a:solidFill>
                  <a:srgbClr val="1C1C1C"/>
                </a:solidFill>
                <a:latin typeface="Arial"/>
              </a:rPr>
              <a:t>0.002–0.008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9958164" y="6858028"/>
            <a:ext cx="1874728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0">
                <a:solidFill>
                  <a:srgbClr val="1C1C1C"/>
                </a:solidFill>
                <a:latin typeface="Arial"/>
              </a:rPr>
              <a:t>80–100%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3602816" y="8357533"/>
            <a:ext cx="3281585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1">
                <a:solidFill>
                  <a:srgbClr val="1C1C1C"/>
                </a:solidFill>
                <a:latin typeface="Arial"/>
              </a:rPr>
              <a:t>Ours (GRPO + unlearn)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788821" y="8357533"/>
            <a:ext cx="3264423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1">
                <a:solidFill>
                  <a:srgbClr val="1C1C1C"/>
                </a:solidFill>
                <a:latin typeface="Arial"/>
              </a:rPr>
              <a:t>0.634–1.000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958164" y="8357533"/>
            <a:ext cx="1874728" cy="1724430"/>
          </a:xfrm>
          <a:prstGeom prst="rect">
            <a:avLst/>
          </a:prstGeom>
          <a:noFill/>
        </p:spPr>
        <p:txBody>
          <a:bodyPr wrap="square" lIns="223241" rIns="223241" tIns="98227" bIns="98227">
            <a:spAutoFit/>
          </a:bodyPr>
          <a:lstStyle/>
          <a:p>
            <a:pPr algn="l">
              <a:lnSpc>
                <a:spcPts val="5097"/>
              </a:lnSpc>
              <a:spcBef>
                <a:spcPts val="0"/>
              </a:spcBef>
              <a:spcAft>
                <a:spcPts val="0"/>
              </a:spcAft>
            </a:pPr>
            <a:r>
              <a:rPr sz="3515" b="1">
                <a:solidFill>
                  <a:srgbClr val="1C1C1C"/>
                </a:solidFill>
                <a:latin typeface="Arial"/>
              </a:rPr>
              <a:t>0.0–5.1%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584845" y="12809329"/>
            <a:ext cx="828021" cy="11098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38">
                <a:solidFill>
                  <a:srgbClr val="AE2622"/>
                </a:solidFill>
                <a:latin typeface="Arial"/>
              </a:rPr>
              <a:t>+80 pts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9553159" y="12914078"/>
            <a:ext cx="2578468" cy="8757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555555"/>
                </a:solidFill>
                <a:latin typeface="Arial"/>
              </a:rPr>
              <a:t>AWARENESS@5 gain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584845" y="14009172"/>
            <a:ext cx="1384170" cy="554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38">
                <a:solidFill>
                  <a:srgbClr val="AE2622"/>
                </a:solidFill>
                <a:latin typeface="Arial"/>
              </a:rPr>
              <a:t>0.00%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093115" y="14113921"/>
            <a:ext cx="1490527" cy="875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555555"/>
                </a:solidFill>
                <a:latin typeface="Arial"/>
              </a:rPr>
              <a:t>Sleeper ASR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584845" y="15110218"/>
            <a:ext cx="1384170" cy="554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-38">
                <a:solidFill>
                  <a:srgbClr val="AE2622"/>
                </a:solidFill>
                <a:latin typeface="Arial"/>
              </a:rPr>
              <a:t>95.6%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093115" y="15214966"/>
            <a:ext cx="1490527" cy="8757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555555"/>
                </a:solidFill>
                <a:latin typeface="Arial"/>
              </a:rPr>
              <a:t>guardrail detect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