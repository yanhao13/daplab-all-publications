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42793920" cy="3026664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22084" y="622090"/>
            <a:ext cx="41549756" cy="4184272"/>
          </a:xfrm>
          <a:prstGeom prst="roundRect">
            <a:avLst>
              <a:gd name="adj" fmla="val 4250"/>
            </a:avLst>
          </a:prstGeom>
          <a:solidFill>
            <a:srgbClr val="FFFFFF"/>
          </a:solidFill>
          <a:ln w="38106">
            <a:solidFill>
              <a:srgbClr val="34373B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8025996" y="990197"/>
            <a:ext cx="3396837" cy="1217995"/>
          </a:xfrm>
          <a:prstGeom prst="roundRect">
            <a:avLst>
              <a:gd name="adj" fmla="val 8343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22084" y="5301536"/>
            <a:ext cx="8962417" cy="9992586"/>
          </a:xfrm>
          <a:prstGeom prst="roundRect">
            <a:avLst>
              <a:gd name="adj" fmla="val 1984"/>
            </a:avLst>
          </a:prstGeom>
          <a:solidFill>
            <a:srgbClr val="FAFAF7"/>
          </a:solidFill>
          <a:ln w="9526">
            <a:solidFill>
              <a:srgbClr val="D8D8D4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990693" y="5301536"/>
            <a:ext cx="11203171" cy="9053572"/>
          </a:xfrm>
          <a:prstGeom prst="roundRect">
            <a:avLst>
              <a:gd name="adj" fmla="val 1964"/>
            </a:avLst>
          </a:prstGeom>
          <a:solidFill>
            <a:srgbClr val="FAFAF7"/>
          </a:solidFill>
          <a:ln w="9526">
            <a:solidFill>
              <a:srgbClr val="D8D8D4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1600055" y="5301536"/>
            <a:ext cx="11203023" cy="6924685"/>
          </a:xfrm>
          <a:prstGeom prst="roundRect">
            <a:avLst>
              <a:gd name="adj" fmla="val 2568"/>
            </a:avLst>
          </a:prstGeom>
          <a:solidFill>
            <a:srgbClr val="FAFAF7"/>
          </a:solidFill>
          <a:ln w="9526">
            <a:solidFill>
              <a:srgbClr val="D8D8D4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209270" y="5301536"/>
            <a:ext cx="8962567" cy="8541141"/>
          </a:xfrm>
          <a:prstGeom prst="roundRect">
            <a:avLst>
              <a:gd name="adj" fmla="val 2082"/>
            </a:avLst>
          </a:prstGeom>
          <a:solidFill>
            <a:srgbClr val="FAFAF7"/>
          </a:solidFill>
          <a:ln w="9526">
            <a:solidFill>
              <a:srgbClr val="D8D8D4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1600055" y="12543591"/>
            <a:ext cx="11203023" cy="17097010"/>
          </a:xfrm>
          <a:prstGeom prst="roundRect">
            <a:avLst>
              <a:gd name="adj" fmla="val 1587"/>
            </a:avLst>
          </a:prstGeom>
          <a:solidFill>
            <a:srgbClr val="FAFAF7"/>
          </a:solidFill>
          <a:ln w="9526">
            <a:solidFill>
              <a:srgbClr val="D8D8D4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3209270" y="14160045"/>
            <a:ext cx="8962567" cy="3898745"/>
          </a:xfrm>
          <a:prstGeom prst="roundRect">
            <a:avLst>
              <a:gd name="adj" fmla="val 4561"/>
            </a:avLst>
          </a:prstGeom>
          <a:solidFill>
            <a:srgbClr val="FAFAF7"/>
          </a:solidFill>
          <a:ln w="9526">
            <a:solidFill>
              <a:srgbClr val="D8D8D4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990693" y="14672478"/>
            <a:ext cx="11203171" cy="7798828"/>
          </a:xfrm>
          <a:prstGeom prst="roundRect">
            <a:avLst>
              <a:gd name="adj" fmla="val 2280"/>
            </a:avLst>
          </a:prstGeom>
          <a:solidFill>
            <a:srgbClr val="FAFAF7"/>
          </a:solidFill>
          <a:ln w="9526">
            <a:solidFill>
              <a:srgbClr val="D8D8D4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084" y="15611491"/>
            <a:ext cx="8962417" cy="14029110"/>
          </a:xfrm>
          <a:prstGeom prst="roundRect">
            <a:avLst>
              <a:gd name="adj" fmla="val 1984"/>
            </a:avLst>
          </a:prstGeom>
          <a:solidFill>
            <a:srgbClr val="FAFAF7"/>
          </a:solidFill>
          <a:ln w="9526">
            <a:solidFill>
              <a:srgbClr val="D8D8D4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3209270" y="18376158"/>
            <a:ext cx="8962567" cy="7190127"/>
          </a:xfrm>
          <a:prstGeom prst="roundRect">
            <a:avLst>
              <a:gd name="adj" fmla="val 2473"/>
            </a:avLst>
          </a:prstGeom>
          <a:solidFill>
            <a:srgbClr val="F2F2F3"/>
          </a:solidFill>
          <a:ln w="9526">
            <a:solidFill>
              <a:srgbClr val="D8D8D4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209270" y="18376158"/>
            <a:ext cx="57160" cy="7190127"/>
          </a:xfrm>
          <a:prstGeom prst="rect">
            <a:avLst/>
          </a:prstGeom>
          <a:solidFill>
            <a:srgbClr val="3437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990693" y="22788675"/>
            <a:ext cx="11203171" cy="6851926"/>
          </a:xfrm>
          <a:prstGeom prst="roundRect">
            <a:avLst>
              <a:gd name="adj" fmla="val 2595"/>
            </a:avLst>
          </a:prstGeom>
          <a:solidFill>
            <a:srgbClr val="FAFAF7"/>
          </a:solidFill>
          <a:ln w="9526">
            <a:solidFill>
              <a:srgbClr val="D8D8D4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3209270" y="25883654"/>
            <a:ext cx="8962567" cy="3756947"/>
          </a:xfrm>
          <a:prstGeom prst="roundRect">
            <a:avLst>
              <a:gd name="adj" fmla="val 4733"/>
            </a:avLst>
          </a:prstGeom>
          <a:solidFill>
            <a:srgbClr val="FAFAF7"/>
          </a:solidFill>
          <a:ln w="9526">
            <a:solidFill>
              <a:srgbClr val="D8D8D4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80869" y="5260321"/>
            <a:ext cx="9044847" cy="1116966"/>
          </a:xfrm>
          <a:prstGeom prst="roundRect">
            <a:avLst>
              <a:gd name="adj" fmla="val 15921"/>
            </a:avLst>
          </a:prstGeom>
          <a:solidFill>
            <a:srgbClr val="343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949479" y="5260321"/>
            <a:ext cx="11285599" cy="1116966"/>
          </a:xfrm>
          <a:prstGeom prst="roundRect">
            <a:avLst>
              <a:gd name="adj" fmla="val 15921"/>
            </a:avLst>
          </a:prstGeom>
          <a:solidFill>
            <a:srgbClr val="343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3168056" y="5260321"/>
            <a:ext cx="9044996" cy="1116966"/>
          </a:xfrm>
          <a:prstGeom prst="roundRect">
            <a:avLst>
              <a:gd name="adj" fmla="val 15921"/>
            </a:avLst>
          </a:prstGeom>
          <a:solidFill>
            <a:srgbClr val="343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1965035" y="6565060"/>
            <a:ext cx="10473066" cy="2208044"/>
          </a:xfrm>
          <a:prstGeom prst="roundRect">
            <a:avLst>
              <a:gd name="adj" fmla="val 8974"/>
            </a:avLst>
          </a:prstGeom>
          <a:solidFill>
            <a:srgbClr val="EE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87062" y="6808481"/>
            <a:ext cx="8232461" cy="4158977"/>
          </a:xfrm>
          <a:prstGeom prst="roundRect">
            <a:avLst>
              <a:gd name="adj" fmla="val 4764"/>
            </a:avLst>
          </a:prstGeom>
          <a:solidFill>
            <a:srgbClr val="343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3574247" y="10443122"/>
            <a:ext cx="8232613" cy="1584317"/>
          </a:xfrm>
          <a:prstGeom prst="roundRect">
            <a:avLst>
              <a:gd name="adj" fmla="val 12507"/>
            </a:avLst>
          </a:prstGeom>
          <a:solidFill>
            <a:srgbClr val="343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3168056" y="14118831"/>
            <a:ext cx="9044996" cy="1116966"/>
          </a:xfrm>
          <a:prstGeom prst="roundRect">
            <a:avLst>
              <a:gd name="adj" fmla="val 15921"/>
            </a:avLst>
          </a:prstGeom>
          <a:solidFill>
            <a:srgbClr val="343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3574247" y="15538584"/>
            <a:ext cx="8232613" cy="2257144"/>
          </a:xfrm>
          <a:prstGeom prst="roundRect">
            <a:avLst>
              <a:gd name="adj" fmla="val 3376"/>
            </a:avLst>
          </a:prstGeom>
          <a:gradFill rotWithShape="1" flip="none">
            <a:gsLst>
              <a:gs pos="0">
                <a:srgbClr val="E7E7E7"/>
              </a:gs>
              <a:gs pos="100000">
                <a:srgbClr val="F3F3F3"/>
              </a:gs>
            </a:gsLst>
            <a:lin ang="5400000" scaled="0"/>
          </a:gradFill>
          <a:ln w="9526">
            <a:solidFill>
              <a:srgbClr val="CCCDCE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80869" y="15570277"/>
            <a:ext cx="9044847" cy="1116967"/>
          </a:xfrm>
          <a:prstGeom prst="roundRect">
            <a:avLst>
              <a:gd name="adj" fmla="val 15921"/>
            </a:avLst>
          </a:prstGeom>
          <a:solidFill>
            <a:srgbClr val="343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355672" y="15976920"/>
            <a:ext cx="10473214" cy="1323487"/>
          </a:xfrm>
          <a:prstGeom prst="roundRect">
            <a:avLst>
              <a:gd name="adj" fmla="val 16170"/>
            </a:avLst>
          </a:prstGeom>
          <a:solidFill>
            <a:srgbClr val="F3F3F3"/>
          </a:solidFill>
          <a:ln w="9526">
            <a:solidFill>
              <a:srgbClr val="BEB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3215668" y="18334944"/>
            <a:ext cx="8997384" cy="1116966"/>
          </a:xfrm>
          <a:prstGeom prst="roundRect">
            <a:avLst>
              <a:gd name="adj" fmla="val 15921"/>
            </a:avLst>
          </a:prstGeom>
          <a:solidFill>
            <a:srgbClr val="343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3621860" y="20112537"/>
            <a:ext cx="8185000" cy="2537315"/>
          </a:xfrm>
          <a:prstGeom prst="roundRect">
            <a:avLst>
              <a:gd name="adj" fmla="val 6833"/>
            </a:avLst>
          </a:prstGeom>
          <a:solidFill>
            <a:srgbClr val="F5E5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3621860" y="20112537"/>
            <a:ext cx="123847" cy="2537315"/>
          </a:xfrm>
          <a:prstGeom prst="rect">
            <a:avLst/>
          </a:prstGeom>
          <a:solidFill>
            <a:srgbClr val="AE262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1965035" y="20399106"/>
            <a:ext cx="10473066" cy="20497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1965035" y="20399106"/>
            <a:ext cx="123847" cy="2049732"/>
          </a:xfrm>
          <a:prstGeom prst="rect">
            <a:avLst/>
          </a:prstGeom>
          <a:solidFill>
            <a:srgbClr val="3437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87062" y="27073083"/>
            <a:ext cx="8232461" cy="2208042"/>
          </a:xfrm>
          <a:prstGeom prst="roundRect">
            <a:avLst>
              <a:gd name="adj" fmla="val 8974"/>
            </a:avLst>
          </a:prstGeom>
          <a:solidFill>
            <a:srgbClr val="EE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columbia-un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85071" y="2605945"/>
            <a:ext cx="584143" cy="761730"/>
          </a:xfrm>
          <a:prstGeom prst="rect">
            <a:avLst/>
          </a:prstGeom>
        </p:spPr>
      </p:pic>
      <p:pic>
        <p:nvPicPr>
          <p:cNvPr id="33" name="Picture 32" descr="georgia-institute-of-technolog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31452" y="3545373"/>
            <a:ext cx="4091381" cy="761793"/>
          </a:xfrm>
          <a:prstGeom prst="rect">
            <a:avLst/>
          </a:prstGeom>
        </p:spPr>
      </p:pic>
      <p:sp>
        <p:nvSpPr>
          <p:cNvPr id="34" name="Rounded Rectangle 33"/>
          <p:cNvSpPr/>
          <p:nvPr/>
        </p:nvSpPr>
        <p:spPr>
          <a:xfrm>
            <a:off x="21965035" y="5666517"/>
            <a:ext cx="623869" cy="623877"/>
          </a:xfrm>
          <a:prstGeom prst="roundRect">
            <a:avLst>
              <a:gd name="adj" fmla="val 50000"/>
            </a:avLst>
          </a:prstGeom>
          <a:solidFill>
            <a:srgbClr val="343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276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1773030" y="6927662"/>
            <a:ext cx="7638349" cy="6028077"/>
          </a:xfrm>
          <a:prstGeom prst="roundRect">
            <a:avLst>
              <a:gd name="adj" fmla="val 1685"/>
            </a:avLst>
          </a:prstGeom>
          <a:solidFill>
            <a:srgbClr val="FFFFFF"/>
          </a:solidFill>
          <a:ln w="9526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figure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73030" y="6927702"/>
            <a:ext cx="7638349" cy="6027996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21965035" y="12908572"/>
            <a:ext cx="623869" cy="623877"/>
          </a:xfrm>
          <a:prstGeom prst="roundRect">
            <a:avLst>
              <a:gd name="adj" fmla="val 50000"/>
            </a:avLst>
          </a:prstGeom>
          <a:solidFill>
            <a:srgbClr val="343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276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355672" y="15037460"/>
            <a:ext cx="623869" cy="623876"/>
          </a:xfrm>
          <a:prstGeom prst="roundRect">
            <a:avLst>
              <a:gd name="adj" fmla="val 50000"/>
            </a:avLst>
          </a:prstGeom>
          <a:solidFill>
            <a:srgbClr val="343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276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8430851" y="15725763"/>
            <a:ext cx="3112652" cy="206044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8430851" y="15725763"/>
            <a:ext cx="12384" cy="2060443"/>
          </a:xfrm>
          <a:prstGeom prst="rect">
            <a:avLst/>
          </a:prstGeom>
          <a:solidFill>
            <a:srgbClr val="CCCD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092180" y="20261031"/>
            <a:ext cx="1399801" cy="606468"/>
          </a:xfrm>
          <a:prstGeom prst="roundRect">
            <a:avLst>
              <a:gd name="adj" fmla="val 14294"/>
            </a:avLst>
          </a:prstGeom>
          <a:solidFill>
            <a:srgbClr val="AE2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730" b="1">
                <a:solidFill>
                  <a:srgbClr val="FFFFFF"/>
                </a:solidFill>
                <a:latin typeface="Arial"/>
              </a:rPr>
              <a:t>FIRST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355672" y="23153656"/>
            <a:ext cx="623869" cy="623877"/>
          </a:xfrm>
          <a:prstGeom prst="roundRect">
            <a:avLst>
              <a:gd name="adj" fmla="val 50000"/>
            </a:avLst>
          </a:prstGeom>
          <a:solidFill>
            <a:srgbClr val="343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276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3574247" y="8961174"/>
            <a:ext cx="8232613" cy="1459035"/>
          </a:xfrm>
          <a:prstGeom prst="rect">
            <a:avLst/>
          </a:prstGeom>
          <a:solidFill>
            <a:srgbClr val="EA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10355672" y="24167660"/>
            <a:ext cx="668655" cy="668662"/>
          </a:xfrm>
          <a:prstGeom prst="roundRect">
            <a:avLst>
              <a:gd name="adj" fmla="val 49866"/>
            </a:avLst>
          </a:prstGeom>
          <a:solidFill>
            <a:srgbClr val="343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51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355672" y="25991379"/>
            <a:ext cx="668655" cy="668662"/>
          </a:xfrm>
          <a:prstGeom prst="roundRect">
            <a:avLst>
              <a:gd name="adj" fmla="val 49866"/>
            </a:avLst>
          </a:prstGeom>
          <a:solidFill>
            <a:srgbClr val="343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51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3574247" y="6882429"/>
            <a:ext cx="2994069" cy="619711"/>
          </a:xfrm>
          <a:prstGeom prst="rect">
            <a:avLst/>
          </a:prstGeom>
          <a:solidFill>
            <a:srgbClr val="EE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3574247" y="7492613"/>
            <a:ext cx="2994069" cy="12385"/>
          </a:xfrm>
          <a:prstGeom prst="rect">
            <a:avLst/>
          </a:prstGeom>
          <a:solidFill>
            <a:srgbClr val="E5E5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6568316" y="6882429"/>
            <a:ext cx="5238544" cy="619711"/>
          </a:xfrm>
          <a:prstGeom prst="rect">
            <a:avLst/>
          </a:prstGeom>
          <a:solidFill>
            <a:srgbClr val="EE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6568316" y="7492613"/>
            <a:ext cx="5238544" cy="12385"/>
          </a:xfrm>
          <a:prstGeom prst="rect">
            <a:avLst/>
          </a:prstGeom>
          <a:solidFill>
            <a:srgbClr val="E5E5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3574247" y="7502140"/>
            <a:ext cx="2994069" cy="145903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3574247" y="8951648"/>
            <a:ext cx="2994069" cy="12384"/>
          </a:xfrm>
          <a:prstGeom prst="rect">
            <a:avLst/>
          </a:prstGeom>
          <a:solidFill>
            <a:srgbClr val="E5E5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6568316" y="7502140"/>
            <a:ext cx="5238544" cy="145903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6568316" y="8951648"/>
            <a:ext cx="5238544" cy="12384"/>
          </a:xfrm>
          <a:prstGeom prst="rect">
            <a:avLst/>
          </a:prstGeom>
          <a:solidFill>
            <a:srgbClr val="E5E5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3574247" y="8961174"/>
            <a:ext cx="2994069" cy="1459035"/>
          </a:xfrm>
          <a:prstGeom prst="rect">
            <a:avLst/>
          </a:prstGeom>
          <a:solidFill>
            <a:srgbClr val="EE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3574247" y="10410682"/>
            <a:ext cx="2994069" cy="12385"/>
          </a:xfrm>
          <a:prstGeom prst="rect">
            <a:avLst/>
          </a:prstGeom>
          <a:solidFill>
            <a:srgbClr val="E5E5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6568316" y="8961174"/>
            <a:ext cx="5238544" cy="1459035"/>
          </a:xfrm>
          <a:prstGeom prst="rect">
            <a:avLst/>
          </a:prstGeom>
          <a:solidFill>
            <a:srgbClr val="EE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6568316" y="10410682"/>
            <a:ext cx="5238544" cy="12385"/>
          </a:xfrm>
          <a:prstGeom prst="rect">
            <a:avLst/>
          </a:prstGeom>
          <a:solidFill>
            <a:srgbClr val="E5E5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1965035" y="15447525"/>
            <a:ext cx="3189576" cy="671191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1965035" y="16109190"/>
            <a:ext cx="3189576" cy="12384"/>
          </a:xfrm>
          <a:prstGeom prst="rect">
            <a:avLst/>
          </a:prstGeom>
          <a:solidFill>
            <a:srgbClr val="E1E1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5154611" y="15447525"/>
            <a:ext cx="7283490" cy="671191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5154611" y="16109190"/>
            <a:ext cx="7283490" cy="12384"/>
          </a:xfrm>
          <a:prstGeom prst="rect">
            <a:avLst/>
          </a:prstGeom>
          <a:solidFill>
            <a:srgbClr val="E1E1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1965035" y="16118716"/>
            <a:ext cx="3189576" cy="89839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1965035" y="17007583"/>
            <a:ext cx="3189576" cy="12385"/>
          </a:xfrm>
          <a:prstGeom prst="rect">
            <a:avLst/>
          </a:prstGeom>
          <a:solidFill>
            <a:srgbClr val="E1E1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5154611" y="16118716"/>
            <a:ext cx="7283490" cy="89839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5154611" y="17007583"/>
            <a:ext cx="7283490" cy="12385"/>
          </a:xfrm>
          <a:prstGeom prst="rect">
            <a:avLst/>
          </a:prstGeom>
          <a:solidFill>
            <a:srgbClr val="E1E1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1965035" y="17017110"/>
            <a:ext cx="3189576" cy="89839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21965035" y="17905977"/>
            <a:ext cx="3189576" cy="12385"/>
          </a:xfrm>
          <a:prstGeom prst="rect">
            <a:avLst/>
          </a:prstGeom>
          <a:solidFill>
            <a:srgbClr val="E1E1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25154611" y="17017110"/>
            <a:ext cx="7283490" cy="89839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5154611" y="17905977"/>
            <a:ext cx="7283490" cy="12385"/>
          </a:xfrm>
          <a:prstGeom prst="rect">
            <a:avLst/>
          </a:prstGeom>
          <a:solidFill>
            <a:srgbClr val="E1E1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1965035" y="17915504"/>
            <a:ext cx="3189576" cy="8983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1965035" y="18804372"/>
            <a:ext cx="3189576" cy="12385"/>
          </a:xfrm>
          <a:prstGeom prst="rect">
            <a:avLst/>
          </a:prstGeom>
          <a:solidFill>
            <a:srgbClr val="E1E1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5154611" y="17915504"/>
            <a:ext cx="7283490" cy="8983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25154611" y="18804372"/>
            <a:ext cx="7283490" cy="12385"/>
          </a:xfrm>
          <a:prstGeom prst="rect">
            <a:avLst/>
          </a:prstGeom>
          <a:solidFill>
            <a:srgbClr val="E1E1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21965035" y="18813899"/>
            <a:ext cx="3189576" cy="158044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21965035" y="20384819"/>
            <a:ext cx="3189576" cy="12384"/>
          </a:xfrm>
          <a:prstGeom prst="rect">
            <a:avLst/>
          </a:prstGeom>
          <a:solidFill>
            <a:srgbClr val="E1E1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5154611" y="18813899"/>
            <a:ext cx="7283490" cy="158044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5154611" y="20384819"/>
            <a:ext cx="7283490" cy="12384"/>
          </a:xfrm>
          <a:prstGeom prst="rect">
            <a:avLst/>
          </a:prstGeom>
          <a:solidFill>
            <a:srgbClr val="E1E1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36782721" y="26892897"/>
            <a:ext cx="1815517" cy="1815536"/>
          </a:xfrm>
          <a:prstGeom prst="roundRect">
            <a:avLst>
              <a:gd name="adj" fmla="val 9095"/>
            </a:avLst>
          </a:prstGeom>
          <a:solidFill>
            <a:srgbClr val="FFFFFF"/>
          </a:solidFill>
          <a:ln w="9526">
            <a:solidFill>
              <a:srgbClr val="F0F0F0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pap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897041" y="27007218"/>
            <a:ext cx="1586876" cy="1586894"/>
          </a:xfrm>
          <a:prstGeom prst="rect">
            <a:avLst/>
          </a:prstGeom>
        </p:spPr>
      </p:pic>
      <p:sp>
        <p:nvSpPr>
          <p:cNvPr id="80" name="Rounded Rectangle 79"/>
          <p:cNvSpPr/>
          <p:nvPr/>
        </p:nvSpPr>
        <p:spPr>
          <a:xfrm>
            <a:off x="37054408" y="28847998"/>
            <a:ext cx="1272142" cy="524932"/>
          </a:xfrm>
          <a:prstGeom prst="roundRect">
            <a:avLst>
              <a:gd name="adj" fmla="val 50000"/>
            </a:avLst>
          </a:prstGeom>
          <a:solidFill>
            <a:srgbClr val="EE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300" b="1">
                <a:solidFill>
                  <a:srgbClr val="34373B"/>
                </a:solidFill>
                <a:latin typeface="Arial"/>
              </a:rPr>
              <a:t>Paper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726906" y="16136274"/>
            <a:ext cx="7962668" cy="6789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6108"/>
              </a:lnSpc>
              <a:spcBef>
                <a:spcPts val="0"/>
              </a:spcBef>
              <a:spcAft>
                <a:spcPts val="0"/>
              </a:spcAft>
            </a:pPr>
            <a:r>
              <a:rPr sz="4212" b="0">
                <a:solidFill>
                  <a:srgbClr val="1C1C1C"/>
                </a:solidFill>
                <a:latin typeface="TimesNewRomanPSMT"/>
              </a:rPr>
              <a:t>25 patients × 4 weeks ⇒ 587 entries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371085" y="990197"/>
            <a:ext cx="35833653" cy="24283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7330"/>
              </a:lnSpc>
              <a:spcBef>
                <a:spcPts val="0"/>
              </a:spcBef>
              <a:spcAft>
                <a:spcPts val="0"/>
              </a:spcAft>
            </a:pPr>
            <a:r>
              <a:rPr sz="6787" b="1" spc="-77">
                <a:solidFill>
                  <a:srgbClr val="34373B"/>
                </a:solidFill>
                <a:latin typeface="Arial"/>
              </a:rPr>
              <a:t>More than Decision Support: Exploring Patients' Longitudinal Usage of Large</a:t>
            </a:r>
          </a:p>
          <a:p>
            <a:pPr algn="l">
              <a:lnSpc>
                <a:spcPts val="7330"/>
              </a:lnSpc>
              <a:spcBef>
                <a:spcPts val="0"/>
              </a:spcBef>
              <a:spcAft>
                <a:spcPts val="0"/>
              </a:spcAft>
            </a:pPr>
            <a:r>
              <a:rPr sz="6787" b="1" spc="-77">
                <a:solidFill>
                  <a:srgbClr val="34373B"/>
                </a:solidFill>
                <a:latin typeface="Arial"/>
              </a:rPr>
              <a:t>Language Models in Real-World Healthcare-Seeking Journeys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371085" y="3316826"/>
            <a:ext cx="35833653" cy="70222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4810"/>
              </a:lnSpc>
              <a:spcBef>
                <a:spcPts val="0"/>
              </a:spcBef>
              <a:spcAft>
                <a:spcPts val="0"/>
              </a:spcAft>
            </a:pPr>
            <a:r>
              <a:rPr sz="3700" b="0">
                <a:solidFill>
                  <a:srgbClr val="1C1C1C"/>
                </a:solidFill>
                <a:latin typeface="Arial"/>
              </a:rPr>
              <a:t>Yancheng Cao</a:t>
            </a:r>
            <a:r>
              <a:rPr sz="5180" b="0" baseline="30000">
                <a:solidFill>
                  <a:srgbClr val="1C1C1C"/>
                </a:solidFill>
                <a:latin typeface="Arial"/>
              </a:rPr>
              <a:t>1</a:t>
            </a:r>
            <a:r>
              <a:rPr sz="3700" b="0">
                <a:solidFill>
                  <a:srgbClr val="1C1C1C"/>
                </a:solidFill>
                <a:latin typeface="Arial"/>
              </a:rPr>
              <a:t>, Yishu Ji</a:t>
            </a:r>
            <a:r>
              <a:rPr sz="5180" b="0" baseline="30000">
                <a:solidFill>
                  <a:srgbClr val="1C1C1C"/>
                </a:solidFill>
                <a:latin typeface="Arial"/>
              </a:rPr>
              <a:t>2</a:t>
            </a:r>
            <a:r>
              <a:rPr sz="3700" b="0">
                <a:solidFill>
                  <a:srgbClr val="1C1C1C"/>
                </a:solidFill>
                <a:latin typeface="Arial"/>
              </a:rPr>
              <a:t>, Yue Fu</a:t>
            </a:r>
            <a:r>
              <a:rPr sz="5180" b="0" baseline="30000">
                <a:solidFill>
                  <a:srgbClr val="1C1C1C"/>
                </a:solidFill>
                <a:latin typeface="Arial"/>
              </a:rPr>
              <a:t>3</a:t>
            </a:r>
            <a:r>
              <a:rPr sz="3700" b="0">
                <a:solidFill>
                  <a:srgbClr val="1C1C1C"/>
                </a:solidFill>
                <a:latin typeface="Arial"/>
              </a:rPr>
              <a:t>, Sahiti Dharmavaram</a:t>
            </a:r>
            <a:r>
              <a:rPr sz="5180" b="0" baseline="30000">
                <a:solidFill>
                  <a:srgbClr val="1C1C1C"/>
                </a:solidFill>
                <a:latin typeface="Arial"/>
              </a:rPr>
              <a:t>1</a:t>
            </a:r>
            <a:r>
              <a:rPr sz="3700" b="0">
                <a:solidFill>
                  <a:srgbClr val="1C1C1C"/>
                </a:solidFill>
                <a:latin typeface="Arial"/>
              </a:rPr>
              <a:t>, Meghan Turchioe</a:t>
            </a:r>
            <a:r>
              <a:rPr sz="5180" b="0" baseline="30000">
                <a:solidFill>
                  <a:srgbClr val="1C1C1C"/>
                </a:solidFill>
                <a:latin typeface="Arial"/>
              </a:rPr>
              <a:t>1</a:t>
            </a:r>
            <a:r>
              <a:rPr sz="3700" b="0">
                <a:solidFill>
                  <a:srgbClr val="1C1C1C"/>
                </a:solidFill>
                <a:latin typeface="Arial"/>
              </a:rPr>
              <a:t>, Natalie C Benda</a:t>
            </a:r>
            <a:r>
              <a:rPr sz="5180" b="0" baseline="30000">
                <a:solidFill>
                  <a:srgbClr val="1C1C1C"/>
                </a:solidFill>
                <a:latin typeface="Arial"/>
              </a:rPr>
              <a:t>1</a:t>
            </a:r>
            <a:r>
              <a:rPr sz="3700" b="0">
                <a:solidFill>
                  <a:srgbClr val="1C1C1C"/>
                </a:solidFill>
                <a:latin typeface="Arial"/>
              </a:rPr>
              <a:t>, Lena Mamykina</a:t>
            </a:r>
            <a:r>
              <a:rPr sz="5180" b="0" baseline="30000">
                <a:solidFill>
                  <a:srgbClr val="1C1C1C"/>
                </a:solidFill>
                <a:latin typeface="Arial"/>
              </a:rPr>
              <a:t>1</a:t>
            </a:r>
            <a:r>
              <a:rPr sz="3700" b="0">
                <a:solidFill>
                  <a:srgbClr val="1C1C1C"/>
                </a:solidFill>
                <a:latin typeface="Arial"/>
              </a:rPr>
              <a:t>, Yuling Sun</a:t>
            </a:r>
            <a:r>
              <a:rPr sz="5180" b="0" baseline="30000">
                <a:solidFill>
                  <a:srgbClr val="1C1C1C"/>
                </a:solidFill>
                <a:latin typeface="Arial"/>
              </a:rPr>
              <a:t>4</a:t>
            </a:r>
            <a:r>
              <a:rPr sz="3700" b="0">
                <a:solidFill>
                  <a:srgbClr val="1C1C1C"/>
                </a:solidFill>
                <a:latin typeface="Arial"/>
              </a:rPr>
              <a:t>, Xuhai Xu</a:t>
            </a:r>
            <a:r>
              <a:rPr sz="5180" b="0" baseline="30000">
                <a:solidFill>
                  <a:srgbClr val="1C1C1C"/>
                </a:solidFill>
                <a:latin typeface="Arial"/>
              </a:rPr>
              <a:t>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371085" y="3978197"/>
            <a:ext cx="35833653" cy="5290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625"/>
              </a:lnSpc>
              <a:spcBef>
                <a:spcPts val="0"/>
              </a:spcBef>
              <a:spcAft>
                <a:spcPts val="0"/>
              </a:spcAft>
            </a:pPr>
            <a:r>
              <a:rPr sz="2170" b="0" spc="50" baseline="30000">
                <a:solidFill>
                  <a:srgbClr val="555555"/>
                </a:solidFill>
                <a:latin typeface="Arial"/>
              </a:rPr>
              <a:t>1</a:t>
            </a:r>
            <a:r>
              <a:rPr sz="2500" b="0" spc="50">
                <a:solidFill>
                  <a:srgbClr val="555555"/>
                </a:solidFill>
                <a:latin typeface="Arial"/>
              </a:rPr>
              <a:t>Columbia University   </a:t>
            </a:r>
            <a:r>
              <a:rPr sz="3500" b="0" spc="50" baseline="30000">
                <a:solidFill>
                  <a:srgbClr val="555555"/>
                </a:solidFill>
                <a:latin typeface="Arial"/>
              </a:rPr>
              <a:t>2</a:t>
            </a:r>
            <a:r>
              <a:rPr sz="2500" b="0" spc="50">
                <a:solidFill>
                  <a:srgbClr val="555555"/>
                </a:solidFill>
                <a:latin typeface="Arial"/>
              </a:rPr>
              <a:t>Georgia Institute of Technology   </a:t>
            </a:r>
            <a:r>
              <a:rPr sz="3500" b="0" spc="50" baseline="30000">
                <a:solidFill>
                  <a:srgbClr val="555555"/>
                </a:solidFill>
                <a:latin typeface="Arial"/>
              </a:rPr>
              <a:t>3</a:t>
            </a:r>
            <a:r>
              <a:rPr sz="2500" b="0" spc="50">
                <a:solidFill>
                  <a:srgbClr val="555555"/>
                </a:solidFill>
                <a:latin typeface="Arial"/>
              </a:rPr>
              <a:t>University of Washington   </a:t>
            </a:r>
            <a:r>
              <a:rPr sz="3500" b="0" spc="50" baseline="30000">
                <a:solidFill>
                  <a:srgbClr val="555555"/>
                </a:solidFill>
                <a:latin typeface="Arial"/>
              </a:rPr>
              <a:t>4</a:t>
            </a:r>
            <a:r>
              <a:rPr sz="2500" b="0" spc="50">
                <a:solidFill>
                  <a:srgbClr val="555555"/>
                </a:solidFill>
                <a:latin typeface="Arial"/>
              </a:rPr>
              <a:t>University of Michigan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8330716" y="1129762"/>
            <a:ext cx="2871025" cy="107969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7396"/>
              </a:lnSpc>
              <a:spcBef>
                <a:spcPts val="0"/>
              </a:spcBef>
              <a:spcAft>
                <a:spcPts val="0"/>
              </a:spcAft>
            </a:pPr>
            <a:r>
              <a:rPr sz="5100" b="1" spc="51">
                <a:solidFill>
                  <a:srgbClr val="34373B"/>
                </a:solidFill>
                <a:latin typeface="Arial"/>
              </a:rPr>
              <a:t>CHI 2026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80869" y="5260321"/>
            <a:ext cx="9316192" cy="1284510"/>
          </a:xfrm>
          <a:prstGeom prst="rect">
            <a:avLst/>
          </a:prstGeom>
          <a:noFill/>
        </p:spPr>
        <p:txBody>
          <a:bodyPr wrap="square" lIns="406472" rIns="3702712" tIns="188503" bIns="188503">
            <a:spAutoFit/>
          </a:bodyPr>
          <a:lstStyle/>
          <a:p>
            <a:pPr algn="l">
              <a:lnSpc>
                <a:spcPts val="5831"/>
              </a:lnSpc>
              <a:spcBef>
                <a:spcPts val="0"/>
              </a:spcBef>
              <a:spcAft>
                <a:spcPts val="0"/>
              </a:spcAft>
            </a:pPr>
            <a:r>
              <a:rPr sz="5300" b="1">
                <a:solidFill>
                  <a:srgbClr val="FFFFFF"/>
                </a:solidFill>
                <a:latin typeface="Arial"/>
              </a:rPr>
              <a:t>Problem 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949479" y="5260321"/>
            <a:ext cx="11624166" cy="1284510"/>
          </a:xfrm>
          <a:prstGeom prst="rect">
            <a:avLst/>
          </a:prstGeom>
          <a:noFill/>
        </p:spPr>
        <p:txBody>
          <a:bodyPr wrap="none" lIns="406472" rIns="3702712" tIns="188503" bIns="188503">
            <a:spAutoFit/>
          </a:bodyPr>
          <a:lstStyle/>
          <a:p>
            <a:pPr algn="l">
              <a:lnSpc>
                <a:spcPts val="5831"/>
              </a:lnSpc>
              <a:spcBef>
                <a:spcPts val="0"/>
              </a:spcBef>
              <a:spcAft>
                <a:spcPts val="0"/>
              </a:spcAft>
            </a:pPr>
            <a:r>
              <a:rPr sz="5300" b="1">
                <a:solidFill>
                  <a:srgbClr val="FFFFFF"/>
                </a:solidFill>
                <a:latin typeface="Arial"/>
              </a:rPr>
              <a:t>Method 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3168056" y="5260321"/>
            <a:ext cx="9316345" cy="1284510"/>
          </a:xfrm>
          <a:prstGeom prst="rect">
            <a:avLst/>
          </a:prstGeom>
          <a:noFill/>
        </p:spPr>
        <p:txBody>
          <a:bodyPr wrap="square" lIns="406472" rIns="3702712" tIns="188503" bIns="188503">
            <a:spAutoFit/>
          </a:bodyPr>
          <a:lstStyle/>
          <a:p>
            <a:pPr algn="l">
              <a:lnSpc>
                <a:spcPts val="5831"/>
              </a:lnSpc>
              <a:spcBef>
                <a:spcPts val="0"/>
              </a:spcBef>
              <a:spcAft>
                <a:spcPts val="0"/>
              </a:spcAft>
            </a:pPr>
            <a:r>
              <a:rPr sz="5300" b="1">
                <a:solidFill>
                  <a:srgbClr val="FFFFFF"/>
                </a:solidFill>
                <a:latin typeface="Arial"/>
              </a:rPr>
              <a:t>Key Results 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1965035" y="6565060"/>
            <a:ext cx="10787257" cy="2539250"/>
          </a:xfrm>
          <a:prstGeom prst="rect">
            <a:avLst/>
          </a:prstGeom>
          <a:noFill/>
        </p:spPr>
        <p:txBody>
          <a:bodyPr wrap="none" lIns="322002" rIns="322002" tIns="138710" bIns="138710">
            <a:spAutoFit/>
          </a:bodyPr>
          <a:lstStyle/>
          <a:p>
            <a:pPr algn="l">
              <a:lnSpc>
                <a:spcPts val="5070"/>
              </a:lnSpc>
              <a:spcBef>
                <a:spcPts val="0"/>
              </a:spcBef>
              <a:spcAft>
                <a:spcPts val="0"/>
              </a:spcAft>
            </a:pPr>
            <a:r>
              <a:rPr sz="3900" b="0">
                <a:solidFill>
                  <a:srgbClr val="34373B"/>
                </a:solidFill>
                <a:latin typeface="Arial"/>
              </a:rPr>
              <a:t>The same patient leans on the LLM</a:t>
            </a:r>
          </a:p>
          <a:p>
            <a:pPr algn="l">
              <a:lnSpc>
                <a:spcPts val="5070"/>
              </a:lnSpc>
              <a:spcBef>
                <a:spcPts val="0"/>
              </a:spcBef>
              <a:spcAft>
                <a:spcPts val="0"/>
              </a:spcAft>
            </a:pPr>
            <a:r>
              <a:rPr sz="3900" b="0">
                <a:solidFill>
                  <a:srgbClr val="34373B"/>
                </a:solidFill>
                <a:latin typeface="Arial"/>
              </a:rPr>
              <a:t>differently at appraisal, encounter, and</a:t>
            </a:r>
          </a:p>
          <a:p>
            <a:pPr algn="l">
              <a:lnSpc>
                <a:spcPts val="5070"/>
              </a:lnSpc>
              <a:spcBef>
                <a:spcPts val="0"/>
              </a:spcBef>
              <a:spcAft>
                <a:spcPts val="0"/>
              </a:spcAft>
            </a:pPr>
            <a:r>
              <a:rPr sz="3900" b="0">
                <a:solidFill>
                  <a:srgbClr val="34373B"/>
                </a:solidFill>
                <a:latin typeface="Arial"/>
              </a:rPr>
              <a:t>follow-up — roles shift as needs shift.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87062" y="6808481"/>
            <a:ext cx="8479434" cy="4782823"/>
          </a:xfrm>
          <a:prstGeom prst="rect">
            <a:avLst/>
          </a:prstGeom>
          <a:noFill/>
        </p:spPr>
        <p:txBody>
          <a:bodyPr wrap="none" lIns="346771" rIns="346771" tIns="148618" bIns="148618">
            <a:spAutoFit/>
          </a:bodyPr>
          <a:lstStyle/>
          <a:p>
            <a:pPr algn="l">
              <a:lnSpc>
                <a:spcPts val="507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FFFFFF"/>
                </a:solidFill>
                <a:latin typeface="Arial"/>
              </a:rPr>
              <a:t>Healthcare-seeking is a</a:t>
            </a:r>
          </a:p>
          <a:p>
            <a:pPr algn="l">
              <a:lnSpc>
                <a:spcPts val="507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FFFFFF"/>
                </a:solidFill>
                <a:latin typeface="Arial"/>
              </a:rPr>
              <a:t>dynamic trajectory — symptom</a:t>
            </a:r>
          </a:p>
          <a:p>
            <a:pPr algn="l">
              <a:lnSpc>
                <a:spcPts val="507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FFFFFF"/>
                </a:solidFill>
                <a:latin typeface="Arial"/>
              </a:rPr>
              <a:t>appraisal to recurrence</a:t>
            </a:r>
          </a:p>
          <a:p>
            <a:pPr algn="l">
              <a:lnSpc>
                <a:spcPts val="507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FFFFFF"/>
                </a:solidFill>
                <a:latin typeface="Arial"/>
              </a:rPr>
              <a:t>monitoring — yet evidence is</a:t>
            </a:r>
          </a:p>
          <a:p>
            <a:pPr algn="l">
              <a:lnSpc>
                <a:spcPts val="507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FFFFFF"/>
                </a:solidFill>
                <a:latin typeface="Arial"/>
              </a:rPr>
              <a:t>drawn from episodic lab</a:t>
            </a:r>
          </a:p>
          <a:p>
            <a:pPr algn="l">
              <a:lnSpc>
                <a:spcPts val="507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FFFFFF"/>
                </a:solidFill>
                <a:latin typeface="Arial"/>
              </a:rPr>
              <a:t>settings.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1965035" y="8865800"/>
            <a:ext cx="10787257" cy="33023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5656"/>
              </a:lnSpc>
              <a:spcBef>
                <a:spcPts val="0"/>
              </a:spcBef>
              <a:spcAft>
                <a:spcPts val="0"/>
              </a:spcAft>
            </a:pPr>
            <a:r>
              <a:rPr sz="3900" b="0">
                <a:solidFill>
                  <a:srgbClr val="1C1C1C"/>
                </a:solidFill>
                <a:latin typeface="Arial"/>
              </a:rPr>
              <a:t>Inductive thematic analysis with a longitudinal</a:t>
            </a:r>
          </a:p>
          <a:p>
            <a:pPr algn="l">
              <a:lnSpc>
                <a:spcPts val="5656"/>
              </a:lnSpc>
              <a:spcBef>
                <a:spcPts val="0"/>
              </a:spcBef>
              <a:spcAft>
                <a:spcPts val="0"/>
              </a:spcAft>
            </a:pPr>
            <a:r>
              <a:rPr sz="3900" b="0">
                <a:solidFill>
                  <a:srgbClr val="1C1C1C"/>
                </a:solidFill>
                <a:latin typeface="Arial"/>
              </a:rPr>
              <a:t>lens traces how each role evolves across</a:t>
            </a:r>
          </a:p>
          <a:p>
            <a:pPr algn="l">
              <a:lnSpc>
                <a:spcPts val="5656"/>
              </a:lnSpc>
              <a:spcBef>
                <a:spcPts val="0"/>
              </a:spcBef>
              <a:spcAft>
                <a:spcPts val="0"/>
              </a:spcAft>
            </a:pPr>
            <a:r>
              <a:rPr sz="3900" b="0">
                <a:solidFill>
                  <a:srgbClr val="1C1C1C"/>
                </a:solidFill>
                <a:latin typeface="Arial"/>
              </a:rPr>
              <a:t>journey stages — from symptom appraisal to</a:t>
            </a:r>
          </a:p>
          <a:p>
            <a:pPr algn="l">
              <a:lnSpc>
                <a:spcPts val="5656"/>
              </a:lnSpc>
              <a:spcBef>
                <a:spcPts val="0"/>
              </a:spcBef>
              <a:spcAft>
                <a:spcPts val="0"/>
              </a:spcAft>
            </a:pPr>
            <a:r>
              <a:rPr sz="3900" b="0">
                <a:solidFill>
                  <a:srgbClr val="1C1C1C"/>
                </a:solidFill>
                <a:latin typeface="Arial"/>
              </a:rPr>
              <a:t>recurrence monitoring.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3574247" y="10443122"/>
            <a:ext cx="8479591" cy="1821964"/>
          </a:xfrm>
          <a:prstGeom prst="rect">
            <a:avLst/>
          </a:prstGeom>
          <a:noFill/>
        </p:spPr>
        <p:txBody>
          <a:bodyPr wrap="none" lIns="346771" rIns="346771" tIns="148618" bIns="148618">
            <a:spAutoFit/>
          </a:bodyPr>
          <a:lstStyle/>
          <a:p>
            <a:pPr algn="l">
              <a:lnSpc>
                <a:spcPts val="507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FFFFFF"/>
                </a:solidFill>
                <a:latin typeface="Arial"/>
              </a:rPr>
              <a:t>A dynamic companion, not a</a:t>
            </a:r>
          </a:p>
          <a:p>
            <a:pPr algn="l">
              <a:lnSpc>
                <a:spcPts val="507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FFFFFF"/>
                </a:solidFill>
                <a:latin typeface="Arial"/>
              </a:rPr>
              <a:t>decision aid.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87062" y="11095864"/>
            <a:ext cx="8479434" cy="41279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5656"/>
              </a:lnSpc>
              <a:spcBef>
                <a:spcPts val="0"/>
              </a:spcBef>
              <a:spcAft>
                <a:spcPts val="0"/>
              </a:spcAft>
            </a:pPr>
            <a:r>
              <a:rPr sz="3900" b="0">
                <a:solidFill>
                  <a:srgbClr val="1C1C1C"/>
                </a:solidFill>
                <a:latin typeface="Arial"/>
              </a:rPr>
              <a:t>Prior patient-centered studies</a:t>
            </a:r>
          </a:p>
          <a:p>
            <a:pPr algn="l">
              <a:lnSpc>
                <a:spcPts val="5656"/>
              </a:lnSpc>
              <a:spcBef>
                <a:spcPts val="0"/>
              </a:spcBef>
              <a:spcAft>
                <a:spcPts val="0"/>
              </a:spcAft>
            </a:pPr>
            <a:r>
              <a:rPr sz="3900" b="0">
                <a:solidFill>
                  <a:srgbClr val="1C1C1C"/>
                </a:solidFill>
                <a:latin typeface="Arial"/>
              </a:rPr>
              <a:t>examined LLM-based tools only in</a:t>
            </a:r>
          </a:p>
          <a:p>
            <a:pPr algn="l">
              <a:lnSpc>
                <a:spcPts val="5656"/>
              </a:lnSpc>
              <a:spcBef>
                <a:spcPts val="0"/>
              </a:spcBef>
              <a:spcAft>
                <a:spcPts val="0"/>
              </a:spcAft>
            </a:pPr>
            <a:r>
              <a:rPr sz="3900" b="0">
                <a:solidFill>
                  <a:srgbClr val="1C1C1C"/>
                </a:solidFill>
                <a:latin typeface="Arial"/>
              </a:rPr>
              <a:t>isolated, short-term tasks — missing</a:t>
            </a:r>
          </a:p>
          <a:p>
            <a:pPr algn="l">
              <a:lnSpc>
                <a:spcPts val="5656"/>
              </a:lnSpc>
              <a:spcBef>
                <a:spcPts val="0"/>
              </a:spcBef>
              <a:spcAft>
                <a:spcPts val="0"/>
              </a:spcAft>
            </a:pPr>
            <a:r>
              <a:rPr sz="3900" b="0">
                <a:solidFill>
                  <a:srgbClr val="1C1C1C"/>
                </a:solidFill>
                <a:latin typeface="Arial"/>
              </a:rPr>
              <a:t>the longitudinal, multi-stage nature of</a:t>
            </a:r>
          </a:p>
          <a:p>
            <a:pPr algn="l">
              <a:lnSpc>
                <a:spcPts val="5656"/>
              </a:lnSpc>
              <a:spcBef>
                <a:spcPts val="0"/>
              </a:spcBef>
              <a:spcAft>
                <a:spcPts val="0"/>
              </a:spcAft>
            </a:pPr>
            <a:r>
              <a:rPr sz="3900" b="0">
                <a:solidFill>
                  <a:srgbClr val="1C1C1C"/>
                </a:solidFill>
                <a:latin typeface="Arial"/>
              </a:rPr>
              <a:t>real-world healthcare-seeking.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3574247" y="12045591"/>
            <a:ext cx="8479591" cy="16511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5656"/>
              </a:lnSpc>
              <a:spcBef>
                <a:spcPts val="0"/>
              </a:spcBef>
              <a:spcAft>
                <a:spcPts val="0"/>
              </a:spcAft>
            </a:pPr>
            <a:r>
              <a:rPr sz="3900" b="0">
                <a:solidFill>
                  <a:srgbClr val="1C1C1C"/>
                </a:solidFill>
                <a:latin typeface="Arial"/>
              </a:rPr>
              <a:t>Patients adopt LLMs as longitudinal</a:t>
            </a:r>
          </a:p>
          <a:p>
            <a:pPr algn="l">
              <a:lnSpc>
                <a:spcPts val="5656"/>
              </a:lnSpc>
              <a:spcBef>
                <a:spcPts val="0"/>
              </a:spcBef>
              <a:spcAft>
                <a:spcPts val="0"/>
              </a:spcAft>
            </a:pPr>
            <a:r>
              <a:rPr sz="3900" b="0">
                <a:solidFill>
                  <a:srgbClr val="1C1C1C"/>
                </a:solidFill>
                <a:latin typeface="Arial"/>
              </a:rPr>
              <a:t>companions.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3168056" y="14118831"/>
            <a:ext cx="9316345" cy="1284510"/>
          </a:xfrm>
          <a:prstGeom prst="rect">
            <a:avLst/>
          </a:prstGeom>
          <a:noFill/>
        </p:spPr>
        <p:txBody>
          <a:bodyPr wrap="square" lIns="406472" rIns="0" tIns="188503" bIns="188503">
            <a:spAutoFit/>
          </a:bodyPr>
          <a:lstStyle/>
          <a:p>
            <a:pPr algn="l">
              <a:lnSpc>
                <a:spcPts val="5831"/>
              </a:lnSpc>
              <a:spcBef>
                <a:spcPts val="0"/>
              </a:spcBef>
              <a:spcAft>
                <a:spcPts val="0"/>
              </a:spcAft>
            </a:pPr>
            <a:r>
              <a:rPr sz="5300" b="1">
                <a:solidFill>
                  <a:srgbClr val="FFFFFF"/>
                </a:solidFill>
                <a:latin typeface="Arial"/>
              </a:rPr>
              <a:t>Headline Numbers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80869" y="15570277"/>
            <a:ext cx="9316192" cy="1284512"/>
          </a:xfrm>
          <a:prstGeom prst="rect">
            <a:avLst/>
          </a:prstGeom>
          <a:noFill/>
        </p:spPr>
        <p:txBody>
          <a:bodyPr wrap="square" lIns="406472" rIns="3702712" tIns="188503" bIns="188503">
            <a:spAutoFit/>
          </a:bodyPr>
          <a:lstStyle/>
          <a:p>
            <a:pPr algn="l">
              <a:lnSpc>
                <a:spcPts val="5831"/>
              </a:lnSpc>
              <a:spcBef>
                <a:spcPts val="0"/>
              </a:spcBef>
              <a:spcAft>
                <a:spcPts val="0"/>
              </a:spcAft>
            </a:pPr>
            <a:r>
              <a:rPr sz="5300" b="1">
                <a:solidFill>
                  <a:srgbClr val="FFFFFF"/>
                </a:solidFill>
                <a:latin typeface="Arial"/>
              </a:rPr>
              <a:t>Motivation 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355672" y="15976920"/>
            <a:ext cx="10787410" cy="1522010"/>
          </a:xfrm>
          <a:prstGeom prst="rect">
            <a:avLst/>
          </a:prstGeom>
          <a:noFill/>
        </p:spPr>
        <p:txBody>
          <a:bodyPr wrap="none" lIns="374513" rIns="374513" tIns="64203" bIns="64203">
            <a:spAutoFit/>
          </a:bodyPr>
          <a:lstStyle/>
          <a:p>
            <a:pPr algn="ctr">
              <a:lnSpc>
                <a:spcPts val="6108"/>
              </a:lnSpc>
              <a:spcBef>
                <a:spcPts val="0"/>
              </a:spcBef>
              <a:spcAft>
                <a:spcPts val="0"/>
              </a:spcAft>
            </a:pPr>
            <a:r>
              <a:rPr sz="4212" b="0">
                <a:solidFill>
                  <a:srgbClr val="1C1C1C"/>
                </a:solidFill>
                <a:latin typeface="TimesNewRomanPSMT"/>
              </a:rPr>
              <a:t>25 patients × 4 weeks ⇒ 587 entries</a:t>
            </a:r>
          </a:p>
          <a:p>
            <a:pPr algn="ctr">
              <a:lnSpc>
                <a:spcPts val="6108"/>
              </a:lnSpc>
              <a:spcBef>
                <a:spcPts val="0"/>
              </a:spcBef>
              <a:spcAft>
                <a:spcPts val="0"/>
              </a:spcAft>
            </a:pPr>
            <a:r>
              <a:rPr sz="2106" b="0" i="1">
                <a:solidFill>
                  <a:srgbClr val="555555"/>
                </a:solidFill>
                <a:latin typeface="TimesNewRomanPSMT"/>
              </a:rPr>
              <a:t>IRB-approved longitudinal diary cohort in China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3215668" y="18334944"/>
            <a:ext cx="9267305" cy="1284510"/>
          </a:xfrm>
          <a:prstGeom prst="rect">
            <a:avLst/>
          </a:prstGeom>
          <a:noFill/>
        </p:spPr>
        <p:txBody>
          <a:bodyPr wrap="square" lIns="406472" rIns="3702712" tIns="188503" bIns="188503">
            <a:spAutoFit/>
          </a:bodyPr>
          <a:lstStyle/>
          <a:p>
            <a:pPr algn="l">
              <a:lnSpc>
                <a:spcPts val="5831"/>
              </a:lnSpc>
              <a:spcBef>
                <a:spcPts val="0"/>
              </a:spcBef>
              <a:spcAft>
                <a:spcPts val="0"/>
              </a:spcAft>
            </a:pPr>
            <a:r>
              <a:rPr sz="5300" b="1">
                <a:solidFill>
                  <a:srgbClr val="FFFFFF"/>
                </a:solidFill>
                <a:latin typeface="Arial"/>
              </a:rPr>
              <a:t>Takeaway 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1965035" y="20399106"/>
            <a:ext cx="10787257" cy="2357191"/>
          </a:xfrm>
          <a:prstGeom prst="rect">
            <a:avLst/>
          </a:prstGeom>
          <a:noFill/>
        </p:spPr>
        <p:txBody>
          <a:bodyPr wrap="none" lIns="346771" rIns="346771" tIns="59447" bIns="59447">
            <a:spAutoFit/>
          </a:bodyPr>
          <a:lstStyle/>
          <a:p>
            <a:pPr algn="l">
              <a:lnSpc>
                <a:spcPts val="5070"/>
              </a:lnSpc>
              <a:spcBef>
                <a:spcPts val="0"/>
              </a:spcBef>
              <a:spcAft>
                <a:spcPts val="0"/>
              </a:spcAft>
            </a:pPr>
            <a:r>
              <a:rPr sz="3900" b="0" i="1">
                <a:solidFill>
                  <a:srgbClr val="1C1C1C"/>
                </a:solidFill>
                <a:latin typeface="Arial"/>
              </a:rPr>
              <a:t>This reconfigures agency, trust, and power</a:t>
            </a:r>
          </a:p>
          <a:p>
            <a:pPr algn="l">
              <a:lnSpc>
                <a:spcPts val="5070"/>
              </a:lnSpc>
              <a:spcBef>
                <a:spcPts val="0"/>
              </a:spcBef>
              <a:spcAft>
                <a:spcPts val="0"/>
              </a:spcAft>
            </a:pPr>
            <a:r>
              <a:rPr sz="3900" b="0" i="1">
                <a:solidFill>
                  <a:srgbClr val="1C1C1C"/>
                </a:solidFill>
                <a:latin typeface="Arial"/>
              </a:rPr>
              <a:t>— patients become active negotiators of</a:t>
            </a:r>
          </a:p>
          <a:p>
            <a:pPr algn="l">
              <a:lnSpc>
                <a:spcPts val="5070"/>
              </a:lnSpc>
              <a:spcBef>
                <a:spcPts val="0"/>
              </a:spcBef>
              <a:spcAft>
                <a:spcPts val="0"/>
              </a:spcAft>
            </a:pPr>
            <a:r>
              <a:rPr sz="3900" b="0" i="1">
                <a:solidFill>
                  <a:srgbClr val="1C1C1C"/>
                </a:solidFill>
                <a:latin typeface="Arial"/>
              </a:rPr>
              <a:t>their own care.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3621860" y="23007693"/>
            <a:ext cx="8430550" cy="24767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5656"/>
              </a:lnSpc>
              <a:spcBef>
                <a:spcPts val="0"/>
              </a:spcBef>
              <a:spcAft>
                <a:spcPts val="0"/>
              </a:spcAft>
            </a:pPr>
            <a:r>
              <a:rPr sz="3900" b="0">
                <a:solidFill>
                  <a:srgbClr val="1C1C1C"/>
                </a:solidFill>
                <a:latin typeface="Arial"/>
              </a:rPr>
              <a:t>LLMs are longitudinal boundary</a:t>
            </a:r>
          </a:p>
          <a:p>
            <a:pPr algn="l">
              <a:lnSpc>
                <a:spcPts val="5656"/>
              </a:lnSpc>
              <a:spcBef>
                <a:spcPts val="0"/>
              </a:spcBef>
              <a:spcAft>
                <a:spcPts val="0"/>
              </a:spcAft>
            </a:pPr>
            <a:r>
              <a:rPr sz="3900" b="0">
                <a:solidFill>
                  <a:srgbClr val="1C1C1C"/>
                </a:solidFill>
                <a:latin typeface="Arial"/>
              </a:rPr>
              <a:t>companions — partners between</a:t>
            </a:r>
          </a:p>
          <a:p>
            <a:pPr algn="l">
              <a:lnSpc>
                <a:spcPts val="5656"/>
              </a:lnSpc>
              <a:spcBef>
                <a:spcPts val="0"/>
              </a:spcBef>
              <a:spcAft>
                <a:spcPts val="0"/>
              </a:spcAft>
            </a:pPr>
            <a:r>
              <a:rPr sz="3900" b="0">
                <a:solidFill>
                  <a:srgbClr val="1C1C1C"/>
                </a:solidFill>
                <a:latin typeface="Arial"/>
              </a:rPr>
              <a:t>clinic and daily life.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87062" y="27073083"/>
            <a:ext cx="8479434" cy="2539248"/>
          </a:xfrm>
          <a:prstGeom prst="rect">
            <a:avLst/>
          </a:prstGeom>
          <a:noFill/>
        </p:spPr>
        <p:txBody>
          <a:bodyPr wrap="none" lIns="322002" rIns="322002" tIns="138710" bIns="138710">
            <a:spAutoFit/>
          </a:bodyPr>
          <a:lstStyle/>
          <a:p>
            <a:pPr algn="l">
              <a:lnSpc>
                <a:spcPts val="5070"/>
              </a:lnSpc>
              <a:spcBef>
                <a:spcPts val="0"/>
              </a:spcBef>
              <a:spcAft>
                <a:spcPts val="0"/>
              </a:spcAft>
            </a:pPr>
            <a:r>
              <a:rPr sz="3900" b="0">
                <a:solidFill>
                  <a:srgbClr val="34373B"/>
                </a:solidFill>
                <a:latin typeface="Arial"/>
              </a:rPr>
              <a:t>Patients already lean on LLMs at</a:t>
            </a:r>
          </a:p>
          <a:p>
            <a:pPr algn="l">
              <a:lnSpc>
                <a:spcPts val="5070"/>
              </a:lnSpc>
              <a:spcBef>
                <a:spcPts val="0"/>
              </a:spcBef>
              <a:spcAft>
                <a:spcPts val="0"/>
              </a:spcAft>
            </a:pPr>
            <a:r>
              <a:rPr sz="3900" b="0">
                <a:solidFill>
                  <a:srgbClr val="34373B"/>
                </a:solidFill>
                <a:latin typeface="Arial"/>
              </a:rPr>
              <a:t>every stage — adapting to shifting</a:t>
            </a:r>
          </a:p>
          <a:p>
            <a:pPr algn="l">
              <a:lnSpc>
                <a:spcPts val="5070"/>
              </a:lnSpc>
              <a:spcBef>
                <a:spcPts val="0"/>
              </a:spcBef>
              <a:spcAft>
                <a:spcPts val="0"/>
              </a:spcAft>
            </a:pPr>
            <a:r>
              <a:rPr sz="3900" b="0">
                <a:solidFill>
                  <a:srgbClr val="34373B"/>
                </a:solidFill>
                <a:latin typeface="Arial"/>
              </a:rPr>
              <a:t>needs and reshaping care.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355672" y="27726271"/>
            <a:ext cx="10787410" cy="16511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5656"/>
              </a:lnSpc>
              <a:spcBef>
                <a:spcPts val="0"/>
              </a:spcBef>
              <a:spcAft>
                <a:spcPts val="0"/>
              </a:spcAft>
            </a:pPr>
            <a:r>
              <a:rPr sz="3900" b="0">
                <a:solidFill>
                  <a:srgbClr val="1C1C1C"/>
                </a:solidFill>
                <a:latin typeface="Arial"/>
              </a:rPr>
              <a:t>587 entries logged — 478 LLM-only, 80 mixed,</a:t>
            </a:r>
          </a:p>
          <a:p>
            <a:pPr algn="l">
              <a:lnSpc>
                <a:spcPts val="5656"/>
              </a:lnSpc>
              <a:spcBef>
                <a:spcPts val="0"/>
              </a:spcBef>
              <a:spcAft>
                <a:spcPts val="0"/>
              </a:spcAft>
            </a:pPr>
            <a:r>
              <a:rPr sz="3900" b="0">
                <a:solidFill>
                  <a:srgbClr val="1C1C1C"/>
                </a:solidFill>
                <a:latin typeface="Arial"/>
              </a:rPr>
              <a:t>29 clinician-only.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2796761" y="5679462"/>
            <a:ext cx="6964539" cy="6875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4710"/>
              </a:lnSpc>
              <a:spcBef>
                <a:spcPts val="0"/>
              </a:spcBef>
              <a:spcAft>
                <a:spcPts val="0"/>
              </a:spcAft>
            </a:pPr>
            <a:r>
              <a:rPr sz="4095" b="1">
                <a:solidFill>
                  <a:srgbClr val="34373B"/>
                </a:solidFill>
                <a:latin typeface="Arial"/>
              </a:rPr>
              <a:t>Inductive thematic analysis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1165661" y="5792989"/>
            <a:ext cx="1310613" cy="42640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920"/>
              </a:lnSpc>
              <a:spcBef>
                <a:spcPts val="0"/>
              </a:spcBef>
              <a:spcAft>
                <a:spcPts val="0"/>
              </a:spcAft>
            </a:pPr>
            <a:r>
              <a:rPr sz="2539" b="1" i="1">
                <a:solidFill>
                  <a:srgbClr val="555555"/>
                </a:solidFill>
                <a:latin typeface="Arial"/>
              </a:rPr>
              <a:t>analysis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2796761" y="12921517"/>
            <a:ext cx="4940078" cy="6875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4710"/>
              </a:lnSpc>
              <a:spcBef>
                <a:spcPts val="0"/>
              </a:spcBef>
              <a:spcAft>
                <a:spcPts val="0"/>
              </a:spcAft>
            </a:pPr>
            <a:r>
              <a:rPr sz="4095" b="1">
                <a:solidFill>
                  <a:srgbClr val="34373B"/>
                </a:solidFill>
                <a:latin typeface="Arial"/>
              </a:rPr>
              <a:t>Four dynamic roles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0807826" y="13035044"/>
            <a:ext cx="1679183" cy="42640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920"/>
              </a:lnSpc>
              <a:spcBef>
                <a:spcPts val="0"/>
              </a:spcBef>
              <a:spcAft>
                <a:spcPts val="0"/>
              </a:spcAft>
            </a:pPr>
            <a:r>
              <a:rPr sz="2539" b="1" i="1">
                <a:solidFill>
                  <a:srgbClr val="555555"/>
                </a:solidFill>
                <a:latin typeface="Arial"/>
              </a:rPr>
              <a:t>framework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2078492" y="13097834"/>
            <a:ext cx="7238094" cy="12138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4158"/>
              </a:lnSpc>
              <a:spcBef>
                <a:spcPts val="0"/>
              </a:spcBef>
              <a:spcAft>
                <a:spcPts val="0"/>
              </a:spcAft>
            </a:pPr>
            <a:r>
              <a:rPr sz="3198" b="0" i="1">
                <a:solidFill>
                  <a:srgbClr val="555555"/>
                </a:solidFill>
                <a:latin typeface="Arial"/>
              </a:rPr>
              <a:t>Four dynamic roles of the LLM across</a:t>
            </a:r>
          </a:p>
          <a:p>
            <a:pPr algn="ctr">
              <a:lnSpc>
                <a:spcPts val="4158"/>
              </a:lnSpc>
              <a:spcBef>
                <a:spcPts val="0"/>
              </a:spcBef>
              <a:spcAft>
                <a:spcPts val="0"/>
              </a:spcAft>
            </a:pPr>
            <a:r>
              <a:rPr sz="3198" b="0" i="1">
                <a:solidFill>
                  <a:srgbClr val="555555"/>
                </a:solidFill>
                <a:latin typeface="Arial"/>
              </a:rPr>
              <a:t>patients' healthcare-seeking journeys.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1965035" y="13838212"/>
            <a:ext cx="851006" cy="17083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1702"/>
              </a:lnSpc>
              <a:spcBef>
                <a:spcPts val="0"/>
              </a:spcBef>
              <a:spcAft>
                <a:spcPts val="0"/>
              </a:spcAft>
            </a:pPr>
            <a:r>
              <a:rPr sz="11702" b="1">
                <a:solidFill>
                  <a:srgbClr val="34373B"/>
                </a:solidFill>
                <a:latin typeface="Arial"/>
              </a:rP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2989292" y="14628585"/>
            <a:ext cx="4864833" cy="7429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5090"/>
              </a:lnSpc>
              <a:spcBef>
                <a:spcPts val="0"/>
              </a:spcBef>
              <a:spcAft>
                <a:spcPts val="0"/>
              </a:spcAft>
            </a:pPr>
            <a:r>
              <a:rPr sz="3510" b="0">
                <a:solidFill>
                  <a:srgbClr val="555555"/>
                </a:solidFill>
                <a:latin typeface="Arial"/>
              </a:rPr>
              <a:t>distinct scaffolding roles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1187398" y="15050404"/>
            <a:ext cx="6218201" cy="6875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4710"/>
              </a:lnSpc>
              <a:spcBef>
                <a:spcPts val="0"/>
              </a:spcBef>
              <a:spcAft>
                <a:spcPts val="0"/>
              </a:spcAft>
            </a:pPr>
            <a:r>
              <a:rPr sz="4095" b="1">
                <a:solidFill>
                  <a:srgbClr val="34373B"/>
                </a:solidFill>
                <a:latin typeface="Arial"/>
              </a:rPr>
              <a:t>Longitudinal diary study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9790046" y="15163932"/>
            <a:ext cx="1070005" cy="4264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2920"/>
              </a:lnSpc>
              <a:spcBef>
                <a:spcPts val="0"/>
              </a:spcBef>
              <a:spcAft>
                <a:spcPts val="0"/>
              </a:spcAft>
            </a:pPr>
            <a:r>
              <a:rPr sz="2539" b="1" i="1">
                <a:solidFill>
                  <a:srgbClr val="555555"/>
                </a:solidFill>
                <a:latin typeface="Arial"/>
              </a:rPr>
              <a:t>design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86700" y="17105344"/>
            <a:ext cx="8479807" cy="330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 marL="544927" indent="-544927">
              <a:lnSpc>
                <a:spcPts val="5656"/>
              </a:lnSpc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Font typeface="Arial" panose="020B0604020202020204" pitchFamily="34" charset="0"/>
              <a:buChar char="•"/>
            </a:pPr>
            <a:r>
              <a:rPr sz="3900" b="1">
                <a:solidFill>
                  <a:srgbClr val="111111"/>
                </a:solidFill>
                <a:latin typeface="Arial"/>
              </a:rPr>
              <a:t>LLMs embed continuously</a:t>
            </a:r>
          </a:p>
          <a:p>
            <a:pPr algn="l" marL="544927" indent="0">
              <a:lnSpc>
                <a:spcPts val="565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900" b="0">
                <a:solidFill>
                  <a:srgbClr val="1C1C1C"/>
                </a:solidFill>
                <a:latin typeface="Arial"/>
              </a:rPr>
              <a:t>across the whole journey — from</a:t>
            </a:r>
          </a:p>
          <a:p>
            <a:pPr algn="l" marL="544927" indent="0">
              <a:lnSpc>
                <a:spcPts val="565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900" b="0">
                <a:solidFill>
                  <a:srgbClr val="1C1C1C"/>
                </a:solidFill>
                <a:latin typeface="Arial"/>
              </a:rPr>
              <a:t>first symptom to long-term follow-</a:t>
            </a:r>
          </a:p>
          <a:p>
            <a:pPr algn="l" marL="544927" indent="0">
              <a:lnSpc>
                <a:spcPts val="565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900" b="0">
                <a:solidFill>
                  <a:srgbClr val="1C1C1C"/>
                </a:solidFill>
                <a:latin typeface="Arial"/>
              </a:rPr>
              <a:t>up, reshaping care in real time.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355310" y="17434020"/>
            <a:ext cx="10787783" cy="16511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 marL="544927" indent="-544927">
              <a:lnSpc>
                <a:spcPts val="5656"/>
              </a:lnSpc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Font typeface="Arial" panose="020B0604020202020204" pitchFamily="34" charset="0"/>
              <a:buChar char="•"/>
            </a:pPr>
            <a:r>
              <a:rPr sz="3900" b="1">
                <a:solidFill>
                  <a:srgbClr val="111111"/>
                </a:solidFill>
                <a:latin typeface="Arial"/>
              </a:rPr>
              <a:t>25 patients</a:t>
            </a:r>
            <a:r>
              <a:rPr sz="3900" b="0">
                <a:solidFill>
                  <a:srgbClr val="1C1C1C"/>
                </a:solidFill>
                <a:latin typeface="Arial"/>
              </a:rPr>
              <a:t> — 21 female / 4 male, ages 19–</a:t>
            </a:r>
          </a:p>
          <a:p>
            <a:pPr algn="l" marL="544927" indent="0">
              <a:lnSpc>
                <a:spcPts val="565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900" b="0">
                <a:solidFill>
                  <a:srgbClr val="1C1C1C"/>
                </a:solidFill>
                <a:latin typeface="Arial"/>
              </a:rPr>
              <a:t>56, conditions from acute injury to cancer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355310" y="19043035"/>
            <a:ext cx="10787783" cy="16511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 marL="544927" indent="-544927">
              <a:lnSpc>
                <a:spcPts val="5656"/>
              </a:lnSpc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Font typeface="Arial" panose="020B0604020202020204" pitchFamily="34" charset="0"/>
              <a:buChar char="•"/>
            </a:pPr>
            <a:r>
              <a:rPr sz="3900" b="1">
                <a:solidFill>
                  <a:srgbClr val="111111"/>
                </a:solidFill>
                <a:latin typeface="Arial"/>
              </a:rPr>
              <a:t>Own LLMs</a:t>
            </a:r>
            <a:r>
              <a:rPr sz="3900" b="0">
                <a:solidFill>
                  <a:srgbClr val="1C1C1C"/>
                </a:solidFill>
                <a:latin typeface="Arial"/>
              </a:rPr>
              <a:t> — ChatGPT, DeepSeek, Kimi,</a:t>
            </a:r>
          </a:p>
          <a:p>
            <a:pPr algn="l" marL="544927" indent="0">
              <a:lnSpc>
                <a:spcPts val="565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900" b="0">
                <a:solidFill>
                  <a:srgbClr val="1C1C1C"/>
                </a:solidFill>
                <a:latin typeface="Arial"/>
              </a:rPr>
              <a:t>Qwen, Doubao + health-specific tools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86700" y="20150182"/>
            <a:ext cx="8479807" cy="412799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 marL="544927" indent="-544927">
              <a:lnSpc>
                <a:spcPts val="5656"/>
              </a:lnSpc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Font typeface="Arial" panose="020B0604020202020204" pitchFamily="34" charset="0"/>
              <a:buChar char="•"/>
            </a:pPr>
            <a:r>
              <a:rPr sz="3900" b="1">
                <a:solidFill>
                  <a:srgbClr val="111111"/>
                </a:solidFill>
                <a:latin typeface="Arial"/>
              </a:rPr>
              <a:t>Earlier tools were rigid</a:t>
            </a:r>
            <a:r>
              <a:rPr sz="3900" b="0">
                <a:solidFill>
                  <a:srgbClr val="1C1C1C"/>
                </a:solidFill>
                <a:latin typeface="Arial"/>
              </a:rPr>
              <a:t> —</a:t>
            </a:r>
          </a:p>
          <a:p>
            <a:pPr algn="l" marL="544927" indent="0">
              <a:lnSpc>
                <a:spcPts val="565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900" b="0">
                <a:solidFill>
                  <a:srgbClr val="1C1C1C"/>
                </a:solidFill>
                <a:latin typeface="Arial"/>
              </a:rPr>
              <a:t>scripted chatbots and symptom</a:t>
            </a:r>
          </a:p>
          <a:p>
            <a:pPr algn="l" marL="544927" indent="0">
              <a:lnSpc>
                <a:spcPts val="565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900" b="0">
                <a:solidFill>
                  <a:srgbClr val="1C1C1C"/>
                </a:solidFill>
                <a:latin typeface="Arial"/>
              </a:rPr>
              <a:t>checkers could not adapt to</a:t>
            </a:r>
          </a:p>
          <a:p>
            <a:pPr algn="l" marL="544927" indent="0">
              <a:lnSpc>
                <a:spcPts val="565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900" b="0">
                <a:solidFill>
                  <a:srgbClr val="1C1C1C"/>
                </a:solidFill>
                <a:latin typeface="Arial"/>
              </a:rPr>
              <a:t>shifting emotional and</a:t>
            </a:r>
          </a:p>
          <a:p>
            <a:pPr algn="l" marL="544927" indent="0">
              <a:lnSpc>
                <a:spcPts val="565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900" b="0">
                <a:solidFill>
                  <a:srgbClr val="1C1C1C"/>
                </a:solidFill>
                <a:latin typeface="Arial"/>
              </a:rPr>
              <a:t>informational needs.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355310" y="20652050"/>
            <a:ext cx="10787783" cy="16511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 marL="544927" indent="-544927">
              <a:lnSpc>
                <a:spcPts val="5656"/>
              </a:lnSpc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Font typeface="Arial" panose="020B0604020202020204" pitchFamily="34" charset="0"/>
              <a:buChar char="•"/>
            </a:pPr>
            <a:r>
              <a:rPr sz="3900" b="1">
                <a:solidFill>
                  <a:srgbClr val="111111"/>
                </a:solidFill>
                <a:latin typeface="Arial"/>
              </a:rPr>
              <a:t>4-week IRB-approved</a:t>
            </a:r>
            <a:r>
              <a:rPr sz="3900" b="0">
                <a:solidFill>
                  <a:srgbClr val="1C1C1C"/>
                </a:solidFill>
                <a:latin typeface="Arial"/>
              </a:rPr>
              <a:t> — daily structured</a:t>
            </a:r>
          </a:p>
          <a:p>
            <a:pPr algn="l" marL="544927" indent="0">
              <a:lnSpc>
                <a:spcPts val="565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900" b="0">
                <a:solidFill>
                  <a:srgbClr val="1C1C1C"/>
                </a:solidFill>
                <a:latin typeface="Arial"/>
              </a:rPr>
              <a:t>diary of every health-related LLM interaction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4092180" y="21065538"/>
            <a:ext cx="7589195" cy="16511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5656"/>
              </a:lnSpc>
              <a:spcBef>
                <a:spcPts val="0"/>
              </a:spcBef>
              <a:spcAft>
                <a:spcPts val="0"/>
              </a:spcAft>
            </a:pPr>
            <a:r>
              <a:rPr sz="3900" b="0">
                <a:solidFill>
                  <a:srgbClr val="1C1C1C"/>
                </a:solidFill>
                <a:latin typeface="Arial"/>
              </a:rPr>
              <a:t>Design for relational continuity</a:t>
            </a:r>
          </a:p>
          <a:p>
            <a:pPr algn="l">
              <a:lnSpc>
                <a:spcPts val="5656"/>
              </a:lnSpc>
              <a:spcBef>
                <a:spcPts val="0"/>
              </a:spcBef>
              <a:spcAft>
                <a:spcPts val="0"/>
              </a:spcAft>
            </a:pPr>
            <a:r>
              <a:rPr sz="3900" b="0">
                <a:solidFill>
                  <a:srgbClr val="1C1C1C"/>
                </a:solidFill>
                <a:latin typeface="Arial"/>
              </a:rPr>
              <a:t>and responsible empowerment.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21964672" y="22448838"/>
            <a:ext cx="10787631" cy="16511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 marL="544927" indent="-544927">
              <a:lnSpc>
                <a:spcPts val="5656"/>
              </a:lnSpc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Font typeface="Arial" panose="020B0604020202020204" pitchFamily="34" charset="0"/>
              <a:buChar char="•"/>
            </a:pPr>
            <a:r>
              <a:rPr sz="3900" b="1">
                <a:solidFill>
                  <a:srgbClr val="111111"/>
                </a:solidFill>
                <a:latin typeface="Arial"/>
              </a:rPr>
              <a:t>Active negotiators</a:t>
            </a:r>
            <a:r>
              <a:rPr sz="3900" b="0">
                <a:solidFill>
                  <a:srgbClr val="1C1C1C"/>
                </a:solidFill>
                <a:latin typeface="Arial"/>
              </a:rPr>
              <a:t> — patients challenge</a:t>
            </a:r>
          </a:p>
          <a:p>
            <a:pPr algn="l" marL="544927" indent="0">
              <a:lnSpc>
                <a:spcPts val="565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900" b="0">
                <a:solidFill>
                  <a:srgbClr val="1C1C1C"/>
                </a:solidFill>
                <a:latin typeface="Arial"/>
              </a:rPr>
              <a:t>and refine clinician recommendations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1187398" y="23166602"/>
            <a:ext cx="5047816" cy="687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4710"/>
              </a:lnSpc>
              <a:spcBef>
                <a:spcPts val="0"/>
              </a:spcBef>
              <a:spcAft>
                <a:spcPts val="0"/>
              </a:spcAft>
            </a:pPr>
            <a:r>
              <a:rPr sz="4095" b="1">
                <a:solidFill>
                  <a:srgbClr val="34373B"/>
                </a:solidFill>
                <a:latin typeface="Arial"/>
              </a:rPr>
              <a:t>Two-phase protocol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572064" y="23280128"/>
            <a:ext cx="2324526" cy="42640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920"/>
              </a:lnSpc>
              <a:spcBef>
                <a:spcPts val="0"/>
              </a:spcBef>
              <a:spcAft>
                <a:spcPts val="0"/>
              </a:spcAft>
            </a:pPr>
            <a:r>
              <a:rPr sz="2539" b="1" i="1">
                <a:solidFill>
                  <a:srgbClr val="555555"/>
                </a:solidFill>
                <a:latin typeface="Arial"/>
              </a:rPr>
              <a:t>data collection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86700" y="23912932"/>
            <a:ext cx="8479807" cy="330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 marL="544927" indent="-544927">
              <a:lnSpc>
                <a:spcPts val="5656"/>
              </a:lnSpc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Font typeface="Arial" panose="020B0604020202020204" pitchFamily="34" charset="0"/>
              <a:buChar char="•"/>
            </a:pPr>
            <a:r>
              <a:rPr sz="3900" b="1">
                <a:solidFill>
                  <a:srgbClr val="111111"/>
                </a:solidFill>
                <a:latin typeface="Arial"/>
              </a:rPr>
              <a:t>Reshaping care</a:t>
            </a:r>
            <a:r>
              <a:rPr sz="3900" b="0">
                <a:solidFill>
                  <a:srgbClr val="1C1C1C"/>
                </a:solidFill>
                <a:latin typeface="Arial"/>
              </a:rPr>
              <a:t> — flexible</a:t>
            </a:r>
          </a:p>
          <a:p>
            <a:pPr algn="l" marL="544927" indent="0">
              <a:lnSpc>
                <a:spcPts val="565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900" b="0">
                <a:solidFill>
                  <a:srgbClr val="1C1C1C"/>
                </a:solidFill>
                <a:latin typeface="Arial"/>
              </a:rPr>
              <a:t>conversation reshapes patient–</a:t>
            </a:r>
          </a:p>
          <a:p>
            <a:pPr algn="l" marL="544927" indent="0">
              <a:lnSpc>
                <a:spcPts val="565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900" b="0">
                <a:solidFill>
                  <a:srgbClr val="1C1C1C"/>
                </a:solidFill>
                <a:latin typeface="Arial"/>
              </a:rPr>
              <a:t>provider relationships across</a:t>
            </a:r>
          </a:p>
          <a:p>
            <a:pPr algn="l" marL="544927" indent="0">
              <a:lnSpc>
                <a:spcPts val="565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900" b="0">
                <a:solidFill>
                  <a:srgbClr val="1C1C1C"/>
                </a:solidFill>
                <a:latin typeface="Arial"/>
              </a:rPr>
              <a:t>stages.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964672" y="24057853"/>
            <a:ext cx="10787631" cy="24767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 marL="544927" indent="-544927">
              <a:lnSpc>
                <a:spcPts val="5656"/>
              </a:lnSpc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Font typeface="Arial" panose="020B0604020202020204" pitchFamily="34" charset="0"/>
              <a:buChar char="•"/>
            </a:pPr>
            <a:r>
              <a:rPr sz="3900" b="1">
                <a:solidFill>
                  <a:srgbClr val="111111"/>
                </a:solidFill>
                <a:latin typeface="Arial"/>
              </a:rPr>
              <a:t>Trust calibration</a:t>
            </a:r>
            <a:r>
              <a:rPr sz="3900" b="0">
                <a:solidFill>
                  <a:srgbClr val="1C1C1C"/>
                </a:solidFill>
                <a:latin typeface="Arial"/>
              </a:rPr>
              <a:t> — cross-validating LLM</a:t>
            </a:r>
          </a:p>
          <a:p>
            <a:pPr algn="l" marL="544927" indent="0">
              <a:lnSpc>
                <a:spcPts val="565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900" b="0">
                <a:solidFill>
                  <a:srgbClr val="1C1C1C"/>
                </a:solidFill>
                <a:latin typeface="Arial"/>
              </a:rPr>
              <a:t>against clinician advice, sometimes</a:t>
            </a:r>
          </a:p>
          <a:p>
            <a:pPr algn="l" marL="544927" indent="0">
              <a:lnSpc>
                <a:spcPts val="565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900" b="0">
                <a:solidFill>
                  <a:srgbClr val="1C1C1C"/>
                </a:solidFill>
                <a:latin typeface="Arial"/>
              </a:rPr>
              <a:t>challenging doctors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269544" y="24167660"/>
            <a:ext cx="9846122" cy="175574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546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111111"/>
                </a:solidFill>
                <a:latin typeface="Arial"/>
              </a:rPr>
              <a:t>Daily diaries</a:t>
            </a:r>
            <a:r>
              <a:rPr sz="3900" b="0">
                <a:solidFill>
                  <a:srgbClr val="1C1C1C"/>
                </a:solidFill>
                <a:latin typeface="Arial"/>
              </a:rPr>
              <a:t> — 4-week structured logs of</a:t>
            </a:r>
          </a:p>
          <a:p>
            <a:pPr algn="l">
              <a:lnSpc>
                <a:spcPts val="5460"/>
              </a:lnSpc>
              <a:spcBef>
                <a:spcPts val="0"/>
              </a:spcBef>
              <a:spcAft>
                <a:spcPts val="0"/>
              </a:spcAft>
            </a:pPr>
            <a:r>
              <a:rPr sz="3900" b="0">
                <a:solidFill>
                  <a:srgbClr val="1C1C1C"/>
                </a:solidFill>
                <a:latin typeface="Arial"/>
              </a:rPr>
              <a:t>every health-related LLM interaction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269544" y="25991379"/>
            <a:ext cx="9846122" cy="175574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546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111111"/>
                </a:solidFill>
                <a:latin typeface="Arial"/>
              </a:rPr>
              <a:t>Exit interviews</a:t>
            </a:r>
            <a:r>
              <a:rPr sz="3900" b="0">
                <a:solidFill>
                  <a:srgbClr val="1C1C1C"/>
                </a:solidFill>
                <a:latin typeface="Arial"/>
              </a:rPr>
              <a:t> — in-depth semi-</a:t>
            </a:r>
          </a:p>
          <a:p>
            <a:pPr algn="l">
              <a:lnSpc>
                <a:spcPts val="5460"/>
              </a:lnSpc>
              <a:spcBef>
                <a:spcPts val="0"/>
              </a:spcBef>
              <a:spcAft>
                <a:spcPts val="0"/>
              </a:spcAft>
            </a:pPr>
            <a:r>
              <a:rPr sz="3900" b="0">
                <a:solidFill>
                  <a:srgbClr val="1C1C1C"/>
                </a:solidFill>
                <a:latin typeface="Arial"/>
              </a:rPr>
              <a:t>structured follow-up on emerging themes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6283090" y="26248638"/>
            <a:ext cx="2899221" cy="5365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3675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34373B"/>
                </a:solidFill>
                <a:latin typeface="Arial"/>
              </a:rPr>
              <a:t>Scan to Read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1964672" y="26384781"/>
            <a:ext cx="10787631" cy="16511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 marL="544927" indent="-544927">
              <a:lnSpc>
                <a:spcPts val="5656"/>
              </a:lnSpc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Font typeface="Arial" panose="020B0604020202020204" pitchFamily="34" charset="0"/>
              <a:buChar char="•"/>
            </a:pPr>
            <a:r>
              <a:rPr sz="3900" b="1">
                <a:solidFill>
                  <a:srgbClr val="111111"/>
                </a:solidFill>
                <a:latin typeface="Arial"/>
              </a:rPr>
              <a:t>Emotional reliance</a:t>
            </a:r>
            <a:r>
              <a:rPr sz="3900" b="0">
                <a:solidFill>
                  <a:srgbClr val="1C1C1C"/>
                </a:solidFill>
                <a:latin typeface="Arial"/>
              </a:rPr>
              <a:t> — acknowledged by all</a:t>
            </a:r>
          </a:p>
          <a:p>
            <a:pPr algn="l" marL="544927" indent="0">
              <a:lnSpc>
                <a:spcPts val="565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900" b="0">
                <a:solidFill>
                  <a:srgbClr val="1C1C1C"/>
                </a:solidFill>
                <a:latin typeface="Arial"/>
              </a:rPr>
              <a:t>25 participants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1964672" y="27993796"/>
            <a:ext cx="10787631" cy="16511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 marL="544927" indent="-544927">
              <a:lnSpc>
                <a:spcPts val="5656"/>
              </a:lnSpc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Font typeface="Arial" panose="020B0604020202020204" pitchFamily="34" charset="0"/>
              <a:buChar char="•"/>
            </a:pPr>
            <a:r>
              <a:rPr sz="3900" b="1">
                <a:solidFill>
                  <a:srgbClr val="111111"/>
                </a:solidFill>
                <a:latin typeface="Arial"/>
              </a:rPr>
              <a:t>Shifting roles</a:t>
            </a:r>
            <a:r>
              <a:rPr sz="3900" b="0">
                <a:solidFill>
                  <a:srgbClr val="1C1C1C"/>
                </a:solidFill>
                <a:latin typeface="Arial"/>
              </a:rPr>
              <a:t> — the same patient leans on</a:t>
            </a:r>
          </a:p>
          <a:p>
            <a:pPr algn="l" marL="544927" indent="0">
              <a:lnSpc>
                <a:spcPts val="565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900" b="0">
                <a:solidFill>
                  <a:srgbClr val="1C1C1C"/>
                </a:solidFill>
                <a:latin typeface="Arial"/>
              </a:rPr>
              <a:t>the LLM differently at each journey stage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3837604" y="15725763"/>
            <a:ext cx="4170141" cy="13454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9216"/>
              </a:lnSpc>
              <a:spcBef>
                <a:spcPts val="0"/>
              </a:spcBef>
              <a:spcAft>
                <a:spcPts val="0"/>
              </a:spcAft>
            </a:pPr>
            <a:r>
              <a:rPr sz="9701" b="1" spc="-194">
                <a:solidFill>
                  <a:srgbClr val="34373B"/>
                </a:solidFill>
                <a:latin typeface="Arial"/>
              </a:rPr>
              <a:t>4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33837604" y="16917867"/>
            <a:ext cx="4170141" cy="5620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85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1C1C1C"/>
                </a:solidFill>
                <a:latin typeface="Arial"/>
              </a:rPr>
              <a:t>roles in care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3837604" y="17406643"/>
            <a:ext cx="4170141" cy="4364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99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1">
                <a:solidFill>
                  <a:srgbClr val="555555"/>
                </a:solidFill>
                <a:latin typeface="Arial"/>
              </a:rPr>
              <a:t>4 levels of scaffolding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3574247" y="6882429"/>
            <a:ext cx="3083891" cy="712667"/>
          </a:xfrm>
          <a:prstGeom prst="rect">
            <a:avLst/>
          </a:prstGeom>
          <a:noFill/>
        </p:spPr>
        <p:txBody>
          <a:bodyPr wrap="none" lIns="76213" rIns="76213" tIns="57160" bIns="57160">
            <a:spAutoFit/>
          </a:bodyPr>
          <a:lstStyle/>
          <a:p>
            <a:pPr algn="l">
              <a:lnSpc>
                <a:spcPts val="3945"/>
              </a:lnSpc>
              <a:spcBef>
                <a:spcPts val="0"/>
              </a:spcBef>
              <a:spcAft>
                <a:spcPts val="0"/>
              </a:spcAft>
            </a:pPr>
            <a:r>
              <a:rPr sz="2720" b="1" spc="136">
                <a:solidFill>
                  <a:srgbClr val="34373B"/>
                </a:solidFill>
                <a:latin typeface="Arial"/>
              </a:rPr>
              <a:t>VIEW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568316" y="6882429"/>
            <a:ext cx="5395700" cy="712667"/>
          </a:xfrm>
          <a:prstGeom prst="rect">
            <a:avLst/>
          </a:prstGeom>
          <a:noFill/>
        </p:spPr>
        <p:txBody>
          <a:bodyPr wrap="none" lIns="76213" rIns="76213" tIns="57160" bIns="57160">
            <a:spAutoFit/>
          </a:bodyPr>
          <a:lstStyle/>
          <a:p>
            <a:pPr algn="ctr">
              <a:lnSpc>
                <a:spcPts val="3945"/>
              </a:lnSpc>
              <a:spcBef>
                <a:spcPts val="0"/>
              </a:spcBef>
              <a:spcAft>
                <a:spcPts val="0"/>
              </a:spcAft>
            </a:pPr>
            <a:r>
              <a:rPr sz="2720" b="1" spc="136">
                <a:solidFill>
                  <a:srgbClr val="34373B"/>
                </a:solidFill>
                <a:latin typeface="Arial"/>
              </a:rPr>
              <a:t>ROLE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3574247" y="7502140"/>
            <a:ext cx="3083891" cy="1677889"/>
          </a:xfrm>
          <a:prstGeom prst="rect">
            <a:avLst/>
          </a:prstGeom>
          <a:noFill/>
        </p:spPr>
        <p:txBody>
          <a:bodyPr wrap="none" lIns="76213" rIns="76213" tIns="57160" bIns="57160">
            <a:spAutoFit/>
          </a:bodyPr>
          <a:lstStyle/>
          <a:p>
            <a:pPr algn="l">
              <a:lnSpc>
                <a:spcPts val="5260"/>
              </a:lnSpc>
              <a:spcBef>
                <a:spcPts val="0"/>
              </a:spcBef>
              <a:spcAft>
                <a:spcPts val="0"/>
              </a:spcAft>
            </a:pPr>
            <a:r>
              <a:rPr sz="3627" b="1">
                <a:solidFill>
                  <a:srgbClr val="1C1C1C"/>
                </a:solidFill>
                <a:latin typeface="Arial"/>
              </a:rPr>
              <a:t>Prior</a:t>
            </a:r>
          </a:p>
          <a:p>
            <a:pPr algn="l">
              <a:lnSpc>
                <a:spcPts val="5260"/>
              </a:lnSpc>
              <a:spcBef>
                <a:spcPts val="0"/>
              </a:spcBef>
              <a:spcAft>
                <a:spcPts val="0"/>
              </a:spcAft>
            </a:pPr>
            <a:r>
              <a:rPr sz="3627" b="1">
                <a:solidFill>
                  <a:srgbClr val="1C1C1C"/>
                </a:solidFill>
                <a:latin typeface="Arial"/>
              </a:rPr>
              <a:t>framing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68316" y="7502140"/>
            <a:ext cx="5395700" cy="1677889"/>
          </a:xfrm>
          <a:prstGeom prst="rect">
            <a:avLst/>
          </a:prstGeom>
          <a:noFill/>
        </p:spPr>
        <p:txBody>
          <a:bodyPr wrap="square" lIns="76213" rIns="76213" tIns="57160" bIns="57160">
            <a:spAutoFit/>
          </a:bodyPr>
          <a:lstStyle/>
          <a:p>
            <a:pPr algn="ctr">
              <a:lnSpc>
                <a:spcPts val="5260"/>
              </a:lnSpc>
              <a:spcBef>
                <a:spcPts val="0"/>
              </a:spcBef>
              <a:spcAft>
                <a:spcPts val="0"/>
              </a:spcAft>
            </a:pPr>
            <a:r>
              <a:rPr sz="3627" b="0">
                <a:solidFill>
                  <a:srgbClr val="1C1C1C"/>
                </a:solidFill>
                <a:latin typeface="Arial"/>
              </a:rPr>
              <a:t>episodic decision aid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3574247" y="8961174"/>
            <a:ext cx="3083891" cy="1677890"/>
          </a:xfrm>
          <a:prstGeom prst="rect">
            <a:avLst/>
          </a:prstGeom>
          <a:noFill/>
        </p:spPr>
        <p:txBody>
          <a:bodyPr wrap="square" lIns="76213" rIns="76213" tIns="57160" bIns="57160">
            <a:spAutoFit/>
          </a:bodyPr>
          <a:lstStyle/>
          <a:p>
            <a:pPr algn="l">
              <a:lnSpc>
                <a:spcPts val="5260"/>
              </a:lnSpc>
              <a:spcBef>
                <a:spcPts val="0"/>
              </a:spcBef>
              <a:spcAft>
                <a:spcPts val="0"/>
              </a:spcAft>
            </a:pPr>
            <a:r>
              <a:rPr sz="3627" b="1">
                <a:solidFill>
                  <a:srgbClr val="34373B"/>
                </a:solidFill>
                <a:latin typeface="Arial"/>
              </a:rPr>
              <a:t>This study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6568316" y="8961174"/>
            <a:ext cx="5395700" cy="1677890"/>
          </a:xfrm>
          <a:prstGeom prst="rect">
            <a:avLst/>
          </a:prstGeom>
          <a:noFill/>
        </p:spPr>
        <p:txBody>
          <a:bodyPr wrap="none" lIns="76213" rIns="76213" tIns="57160" bIns="57160">
            <a:spAutoFit/>
          </a:bodyPr>
          <a:lstStyle/>
          <a:p>
            <a:pPr algn="ctr">
              <a:lnSpc>
                <a:spcPts val="5260"/>
              </a:lnSpc>
              <a:spcBef>
                <a:spcPts val="0"/>
              </a:spcBef>
              <a:spcAft>
                <a:spcPts val="0"/>
              </a:spcAft>
            </a:pPr>
            <a:r>
              <a:rPr sz="3627" b="1">
                <a:solidFill>
                  <a:srgbClr val="34373B"/>
                </a:solidFill>
                <a:latin typeface="Arial"/>
              </a:rPr>
              <a:t>longitudinal</a:t>
            </a:r>
          </a:p>
          <a:p>
            <a:pPr algn="ctr">
              <a:lnSpc>
                <a:spcPts val="5260"/>
              </a:lnSpc>
              <a:spcBef>
                <a:spcPts val="0"/>
              </a:spcBef>
              <a:spcAft>
                <a:spcPts val="0"/>
              </a:spcAft>
            </a:pPr>
            <a:r>
              <a:rPr sz="3627" b="1">
                <a:solidFill>
                  <a:srgbClr val="34373B"/>
                </a:solidFill>
                <a:latin typeface="Arial"/>
              </a:rPr>
              <a:t>companion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1965035" y="15447525"/>
            <a:ext cx="3285263" cy="771869"/>
          </a:xfrm>
          <a:prstGeom prst="rect">
            <a:avLst/>
          </a:prstGeom>
          <a:noFill/>
        </p:spPr>
        <p:txBody>
          <a:bodyPr wrap="none" lIns="176482" rIns="176482" tIns="77652" bIns="77652">
            <a:spAutoFit/>
          </a:bodyPr>
          <a:lstStyle/>
          <a:p>
            <a:pPr algn="l">
              <a:lnSpc>
                <a:spcPts val="4029"/>
              </a:lnSpc>
              <a:spcBef>
                <a:spcPts val="0"/>
              </a:spcBef>
              <a:spcAft>
                <a:spcPts val="0"/>
              </a:spcAft>
            </a:pPr>
            <a:r>
              <a:rPr sz="2779" b="1" spc="138">
                <a:solidFill>
                  <a:srgbClr val="555555"/>
                </a:solidFill>
                <a:latin typeface="Arial"/>
              </a:rPr>
              <a:t>ROLE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25154611" y="15447525"/>
            <a:ext cx="7501994" cy="771869"/>
          </a:xfrm>
          <a:prstGeom prst="rect">
            <a:avLst/>
          </a:prstGeom>
          <a:noFill/>
        </p:spPr>
        <p:txBody>
          <a:bodyPr wrap="square" lIns="176482" rIns="176482" tIns="77652" bIns="77652">
            <a:spAutoFit/>
          </a:bodyPr>
          <a:lstStyle/>
          <a:p>
            <a:pPr algn="l">
              <a:lnSpc>
                <a:spcPts val="4029"/>
              </a:lnSpc>
              <a:spcBef>
                <a:spcPts val="0"/>
              </a:spcBef>
              <a:spcAft>
                <a:spcPts val="0"/>
              </a:spcAft>
            </a:pPr>
            <a:r>
              <a:rPr sz="2779" b="1" spc="138">
                <a:solidFill>
                  <a:srgbClr val="555555"/>
                </a:solidFill>
                <a:latin typeface="Arial"/>
              </a:rPr>
              <a:t>SCAFFOLDING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8885995" y="15725763"/>
            <a:ext cx="707105" cy="481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spc="-33">
                <a:solidFill>
                  <a:srgbClr val="AE2622"/>
                </a:solidFill>
                <a:latin typeface="Arial"/>
              </a:rPr>
              <a:t>587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39745693" y="15773376"/>
            <a:ext cx="1851744" cy="4554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555555"/>
                </a:solidFill>
                <a:latin typeface="Arial"/>
              </a:rPr>
              <a:t>diary entries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21965035" y="16118716"/>
            <a:ext cx="3285263" cy="1033153"/>
          </a:xfrm>
          <a:prstGeom prst="rect">
            <a:avLst/>
          </a:prstGeom>
          <a:noFill/>
        </p:spPr>
        <p:txBody>
          <a:bodyPr wrap="square" lIns="235309" rIns="235309" tIns="103537" bIns="103537">
            <a:spAutoFit/>
          </a:bodyPr>
          <a:lstStyle/>
          <a:p>
            <a:pPr algn="l">
              <a:lnSpc>
                <a:spcPts val="5373"/>
              </a:lnSpc>
              <a:spcBef>
                <a:spcPts val="0"/>
              </a:spcBef>
              <a:spcAft>
                <a:spcPts val="0"/>
              </a:spcAft>
            </a:pPr>
            <a:r>
              <a:rPr sz="3705" b="0">
                <a:solidFill>
                  <a:srgbClr val="1C1C1C"/>
                </a:solidFill>
                <a:latin typeface="Arial"/>
              </a:rPr>
              <a:t>Behavioral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25154611" y="16118716"/>
            <a:ext cx="7501994" cy="1033153"/>
          </a:xfrm>
          <a:prstGeom prst="rect">
            <a:avLst/>
          </a:prstGeom>
          <a:noFill/>
        </p:spPr>
        <p:txBody>
          <a:bodyPr wrap="square" lIns="235309" rIns="235309" tIns="103537" bIns="103537">
            <a:spAutoFit/>
          </a:bodyPr>
          <a:lstStyle/>
          <a:p>
            <a:pPr algn="l">
              <a:lnSpc>
                <a:spcPts val="5373"/>
              </a:lnSpc>
              <a:spcBef>
                <a:spcPts val="0"/>
              </a:spcBef>
              <a:spcAft>
                <a:spcPts val="0"/>
              </a:spcAft>
            </a:pPr>
            <a:r>
              <a:rPr sz="3705" b="0">
                <a:solidFill>
                  <a:srgbClr val="1C1C1C"/>
                </a:solidFill>
                <a:latin typeface="Arial"/>
              </a:rPr>
              <a:t>negotiate healthcare decisions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38885995" y="16495006"/>
            <a:ext cx="471400" cy="48184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spc="-33">
                <a:solidFill>
                  <a:srgbClr val="AE2622"/>
                </a:solidFill>
                <a:latin typeface="Arial"/>
              </a:rPr>
              <a:t>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9516857" y="16542619"/>
            <a:ext cx="2078557" cy="4554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555555"/>
                </a:solidFill>
                <a:latin typeface="Arial"/>
              </a:rPr>
              <a:t>patients, 4 wk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21965035" y="17017110"/>
            <a:ext cx="3285263" cy="1033153"/>
          </a:xfrm>
          <a:prstGeom prst="rect">
            <a:avLst/>
          </a:prstGeom>
          <a:noFill/>
        </p:spPr>
        <p:txBody>
          <a:bodyPr wrap="square" lIns="235309" rIns="235309" tIns="103537" bIns="103537">
            <a:spAutoFit/>
          </a:bodyPr>
          <a:lstStyle/>
          <a:p>
            <a:pPr algn="l">
              <a:lnSpc>
                <a:spcPts val="5373"/>
              </a:lnSpc>
              <a:spcBef>
                <a:spcPts val="0"/>
              </a:spcBef>
              <a:spcAft>
                <a:spcPts val="0"/>
              </a:spcAft>
            </a:pPr>
            <a:r>
              <a:rPr sz="3705" b="0">
                <a:solidFill>
                  <a:srgbClr val="1C1C1C"/>
                </a:solidFill>
                <a:latin typeface="Arial"/>
              </a:rPr>
              <a:t>Informational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5154611" y="17017110"/>
            <a:ext cx="7501994" cy="1033153"/>
          </a:xfrm>
          <a:prstGeom prst="rect">
            <a:avLst/>
          </a:prstGeom>
          <a:noFill/>
        </p:spPr>
        <p:txBody>
          <a:bodyPr wrap="square" lIns="235309" rIns="235309" tIns="103537" bIns="103537">
            <a:spAutoFit/>
          </a:bodyPr>
          <a:lstStyle/>
          <a:p>
            <a:pPr algn="l">
              <a:lnSpc>
                <a:spcPts val="5373"/>
              </a:lnSpc>
              <a:spcBef>
                <a:spcPts val="0"/>
              </a:spcBef>
              <a:spcAft>
                <a:spcPts val="0"/>
              </a:spcAft>
            </a:pPr>
            <a:r>
              <a:rPr sz="3705" b="0">
                <a:solidFill>
                  <a:srgbClr val="1C1C1C"/>
                </a:solidFill>
                <a:latin typeface="Arial"/>
              </a:rPr>
              <a:t>patient–provider communication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8885995" y="17264400"/>
            <a:ext cx="707105" cy="481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spc="-33">
                <a:solidFill>
                  <a:srgbClr val="AE2622"/>
                </a:solidFill>
                <a:latin typeface="Arial"/>
              </a:rPr>
              <a:t>478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9745693" y="17312012"/>
            <a:ext cx="1398271" cy="4554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555555"/>
                </a:solidFill>
                <a:latin typeface="Arial"/>
              </a:rPr>
              <a:t>LLM-only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1965035" y="17915504"/>
            <a:ext cx="3285263" cy="1033154"/>
          </a:xfrm>
          <a:prstGeom prst="rect">
            <a:avLst/>
          </a:prstGeom>
          <a:noFill/>
        </p:spPr>
        <p:txBody>
          <a:bodyPr wrap="square" lIns="235309" rIns="235309" tIns="103537" bIns="103537">
            <a:spAutoFit/>
          </a:bodyPr>
          <a:lstStyle/>
          <a:p>
            <a:pPr algn="l">
              <a:lnSpc>
                <a:spcPts val="5373"/>
              </a:lnSpc>
              <a:spcBef>
                <a:spcPts val="0"/>
              </a:spcBef>
              <a:spcAft>
                <a:spcPts val="0"/>
              </a:spcAft>
            </a:pPr>
            <a:r>
              <a:rPr sz="3705" b="0">
                <a:solidFill>
                  <a:srgbClr val="1C1C1C"/>
                </a:solidFill>
                <a:latin typeface="Arial"/>
              </a:rPr>
              <a:t>Emotional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5154611" y="17915504"/>
            <a:ext cx="7501994" cy="1033154"/>
          </a:xfrm>
          <a:prstGeom prst="rect">
            <a:avLst/>
          </a:prstGeom>
          <a:noFill/>
        </p:spPr>
        <p:txBody>
          <a:bodyPr wrap="square" lIns="235309" rIns="235309" tIns="103537" bIns="103537">
            <a:spAutoFit/>
          </a:bodyPr>
          <a:lstStyle/>
          <a:p>
            <a:pPr algn="l">
              <a:lnSpc>
                <a:spcPts val="5373"/>
              </a:lnSpc>
              <a:spcBef>
                <a:spcPts val="0"/>
              </a:spcBef>
              <a:spcAft>
                <a:spcPts val="0"/>
              </a:spcAft>
            </a:pPr>
            <a:r>
              <a:rPr sz="3705" b="0">
                <a:solidFill>
                  <a:srgbClr val="1C1C1C"/>
                </a:solidFill>
                <a:latin typeface="Arial"/>
              </a:rPr>
              <a:t>companionship &amp; reassurance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965035" y="18813899"/>
            <a:ext cx="3285263" cy="1817512"/>
          </a:xfrm>
          <a:prstGeom prst="rect">
            <a:avLst/>
          </a:prstGeom>
          <a:noFill/>
        </p:spPr>
        <p:txBody>
          <a:bodyPr wrap="square" lIns="235309" rIns="235309" tIns="103537" bIns="103537">
            <a:spAutoFit/>
          </a:bodyPr>
          <a:lstStyle/>
          <a:p>
            <a:pPr algn="l">
              <a:lnSpc>
                <a:spcPts val="5373"/>
              </a:lnSpc>
              <a:spcBef>
                <a:spcPts val="0"/>
              </a:spcBef>
              <a:spcAft>
                <a:spcPts val="0"/>
              </a:spcAft>
            </a:pPr>
            <a:r>
              <a:rPr sz="3705" b="0">
                <a:solidFill>
                  <a:srgbClr val="1C1C1C"/>
                </a:solidFill>
                <a:latin typeface="Arial"/>
              </a:rPr>
              <a:t>Cognitive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5154611" y="18813899"/>
            <a:ext cx="7501994" cy="1817512"/>
          </a:xfrm>
          <a:prstGeom prst="rect">
            <a:avLst/>
          </a:prstGeom>
          <a:noFill/>
        </p:spPr>
        <p:txBody>
          <a:bodyPr wrap="none" lIns="235309" rIns="235309" tIns="103537" bIns="103537">
            <a:spAutoFit/>
          </a:bodyPr>
          <a:lstStyle/>
          <a:p>
            <a:pPr algn="l">
              <a:lnSpc>
                <a:spcPts val="5373"/>
              </a:lnSpc>
              <a:spcBef>
                <a:spcPts val="0"/>
              </a:spcBef>
              <a:spcAft>
                <a:spcPts val="0"/>
              </a:spcAft>
            </a:pPr>
            <a:r>
              <a:rPr sz="3705" b="0">
                <a:solidFill>
                  <a:srgbClr val="1C1C1C"/>
                </a:solidFill>
                <a:latin typeface="Arial"/>
              </a:rPr>
              <a:t>sensemaking of medical</a:t>
            </a:r>
          </a:p>
          <a:p>
            <a:pPr algn="l">
              <a:lnSpc>
                <a:spcPts val="5373"/>
              </a:lnSpc>
              <a:spcBef>
                <a:spcPts val="0"/>
              </a:spcBef>
              <a:spcAft>
                <a:spcPts val="0"/>
              </a:spcAft>
            </a:pPr>
            <a:r>
              <a:rPr sz="3705" b="0">
                <a:solidFill>
                  <a:srgbClr val="1C1C1C"/>
                </a:solidFill>
                <a:latin typeface="Arial"/>
              </a:rPr>
              <a:t>knowledge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