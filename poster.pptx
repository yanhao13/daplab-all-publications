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8959" y="618966"/>
            <a:ext cx="41556003" cy="4286044"/>
          </a:xfrm>
          <a:prstGeom prst="roundRect">
            <a:avLst>
              <a:gd name="adj" fmla="val 3129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8959" y="5396612"/>
            <a:ext cx="8966435" cy="1039923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87568" y="5396612"/>
            <a:ext cx="11208231" cy="854560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597974" y="5396612"/>
            <a:ext cx="11208228" cy="509635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208377" y="5396612"/>
            <a:ext cx="8966437" cy="1051975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597974" y="10805723"/>
            <a:ext cx="11208228" cy="1883800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87568" y="14254974"/>
            <a:ext cx="11208231" cy="745452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959" y="16108599"/>
            <a:ext cx="8966435" cy="13535128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208377" y="16229119"/>
            <a:ext cx="8966437" cy="614160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87568" y="22022258"/>
            <a:ext cx="11208231" cy="7621469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08377" y="22683480"/>
            <a:ext cx="8966437" cy="6960247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8377" y="2268348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36708" y="22683480"/>
            <a:ext cx="38106" cy="696024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08377" y="2960562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08377" y="22683480"/>
            <a:ext cx="57160" cy="6960247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993453" y="6630379"/>
            <a:ext cx="10417270" cy="3470526"/>
          </a:xfrm>
          <a:prstGeom prst="roundRect">
            <a:avLst>
              <a:gd name="adj" fmla="val 5668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03858" y="10386434"/>
            <a:ext cx="8175473" cy="2480775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4439" y="12103618"/>
            <a:ext cx="8175476" cy="331310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14439" y="12103618"/>
            <a:ext cx="114320" cy="3313107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03858" y="13219990"/>
            <a:ext cx="8175473" cy="21126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03858" y="13219990"/>
            <a:ext cx="8175473" cy="12385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3048" y="15583221"/>
            <a:ext cx="10417270" cy="1362917"/>
          </a:xfrm>
          <a:prstGeom prst="roundRect">
            <a:avLst>
              <a:gd name="adj" fmla="val 15589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603858" y="17692766"/>
            <a:ext cx="8175473" cy="4303305"/>
          </a:xfrm>
          <a:prstGeom prst="roundRect">
            <a:avLst>
              <a:gd name="adj" fmla="val 1771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9526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22902" y="24503926"/>
            <a:ext cx="8156429" cy="4768272"/>
          </a:xfrm>
          <a:prstGeom prst="roundRect">
            <a:avLst>
              <a:gd name="adj" fmla="val 4125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4439" y="25325692"/>
            <a:ext cx="8175476" cy="3944125"/>
          </a:xfrm>
          <a:prstGeom prst="roundRect">
            <a:avLst>
              <a:gd name="adj" fmla="val 4364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4439" y="25325692"/>
            <a:ext cx="114320" cy="3944125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993453" y="27709606"/>
            <a:ext cx="10417270" cy="1553368"/>
          </a:xfrm>
          <a:prstGeom prst="roundRect">
            <a:avLst>
              <a:gd name="adj" fmla="val 12665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olumbia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1972" y="976365"/>
            <a:ext cx="737544" cy="96176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028634" y="2139153"/>
            <a:ext cx="1899285" cy="1899304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237" y="2239756"/>
            <a:ext cx="1698080" cy="169809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4173718" y="2139153"/>
            <a:ext cx="1899282" cy="1899304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74320" y="2239757"/>
            <a:ext cx="1698078" cy="1698097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1993453" y="5792096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83048" y="7076898"/>
            <a:ext cx="10417270" cy="5709965"/>
          </a:xfrm>
          <a:prstGeom prst="roundRect">
            <a:avLst>
              <a:gd name="adj" fmla="val 667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igur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3111" y="7076898"/>
            <a:ext cx="10417144" cy="5709965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1993453" y="11201208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3048" y="14650457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54253" y="17903304"/>
            <a:ext cx="3392227" cy="3926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154253" y="17903304"/>
            <a:ext cx="12385" cy="3926864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83048" y="22417741"/>
            <a:ext cx="619407" cy="61941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72707" y="25473143"/>
            <a:ext cx="2162788" cy="601856"/>
          </a:xfrm>
          <a:prstGeom prst="roundRect">
            <a:avLst>
              <a:gd name="adj" fmla="val 14301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71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03858" y="9242239"/>
            <a:ext cx="8175473" cy="786653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993453" y="17880093"/>
            <a:ext cx="10417270" cy="891996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83048" y="23217785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83048" y="25029452"/>
            <a:ext cx="663892" cy="663898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03858" y="7839298"/>
            <a:ext cx="4801848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603858" y="8446059"/>
            <a:ext cx="4801848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8405706" y="7839298"/>
            <a:ext cx="3373625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405706" y="8446059"/>
            <a:ext cx="337362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603858" y="8455586"/>
            <a:ext cx="4801848" cy="78665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603858" y="9232712"/>
            <a:ext cx="4801848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5706" y="8455586"/>
            <a:ext cx="3373625" cy="78665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405706" y="9232712"/>
            <a:ext cx="337362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603858" y="9242239"/>
            <a:ext cx="4801848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603858" y="10019365"/>
            <a:ext cx="4801848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8405706" y="9242239"/>
            <a:ext cx="3373625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5706" y="10019365"/>
            <a:ext cx="337362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993453" y="15429670"/>
            <a:ext cx="6029947" cy="666431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993453" y="16086574"/>
            <a:ext cx="60299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023400" y="15429670"/>
            <a:ext cx="4387323" cy="666431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023400" y="16086574"/>
            <a:ext cx="43873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993453" y="16096101"/>
            <a:ext cx="6029947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993453" y="16978569"/>
            <a:ext cx="60299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023400" y="16096101"/>
            <a:ext cx="4387323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023400" y="16978569"/>
            <a:ext cx="43873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993453" y="16988096"/>
            <a:ext cx="6029947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1993453" y="17870566"/>
            <a:ext cx="60299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023400" y="16988096"/>
            <a:ext cx="4387323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023400" y="17870566"/>
            <a:ext cx="43873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993453" y="17880093"/>
            <a:ext cx="6029947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993453" y="18762562"/>
            <a:ext cx="60299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023400" y="17880093"/>
            <a:ext cx="4387323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8023400" y="18762562"/>
            <a:ext cx="43873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44614" y="1431657"/>
            <a:ext cx="25764994" cy="13240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9069"/>
              </a:lnSpc>
              <a:spcBef>
                <a:spcPts val="0"/>
              </a:spcBef>
              <a:spcAft>
                <a:spcPts val="0"/>
              </a:spcAft>
            </a:pPr>
            <a:r>
              <a:rPr sz="8097" b="1" spc="-80">
                <a:solidFill>
                  <a:srgbClr val="7D2860"/>
                </a:solidFill>
                <a:latin typeface="Arial"/>
              </a:rPr>
              <a:t>Data Flow Control: Data Safety Policies for AI Agents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4614" y="2839954"/>
            <a:ext cx="25764994" cy="819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B2331"/>
                </a:solidFill>
                <a:latin typeface="Arial"/>
              </a:rPr>
              <a:t>Charlie Summers, Eugene Wu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44614" y="3606223"/>
            <a:ext cx="25764994" cy="55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2402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Columbia University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439" y="5792096"/>
            <a:ext cx="8420740" cy="848014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83048" y="5792096"/>
            <a:ext cx="10729788" cy="848014"/>
          </a:xfrm>
          <a:prstGeom prst="rect">
            <a:avLst/>
          </a:prstGeom>
          <a:noFill/>
        </p:spPr>
        <p:txBody>
          <a:bodyPr wrap="non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603858" y="5792096"/>
            <a:ext cx="8420737" cy="1696028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93453" y="6630379"/>
            <a:ext cx="10729788" cy="3991104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PGN clauses — SOURCE, SINK, DIMENSION, CONSTRAINT, ON FAIL — map one-to-one to the formal policy, then compile to a query rewrite. Violations resolve to REMOVE (drop), KILL (abort), or UDF.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439" y="6849993"/>
            <a:ext cx="8420740" cy="5737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AI agents increasingly generate SQL, but query correctness is not safety: a semantically valid query can still violate privacy, regulatory, and business rules. No existing DBMS mechanism enforces these rules at the tuple level during execution.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603858" y="10386434"/>
            <a:ext cx="8420737" cy="2852891"/>
          </a:xfrm>
          <a:prstGeom prst="rect">
            <a:avLst/>
          </a:prstGeom>
          <a:noFill/>
        </p:spPr>
        <p:txBody>
          <a:bodyPr wrap="square" lIns="457894" rIns="457894" tIns="265100" bIns="265100">
            <a:spAutoFit/>
          </a:bodyPr>
          <a:lstStyle/>
          <a:p>
            <a:pPr algn="ctr">
              <a:lnSpc>
                <a:spcPts val="5123"/>
              </a:lnSpc>
              <a:spcBef>
                <a:spcPts val="0"/>
              </a:spcBef>
              <a:spcAft>
                <a:spcPts val="0"/>
              </a:spcAft>
            </a:pPr>
            <a:r>
              <a:rPr sz="3795" b="1">
                <a:solidFill>
                  <a:srgbClr val="7D2860"/>
                </a:solidFill>
                <a:latin typeface="Arial"/>
              </a:rPr>
              <a:t>≈0% overhead · beats provenance baselines by orders of magnitude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439" y="12103618"/>
            <a:ext cx="8420740" cy="3810073"/>
          </a:xfrm>
          <a:prstGeom prst="rect">
            <a:avLst/>
          </a:prstGeom>
          <a:noFill/>
        </p:spPr>
        <p:txBody>
          <a:bodyPr wrap="square" lIns="344282" rIns="344282" tIns="59020" bIns="59020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 i="1">
                <a:solidFill>
                  <a:srgbClr val="1C1C1C"/>
                </a:solidFill>
                <a:latin typeface="Arial"/>
              </a:rPr>
              <a:t>Correctness ≠ safety — access control, integrity constraints, and provenance audits govern permissions, not disallowed derivations.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603858" y="13219990"/>
            <a:ext cx="8420737" cy="2429569"/>
          </a:xfrm>
          <a:prstGeom prst="rect">
            <a:avLst/>
          </a:prstGeom>
          <a:noFill/>
        </p:spPr>
        <p:txBody>
          <a:bodyPr wrap="square" lIns="0" rIns="0" tIns="203620" bIns="0">
            <a:spAutoFit/>
          </a:bodyPr>
          <a:lstStyle/>
          <a:p>
            <a:pPr algn="l">
              <a:lnSpc>
                <a:spcPts val="4988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66">
                <a:solidFill>
                  <a:srgbClr val="111111"/>
                </a:solidFill>
                <a:latin typeface="Arial"/>
              </a:rPr>
              <a:t>SO WHAT → </a:t>
            </a:r>
            <a:r>
              <a:rPr sz="3562" b="0" i="1">
                <a:solidFill>
                  <a:srgbClr val="1C1C1C"/>
                </a:solidFill>
                <a:latin typeface="Arial"/>
              </a:rPr>
              <a:t>Full-Push achieves ≈0% overhead on all five engines — often faster than the unenforced base query.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439" y="16504083"/>
            <a:ext cx="8420740" cy="848012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881794" y="16526252"/>
            <a:ext cx="7642373" cy="339480"/>
          </a:xfrm>
          <a:prstGeom prst="rect">
            <a:avLst/>
          </a:prstGeom>
          <a:noFill/>
        </p:spPr>
        <p:txBody>
          <a:bodyPr wrap="square" lIns="371825" rIns="371825" tIns="63742" bIns="63742">
            <a:spAutoFit/>
          </a:bodyPr>
          <a:lstStyle/>
          <a:p>
            <a:pPr algn="ctr">
              <a:lnSpc>
                <a:spcPts val="3032"/>
              </a:lnSpc>
              <a:spcBef>
                <a:spcPts val="0"/>
              </a:spcBef>
              <a:spcAft>
                <a:spcPts val="0"/>
              </a:spcAft>
            </a:pPr>
            <a:r>
              <a:rPr sz="4182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                  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a policy over provenance monomials, invariant to the query optimizer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603858" y="16624603"/>
            <a:ext cx="8420737" cy="848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622902" y="23078963"/>
            <a:ext cx="8401121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22902" y="24503926"/>
            <a:ext cx="8401121" cy="5483512"/>
          </a:xfrm>
          <a:prstGeom prst="rect">
            <a:avLst/>
          </a:prstGeom>
          <a:noFill/>
        </p:spPr>
        <p:txBody>
          <a:bodyPr wrap="square" lIns="344282" rIns="344282" tIns="147551" bIns="147551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FFFFFF"/>
                </a:solidFill>
                <a:latin typeface="Arial"/>
              </a:rPr>
              <a:t>Data safety belongs in the database, not in prompts or after-the-fact audits — Data Flow Control makes declarative, optimizer-invariant policy enforcement a near-zero-cost, first-class operation.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83048" y="26546218"/>
            <a:ext cx="10729788" cy="32784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Passant rewrites Q so constraint aggregates are computed inline during execution — on any relational DBMS, no provenance-enabled engine required.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993453" y="27709606"/>
            <a:ext cx="10729788" cy="1786373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TPC-H Q1 confirms sub-linear scaling (Fig. 10–11).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578705" y="4199151"/>
            <a:ext cx="822963" cy="4007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66638" y="4199151"/>
            <a:ext cx="734691" cy="4007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Code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819228" y="5805041"/>
            <a:ext cx="5317080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PGN policy language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475724" y="5917824"/>
            <a:ext cx="3023048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declarative clauses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19228" y="11214152"/>
            <a:ext cx="4578865" cy="682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Sub-linear scaling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10137" y="11326935"/>
            <a:ext cx="3296603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theoretical speedups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993453" y="12240654"/>
            <a:ext cx="6954578" cy="3392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1618"/>
              </a:lnSpc>
              <a:spcBef>
                <a:spcPts val="0"/>
              </a:spcBef>
              <a:spcAft>
                <a:spcPts val="0"/>
              </a:spcAft>
            </a:pPr>
            <a:r>
              <a:rPr sz="11618" b="1">
                <a:solidFill>
                  <a:srgbClr val="7D2860"/>
                </a:solidFill>
                <a:latin typeface="Arial"/>
              </a:rPr>
              <a:t>20%–10,000×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799804" y="12927916"/>
            <a:ext cx="9871270" cy="12049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sz="3175" b="0" i="1">
                <a:solidFill>
                  <a:srgbClr val="555555"/>
                </a:solidFill>
                <a:latin typeface="Arial"/>
              </a:rPr>
              <a:t>Full-Push inlines enforcement — compute, filter, project.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2019" y="13011982"/>
            <a:ext cx="3572765" cy="14756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53"/>
              </a:lnSpc>
              <a:spcBef>
                <a:spcPts val="0"/>
              </a:spcBef>
              <a:spcAft>
                <a:spcPts val="0"/>
              </a:spcAft>
            </a:pPr>
            <a:r>
              <a:rPr sz="3485" b="0">
                <a:solidFill>
                  <a:srgbClr val="555555"/>
                </a:solidFill>
                <a:latin typeface="Arial"/>
              </a:rPr>
              <a:t>provenance tax avoided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208824" y="14663401"/>
            <a:ext cx="5967788" cy="682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Provenance monomials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7937928" y="14776184"/>
            <a:ext cx="2948261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optimizer-invariant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82731" y="17078859"/>
            <a:ext cx="10730114" cy="24588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M(o)</a:t>
            </a:r>
            <a:r>
              <a:rPr sz="3872" b="0">
                <a:solidFill>
                  <a:srgbClr val="1C1C1C"/>
                </a:solidFill>
                <a:latin typeface="Arial"/>
              </a:rPr>
              <a:t> — the bag of provenance monomials recording which input tuples produced output 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4121" y="17698866"/>
            <a:ext cx="8421067" cy="4098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Agents are judged on correctness</a:t>
            </a:r>
            <a:r>
              <a:rPr sz="3872" b="0">
                <a:solidFill>
                  <a:srgbClr val="1C1C1C"/>
                </a:solidFill>
                <a:latin typeface="Arial"/>
              </a:rPr>
              <a:t>, but a query can reflect intent perfectly yet produce a result that should never have been computed.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93136" y="18893352"/>
            <a:ext cx="10730114" cy="24588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Templated policies</a:t>
            </a:r>
            <a:r>
              <a:rPr sz="3872" b="0">
                <a:solidFill>
                  <a:srgbClr val="1C1C1C"/>
                </a:solidFill>
                <a:latin typeface="Arial"/>
              </a:rPr>
              <a:t> collapse to one dominant check — cost stays flat as policy count explodes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82731" y="19388971"/>
            <a:ext cx="10730114" cy="24588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B(M(o))</a:t>
            </a:r>
            <a:r>
              <a:rPr sz="3872" b="0">
                <a:solidFill>
                  <a:srgbClr val="1C1C1C"/>
                </a:solidFill>
                <a:latin typeface="Arial"/>
              </a:rPr>
              <a:t> — an aggregate boolean constraint over monomials, invariant to the query optimizer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993136" y="21203465"/>
            <a:ext cx="10730114" cy="1639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Symmetric self-joins</a:t>
            </a:r>
            <a:r>
              <a:rPr sz="3872" b="0">
                <a:solidFill>
                  <a:srgbClr val="1C1C1C"/>
                </a:solidFill>
                <a:latin typeface="Arial"/>
              </a:rPr>
              <a:t> reduce enforcement from factorial to linear in join count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121" y="21434388"/>
            <a:ext cx="8421067" cy="4098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TaxAgent needs three guarantees at once:</a:t>
            </a:r>
            <a:r>
              <a:rPr sz="3872" b="0">
                <a:solidFill>
                  <a:srgbClr val="1C1C1C"/>
                </a:solidFill>
                <a:latin typeface="Arial"/>
              </a:rPr>
              <a:t> non-leakage across users, grounding in real receipts, and a 50% meal-deduction cap.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208824" y="22430685"/>
            <a:ext cx="5319224" cy="682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Passant rewrite layer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730063" y="22543469"/>
            <a:ext cx="4192362" cy="423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two push-down algorithms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993136" y="22800876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Wide intermediates</a:t>
            </a:r>
            <a:r>
              <a:rPr sz="3872" b="0">
                <a:solidFill>
                  <a:srgbClr val="1C1C1C"/>
                </a:solidFill>
                <a:latin typeface="Arial"/>
              </a:rPr>
              <a:t> degrade cache locality — Partial-Push wins there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290397" y="23217785"/>
            <a:ext cx="9795218" cy="17442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Partial-Push</a:t>
            </a:r>
            <a:r>
              <a:rPr sz="3872" b="0">
                <a:solidFill>
                  <a:srgbClr val="1C1C1C"/>
                </a:solidFill>
                <a:latin typeface="Arial"/>
              </a:rPr>
              <a:t> — pushes policy aggregates down through the join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993136" y="24398285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State-machine compliance</a:t>
            </a:r>
            <a:r>
              <a:rPr sz="3872" b="0">
                <a:solidFill>
                  <a:srgbClr val="1C1C1C"/>
                </a:solidFill>
                <a:latin typeface="Arial"/>
              </a:rPr>
              <a:t> — ~2 orders faster than a correct GPT-5.2 baseline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90397" y="25029452"/>
            <a:ext cx="9795218" cy="1744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Full-Push</a:t>
            </a:r>
            <a:r>
              <a:rPr sz="3872" b="0">
                <a:solidFill>
                  <a:srgbClr val="1C1C1C"/>
                </a:solidFill>
                <a:latin typeface="Arial"/>
              </a:rPr>
              <a:t> — inlines everything, zero provenance materialization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993136" y="25995694"/>
            <a:ext cx="10730114" cy="16392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Source scaling</a:t>
            </a:r>
            <a:r>
              <a:rPr sz="3872" b="0">
                <a:solidFill>
                  <a:srgbClr val="1C1C1C"/>
                </a:solidFill>
                <a:latin typeface="Arial"/>
              </a:rPr>
              <a:t> — n sources apply when join count ≥ n (Fig. 10)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2707" y="26271550"/>
            <a:ext cx="7594404" cy="3278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Data safety must move out of prompts and post-hoc LLM checks into the data infrastructure itself.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3836711" y="17903304"/>
            <a:ext cx="3890149" cy="14646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033"/>
              </a:lnSpc>
              <a:spcBef>
                <a:spcPts val="0"/>
              </a:spcBef>
              <a:spcAft>
                <a:spcPts val="0"/>
              </a:spcAft>
            </a:pPr>
            <a:r>
              <a:rPr sz="10561" b="1" spc="-211">
                <a:solidFill>
                  <a:srgbClr val="7D2860"/>
                </a:solidFill>
                <a:latin typeface="Arial"/>
              </a:rPr>
              <a:t>≈0%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836711" y="19199265"/>
            <a:ext cx="3890149" cy="1696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72"/>
              </a:lnSpc>
              <a:spcBef>
                <a:spcPts val="0"/>
              </a:spcBef>
              <a:spcAft>
                <a:spcPts val="0"/>
              </a:spcAft>
            </a:pPr>
            <a:r>
              <a:rPr sz="3520" b="1">
                <a:solidFill>
                  <a:srgbClr val="1C1C1C"/>
                </a:solidFill>
                <a:latin typeface="Arial"/>
              </a:rPr>
              <a:t>Full-Push enforcement overhead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836711" y="20674072"/>
            <a:ext cx="3890149" cy="13295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36"/>
              </a:lnSpc>
              <a:spcBef>
                <a:spcPts val="0"/>
              </a:spcBef>
              <a:spcAft>
                <a:spcPts val="0"/>
              </a:spcAft>
            </a:pPr>
            <a:r>
              <a:rPr sz="2640" b="0" i="1">
                <a:solidFill>
                  <a:srgbClr val="555555"/>
                </a:solidFill>
                <a:latin typeface="Arial"/>
              </a:rPr>
              <a:t>across DuckDB, Umbra, PostgreSQL, DataFusion, SQL Server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3603858" y="7839298"/>
            <a:ext cx="4945903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METHOD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8405706" y="7839298"/>
            <a:ext cx="3474833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METRIC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603858" y="8455586"/>
            <a:ext cx="4945903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1C1C1C"/>
                </a:solidFill>
                <a:latin typeface="Arial"/>
              </a:rPr>
              <a:t>Provenance (Logical)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405706" y="8455586"/>
            <a:ext cx="3474833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0">
                <a:solidFill>
                  <a:srgbClr val="1C1C1C"/>
                </a:solidFill>
                <a:latin typeface="Arial"/>
              </a:rPr>
              <a:t>2,000–75,000%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603858" y="9242239"/>
            <a:ext cx="4945903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Passant Full-Push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405706" y="9242239"/>
            <a:ext cx="3474833" cy="904650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≈0%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993453" y="15429670"/>
            <a:ext cx="6210845" cy="766395"/>
          </a:xfrm>
          <a:prstGeom prst="rect">
            <a:avLst/>
          </a:prstGeom>
          <a:noFill/>
        </p:spPr>
        <p:txBody>
          <a:bodyPr wrap="non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METHOD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023400" y="15429670"/>
            <a:ext cx="4518942" cy="766395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OVERHEAD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993453" y="16096101"/>
            <a:ext cx="6210845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Provenance (Logical)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023400" y="16096101"/>
            <a:ext cx="4518942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2,000–75,000%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993453" y="16988096"/>
            <a:ext cx="6210845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Provenance (Physical)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8023400" y="16988096"/>
            <a:ext cx="4518942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300–700%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993453" y="17880093"/>
            <a:ext cx="6210845" cy="1025795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Passant Full-Push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023400" y="17880093"/>
            <a:ext cx="4518942" cy="1025795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≈0%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606122" y="17903304"/>
            <a:ext cx="289185" cy="591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058887" y="18017574"/>
            <a:ext cx="2302764" cy="462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DBMS engines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606122" y="18833539"/>
            <a:ext cx="1891129" cy="11820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20%–10,000×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614171" y="18947809"/>
            <a:ext cx="1804387" cy="925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provenance tax avoided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606122" y="20107181"/>
            <a:ext cx="2052810" cy="1182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2,000%–75,000%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771143" y="20221451"/>
            <a:ext cx="1516121" cy="1850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Logical slowdown vs Passant</a:t>
            </a:r>
          </a:p>
        </p:txBody>
      </p:sp>
      <p:pic>
        <p:nvPicPr>
          <p:cNvPr id="141" name="Picture 140" descr="eq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63833" y="15656426"/>
            <a:ext cx="8055700" cy="7522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