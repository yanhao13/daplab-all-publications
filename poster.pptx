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307238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1887" y="651887"/>
            <a:ext cx="49902625" cy="5298578"/>
          </a:xfrm>
          <a:prstGeom prst="roundRect">
            <a:avLst>
              <a:gd name="adj" fmla="val 2684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1887" y="6471920"/>
            <a:ext cx="10804961" cy="6584434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3568" y="6471920"/>
            <a:ext cx="13506133" cy="7355363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816421" y="6471920"/>
            <a:ext cx="13506271" cy="8537317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749412" y="6471920"/>
            <a:ext cx="10804962" cy="11294883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1887" y="13388201"/>
            <a:ext cx="10804961" cy="16683751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3568" y="14159130"/>
            <a:ext cx="13506133" cy="5900043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816421" y="15341084"/>
            <a:ext cx="13506271" cy="14730868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749412" y="18098650"/>
            <a:ext cx="10804962" cy="5230654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3568" y="20391020"/>
            <a:ext cx="13506133" cy="9680932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49412" y="23661151"/>
            <a:ext cx="10804962" cy="6410801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49412" y="23661151"/>
            <a:ext cx="10804962" cy="35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18814" y="23661151"/>
            <a:ext cx="35560" cy="6410801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49412" y="30036392"/>
            <a:ext cx="10804962" cy="35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49412" y="23661151"/>
            <a:ext cx="53340" cy="6410801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31195" y="11337667"/>
            <a:ext cx="12676723" cy="3226236"/>
          </a:xfrm>
          <a:prstGeom prst="roundRect">
            <a:avLst>
              <a:gd name="adj" fmla="val 6983"/>
            </a:avLst>
          </a:prstGeom>
          <a:solidFill>
            <a:srgbClr val="F7F2F5"/>
          </a:solidFill>
          <a:ln w="8890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164186" y="16112847"/>
            <a:ext cx="9975414" cy="156797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164186" y="16112847"/>
            <a:ext cx="9975414" cy="11557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164186" y="19615785"/>
            <a:ext cx="9975414" cy="3537942"/>
          </a:xfrm>
          <a:prstGeom prst="roundRect">
            <a:avLst>
              <a:gd name="adj" fmla="val 2010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8890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181966" y="25492075"/>
            <a:ext cx="9957634" cy="2346821"/>
          </a:xfrm>
          <a:prstGeom prst="roundRect">
            <a:avLst>
              <a:gd name="adj" fmla="val 8889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231195" y="28047950"/>
            <a:ext cx="12676723" cy="156797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231195" y="28047950"/>
            <a:ext cx="12676723" cy="11557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181966" y="28152685"/>
            <a:ext cx="9957634" cy="15679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181966" y="28152685"/>
            <a:ext cx="9957634" cy="11557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6231195" y="6886694"/>
            <a:ext cx="657026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164186" y="8249781"/>
            <a:ext cx="9975414" cy="3037463"/>
          </a:xfrm>
          <a:prstGeom prst="roundRect">
            <a:avLst>
              <a:gd name="adj" fmla="val 1170"/>
            </a:avLst>
          </a:prstGeom>
          <a:solidFill>
            <a:srgbClr val="FFFFFF"/>
          </a:solidFill>
          <a:ln w="889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4304" y="8249781"/>
            <a:ext cx="9975178" cy="3037463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2298342" y="12871886"/>
            <a:ext cx="3787140" cy="896362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241891" y="12871886"/>
            <a:ext cx="3048714" cy="896362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horizon-free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298342" y="14573904"/>
            <a:ext cx="657027" cy="657027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231195" y="15755858"/>
            <a:ext cx="657026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992" y="19838035"/>
            <a:ext cx="4172743" cy="31409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992" y="19838035"/>
            <a:ext cx="11557" cy="3140948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298342" y="20805794"/>
            <a:ext cx="657027" cy="657027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298342" y="22353488"/>
            <a:ext cx="1867734" cy="1576447"/>
          </a:xfrm>
          <a:prstGeom prst="roundRect">
            <a:avLst>
              <a:gd name="adj" fmla="val 9494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000485" y="22353488"/>
            <a:ext cx="1867873" cy="1576447"/>
          </a:xfrm>
          <a:prstGeom prst="roundRect">
            <a:avLst>
              <a:gd name="adj" fmla="val 9494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702768" y="22384464"/>
            <a:ext cx="1867733" cy="1514356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0404911" y="22384464"/>
            <a:ext cx="1867872" cy="1514356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107193" y="22694503"/>
            <a:ext cx="1867734" cy="894278"/>
          </a:xfrm>
          <a:prstGeom prst="roundRect">
            <a:avLst>
              <a:gd name="adj" fmla="val 16737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67" b="1">
                <a:solidFill>
                  <a:srgbClr val="7D2860"/>
                </a:solidFill>
                <a:latin typeface="Arial"/>
              </a:rPr>
              <a:t>repeat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231195" y="23077884"/>
            <a:ext cx="1940103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NAIL-F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327707" y="23077884"/>
            <a:ext cx="1989415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NAIL-R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473530" y="23077884"/>
            <a:ext cx="2260005" cy="819825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AE2622"/>
                </a:solidFill>
                <a:latin typeface="Arial"/>
              </a:rPr>
              <a:t>ModAdd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889944" y="23077884"/>
            <a:ext cx="2211526" cy="819825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AE2622"/>
                </a:solidFill>
                <a:latin typeface="Arial"/>
              </a:rPr>
              <a:t>GSM-8K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6661" y="24612242"/>
            <a:ext cx="4468891" cy="5017711"/>
          </a:xfrm>
          <a:prstGeom prst="roundRect">
            <a:avLst>
              <a:gd name="adj" fmla="val 4668"/>
            </a:avLst>
          </a:prstGeom>
          <a:solidFill>
            <a:srgbClr val="FAFAFA"/>
          </a:solidFill>
          <a:ln w="8890">
            <a:solidFill>
              <a:srgbClr val="D9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73043" y="24612242"/>
            <a:ext cx="4469031" cy="5689045"/>
          </a:xfrm>
          <a:prstGeom prst="roundRect">
            <a:avLst>
              <a:gd name="adj" fmla="val 4668"/>
            </a:avLst>
          </a:prstGeom>
          <a:solidFill>
            <a:srgbClr val="F7F2F5"/>
          </a:solidFill>
          <a:ln w="8890">
            <a:solidFill>
              <a:srgbClr val="7D2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164186" y="15163284"/>
            <a:ext cx="9975414" cy="945118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0164186" y="12566570"/>
            <a:ext cx="4839355" cy="706477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164186" y="13264157"/>
            <a:ext cx="4839355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003541" y="12566570"/>
            <a:ext cx="2476837" cy="706477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003541" y="13264157"/>
            <a:ext cx="2476837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480378" y="12566570"/>
            <a:ext cx="2659222" cy="706477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480378" y="13264157"/>
            <a:ext cx="265922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164186" y="13273047"/>
            <a:ext cx="4839355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164186" y="14209275"/>
            <a:ext cx="4839355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003541" y="13273047"/>
            <a:ext cx="2476837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003541" y="14209275"/>
            <a:ext cx="2476837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480378" y="13273047"/>
            <a:ext cx="2659222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480378" y="14209275"/>
            <a:ext cx="265922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164186" y="14218165"/>
            <a:ext cx="4839355" cy="9451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164186" y="15154394"/>
            <a:ext cx="4839355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003541" y="14218165"/>
            <a:ext cx="2476837" cy="9451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003541" y="15154394"/>
            <a:ext cx="2476837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480378" y="14218165"/>
            <a:ext cx="2659222" cy="9451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7480378" y="15154394"/>
            <a:ext cx="265922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164186" y="15163284"/>
            <a:ext cx="4839355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164186" y="16099512"/>
            <a:ext cx="4839355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003541" y="15163284"/>
            <a:ext cx="2476837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003541" y="16099512"/>
            <a:ext cx="2476837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480378" y="15163284"/>
            <a:ext cx="2659222" cy="9451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480378" y="16099512"/>
            <a:ext cx="265922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20847" y="983734"/>
            <a:ext cx="12104012" cy="53301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5973" b="1" spc="59">
                <a:solidFill>
                  <a:srgbClr val="7D2860"/>
                </a:solidFill>
                <a:latin typeface="Arial"/>
              </a:rPr>
              <a:t>Preprint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446402" y="983734"/>
            <a:ext cx="24740176" cy="37782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7739"/>
              </a:lnSpc>
              <a:spcBef>
                <a:spcPts val="0"/>
              </a:spcBef>
              <a:spcAft>
                <a:spcPts val="0"/>
              </a:spcAft>
            </a:pPr>
            <a:r>
              <a:rPr sz="7035" b="1" spc="-78">
                <a:solidFill>
                  <a:srgbClr val="7D2860"/>
                </a:solidFill>
                <a:latin typeface="Arial"/>
              </a:rPr>
              <a:t>Behavior Cloning is Not All You Need: The</a:t>
            </a:r>
          </a:p>
          <a:p>
            <a:pPr algn="ctr">
              <a:lnSpc>
                <a:spcPts val="7739"/>
              </a:lnSpc>
              <a:spcBef>
                <a:spcPts val="0"/>
              </a:spcBef>
              <a:spcAft>
                <a:spcPts val="0"/>
              </a:spcAft>
            </a:pPr>
            <a:r>
              <a:rPr sz="7035" b="1" spc="-78">
                <a:solidFill>
                  <a:srgbClr val="7D2860"/>
                </a:solidFill>
                <a:latin typeface="Arial"/>
              </a:rPr>
              <a:t>Optimality of On-Policy Distillation for Noisy Expert</a:t>
            </a:r>
          </a:p>
          <a:p>
            <a:pPr algn="ctr">
              <a:lnSpc>
                <a:spcPts val="7739"/>
              </a:lnSpc>
              <a:spcBef>
                <a:spcPts val="0"/>
              </a:spcBef>
              <a:spcAft>
                <a:spcPts val="0"/>
              </a:spcAft>
            </a:pPr>
            <a:r>
              <a:rPr sz="7035" b="1" spc="-78">
                <a:solidFill>
                  <a:srgbClr val="7D2860"/>
                </a:solidFill>
                <a:latin typeface="Arial"/>
              </a:rPr>
              <a:t>Feedback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446402" y="4468197"/>
            <a:ext cx="24740176" cy="708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853"/>
              </a:lnSpc>
              <a:spcBef>
                <a:spcPts val="0"/>
              </a:spcBef>
              <a:spcAft>
                <a:spcPts val="0"/>
              </a:spcAft>
            </a:pPr>
            <a:r>
              <a:rPr sz="3733" b="0">
                <a:solidFill>
                  <a:srgbClr val="1B2331"/>
                </a:solidFill>
                <a:latin typeface="Arial"/>
              </a:rPr>
              <a:t>Ved Sriraman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Peihan Liu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Daniel Hsu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Adam Block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1,2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446402" y="5137447"/>
            <a:ext cx="24740176" cy="55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789"/>
              </a:lnSpc>
              <a:spcBef>
                <a:spcPts val="0"/>
              </a:spcBef>
              <a:spcAft>
                <a:spcPts val="0"/>
              </a:spcAft>
            </a:pPr>
            <a:r>
              <a:rPr sz="2268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Department of Computer Science, Columbia University    </a:t>
            </a:r>
            <a:r>
              <a:rPr sz="3658" b="0" spc="52" baseline="30000">
                <a:solidFill>
                  <a:srgbClr val="55617A"/>
                </a:solidFill>
                <a:latin typeface="Arial"/>
              </a:rPr>
              <a:t>2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Department of Electrical Engineering, Columbia University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6661" y="6886694"/>
            <a:ext cx="10274675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98342" y="6886694"/>
            <a:ext cx="13056882" cy="899667"/>
          </a:xfrm>
          <a:prstGeom prst="rect">
            <a:avLst/>
          </a:prstGeom>
          <a:noFill/>
        </p:spPr>
        <p:txBody>
          <a:bodyPr wrap="non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164186" y="6886694"/>
            <a:ext cx="10274676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31195" y="7823338"/>
            <a:ext cx="13057024" cy="3478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Analysis bounds the </a:t>
            </a:r>
            <a:r>
              <a:rPr sz="4106" b="1">
                <a:solidFill>
                  <a:srgbClr val="111111"/>
                </a:solidFill>
                <a:latin typeface="Arial"/>
              </a:rPr>
              <a:t>Hellinger distance</a:t>
            </a:r>
            <a:r>
              <a:rPr sz="4106" b="0">
                <a:solidFill>
                  <a:srgbClr val="1C1C1C"/>
                </a:solidFill>
                <a:latin typeface="Arial"/>
              </a:rPr>
              <a:t> between clean expert and learner by the KL between augmented trajectory distributions — </a:t>
            </a:r>
            <a:r>
              <a:rPr sz="4106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independent of H</a:t>
            </a:r>
            <a:r>
              <a:rPr sz="4106" b="0">
                <a:solidFill>
                  <a:srgbClr val="1C1C1C"/>
                </a:solidFill>
                <a:latin typeface="Arial"/>
              </a:rPr>
              <a:t> under κ-domination.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298342" y="7989054"/>
            <a:ext cx="13056882" cy="5315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NAIL distills a </a:t>
            </a:r>
            <a:r>
              <a:rPr sz="4106" b="1">
                <a:solidFill>
                  <a:srgbClr val="111111"/>
                </a:solidFill>
                <a:latin typeface="Arial"/>
              </a:rPr>
              <a:t>noisy expert</a:t>
            </a:r>
            <a:r>
              <a:rPr sz="4106" b="0">
                <a:solidFill>
                  <a:srgbClr val="1C1C1C"/>
                </a:solidFill>
                <a:latin typeface="Arial"/>
              </a:rPr>
              <a:t>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η</a:t>
            </a:r>
            <a:r>
              <a:rPr sz="4106" b="0">
                <a:solidFill>
                  <a:srgbClr val="1C1C1C"/>
                </a:solidFill>
                <a:latin typeface="Arial"/>
              </a:rPr>
              <a:t> = (1−η)π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 + ην: roll out a mixture over policy class Π, let the expert relabel those states, and update trajectory-level weights — </a:t>
            </a:r>
            <a:r>
              <a:rPr sz="4106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horizon-free</a:t>
            </a:r>
            <a:r>
              <a:rPr sz="4106" b="0">
                <a:solidFill>
                  <a:srgbClr val="1C1C1C"/>
                </a:solidFill>
                <a:latin typeface="Arial"/>
              </a:rPr>
              <a:t>. The guarantee needs no clean-expert access and no per-step RL gradients — it re-casts as a greedy-rollout, expert-scored OPD loss.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6661" y="8077398"/>
            <a:ext cx="10274675" cy="52178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In </a:t>
            </a:r>
            <a:r>
              <a:rPr sz="4106" b="1">
                <a:solidFill>
                  <a:srgbClr val="111111"/>
                </a:solidFill>
                <a:latin typeface="Arial"/>
              </a:rPr>
              <a:t>imitation learning</a:t>
            </a:r>
            <a:r>
              <a:rPr sz="4106" b="0">
                <a:solidFill>
                  <a:srgbClr val="1C1C1C"/>
                </a:solidFill>
                <a:latin typeface="Arial"/>
              </a:rPr>
              <a:t>, offline </a:t>
            </a:r>
            <a:r>
              <a:rPr sz="4106" b="1">
                <a:solidFill>
                  <a:srgbClr val="111111"/>
                </a:solidFill>
                <a:latin typeface="Arial"/>
              </a:rPr>
              <a:t>behavior cloning</a:t>
            </a:r>
            <a:r>
              <a:rPr sz="4106" b="0">
                <a:solidFill>
                  <a:srgbClr val="1C1C1C"/>
                </a:solidFill>
                <a:latin typeface="Arial"/>
              </a:rPr>
              <a:t> is provably horizon-free and optimal under a </a:t>
            </a:r>
            <a:r>
              <a:rPr sz="4106" b="0" i="1">
                <a:solidFill>
                  <a:srgbClr val="1C1C1C"/>
                </a:solidFill>
                <a:latin typeface="Arial"/>
              </a:rPr>
              <a:t>clean expert</a:t>
            </a:r>
            <a:r>
              <a:rPr sz="4106" b="0">
                <a:solidFill>
                  <a:srgbClr val="1C1C1C"/>
                </a:solidFill>
                <a:latin typeface="Arial"/>
              </a:rPr>
              <a:t> — yet in practice </a:t>
            </a:r>
            <a:r>
              <a:rPr sz="4106" b="1">
                <a:solidFill>
                  <a:srgbClr val="111111"/>
                </a:solidFill>
                <a:latin typeface="Arial"/>
              </a:rPr>
              <a:t>online on-policy distillation</a:t>
            </a:r>
            <a:r>
              <a:rPr sz="4106" b="0">
                <a:solidFill>
                  <a:srgbClr val="1C1C1C"/>
                </a:solidFill>
                <a:latin typeface="Arial"/>
              </a:rPr>
              <a:t> (OPD) routinely beats supervised fine-tuning when training language models.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542123" y="13013848"/>
            <a:ext cx="3398566" cy="6809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61"/>
              </a:lnSpc>
              <a:spcBef>
                <a:spcPts val="0"/>
              </a:spcBef>
              <a:spcAft>
                <a:spcPts val="0"/>
              </a:spcAft>
            </a:pPr>
            <a:r>
              <a:rPr sz="3490" b="1">
                <a:solidFill>
                  <a:srgbClr val="7D2860"/>
                </a:solidFill>
                <a:latin typeface="Arial"/>
              </a:rPr>
              <a:t>noisy expert π</a:t>
            </a:r>
            <a:r>
              <a:rPr sz="4886" b="1" baseline="30000">
                <a:solidFill>
                  <a:srgbClr val="7D2860"/>
                </a:solidFill>
                <a:latin typeface="Arial"/>
              </a:rPr>
              <a:t>η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6661" y="13802975"/>
            <a:ext cx="10274675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249502" y="14123570"/>
            <a:ext cx="8899168" cy="357822"/>
          </a:xfrm>
          <a:prstGeom prst="rect">
            <a:avLst/>
          </a:prstGeom>
          <a:noFill/>
        </p:spPr>
        <p:txBody>
          <a:bodyPr wrap="square" lIns="394289" rIns="394289" tIns="67592" bIns="67592">
            <a:spAutoFit/>
          </a:bodyPr>
          <a:lstStyle/>
          <a:p>
            <a:pPr algn="ctr">
              <a:lnSpc>
                <a:spcPts val="3215"/>
              </a:lnSpc>
              <a:spcBef>
                <a:spcPts val="0"/>
              </a:spcBef>
              <a:spcAft>
                <a:spcPts val="0"/>
              </a:spcAft>
            </a:pPr>
            <a:r>
              <a:rPr sz="2217" b="0" i="1">
                <a:solidFill>
                  <a:srgbClr val="555555"/>
                </a:solidFill>
                <a:latin typeface="Cambria Math"/>
              </a:rPr>
              <a:t>Corollary 1 — horizon-free suboptimality bound against the clean expert π⋆.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164186" y="16112847"/>
            <a:ext cx="10274676" cy="1803168"/>
          </a:xfrm>
          <a:prstGeom prst="rect">
            <a:avLst/>
          </a:prstGeom>
          <a:noFill/>
        </p:spPr>
        <p:txBody>
          <a:bodyPr wrap="square" lIns="0" rIns="0" tIns="215920" bIns="0">
            <a:spAutoFit/>
          </a:bodyPr>
          <a:lstStyle/>
          <a:p>
            <a:pPr algn="l">
              <a:lnSpc>
                <a:spcPts val="5289"/>
              </a:lnSpc>
              <a:spcBef>
                <a:spcPts val="0"/>
              </a:spcBef>
              <a:spcAft>
                <a:spcPts val="0"/>
              </a:spcAft>
            </a:pPr>
            <a:r>
              <a:rPr sz="2946" b="1" spc="176">
                <a:solidFill>
                  <a:srgbClr val="111111"/>
                </a:solidFill>
                <a:latin typeface="Arial"/>
              </a:rPr>
              <a:t>SO WHAT → </a:t>
            </a:r>
            <a:r>
              <a:rPr sz="3778" b="0" i="1">
                <a:solidFill>
                  <a:srgbClr val="1C1C1C"/>
                </a:solidFill>
                <a:latin typeface="Arial"/>
              </a:rPr>
              <a:t>Relabeling recovers signal where BC and OPD flatline at 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164186" y="18513425"/>
            <a:ext cx="10274676" cy="899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31195" y="19412148"/>
            <a:ext cx="13057024" cy="34785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Both are a </a:t>
            </a:r>
            <a:r>
              <a:rPr sz="4106" b="1">
                <a:solidFill>
                  <a:srgbClr val="111111"/>
                </a:solidFill>
                <a:latin typeface="Arial"/>
              </a:rPr>
              <a:t>greedy-rollout, expert-scored</a:t>
            </a:r>
            <a:r>
              <a:rPr sz="4106" b="0">
                <a:solidFill>
                  <a:srgbClr val="1C1C1C"/>
                </a:solidFill>
                <a:latin typeface="Arial"/>
              </a:rPr>
              <a:t> OPD loss. Mixing the two via β closes most of the gap; the best β is </a:t>
            </a:r>
            <a:r>
              <a:rPr sz="4106" b="1">
                <a:solidFill>
                  <a:srgbClr val="111111"/>
                </a:solidFill>
                <a:latin typeface="Arial"/>
              </a:rPr>
              <a:t>task- and noise-dependent</a:t>
            </a:r>
            <a:r>
              <a:rPr sz="4106" b="0">
                <a:solidFill>
                  <a:srgbClr val="1C1C1C"/>
                </a:solidFill>
                <a:latin typeface="Arial"/>
              </a:rPr>
              <a:t>. Rollout temperature is benign for NAIL-F, more sensitive for NAIL-R.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181966" y="24075925"/>
            <a:ext cx="10256363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298342" y="24420552"/>
            <a:ext cx="13056882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Trajectory-level exponential weights on the negative log-likelihood of the augmented trajectory.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181966" y="25492075"/>
            <a:ext cx="10256363" cy="2698844"/>
          </a:xfrm>
          <a:prstGeom prst="rect">
            <a:avLst/>
          </a:prstGeom>
          <a:noFill/>
        </p:spPr>
        <p:txBody>
          <a:bodyPr wrap="square" lIns="365082" rIns="365082" tIns="156464" bIns="156464">
            <a:spAutoFit/>
          </a:bodyPr>
          <a:lstStyle/>
          <a:p>
            <a:pPr algn="l">
              <a:lnSpc>
                <a:spcPts val="5338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FFFFFF"/>
                </a:solidFill>
                <a:latin typeface="Arial"/>
              </a:rPr>
              <a:t>Noisy experts break offline IL — </a:t>
            </a:r>
            <a:r>
              <a:rPr sz="4106" b="1">
                <a:solidFill>
                  <a:srgbClr val="111111"/>
                </a:solidFill>
                <a:latin typeface="Arial"/>
              </a:rPr>
              <a:t>on-policy distillation</a:t>
            </a:r>
            <a:r>
              <a:rPr sz="4106" b="1">
                <a:solidFill>
                  <a:srgbClr val="FFFFFF"/>
                </a:solidFill>
                <a:latin typeface="Arial"/>
              </a:rPr>
              <a:t> (NAIL) is horizon-free and dominant.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298342" y="26684307"/>
            <a:ext cx="13056882" cy="3673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The expert labels </a:t>
            </a:r>
            <a:r>
              <a:rPr sz="4106" b="1">
                <a:solidFill>
                  <a:srgbClr val="111111"/>
                </a:solidFill>
                <a:latin typeface="Arial"/>
              </a:rPr>
              <a:t>learner-visited</a:t>
            </a:r>
            <a:r>
              <a:rPr sz="4106" b="0">
                <a:solidFill>
                  <a:srgbClr val="1C1C1C"/>
                </a:solidFill>
                <a:latin typeface="Arial"/>
              </a:rPr>
              <a:t> states (never clean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), so the update runs on the augmented trajectory distribution </a:t>
            </a:r>
            <a:r>
              <a:rPr sz="4106" b="0" i="1">
                <a:solidFill>
                  <a:srgbClr val="1C1C1C"/>
                </a:solidFill>
                <a:latin typeface="Arial"/>
              </a:rPr>
              <a:t>P</a:t>
            </a:r>
            <a:r>
              <a:rPr sz="4106" b="0">
                <a:solidFill>
                  <a:srgbClr val="1C1C1C"/>
                </a:solidFill>
                <a:latin typeface="Arial"/>
              </a:rPr>
              <a:t>(π̂,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η</a:t>
            </a:r>
            <a:r>
              <a:rPr sz="4106" b="0">
                <a:solidFill>
                  <a:srgbClr val="1C1C1C"/>
                </a:solidFill>
                <a:latin typeface="Arial"/>
              </a:rPr>
              <a:t>) — a single likelihood pass, no value learning.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6231195" y="28047950"/>
            <a:ext cx="13057024" cy="1803168"/>
          </a:xfrm>
          <a:prstGeom prst="rect">
            <a:avLst/>
          </a:prstGeom>
          <a:noFill/>
        </p:spPr>
        <p:txBody>
          <a:bodyPr wrap="square" lIns="0" rIns="0" tIns="215920" bIns="0">
            <a:spAutoFit/>
          </a:bodyPr>
          <a:lstStyle/>
          <a:p>
            <a:pPr algn="l">
              <a:lnSpc>
                <a:spcPts val="5289"/>
              </a:lnSpc>
              <a:spcBef>
                <a:spcPts val="0"/>
              </a:spcBef>
              <a:spcAft>
                <a:spcPts val="0"/>
              </a:spcAft>
            </a:pPr>
            <a:r>
              <a:rPr sz="2946" b="1" spc="176">
                <a:solidFill>
                  <a:srgbClr val="111111"/>
                </a:solidFill>
                <a:latin typeface="Arial"/>
              </a:rPr>
              <a:t>SO WHAT → </a:t>
            </a:r>
            <a:r>
              <a:rPr sz="3778" b="0" i="1">
                <a:solidFill>
                  <a:srgbClr val="1C1C1C"/>
                </a:solidFill>
                <a:latin typeface="Arial"/>
              </a:rPr>
              <a:t>The loss family matters more than the exact KL direction.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181966" y="28152685"/>
            <a:ext cx="10256363" cy="1803170"/>
          </a:xfrm>
          <a:prstGeom prst="rect">
            <a:avLst/>
          </a:prstGeom>
          <a:noFill/>
        </p:spPr>
        <p:txBody>
          <a:bodyPr wrap="square" lIns="0" rIns="0" tIns="215920" bIns="0">
            <a:spAutoFit/>
          </a:bodyPr>
          <a:lstStyle/>
          <a:p>
            <a:pPr algn="l">
              <a:lnSpc>
                <a:spcPts val="5289"/>
              </a:lnSpc>
              <a:spcBef>
                <a:spcPts val="0"/>
              </a:spcBef>
              <a:spcAft>
                <a:spcPts val="0"/>
              </a:spcAft>
            </a:pPr>
            <a:r>
              <a:rPr sz="2946" b="1" spc="176">
                <a:solidFill>
                  <a:srgbClr val="111111"/>
                </a:solidFill>
                <a:latin typeface="Arial"/>
              </a:rPr>
              <a:t>SO WHAT → </a:t>
            </a:r>
            <a:r>
              <a:rPr sz="3778" b="0" i="1">
                <a:solidFill>
                  <a:srgbClr val="1C1C1C"/>
                </a:solidFill>
                <a:latin typeface="Arial"/>
              </a:rPr>
              <a:t>Recipe: greedy rollout → expert relabels → forward or reverse KL.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07137" y="6900306"/>
            <a:ext cx="6425285" cy="724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Horizon-Free Guarantee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870288" y="7020044"/>
            <a:ext cx="1068758" cy="4488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theory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63264" y="11436846"/>
            <a:ext cx="9452575" cy="1278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377"/>
              </a:lnSpc>
              <a:spcBef>
                <a:spcPts val="0"/>
              </a:spcBef>
              <a:spcAft>
                <a:spcPts val="0"/>
              </a:spcAft>
            </a:pPr>
            <a:r>
              <a:rPr sz="3367" b="0" i="1">
                <a:solidFill>
                  <a:srgbClr val="555555"/>
                </a:solidFill>
                <a:latin typeface="Arial"/>
              </a:rPr>
              <a:t>BC, OPD-F/R and NAIL-F/R under clean vs noisy experts (ModAdd left, GSM-8K right).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174285" y="14587517"/>
            <a:ext cx="5234341" cy="724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Noisy Expert Model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862010" y="14707254"/>
            <a:ext cx="1146304" cy="4488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setting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6642" y="14905335"/>
            <a:ext cx="10274694" cy="3576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Existing IL theory assumes a </a:t>
            </a:r>
            <a:r>
              <a:rPr sz="4106" b="1">
                <a:solidFill>
                  <a:srgbClr val="111111"/>
                </a:solidFill>
                <a:latin typeface="Arial"/>
              </a:rPr>
              <a:t>clean expert</a:t>
            </a:r>
            <a:r>
              <a:rPr sz="4106" b="0">
                <a:solidFill>
                  <a:srgbClr val="1C1C1C"/>
                </a:solidFill>
                <a:latin typeface="Arial"/>
              </a:rPr>
              <a:t>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 — violated at non-zero temperature, undertraining, or annotation errors.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298324" y="15422483"/>
            <a:ext cx="13056901" cy="967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Expert is corrupted: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η</a:t>
            </a:r>
            <a:r>
              <a:rPr sz="4106" b="0">
                <a:solidFill>
                  <a:srgbClr val="1C1C1C"/>
                </a:solidFill>
                <a:latin typeface="Arial"/>
              </a:rPr>
              <a:t> = (1−η)π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 + ην at level η.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107137" y="15769470"/>
            <a:ext cx="3825068" cy="724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Practical Loss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362044" y="15889208"/>
            <a:ext cx="2622250" cy="448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NAIL-F / NAIL-R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298324" y="16446083"/>
            <a:ext cx="13056901" cy="1836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Clean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 is η=0; any η ≥ 1/H already breaks offline BC.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231176" y="16984622"/>
            <a:ext cx="13057044" cy="1065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4106" b="1">
                <a:solidFill>
                  <a:srgbClr val="111111"/>
                </a:solidFill>
                <a:latin typeface="Arial"/>
              </a:rPr>
              <a:t>NAIL-F</a:t>
            </a:r>
            <a:r>
              <a:rPr sz="4106" b="0">
                <a:solidFill>
                  <a:srgbClr val="1C1C1C"/>
                </a:solidFill>
                <a:latin typeface="Arial"/>
              </a:rPr>
              <a:t>: forward KL D</a:t>
            </a:r>
            <a:r>
              <a:rPr sz="5749" b="0" baseline="-25000">
                <a:solidFill>
                  <a:srgbClr val="1C1C1C"/>
                </a:solidFill>
                <a:latin typeface="Arial"/>
              </a:rPr>
              <a:t>KL</a:t>
            </a:r>
            <a:r>
              <a:rPr sz="4106" b="0">
                <a:solidFill>
                  <a:srgbClr val="1C1C1C"/>
                </a:solidFill>
                <a:latin typeface="Arial"/>
              </a:rPr>
              <a:t>(P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π̂,πη</a:t>
            </a:r>
            <a:r>
              <a:rPr sz="4106" b="0">
                <a:solidFill>
                  <a:srgbClr val="1C1C1C"/>
                </a:solidFill>
                <a:latin typeface="Arial"/>
              </a:rPr>
              <a:t> ‖ P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π̂,π̂η</a:t>
            </a:r>
            <a:r>
              <a:rPr sz="4106" b="0">
                <a:solidFill>
                  <a:srgbClr val="1C1C1C"/>
                </a:solidFill>
                <a:latin typeface="Arial"/>
              </a:rPr>
              <a:t>).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231176" y="18093233"/>
            <a:ext cx="13057044" cy="869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4106" b="1">
                <a:solidFill>
                  <a:srgbClr val="111111"/>
                </a:solidFill>
                <a:latin typeface="Arial"/>
              </a:rPr>
              <a:t>NAIL-R</a:t>
            </a:r>
            <a:r>
              <a:rPr sz="4106" b="0">
                <a:solidFill>
                  <a:srgbClr val="1C1C1C"/>
                </a:solidFill>
                <a:latin typeface="Arial"/>
              </a:rPr>
              <a:t>: reverse KL — same pair, flipped order.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66642" y="18197552"/>
            <a:ext cx="10274694" cy="26089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Offline bounds presuppose a clean teacher; mimicking </a:t>
            </a:r>
            <a:r>
              <a:rPr sz="4106" b="1">
                <a:solidFill>
                  <a:srgbClr val="111111"/>
                </a:solidFill>
                <a:latin typeface="Arial"/>
              </a:rPr>
              <a:t>noisy actions</a:t>
            </a:r>
            <a:r>
              <a:rPr sz="4106" b="0">
                <a:solidFill>
                  <a:srgbClr val="1C1C1C"/>
                </a:solidFill>
                <a:latin typeface="Arial"/>
              </a:rPr>
              <a:t> drifts off the clean support.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298324" y="18225889"/>
            <a:ext cx="13056901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Learner sees only noisy actions — mimicking them drifts off the clean support.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66642" y="20648691"/>
            <a:ext cx="10274694" cy="434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Classical offline bounds (quadratic in </a:t>
            </a:r>
            <a:r>
              <a:rPr sz="4106" b="0" i="1">
                <a:solidFill>
                  <a:srgbClr val="1C1C1C"/>
                </a:solidFill>
                <a:latin typeface="Arial"/>
              </a:rPr>
              <a:t>H</a:t>
            </a:r>
            <a:r>
              <a:rPr sz="4106" b="0">
                <a:solidFill>
                  <a:srgbClr val="1C1C1C"/>
                </a:solidFill>
                <a:latin typeface="Arial"/>
              </a:rPr>
              <a:t>) and horizon-free upper bounds both </a:t>
            </a:r>
            <a:r>
              <a:rPr sz="4106" b="1">
                <a:solidFill>
                  <a:srgbClr val="111111"/>
                </a:solidFill>
                <a:latin typeface="Arial"/>
              </a:rPr>
              <a:t>presuppose a clean teacher</a:t>
            </a:r>
            <a:r>
              <a:rPr sz="4106" b="0">
                <a:solidFill>
                  <a:srgbClr val="1C1C1C"/>
                </a:solidFill>
                <a:latin typeface="Arial"/>
              </a:rPr>
              <a:t> — no bound captures drift once the teacher is stochastic.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174285" y="20819407"/>
            <a:ext cx="5630083" cy="724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NAIL On-Policy Loop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428205" y="20939144"/>
            <a:ext cx="1593123" cy="4488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algorithm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298342" y="22353488"/>
            <a:ext cx="1923766" cy="1812914"/>
          </a:xfrm>
          <a:prstGeom prst="rect">
            <a:avLst/>
          </a:prstGeom>
          <a:noFill/>
        </p:spPr>
        <p:txBody>
          <a:bodyPr wrap="square" lIns="85533" rIns="85533" tIns="128300" bIns="128300">
            <a:spAutoFit/>
          </a:bodyPr>
          <a:lstStyle/>
          <a:p>
            <a:pPr algn="ctr">
              <a:lnSpc>
                <a:spcPts val="4882"/>
              </a:lnSpc>
              <a:spcBef>
                <a:spcPts val="0"/>
              </a:spcBef>
              <a:spcAft>
                <a:spcPts val="0"/>
              </a:spcAft>
            </a:pPr>
            <a:r>
              <a:rPr sz="3367" b="1">
                <a:solidFill>
                  <a:srgbClr val="7D2860"/>
                </a:solidFill>
                <a:latin typeface="Arial"/>
              </a:rPr>
              <a:t>rollout μ</a:t>
            </a:r>
            <a:r>
              <a:rPr sz="4714" b="1" baseline="-25000">
                <a:solidFill>
                  <a:srgbClr val="7D2860"/>
                </a:solidFill>
                <a:latin typeface="Arial"/>
              </a:rPr>
              <a:t>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000485" y="22353488"/>
            <a:ext cx="1923909" cy="1812914"/>
          </a:xfrm>
          <a:prstGeom prst="rect">
            <a:avLst/>
          </a:prstGeom>
          <a:noFill/>
        </p:spPr>
        <p:txBody>
          <a:bodyPr wrap="square" lIns="85533" rIns="85533" tIns="128300" bIns="128300">
            <a:spAutoFit/>
          </a:bodyPr>
          <a:lstStyle/>
          <a:p>
            <a:pPr algn="ctr">
              <a:lnSpc>
                <a:spcPts val="4882"/>
              </a:lnSpc>
              <a:spcBef>
                <a:spcPts val="0"/>
              </a:spcBef>
              <a:spcAft>
                <a:spcPts val="0"/>
              </a:spcAft>
            </a:pPr>
            <a:r>
              <a:rPr sz="3367" b="1">
                <a:solidFill>
                  <a:srgbClr val="7D2860"/>
                </a:solidFill>
                <a:latin typeface="Arial"/>
              </a:rPr>
              <a:t>collect τ</a:t>
            </a:r>
            <a:r>
              <a:rPr sz="4714" b="1" baseline="-25000">
                <a:solidFill>
                  <a:srgbClr val="7D2860"/>
                </a:solidFill>
                <a:latin typeface="Arial"/>
              </a:rPr>
              <a:t>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702768" y="22384464"/>
            <a:ext cx="1923764" cy="1741509"/>
          </a:xfrm>
          <a:prstGeom prst="rect">
            <a:avLst/>
          </a:prstGeom>
          <a:noFill/>
        </p:spPr>
        <p:txBody>
          <a:bodyPr wrap="square" lIns="85533" rIns="85533" tIns="128300" bIns="128300">
            <a:spAutoFit/>
          </a:bodyPr>
          <a:lstStyle/>
          <a:p>
            <a:pPr algn="ctr">
              <a:lnSpc>
                <a:spcPts val="4882"/>
              </a:lnSpc>
              <a:spcBef>
                <a:spcPts val="0"/>
              </a:spcBef>
              <a:spcAft>
                <a:spcPts val="0"/>
              </a:spcAft>
            </a:pPr>
            <a:r>
              <a:rPr sz="3367" b="1">
                <a:solidFill>
                  <a:srgbClr val="7D2860"/>
                </a:solidFill>
                <a:latin typeface="Arial"/>
              </a:rPr>
              <a:t>expert relabels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404911" y="22384464"/>
            <a:ext cx="1923908" cy="1741509"/>
          </a:xfrm>
          <a:prstGeom prst="rect">
            <a:avLst/>
          </a:prstGeom>
          <a:noFill/>
        </p:spPr>
        <p:txBody>
          <a:bodyPr wrap="square" lIns="85533" rIns="85533" tIns="128300" bIns="128300">
            <a:spAutoFit/>
          </a:bodyPr>
          <a:lstStyle/>
          <a:p>
            <a:pPr algn="ctr">
              <a:lnSpc>
                <a:spcPts val="4882"/>
              </a:lnSpc>
              <a:spcBef>
                <a:spcPts val="0"/>
              </a:spcBef>
              <a:spcAft>
                <a:spcPts val="0"/>
              </a:spcAft>
            </a:pPr>
            <a:r>
              <a:rPr sz="3367" b="1">
                <a:solidFill>
                  <a:srgbClr val="7D2860"/>
                </a:solidFill>
                <a:latin typeface="Arial"/>
              </a:rPr>
              <a:t>update weights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322484" y="22763539"/>
            <a:ext cx="537240" cy="8696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024766" y="22763539"/>
            <a:ext cx="537240" cy="8696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726910" y="22763539"/>
            <a:ext cx="537239" cy="8696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429192" y="22763539"/>
            <a:ext cx="537240" cy="8696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231195" y="24408189"/>
            <a:ext cx="3305282" cy="3598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2320"/>
              </a:lnSpc>
              <a:spcBef>
                <a:spcPts val="0"/>
              </a:spcBef>
              <a:spcAft>
                <a:spcPts val="0"/>
              </a:spcAft>
            </a:pPr>
            <a:r>
              <a:rPr sz="12320" b="1">
                <a:solidFill>
                  <a:srgbClr val="7D2860"/>
                </a:solidFill>
                <a:latin typeface="Arial"/>
              </a:rPr>
              <a:t>η ≥ 0.1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5847" y="24612242"/>
            <a:ext cx="800209" cy="869636"/>
          </a:xfrm>
          <a:prstGeom prst="rect">
            <a:avLst/>
          </a:prstGeom>
          <a:noFill/>
        </p:spPr>
        <p:txBody>
          <a:bodyPr wrap="none" lIns="26077" rIns="26077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vs.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648705" y="25234959"/>
            <a:ext cx="9536989" cy="15651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59"/>
              </a:lnSpc>
              <a:spcBef>
                <a:spcPts val="0"/>
              </a:spcBef>
              <a:spcAft>
                <a:spcPts val="0"/>
              </a:spcAft>
            </a:pPr>
            <a:r>
              <a:rPr sz="3696" b="0">
                <a:solidFill>
                  <a:srgbClr val="555555"/>
                </a:solidFill>
                <a:latin typeface="Arial"/>
              </a:rPr>
              <a:t>noise rate where NAIL keeps a large lead — the single largest lever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0410050" y="20255865"/>
            <a:ext cx="4879376" cy="1553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640"/>
              </a:lnSpc>
              <a:spcBef>
                <a:spcPts val="0"/>
              </a:spcBef>
              <a:spcAft>
                <a:spcPts val="0"/>
              </a:spcAft>
            </a:pPr>
            <a:r>
              <a:rPr sz="11200" b="1" spc="-224">
                <a:solidFill>
                  <a:srgbClr val="7D2860"/>
                </a:solidFill>
                <a:latin typeface="Arial"/>
              </a:rPr>
              <a:t>100%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0050" y="21630759"/>
            <a:ext cx="4879376" cy="599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106"/>
              </a:lnSpc>
              <a:spcBef>
                <a:spcPts val="0"/>
              </a:spcBef>
              <a:spcAft>
                <a:spcPts val="0"/>
              </a:spcAft>
            </a:pPr>
            <a:r>
              <a:rPr sz="3733" b="1">
                <a:solidFill>
                  <a:srgbClr val="1C1C1C"/>
                </a:solidFill>
                <a:latin typeface="Arial"/>
              </a:rPr>
              <a:t>ModAdd acc (noisy)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410050" y="22152213"/>
            <a:ext cx="4879376" cy="47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2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555555"/>
                </a:solidFill>
                <a:latin typeface="Arial"/>
              </a:rPr>
              <a:t>BC &amp; OPD flatline at 0%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10163" y="24829631"/>
            <a:ext cx="4101343" cy="1304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6"/>
              </a:lnSpc>
              <a:spcBef>
                <a:spcPts val="0"/>
              </a:spcBef>
              <a:spcAft>
                <a:spcPts val="0"/>
              </a:spcAft>
            </a:pPr>
            <a:r>
              <a:rPr sz="3080" b="1" spc="154">
                <a:solidFill>
                  <a:srgbClr val="555555"/>
                </a:solidFill>
                <a:latin typeface="Arial"/>
              </a:rPr>
              <a:t>CLEAN-EXPERT THEORY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16546" y="24829631"/>
            <a:ext cx="4101485" cy="1304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6"/>
              </a:lnSpc>
              <a:spcBef>
                <a:spcPts val="0"/>
              </a:spcBef>
              <a:spcAft>
                <a:spcPts val="0"/>
              </a:spcAft>
            </a:pPr>
            <a:r>
              <a:rPr sz="3080" b="1" spc="154">
                <a:solidFill>
                  <a:srgbClr val="555555"/>
                </a:solidFill>
                <a:latin typeface="Arial"/>
              </a:rPr>
              <a:t>NOISY-EXPERT REALITY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10163" y="26042143"/>
            <a:ext cx="4101343" cy="3576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Assumes π</a:t>
            </a:r>
            <a:r>
              <a:rPr sz="5749" b="0" baseline="30000">
                <a:solidFill>
                  <a:srgbClr val="1C1C1C"/>
                </a:solidFill>
                <a:latin typeface="Arial"/>
              </a:rPr>
              <a:t>⋆</a:t>
            </a:r>
            <a:r>
              <a:rPr sz="4106" b="0">
                <a:solidFill>
                  <a:srgbClr val="1C1C1C"/>
                </a:solidFill>
                <a:latin typeface="Arial"/>
              </a:rPr>
              <a:t>; offline BC is horizon-free and optimal.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6546" y="26042143"/>
            <a:ext cx="4101485" cy="43481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Teacher at τ&gt;0, undertrained, or typos — BC fails exponentially in H.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0164186" y="12566570"/>
            <a:ext cx="4984535" cy="812448"/>
          </a:xfrm>
          <a:prstGeom prst="rect">
            <a:avLst/>
          </a:prstGeom>
          <a:noFill/>
        </p:spPr>
        <p:txBody>
          <a:bodyPr wrap="squar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METHOD (NOISY)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003541" y="12566570"/>
            <a:ext cx="2551142" cy="812448"/>
          </a:xfrm>
          <a:prstGeom prst="rect">
            <a:avLst/>
          </a:prstGeom>
          <a:noFill/>
        </p:spPr>
        <p:txBody>
          <a:bodyPr wrap="non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MODADD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480378" y="12566570"/>
            <a:ext cx="2738998" cy="812448"/>
          </a:xfrm>
          <a:prstGeom prst="rect">
            <a:avLst/>
          </a:prstGeom>
          <a:noFill/>
        </p:spPr>
        <p:txBody>
          <a:bodyPr wrap="non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GSM-8K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164186" y="13273047"/>
            <a:ext cx="4984535" cy="1086885"/>
          </a:xfrm>
          <a:prstGeom prst="rect">
            <a:avLst/>
          </a:prstGeom>
          <a:noFill/>
        </p:spPr>
        <p:txBody>
          <a:bodyPr wrap="squar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BC (offline)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003541" y="13273047"/>
            <a:ext cx="2551142" cy="1086885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0%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480378" y="13273047"/>
            <a:ext cx="2738998" cy="1086885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164186" y="14218165"/>
            <a:ext cx="4984535" cy="1086886"/>
          </a:xfrm>
          <a:prstGeom prst="rect">
            <a:avLst/>
          </a:prstGeom>
          <a:noFill/>
        </p:spPr>
        <p:txBody>
          <a:bodyPr wrap="squar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OPD-F / OPD-R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5003541" y="14218165"/>
            <a:ext cx="2551142" cy="1086886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0%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7480378" y="14218165"/>
            <a:ext cx="2738998" cy="1086886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164186" y="15163284"/>
            <a:ext cx="4984535" cy="1086885"/>
          </a:xfrm>
          <a:prstGeom prst="rect">
            <a:avLst/>
          </a:prstGeom>
          <a:noFill/>
        </p:spPr>
        <p:txBody>
          <a:bodyPr wrap="squar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NAIL-F / NAIL-R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003541" y="15163284"/>
            <a:ext cx="2551142" cy="1086885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7480378" y="15163284"/>
            <a:ext cx="2738998" cy="1086885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15–20%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99246" y="19838035"/>
            <a:ext cx="800495" cy="626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0%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158949" y="19962495"/>
            <a:ext cx="2606083" cy="490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baselines, noisy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199246" y="20649942"/>
            <a:ext cx="1449190" cy="12539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15–20%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788750" y="20774402"/>
            <a:ext cx="2168134" cy="981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GSM-8K noisy acc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99246" y="22001083"/>
            <a:ext cx="1091364" cy="626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~1M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441346" y="22125543"/>
            <a:ext cx="2525960" cy="981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expert traj to 100%</a:t>
            </a:r>
          </a:p>
        </p:txBody>
      </p:sp>
      <p:pic>
        <p:nvPicPr>
          <p:cNvPr id="147" name="Picture 146" descr="eq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4301" y="11977330"/>
            <a:ext cx="11870511" cy="15385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