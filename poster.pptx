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793920" cy="302666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8959" y="618966"/>
            <a:ext cx="41556003" cy="5050825"/>
          </a:xfrm>
          <a:prstGeom prst="roundRect">
            <a:avLst>
              <a:gd name="adj" fmla="val 2655"/>
            </a:avLst>
          </a:prstGeom>
          <a:solidFill>
            <a:srgbClr val="F4E6EF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8959" y="6161393"/>
            <a:ext cx="8966435" cy="9834274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87568" y="6161393"/>
            <a:ext cx="11208231" cy="6859069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597974" y="6161393"/>
            <a:ext cx="11208228" cy="5730201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208377" y="6161393"/>
            <a:ext cx="8966437" cy="9240900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597974" y="12204350"/>
            <a:ext cx="11208228" cy="17439377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87568" y="13333220"/>
            <a:ext cx="11208231" cy="7123319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208377" y="15715050"/>
            <a:ext cx="8966437" cy="5190835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959" y="16308424"/>
            <a:ext cx="8966435" cy="13335303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87568" y="20769296"/>
            <a:ext cx="11208231" cy="8874431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208377" y="21218641"/>
            <a:ext cx="8966437" cy="8425086"/>
          </a:xfrm>
          <a:prstGeom prst="rect">
            <a:avLst/>
          </a:prstGeom>
          <a:solidFill>
            <a:srgbClr val="F6ECF1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08377" y="21218641"/>
            <a:ext cx="8966437" cy="381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136708" y="21218641"/>
            <a:ext cx="38106" cy="8425086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208377" y="29605620"/>
            <a:ext cx="8966437" cy="38107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208377" y="21218641"/>
            <a:ext cx="57160" cy="8425086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993453" y="7395011"/>
            <a:ext cx="10417270" cy="4109580"/>
          </a:xfrm>
          <a:prstGeom prst="roundRect">
            <a:avLst>
              <a:gd name="adj" fmla="val 4787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603858" y="11150916"/>
            <a:ext cx="8175473" cy="1180054"/>
          </a:xfrm>
          <a:prstGeom prst="roundRect">
            <a:avLst>
              <a:gd name="adj" fmla="val 50000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603858" y="12683602"/>
            <a:ext cx="8175473" cy="211267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603858" y="12683602"/>
            <a:ext cx="8175473" cy="12385"/>
          </a:xfrm>
          <a:prstGeom prst="rect">
            <a:avLst/>
          </a:prstGeom>
          <a:solidFill>
            <a:srgbClr val="D2B4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4439" y="13580806"/>
            <a:ext cx="8175476" cy="20350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4439" y="13580806"/>
            <a:ext cx="114320" cy="2035001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3048" y="14680364"/>
            <a:ext cx="10417270" cy="1409042"/>
          </a:xfrm>
          <a:prstGeom prst="roundRect">
            <a:avLst>
              <a:gd name="adj" fmla="val 15079"/>
            </a:avLst>
          </a:prstGeom>
          <a:solidFill>
            <a:srgbClr val="F7F2F5"/>
          </a:solidFill>
          <a:ln w="9526">
            <a:solidFill>
              <a:srgbClr val="D5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603858" y="17187475"/>
            <a:ext cx="8175473" cy="3330961"/>
          </a:xfrm>
          <a:prstGeom prst="roundRect">
            <a:avLst>
              <a:gd name="adj" fmla="val 2288"/>
            </a:avLst>
          </a:prstGeom>
          <a:gradFill rotWithShape="1" flip="none">
            <a:gsLst>
              <a:gs pos="0">
                <a:srgbClr val="EFE5EC"/>
              </a:gs>
              <a:gs pos="100000">
                <a:srgbClr val="F7F2F5"/>
              </a:gs>
            </a:gsLst>
            <a:lin ang="5400000" scaled="0"/>
          </a:gradFill>
          <a:ln w="9526">
            <a:solidFill>
              <a:srgbClr val="DEC9D7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622902" y="23854904"/>
            <a:ext cx="8156429" cy="5407326"/>
          </a:xfrm>
          <a:prstGeom prst="roundRect">
            <a:avLst>
              <a:gd name="adj" fmla="val 3638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14439" y="25325841"/>
            <a:ext cx="8175476" cy="3944125"/>
          </a:xfrm>
          <a:prstGeom prst="roundRect">
            <a:avLst>
              <a:gd name="adj" fmla="val 4364"/>
            </a:avLst>
          </a:prstGeom>
          <a:solidFill>
            <a:srgbClr val="F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4439" y="25325841"/>
            <a:ext cx="114320" cy="3944125"/>
          </a:xfrm>
          <a:prstGeom prst="rect">
            <a:avLst/>
          </a:prstGeom>
          <a:solidFill>
            <a:srgbClr val="AE26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1993453" y="27723145"/>
            <a:ext cx="10417270" cy="1553368"/>
          </a:xfrm>
          <a:prstGeom prst="roundRect">
            <a:avLst>
              <a:gd name="adj" fmla="val 12665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icrosoft-re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22834" y="976368"/>
            <a:ext cx="1622241" cy="457065"/>
          </a:xfrm>
          <a:prstGeom prst="rect">
            <a:avLst/>
          </a:prstGeom>
        </p:spPr>
      </p:pic>
      <p:pic>
        <p:nvPicPr>
          <p:cNvPr id="30" name="Picture 29" descr="columbia-univers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8760" y="1611179"/>
            <a:ext cx="350394" cy="456920"/>
          </a:xfrm>
          <a:prstGeom prst="rect">
            <a:avLst/>
          </a:prstGeom>
        </p:spPr>
      </p:pic>
      <p:pic>
        <p:nvPicPr>
          <p:cNvPr id="31" name="Picture 30" descr="university-of-illinois-urbana-champaig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74926" y="2245853"/>
            <a:ext cx="1718211" cy="45704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8111848" y="2903934"/>
            <a:ext cx="1899285" cy="1899304"/>
          </a:xfrm>
          <a:prstGeom prst="roundRect">
            <a:avLst>
              <a:gd name="adj" fmla="val 5296"/>
            </a:avLst>
          </a:prstGeom>
          <a:noFill/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ap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12451" y="3004537"/>
            <a:ext cx="1698080" cy="1698098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40256930" y="2903934"/>
            <a:ext cx="1899282" cy="1899304"/>
          </a:xfrm>
          <a:prstGeom prst="roundRect">
            <a:avLst>
              <a:gd name="adj" fmla="val 5296"/>
            </a:avLst>
          </a:prstGeom>
          <a:noFill/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o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57531" y="3004537"/>
            <a:ext cx="1698079" cy="16980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21993453" y="6556877"/>
            <a:ext cx="619407" cy="619412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383048" y="7879471"/>
            <a:ext cx="10417270" cy="4145290"/>
          </a:xfrm>
          <a:prstGeom prst="roundRect">
            <a:avLst>
              <a:gd name="adj" fmla="val 919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igure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83228" y="7879471"/>
            <a:ext cx="10416910" cy="414529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21993453" y="12599833"/>
            <a:ext cx="619407" cy="619413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383048" y="13728703"/>
            <a:ext cx="619407" cy="619413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154253" y="17398014"/>
            <a:ext cx="3392227" cy="295452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154253" y="17398014"/>
            <a:ext cx="12385" cy="2954521"/>
          </a:xfrm>
          <a:prstGeom prst="rect">
            <a:avLst/>
          </a:prstGeom>
          <a:solidFill>
            <a:srgbClr val="DEC9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383048" y="21164781"/>
            <a:ext cx="619407" cy="619412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72707" y="25473292"/>
            <a:ext cx="2162788" cy="601856"/>
          </a:xfrm>
          <a:prstGeom prst="roundRect">
            <a:avLst>
              <a:gd name="adj" fmla="val 14301"/>
            </a:avLst>
          </a:prstGeom>
          <a:solidFill>
            <a:srgbClr val="AE2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710" b="1">
                <a:solidFill>
                  <a:srgbClr val="FFFFFF"/>
                </a:solidFill>
                <a:latin typeface="Arial"/>
              </a:rPr>
              <a:t>WHY NOW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603858" y="10006870"/>
            <a:ext cx="8175473" cy="786653"/>
          </a:xfrm>
          <a:prstGeom prst="rect">
            <a:avLst/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1993453" y="19290026"/>
            <a:ext cx="10417270" cy="891997"/>
          </a:xfrm>
          <a:prstGeom prst="rect">
            <a:avLst/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383048" y="22806233"/>
            <a:ext cx="663892" cy="663898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85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383048" y="24617899"/>
            <a:ext cx="663892" cy="663899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85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603858" y="8603929"/>
            <a:ext cx="6542524" cy="616288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603858" y="9210691"/>
            <a:ext cx="6542524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146382" y="8603929"/>
            <a:ext cx="1632949" cy="616288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146382" y="9210691"/>
            <a:ext cx="1632949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603858" y="9220217"/>
            <a:ext cx="6542524" cy="78665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3603858" y="9997343"/>
            <a:ext cx="6542524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0146382" y="9220217"/>
            <a:ext cx="1632949" cy="78665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0146382" y="9997343"/>
            <a:ext cx="1632949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603858" y="10006870"/>
            <a:ext cx="6542524" cy="786653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3603858" y="10783996"/>
            <a:ext cx="6542524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0146382" y="10006870"/>
            <a:ext cx="1632949" cy="786653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0146382" y="10783996"/>
            <a:ext cx="1632949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1993453" y="16839604"/>
            <a:ext cx="8146760" cy="666430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993453" y="17496508"/>
            <a:ext cx="8146760" cy="12384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140213" y="16839604"/>
            <a:ext cx="2270510" cy="666430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0140213" y="17496508"/>
            <a:ext cx="2270510" cy="12384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1993453" y="17506034"/>
            <a:ext cx="8146760" cy="8919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1993453" y="18388504"/>
            <a:ext cx="8146760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140213" y="17506034"/>
            <a:ext cx="2270510" cy="8919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0140213" y="18388504"/>
            <a:ext cx="2270510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1993453" y="18398031"/>
            <a:ext cx="8146760" cy="8919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993453" y="19280499"/>
            <a:ext cx="8146760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140213" y="18398031"/>
            <a:ext cx="2270510" cy="8919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0140213" y="19280499"/>
            <a:ext cx="2270510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1993453" y="19290026"/>
            <a:ext cx="8146760" cy="8919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1993453" y="20172496"/>
            <a:ext cx="8146760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140213" y="19290026"/>
            <a:ext cx="2270510" cy="8919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0140213" y="20172496"/>
            <a:ext cx="2270510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1993453" y="20182023"/>
            <a:ext cx="8146760" cy="8919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1993453" y="21064491"/>
            <a:ext cx="8146760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0140213" y="20182023"/>
            <a:ext cx="2270510" cy="8919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0140213" y="21064491"/>
            <a:ext cx="2270510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44614" y="1457695"/>
            <a:ext cx="37931423" cy="13240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9069"/>
              </a:lnSpc>
              <a:spcBef>
                <a:spcPts val="0"/>
              </a:spcBef>
              <a:spcAft>
                <a:spcPts val="0"/>
              </a:spcAft>
            </a:pPr>
            <a:r>
              <a:rPr sz="8097" b="1" spc="-80">
                <a:solidFill>
                  <a:srgbClr val="7D2860"/>
                </a:solidFill>
                <a:latin typeface="Arial"/>
              </a:rPr>
              <a:t>Orchard: An Open-Source Agentic Modeling Framework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44614" y="2865992"/>
            <a:ext cx="37931423" cy="1639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B2331"/>
                </a:solidFill>
                <a:latin typeface="Arial"/>
              </a:rPr>
              <a:t>Baolin Peng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, Wenlin Yao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, Qianhui Wu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, Hao Cheng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, Xiao Yu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2</a:t>
            </a:r>
            <a:r>
              <a:rPr sz="3872" b="0">
                <a:solidFill>
                  <a:srgbClr val="1B2331"/>
                </a:solidFill>
                <a:latin typeface="Arial"/>
              </a:rPr>
              <a:t>, Rui Yang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3</a:t>
            </a:r>
            <a:r>
              <a:rPr sz="3872" b="0">
                <a:solidFill>
                  <a:srgbClr val="1B2331"/>
                </a:solidFill>
                <a:latin typeface="Arial"/>
              </a:rPr>
              <a:t>, Tao Ge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, Alessandro Sordoni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, Xingdi Yuan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, Yelong Shen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, Pengcheng He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, Tong Zhang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3</a:t>
            </a:r>
            <a:r>
              <a:rPr sz="3872" b="0">
                <a:solidFill>
                  <a:srgbClr val="1B2331"/>
                </a:solidFill>
                <a:latin typeface="Arial"/>
              </a:rPr>
              <a:t>, Zhou Yu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2</a:t>
            </a:r>
            <a:r>
              <a:rPr sz="3872" b="0">
                <a:solidFill>
                  <a:srgbClr val="1B2331"/>
                </a:solidFill>
                <a:latin typeface="Arial"/>
              </a:rPr>
              <a:t>, Jianfeng Gao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44614" y="4344965"/>
            <a:ext cx="37931423" cy="55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2402" b="0" spc="52" baseline="30000">
                <a:solidFill>
                  <a:srgbClr val="55617A"/>
                </a:solidFill>
                <a:latin typeface="Arial"/>
              </a:rPr>
              <a:t>1</a:t>
            </a:r>
            <a:r>
              <a:rPr sz="2640" b="0" spc="52">
                <a:solidFill>
                  <a:srgbClr val="55617A"/>
                </a:solidFill>
                <a:latin typeface="Arial"/>
              </a:rPr>
              <a:t>Microsoft Research   </a:t>
            </a:r>
            <a:r>
              <a:rPr sz="3696" b="0" spc="52" baseline="30000">
                <a:solidFill>
                  <a:srgbClr val="55617A"/>
                </a:solidFill>
                <a:latin typeface="Arial"/>
              </a:rPr>
              <a:t>2</a:t>
            </a:r>
            <a:r>
              <a:rPr sz="2640" b="0" spc="52">
                <a:solidFill>
                  <a:srgbClr val="55617A"/>
                </a:solidFill>
                <a:latin typeface="Arial"/>
              </a:rPr>
              <a:t>Columbia University   </a:t>
            </a:r>
            <a:r>
              <a:rPr sz="3696" b="0" spc="52" baseline="30000">
                <a:solidFill>
                  <a:srgbClr val="55617A"/>
                </a:solidFill>
                <a:latin typeface="Arial"/>
              </a:rPr>
              <a:t>3</a:t>
            </a:r>
            <a:r>
              <a:rPr sz="2640" b="0" spc="52">
                <a:solidFill>
                  <a:srgbClr val="55617A"/>
                </a:solidFill>
                <a:latin typeface="Arial"/>
              </a:rPr>
              <a:t>University of Illinois Urbana-Champaign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439" y="6556877"/>
            <a:ext cx="8420740" cy="848013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PROBLEM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83048" y="6556877"/>
            <a:ext cx="10729788" cy="848013"/>
          </a:xfrm>
          <a:prstGeom prst="rect">
            <a:avLst/>
          </a:prstGeom>
          <a:noFill/>
        </p:spPr>
        <p:txBody>
          <a:bodyPr wrap="non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METHOD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603858" y="6556877"/>
            <a:ext cx="8420737" cy="1696026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KEY RESULTS 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993453" y="7395011"/>
            <a:ext cx="10729788" cy="4726017"/>
          </a:xfrm>
          <a:prstGeom prst="rect">
            <a:avLst/>
          </a:prstGeom>
          <a:noFill/>
        </p:spPr>
        <p:txBody>
          <a:bodyPr wrap="square" lIns="319690" rIns="319690" tIns="137714" bIns="137714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111111"/>
                </a:solidFill>
                <a:latin typeface="Arial"/>
              </a:rPr>
              <a:t>BAR</a:t>
            </a:r>
            <a:r>
              <a:rPr sz="3872" b="0">
                <a:solidFill>
                  <a:srgbClr val="7D2860"/>
                </a:solidFill>
                <a:latin typeface="Arial"/>
              </a:rPr>
              <a:t> assembles reward-balanced rollouts online per prompt; </a:t>
            </a:r>
            <a:r>
              <a:rPr sz="3872" b="1">
                <a:solidFill>
                  <a:srgbClr val="111111"/>
                </a:solidFill>
                <a:latin typeface="Arial"/>
              </a:rPr>
              <a:t>OPD</a:t>
            </a:r>
            <a:r>
              <a:rPr sz="3872" b="0">
                <a:solidFill>
                  <a:srgbClr val="7D2860"/>
                </a:solidFill>
                <a:latin typeface="Arial"/>
              </a:rPr>
              <a:t> adds token-level teacher distillation; </a:t>
            </a:r>
            <a:r>
              <a:rPr sz="3872" b="1">
                <a:solidFill>
                  <a:srgbClr val="111111"/>
                </a:solidFill>
                <a:latin typeface="Arial"/>
              </a:rPr>
              <a:t>RPR</a:t>
            </a:r>
            <a:r>
              <a:rPr sz="3872" b="0">
                <a:solidFill>
                  <a:srgbClr val="7D2860"/>
                </a:solidFill>
                <a:latin typeface="Arial"/>
              </a:rPr>
              <a:t> scores self-verification across 7 rubrics (0.85 on verification); historical rollouts distill into a </a:t>
            </a:r>
            <a:r>
              <a:rPr sz="3872" b="1">
                <a:solidFill>
                  <a:srgbClr val="111111"/>
                </a:solidFill>
                <a:latin typeface="Arial"/>
              </a:rPr>
              <a:t>4B value model</a:t>
            </a:r>
            <a:r>
              <a:rPr sz="3872" b="0">
                <a:solidFill>
                  <a:srgbClr val="7D2860"/>
                </a:solidFill>
                <a:latin typeface="Arial"/>
              </a:rPr>
              <a:t> for best-of-N reranking.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4439" y="7614625"/>
            <a:ext cx="8420740" cy="65568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C1C1C"/>
                </a:solidFill>
                <a:latin typeface="Arial"/>
              </a:rPr>
              <a:t>Training LLM agents needs huge rollout trajectories, each running dozens of sequential calls to a sandboxed environment — yet the environment layer is usually </a:t>
            </a:r>
            <a:r>
              <a:rPr sz="3872" b="1">
                <a:solidFill>
                  <a:srgbClr val="111111"/>
                </a:solidFill>
                <a:latin typeface="Arial"/>
              </a:rPr>
              <a:t>closed</a:t>
            </a:r>
            <a:r>
              <a:rPr sz="3872" b="0">
                <a:solidFill>
                  <a:srgbClr val="1C1C1C"/>
                </a:solidFill>
                <a:latin typeface="Arial"/>
              </a:rPr>
              <a:t> (E2B, Daytona, Modal) or </a:t>
            </a:r>
            <a:r>
              <a:rPr sz="3872" b="1">
                <a:solidFill>
                  <a:srgbClr val="111111"/>
                </a:solidFill>
                <a:latin typeface="Arial"/>
              </a:rPr>
              <a:t>coupled to one stack</a:t>
            </a:r>
            <a:r>
              <a:rPr sz="3872" b="0">
                <a:solidFill>
                  <a:srgbClr val="1C1C1C"/>
                </a:solidFill>
                <a:latin typeface="Arial"/>
              </a:rPr>
              <a:t> (ProRL Agent, MegaFlow).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603858" y="11150916"/>
            <a:ext cx="8420737" cy="1357062"/>
          </a:xfrm>
          <a:prstGeom prst="rect">
            <a:avLst/>
          </a:prstGeom>
          <a:noFill/>
        </p:spPr>
        <p:txBody>
          <a:bodyPr wrap="square" lIns="457894" rIns="457894" tIns="265100" bIns="265100">
            <a:spAutoFit/>
          </a:bodyPr>
          <a:lstStyle/>
          <a:p>
            <a:pPr algn="ctr">
              <a:lnSpc>
                <a:spcPts val="5123"/>
              </a:lnSpc>
              <a:spcBef>
                <a:spcPts val="0"/>
              </a:spcBef>
              <a:spcAft>
                <a:spcPts val="0"/>
              </a:spcAft>
            </a:pPr>
            <a:r>
              <a:rPr sz="3795" b="1">
                <a:solidFill>
                  <a:srgbClr val="7D2860"/>
                </a:solidFill>
                <a:latin typeface="Arial"/>
              </a:rPr>
              <a:t>+3.3 pts · open-source SOTA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603858" y="12683602"/>
            <a:ext cx="8420737" cy="2429570"/>
          </a:xfrm>
          <a:prstGeom prst="rect">
            <a:avLst/>
          </a:prstGeom>
          <a:noFill/>
        </p:spPr>
        <p:txBody>
          <a:bodyPr wrap="square" lIns="0" rIns="0" tIns="203620" bIns="0">
            <a:spAutoFit/>
          </a:bodyPr>
          <a:lstStyle/>
          <a:p>
            <a:pPr algn="l">
              <a:lnSpc>
                <a:spcPts val="4988"/>
              </a:lnSpc>
              <a:spcBef>
                <a:spcPts val="0"/>
              </a:spcBef>
              <a:spcAft>
                <a:spcPts val="0"/>
              </a:spcAft>
            </a:pPr>
            <a:r>
              <a:rPr sz="2779" b="1" spc="166">
                <a:solidFill>
                  <a:srgbClr val="111111"/>
                </a:solidFill>
                <a:latin typeface="Arial"/>
              </a:rPr>
              <a:t>SO WHAT → </a:t>
            </a:r>
            <a:r>
              <a:rPr sz="3562" b="0" i="1">
                <a:solidFill>
                  <a:srgbClr val="1C1C1C"/>
                </a:solidFill>
                <a:latin typeface="Arial"/>
              </a:rPr>
              <a:t>Orchard-GUI (4B) reaches 68.4% avg GUI — the strongest open-source agent.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14439" y="13580806"/>
            <a:ext cx="8420740" cy="2340251"/>
          </a:xfrm>
          <a:prstGeom prst="rect">
            <a:avLst/>
          </a:prstGeom>
          <a:noFill/>
        </p:spPr>
        <p:txBody>
          <a:bodyPr wrap="square" lIns="344282" rIns="344282" tIns="59020" bIns="59020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0" i="1">
                <a:solidFill>
                  <a:srgbClr val="1C1C1C"/>
                </a:solidFill>
                <a:latin typeface="Arial"/>
              </a:rPr>
              <a:t>Trajectories, recipes, and evals can't be reused across domains, harnesses, or stages.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948445" y="15623395"/>
            <a:ext cx="9564919" cy="400394"/>
          </a:xfrm>
          <a:prstGeom prst="rect">
            <a:avLst/>
          </a:prstGeom>
          <a:noFill/>
        </p:spPr>
        <p:txBody>
          <a:bodyPr wrap="square" lIns="371825" rIns="371825" tIns="63742" bIns="63742">
            <a:spAutoFit/>
          </a:bodyPr>
          <a:lstStyle/>
          <a:p>
            <a:pPr algn="ctr">
              <a:lnSpc>
                <a:spcPts val="3032"/>
              </a:lnSpc>
              <a:spcBef>
                <a:spcPts val="0"/>
              </a:spcBef>
              <a:spcAft>
                <a:spcPts val="0"/>
              </a:spcAft>
            </a:pPr>
            <a:r>
              <a:rPr sz="4182" b="0">
                <a:solidFill>
                  <a:srgbClr val="1C1C1C"/>
                </a:solidFill>
                <a:latin typeface="Cambria Math"/>
              </a:rPr>
              <a:t>                                           </a:t>
            </a:r>
            <a:r>
              <a:rPr sz="2091" b="0" i="1">
                <a:solidFill>
                  <a:srgbClr val="555555"/>
                </a:solidFill>
                <a:latin typeface="Cambria Math"/>
              </a:rPr>
              <a:t>per-step credit = TD shift in the teacher's success probability; rise segments have c</a:t>
            </a:r>
            <a:r>
              <a:rPr sz="2927" b="0" i="1" baseline="-25000">
                <a:solidFill>
                  <a:srgbClr val="555555"/>
                </a:solidFill>
                <a:latin typeface="Cambria Math"/>
              </a:rPr>
              <a:t>t</a:t>
            </a:r>
            <a:r>
              <a:rPr sz="2091" b="0" i="1">
                <a:solidFill>
                  <a:srgbClr val="555555"/>
                </a:solidFill>
                <a:latin typeface="Cambria Math"/>
              </a:rPr>
              <a:t> ≥ ε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603858" y="16110533"/>
            <a:ext cx="8420737" cy="8480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HEADLINE NUMBERS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14439" y="16703907"/>
            <a:ext cx="8420740" cy="848014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MOTIVATION 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622902" y="21614127"/>
            <a:ext cx="8401121" cy="848013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TAKEAWAY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622902" y="23854904"/>
            <a:ext cx="8401121" cy="6218424"/>
          </a:xfrm>
          <a:prstGeom prst="rect">
            <a:avLst/>
          </a:prstGeom>
          <a:noFill/>
        </p:spPr>
        <p:txBody>
          <a:bodyPr wrap="square" lIns="344282" rIns="344282" tIns="147551" bIns="147551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FFFFFF"/>
                </a:solidFill>
                <a:latin typeface="Arial"/>
              </a:rPr>
              <a:t>A thin, open, harness-agnostic environment layer makes agentic data, training recipes, and eval protocols reusable — so open-source agentic modeling scales without coupling the environment to any single stack.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383048" y="26976070"/>
            <a:ext cx="10729788" cy="24588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C1C1C"/>
                </a:solidFill>
                <a:latin typeface="Arial"/>
              </a:rPr>
              <a:t>Sandbox lifecycle, command execution, file I/O, network policy — </a:t>
            </a:r>
            <a:r>
              <a:rPr sz="3872" b="1">
                <a:solidFill>
                  <a:srgbClr val="111111"/>
                </a:solidFill>
                <a:latin typeface="Arial"/>
              </a:rPr>
              <a:t>0.28 s</a:t>
            </a:r>
            <a:r>
              <a:rPr sz="3872" b="0">
                <a:solidFill>
                  <a:srgbClr val="1C1C1C"/>
                </a:solidFill>
                <a:latin typeface="Arial"/>
              </a:rPr>
              <a:t> latency, </a:t>
            </a:r>
            <a:r>
              <a:rPr sz="3872" b="1">
                <a:solidFill>
                  <a:srgbClr val="111111"/>
                </a:solidFill>
                <a:latin typeface="Arial"/>
              </a:rPr>
              <a:t>1,000-sandbox</a:t>
            </a:r>
            <a:r>
              <a:rPr sz="3872" b="0">
                <a:solidFill>
                  <a:srgbClr val="1C1C1C"/>
                </a:solidFill>
                <a:latin typeface="Arial"/>
              </a:rPr>
              <a:t> stress success.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1993453" y="27723145"/>
            <a:ext cx="10729788" cy="1786373"/>
          </a:xfrm>
          <a:prstGeom prst="rect">
            <a:avLst/>
          </a:prstGeom>
          <a:noFill/>
        </p:spPr>
        <p:txBody>
          <a:bodyPr wrap="square" lIns="319690" rIns="319690" tIns="137714" bIns="137714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7D2860"/>
                </a:solidFill>
                <a:latin typeface="Arial"/>
              </a:rPr>
              <a:t>Oracle best-of-N selector reaches </a:t>
            </a:r>
            <a:r>
              <a:rPr sz="3872" b="1">
                <a:solidFill>
                  <a:srgbClr val="111111"/>
                </a:solidFill>
                <a:latin typeface="Arial"/>
              </a:rPr>
              <a:t>82.4%</a:t>
            </a:r>
            <a:r>
              <a:rPr sz="3872" b="0">
                <a:solidFill>
                  <a:srgbClr val="7D2860"/>
                </a:solidFill>
                <a:latin typeface="Arial"/>
              </a:rPr>
              <a:t> — 12.7 pts of inference-time headroom remain.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661917" y="4963931"/>
            <a:ext cx="822963" cy="4007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46"/>
              </a:lnSpc>
              <a:spcBef>
                <a:spcPts val="0"/>
              </a:spcBef>
              <a:spcAft>
                <a:spcPts val="0"/>
              </a:spcAft>
            </a:pPr>
            <a:r>
              <a:rPr sz="2112" b="1" spc="84">
                <a:solidFill>
                  <a:srgbClr val="1B2331"/>
                </a:solidFill>
                <a:latin typeface="Arial"/>
              </a:rPr>
              <a:t>Paper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849850" y="4963931"/>
            <a:ext cx="734691" cy="4007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46"/>
              </a:lnSpc>
              <a:spcBef>
                <a:spcPts val="0"/>
              </a:spcBef>
              <a:spcAft>
                <a:spcPts val="0"/>
              </a:spcAft>
            </a:pPr>
            <a:r>
              <a:rPr sz="2112" b="1" spc="84">
                <a:solidFill>
                  <a:srgbClr val="1B2331"/>
                </a:solidFill>
                <a:latin typeface="Arial"/>
              </a:rPr>
              <a:t>Code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2819228" y="6569822"/>
            <a:ext cx="5169957" cy="6825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Orchard-SWE recipe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1015236" y="6682604"/>
            <a:ext cx="1437351" cy="4231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SFT + RL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853369" y="12165814"/>
            <a:ext cx="9760776" cy="602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128"/>
              </a:lnSpc>
              <a:spcBef>
                <a:spcPts val="0"/>
              </a:spcBef>
              <a:spcAft>
                <a:spcPts val="0"/>
              </a:spcAft>
            </a:pPr>
            <a:r>
              <a:rPr sz="3175" b="0" i="1">
                <a:solidFill>
                  <a:srgbClr val="555555"/>
                </a:solidFill>
                <a:latin typeface="Arial"/>
              </a:rPr>
              <a:t>Orchard Env — SDK → orchestrator → in-pod agent.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819228" y="12612778"/>
            <a:ext cx="2126219" cy="6825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Ablation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0757239" y="12725561"/>
            <a:ext cx="1703088" cy="423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what helps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208824" y="13741647"/>
            <a:ext cx="5818826" cy="682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Credit-assignment SFT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395310" y="13854430"/>
            <a:ext cx="1447158" cy="4231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core idea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993453" y="14092495"/>
            <a:ext cx="4307302" cy="16960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1618"/>
              </a:lnSpc>
              <a:spcBef>
                <a:spcPts val="0"/>
              </a:spcBef>
              <a:spcAft>
                <a:spcPts val="0"/>
              </a:spcAft>
            </a:pPr>
            <a:r>
              <a:rPr sz="11618" b="1">
                <a:solidFill>
                  <a:srgbClr val="7D2860"/>
                </a:solidFill>
                <a:latin typeface="Arial"/>
              </a:rPr>
              <a:t>73.0%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371849" y="14863822"/>
            <a:ext cx="6220040" cy="14756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053"/>
              </a:lnSpc>
              <a:spcBef>
                <a:spcPts val="0"/>
              </a:spcBef>
              <a:spcAft>
                <a:spcPts val="0"/>
              </a:spcAft>
            </a:pPr>
            <a:r>
              <a:rPr sz="3485" b="0">
                <a:solidFill>
                  <a:srgbClr val="555555"/>
                </a:solidFill>
                <a:latin typeface="Arial"/>
              </a:rPr>
              <a:t>SWE-bench Verified — open-source SOTA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382731" y="16241022"/>
            <a:ext cx="10730114" cy="24588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Teacher as value function</a:t>
            </a:r>
            <a:r>
              <a:rPr sz="3872" b="0">
                <a:solidFill>
                  <a:srgbClr val="1C1C1C"/>
                </a:solidFill>
                <a:latin typeface="Arial"/>
              </a:rPr>
              <a:t> — mines productive rise segments from failed trajectories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382731" y="18551135"/>
            <a:ext cx="10730114" cy="16392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Dense token-level credit</a:t>
            </a:r>
            <a:r>
              <a:rPr sz="3872" b="0">
                <a:solidFill>
                  <a:srgbClr val="1C1C1C"/>
                </a:solidFill>
                <a:latin typeface="Arial"/>
              </a:rPr>
              <a:t> — turns sparse rewards into per-step signal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14121" y="18867910"/>
            <a:ext cx="8421067" cy="24588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The environment layer is the foundational bottleneck</a:t>
            </a:r>
            <a:r>
              <a:rPr sz="3872" b="0">
                <a:solidFill>
                  <a:srgbClr val="1C1C1C"/>
                </a:solidFill>
                <a:latin typeface="Arial"/>
              </a:rPr>
              <a:t> — close it, and everything above locks in.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208824" y="21177724"/>
            <a:ext cx="3190707" cy="682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Orchard Env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14121" y="21178022"/>
            <a:ext cx="8421067" cy="3278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A thin, standalone service</a:t>
            </a:r>
            <a:r>
              <a:rPr sz="3872" b="0">
                <a:solidFill>
                  <a:srgbClr val="1C1C1C"/>
                </a:solidFill>
                <a:latin typeface="Arial"/>
              </a:rPr>
              <a:t> frees data, recipes, and evals to transfer across domains, harnesses, and stages.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8381615" y="21290509"/>
            <a:ext cx="2491264" cy="4231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thin env service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1993136" y="21648496"/>
            <a:ext cx="10730114" cy="16392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Data scale dominates</a:t>
            </a:r>
            <a:r>
              <a:rPr sz="3872" b="0">
                <a:solidFill>
                  <a:srgbClr val="1C1C1C"/>
                </a:solidFill>
                <a:latin typeface="Arial"/>
              </a:rPr>
              <a:t> — doubling trajectories 512→2048 gains +8.2 pts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290397" y="22806233"/>
            <a:ext cx="9795218" cy="17442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421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111111"/>
                </a:solidFill>
                <a:latin typeface="Arial"/>
              </a:rPr>
              <a:t>3-layer design</a:t>
            </a:r>
            <a:r>
              <a:rPr sz="3872" b="0">
                <a:solidFill>
                  <a:srgbClr val="1C1C1C"/>
                </a:solidFill>
                <a:latin typeface="Arial"/>
              </a:rPr>
              <a:t> — Python SDK → FastAPI orchestrator → in-pod agent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1993136" y="23245905"/>
            <a:ext cx="10730114" cy="24588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SFT init</a:t>
            </a:r>
            <a:r>
              <a:rPr sz="3872" b="0">
                <a:solidFill>
                  <a:srgbClr val="1C1C1C"/>
                </a:solidFill>
                <a:latin typeface="Arial"/>
              </a:rPr>
              <a:t> — moderate init helps out-of-distribution (+6.7 multilingual); heavy init regresses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1290397" y="24617899"/>
            <a:ext cx="9795218" cy="17442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421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111111"/>
                </a:solidFill>
                <a:latin typeface="Arial"/>
              </a:rPr>
              <a:t>2 scaling choices</a:t>
            </a:r>
            <a:r>
              <a:rPr sz="3872" b="0">
                <a:solidFill>
                  <a:srgbClr val="1C1C1C"/>
                </a:solidFill>
                <a:latin typeface="Arial"/>
              </a:rPr>
              <a:t> — runtime agent injection + direct Pod-IP routing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993136" y="25556019"/>
            <a:ext cx="10730114" cy="16392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Cross-harness lock-in</a:t>
            </a:r>
            <a:r>
              <a:rPr sz="3872" b="0">
                <a:solidFill>
                  <a:srgbClr val="1C1C1C"/>
                </a:solidFill>
                <a:latin typeface="Arial"/>
              </a:rPr>
              <a:t> — mismatched eval collapses to 19–28%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72707" y="26271699"/>
            <a:ext cx="7594404" cy="3278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C1C1C"/>
                </a:solidFill>
                <a:latin typeface="Arial"/>
              </a:rPr>
              <a:t>Frontier agents now span software, browsers, and assistants — open infrastructure lets research reproduce them.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3836711" y="17509457"/>
            <a:ext cx="3890149" cy="15418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0561"/>
              </a:lnSpc>
              <a:spcBef>
                <a:spcPts val="0"/>
              </a:spcBef>
              <a:spcAft>
                <a:spcPts val="0"/>
              </a:spcAft>
            </a:pPr>
            <a:r>
              <a:rPr sz="10561" b="1" spc="-211">
                <a:solidFill>
                  <a:srgbClr val="7D2860"/>
                </a:solidFill>
                <a:latin typeface="Arial"/>
              </a:rPr>
              <a:t>73.0%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3836711" y="18872522"/>
            <a:ext cx="3890149" cy="11306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872"/>
              </a:lnSpc>
              <a:spcBef>
                <a:spcPts val="0"/>
              </a:spcBef>
              <a:spcAft>
                <a:spcPts val="0"/>
              </a:spcAft>
            </a:pPr>
            <a:r>
              <a:rPr sz="3520" b="1">
                <a:solidFill>
                  <a:srgbClr val="1C1C1C"/>
                </a:solidFill>
                <a:latin typeface="Arial"/>
              </a:rPr>
              <a:t>SWE-bench Verified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3836711" y="19855725"/>
            <a:ext cx="3890149" cy="4431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36"/>
              </a:lnSpc>
              <a:spcBef>
                <a:spcPts val="0"/>
              </a:spcBef>
              <a:spcAft>
                <a:spcPts val="0"/>
              </a:spcAft>
            </a:pPr>
            <a:r>
              <a:rPr sz="2640" b="0" i="1">
                <a:solidFill>
                  <a:srgbClr val="555555"/>
                </a:solidFill>
                <a:latin typeface="Arial"/>
              </a:rPr>
              <a:t>open-source SOTA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3603858" y="8603929"/>
            <a:ext cx="6738799" cy="708731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l">
              <a:lnSpc>
                <a:spcPts val="3916"/>
              </a:lnSpc>
              <a:spcBef>
                <a:spcPts val="0"/>
              </a:spcBef>
              <a:spcAft>
                <a:spcPts val="0"/>
              </a:spcAft>
            </a:pPr>
            <a:r>
              <a:rPr sz="2701" b="1" spc="135">
                <a:solidFill>
                  <a:srgbClr val="7D2860"/>
                </a:solidFill>
                <a:latin typeface="Arial"/>
              </a:rPr>
              <a:t>METHOD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0146382" y="8603929"/>
            <a:ext cx="1681937" cy="708731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3916"/>
              </a:lnSpc>
              <a:spcBef>
                <a:spcPts val="0"/>
              </a:spcBef>
              <a:spcAft>
                <a:spcPts val="0"/>
              </a:spcAft>
            </a:pPr>
            <a:r>
              <a:rPr sz="2701" b="1" spc="135">
                <a:solidFill>
                  <a:srgbClr val="7D2860"/>
                </a:solidFill>
                <a:latin typeface="Arial"/>
              </a:rPr>
              <a:t>METRIC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3603858" y="9220217"/>
            <a:ext cx="6738799" cy="904650"/>
          </a:xfrm>
          <a:prstGeom prst="rect">
            <a:avLst/>
          </a:prstGeom>
          <a:noFill/>
        </p:spPr>
        <p:txBody>
          <a:bodyPr wrap="square" lIns="76213" rIns="76213" tIns="57160" bIns="57160">
            <a:spAutoFit/>
          </a:bodyPr>
          <a:lstStyle/>
          <a:p>
            <a:pPr algn="l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1">
                <a:solidFill>
                  <a:srgbClr val="1C1C1C"/>
                </a:solidFill>
                <a:latin typeface="Arial"/>
              </a:rPr>
              <a:t>Orchard-SWE (RPR-RL)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146382" y="9220217"/>
            <a:ext cx="1681937" cy="904650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0">
                <a:solidFill>
                  <a:srgbClr val="1C1C1C"/>
                </a:solidFill>
                <a:latin typeface="Arial"/>
              </a:rPr>
              <a:t>69.7%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3603858" y="10006870"/>
            <a:ext cx="6738799" cy="904650"/>
          </a:xfrm>
          <a:prstGeom prst="rect">
            <a:avLst/>
          </a:prstGeom>
          <a:noFill/>
        </p:spPr>
        <p:txBody>
          <a:bodyPr wrap="square" lIns="76213" rIns="76213" tIns="57160" bIns="57160">
            <a:spAutoFit/>
          </a:bodyPr>
          <a:lstStyle/>
          <a:p>
            <a:pPr algn="l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1">
                <a:solidFill>
                  <a:srgbClr val="7D2860"/>
                </a:solidFill>
                <a:latin typeface="Arial"/>
              </a:rPr>
              <a:t>Orchard-SWE + value model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0146382" y="10006870"/>
            <a:ext cx="1681937" cy="904650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1">
                <a:solidFill>
                  <a:srgbClr val="7D2860"/>
                </a:solidFill>
                <a:latin typeface="Arial"/>
              </a:rPr>
              <a:t>73.0%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1993453" y="16839604"/>
            <a:ext cx="8391162" cy="766394"/>
          </a:xfrm>
          <a:prstGeom prst="rect">
            <a:avLst/>
          </a:prstGeom>
          <a:noFill/>
        </p:spPr>
        <p:txBody>
          <a:bodyPr wrap="square" lIns="175214" rIns="175214" tIns="77095" bIns="77095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2759" b="1" spc="137">
                <a:solidFill>
                  <a:srgbClr val="555555"/>
                </a:solidFill>
                <a:latin typeface="Arial"/>
              </a:rPr>
              <a:t>ABLATION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0140213" y="16839604"/>
            <a:ext cx="2338625" cy="766394"/>
          </a:xfrm>
          <a:prstGeom prst="rect">
            <a:avLst/>
          </a:prstGeom>
          <a:noFill/>
        </p:spPr>
        <p:txBody>
          <a:bodyPr wrap="square" lIns="175214" rIns="175214" tIns="77095" bIns="77095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2759" b="1" spc="137">
                <a:solidFill>
                  <a:srgbClr val="555555"/>
                </a:solidFill>
                <a:latin typeface="Arial"/>
              </a:rPr>
              <a:t>Δ PTS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606122" y="17398014"/>
            <a:ext cx="1474591" cy="5910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048"/>
              </a:lnSpc>
              <a:spcBef>
                <a:spcPts val="0"/>
              </a:spcBef>
              <a:spcAft>
                <a:spcPts val="0"/>
              </a:spcAft>
            </a:pPr>
            <a:r>
              <a:rPr sz="4048" b="1" spc="-40">
                <a:solidFill>
                  <a:srgbClr val="AE2622"/>
                </a:solidFill>
                <a:latin typeface="Arial"/>
              </a:rPr>
              <a:t>68.4%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993453" y="17506034"/>
            <a:ext cx="8391162" cy="1025796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Data scale 512→2048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140213" y="17506034"/>
            <a:ext cx="2338625" cy="1025796"/>
          </a:xfrm>
          <a:prstGeom prst="rect">
            <a:avLst/>
          </a:prstGeom>
          <a:noFill/>
        </p:spPr>
        <p:txBody>
          <a:bodyPr wrap="non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+8.2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0209766" y="17512284"/>
            <a:ext cx="1376815" cy="9250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</a:pPr>
            <a:r>
              <a:rPr sz="2640" b="0">
                <a:solidFill>
                  <a:srgbClr val="555555"/>
                </a:solidFill>
                <a:latin typeface="Arial"/>
              </a:rPr>
              <a:t>avg GUI (4B)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1993453" y="18398031"/>
            <a:ext cx="8391162" cy="1025794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Credit-assignment SFT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0140213" y="18398031"/>
            <a:ext cx="2338625" cy="1025794"/>
          </a:xfrm>
          <a:prstGeom prst="rect">
            <a:avLst/>
          </a:prstGeom>
          <a:noFill/>
        </p:spPr>
        <p:txBody>
          <a:bodyPr wrap="non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+1.9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606122" y="18562444"/>
            <a:ext cx="1288695" cy="1182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048"/>
              </a:lnSpc>
              <a:spcBef>
                <a:spcPts val="0"/>
              </a:spcBef>
              <a:spcAft>
                <a:spcPts val="0"/>
              </a:spcAft>
            </a:pPr>
            <a:r>
              <a:rPr sz="4048" b="1" spc="-40">
                <a:solidFill>
                  <a:srgbClr val="AE2622"/>
                </a:solidFill>
                <a:latin typeface="Arial"/>
              </a:rPr>
              <a:t>0.28 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029284" y="18676714"/>
            <a:ext cx="1562711" cy="9250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</a:pPr>
            <a:r>
              <a:rPr sz="2640" b="0">
                <a:solidFill>
                  <a:srgbClr val="555555"/>
                </a:solidFill>
                <a:latin typeface="Arial"/>
              </a:rPr>
              <a:t>env latency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993453" y="19290026"/>
            <a:ext cx="8391162" cy="1025796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1">
                <a:solidFill>
                  <a:srgbClr val="1C1C1C"/>
                </a:solidFill>
                <a:latin typeface="Arial"/>
              </a:rPr>
              <a:t>BAR (RL)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0140213" y="19290026"/>
            <a:ext cx="2338625" cy="1025796"/>
          </a:xfrm>
          <a:prstGeom prst="rect">
            <a:avLst/>
          </a:prstGeom>
          <a:noFill/>
        </p:spPr>
        <p:txBody>
          <a:bodyPr wrap="non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1">
                <a:solidFill>
                  <a:srgbClr val="1C1C1C"/>
                </a:solidFill>
                <a:latin typeface="Arial"/>
              </a:rPr>
              <a:t>+7.7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606122" y="19836086"/>
            <a:ext cx="1244404" cy="5910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048"/>
              </a:lnSpc>
              <a:spcBef>
                <a:spcPts val="0"/>
              </a:spcBef>
              <a:spcAft>
                <a:spcPts val="0"/>
              </a:spcAft>
            </a:pPr>
            <a:r>
              <a:rPr sz="4048" b="1" spc="-40">
                <a:solidFill>
                  <a:srgbClr val="AE2622"/>
                </a:solidFill>
                <a:latin typeface="Arial"/>
              </a:rPr>
              <a:t>107K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9986284" y="19950356"/>
            <a:ext cx="1688530" cy="4625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</a:pPr>
            <a:r>
              <a:rPr sz="2640" b="0">
                <a:solidFill>
                  <a:srgbClr val="555555"/>
                </a:solidFill>
                <a:latin typeface="Arial"/>
              </a:rPr>
              <a:t>trajectories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993453" y="20182023"/>
            <a:ext cx="8391162" cy="1025794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Value model (BoN)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0140213" y="20182023"/>
            <a:ext cx="2338625" cy="1025794"/>
          </a:xfrm>
          <a:prstGeom prst="rect">
            <a:avLst/>
          </a:prstGeom>
          <a:noFill/>
        </p:spPr>
        <p:txBody>
          <a:bodyPr wrap="non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+3.3</a:t>
            </a:r>
          </a:p>
        </p:txBody>
      </p:sp>
      <p:pic>
        <p:nvPicPr>
          <p:cNvPr id="147" name="Picture 146" descr="eq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34203" y="14753569"/>
            <a:ext cx="5714962" cy="7522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