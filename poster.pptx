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42793920" cy="30266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53492" y="553498"/>
            <a:ext cx="41686935" cy="2712888"/>
          </a:xfrm>
          <a:prstGeom prst="roundRect">
            <a:avLst>
              <a:gd name="adj" fmla="val 4401"/>
            </a:avLst>
          </a:prstGeom>
          <a:solidFill>
            <a:srgbClr val="F4E6EF"/>
          </a:solidFill>
          <a:ln>
            <a:noFill/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53492" y="3701746"/>
            <a:ext cx="8651599" cy="6278044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3492" y="3701746"/>
            <a:ext cx="133374" cy="6278044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61737" y="3701746"/>
            <a:ext cx="10814535" cy="9373768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561737" y="3701746"/>
            <a:ext cx="133373" cy="9373768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732917" y="3701746"/>
            <a:ext cx="10814684" cy="9919085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732917" y="3701746"/>
            <a:ext cx="133373" cy="9919085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904247" y="3701746"/>
            <a:ext cx="10336180" cy="8128992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904247" y="3701746"/>
            <a:ext cx="133374" cy="8128992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3492" y="10256540"/>
            <a:ext cx="8651599" cy="19452654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492" y="10256540"/>
            <a:ext cx="133374" cy="19452654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904247" y="12107487"/>
            <a:ext cx="10336180" cy="5399887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904247" y="12107487"/>
            <a:ext cx="133374" cy="5399887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61737" y="13352264"/>
            <a:ext cx="10814535" cy="6202311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61737" y="13352264"/>
            <a:ext cx="133373" cy="6202311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732917" y="13897580"/>
            <a:ext cx="10814684" cy="15811614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732917" y="13897580"/>
            <a:ext cx="133373" cy="15811614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904247" y="17784123"/>
            <a:ext cx="10336180" cy="7531154"/>
          </a:xfrm>
          <a:prstGeom prst="rect">
            <a:avLst/>
          </a:prstGeom>
          <a:solidFill>
            <a:srgbClr val="F6ECF1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904247" y="17784123"/>
            <a:ext cx="57161" cy="7531154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61737" y="19831325"/>
            <a:ext cx="10814535" cy="9877869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61737" y="19831325"/>
            <a:ext cx="133373" cy="9877869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904247" y="25592026"/>
            <a:ext cx="10336180" cy="4117168"/>
          </a:xfrm>
          <a:prstGeom prst="rect">
            <a:avLst/>
          </a:prstGeom>
          <a:solidFill>
            <a:srgbClr val="FFFFFF"/>
          </a:solidFill>
          <a:ln w="9526">
            <a:solidFill>
              <a:srgbClr val="E8E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904247" y="25592026"/>
            <a:ext cx="133374" cy="4117168"/>
          </a:xfrm>
          <a:prstGeom prst="rect">
            <a:avLst/>
          </a:prstGeom>
          <a:solidFill>
            <a:srgbClr val="7D28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62497" y="7693186"/>
            <a:ext cx="7815706" cy="1959713"/>
          </a:xfrm>
          <a:prstGeom prst="roundRect">
            <a:avLst>
              <a:gd name="adj" fmla="val 8892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413253" y="9014888"/>
            <a:ext cx="9500289" cy="243345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413253" y="9014888"/>
            <a:ext cx="9500289" cy="12384"/>
          </a:xfrm>
          <a:prstGeom prst="rect">
            <a:avLst/>
          </a:prstGeom>
          <a:solidFill>
            <a:srgbClr val="D2B4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413253" y="13364912"/>
            <a:ext cx="9500289" cy="3907374"/>
          </a:xfrm>
          <a:prstGeom prst="roundRect">
            <a:avLst>
              <a:gd name="adj" fmla="val 1950"/>
            </a:avLst>
          </a:prstGeom>
          <a:gradFill flip="none" rotWithShape="1">
            <a:gsLst>
              <a:gs pos="0">
                <a:srgbClr val="EFE5EC"/>
              </a:gs>
              <a:gs pos="100000">
                <a:srgbClr val="F7F2F5"/>
              </a:gs>
            </a:gsLst>
            <a:lin ang="5400000" scaled="0"/>
          </a:gradFill>
          <a:ln w="9526">
            <a:solidFill>
              <a:srgbClr val="DEC9D7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70742" y="14505238"/>
            <a:ext cx="9978641" cy="1241653"/>
          </a:xfrm>
          <a:prstGeom prst="roundRect">
            <a:avLst>
              <a:gd name="adj" fmla="val 15158"/>
            </a:avLst>
          </a:prstGeom>
          <a:solidFill>
            <a:srgbClr val="F7F2F5"/>
          </a:solidFill>
          <a:ln w="9526">
            <a:solidFill>
              <a:srgbClr val="D5B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337072" y="19273363"/>
            <a:ext cx="9576470" cy="4126094"/>
          </a:xfrm>
          <a:prstGeom prst="roundRect">
            <a:avLst>
              <a:gd name="adj" fmla="val 3695"/>
            </a:avLst>
          </a:prstGeom>
          <a:solidFill>
            <a:srgbClr val="F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337072" y="19273363"/>
            <a:ext cx="104794" cy="4126094"/>
          </a:xfrm>
          <a:prstGeom prst="rect">
            <a:avLst/>
          </a:prstGeom>
          <a:solidFill>
            <a:srgbClr val="AE26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1241923" y="19735056"/>
            <a:ext cx="9978791" cy="1942158"/>
          </a:xfrm>
          <a:prstGeom prst="roundRect">
            <a:avLst>
              <a:gd name="adj" fmla="val 8973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1241923" y="4028637"/>
            <a:ext cx="548583" cy="54858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80" b="1">
                <a:solidFill>
                  <a:srgbClr val="FFFFFF"/>
                </a:solidFill>
                <a:latin typeface="Arial" panose="020B0604020202090204"/>
              </a:rPr>
              <a:t>3</a:t>
            </a:r>
            <a:endParaRPr sz="288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21241923" y="4859927"/>
            <a:ext cx="2919823" cy="2873730"/>
          </a:xfrm>
          <a:prstGeom prst="roundRect">
            <a:avLst>
              <a:gd name="adj" fmla="val 7580"/>
            </a:avLst>
          </a:prstGeom>
          <a:solidFill>
            <a:srgbClr val="F5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4771331" y="4859927"/>
            <a:ext cx="2919972" cy="2873730"/>
          </a:xfrm>
          <a:prstGeom prst="roundRect">
            <a:avLst>
              <a:gd name="adj" fmla="val 7580"/>
            </a:avLst>
          </a:prstGeom>
          <a:solidFill>
            <a:srgbClr val="F5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8300891" y="4859927"/>
            <a:ext cx="2919823" cy="2873730"/>
          </a:xfrm>
          <a:prstGeom prst="roundRect">
            <a:avLst>
              <a:gd name="adj" fmla="val 7580"/>
            </a:avLst>
          </a:prstGeom>
          <a:solidFill>
            <a:srgbClr val="F5E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070742" y="5167327"/>
            <a:ext cx="9978641" cy="6664007"/>
          </a:xfrm>
          <a:prstGeom prst="roundRect">
            <a:avLst>
              <a:gd name="adj" fmla="val 571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igur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822" y="5167327"/>
            <a:ext cx="9978481" cy="6664007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1062497" y="11656951"/>
            <a:ext cx="3246265" cy="684583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915" b="1">
                <a:solidFill>
                  <a:srgbClr val="7D2860"/>
                </a:solidFill>
                <a:latin typeface="Arial" panose="020B0604020202090204"/>
              </a:rPr>
              <a:t>agentic retrieval</a:t>
            </a:r>
            <a:endParaRPr sz="2915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439399" y="11656951"/>
            <a:ext cx="3903017" cy="684583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915" b="1">
                <a:solidFill>
                  <a:srgbClr val="7D2860"/>
                </a:solidFill>
                <a:latin typeface="Arial" panose="020B0604020202090204"/>
              </a:rPr>
              <a:t>plan decomposition</a:t>
            </a:r>
            <a:endParaRPr sz="2915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062497" y="12472171"/>
            <a:ext cx="1826080" cy="684583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915" b="1">
                <a:solidFill>
                  <a:srgbClr val="7D2860"/>
                </a:solidFill>
                <a:latin typeface="Arial" panose="020B0604020202090204"/>
              </a:rPr>
              <a:t>tool use</a:t>
            </a:r>
            <a:endParaRPr sz="2915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019214" y="12472171"/>
            <a:ext cx="2889023" cy="684583"/>
          </a:xfrm>
          <a:prstGeom prst="roundRect">
            <a:avLst>
              <a:gd name="adj" fmla="val 50000"/>
            </a:avLst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915" b="1">
                <a:solidFill>
                  <a:srgbClr val="7D2860"/>
                </a:solidFill>
                <a:latin typeface="Arial" panose="020B0604020202090204"/>
              </a:rPr>
              <a:t>code/SQL gen</a:t>
            </a:r>
            <a:endParaRPr sz="2915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038874" y="12472171"/>
            <a:ext cx="1044643" cy="684583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915" b="1">
                <a:solidFill>
                  <a:srgbClr val="AE2622"/>
                </a:solidFill>
                <a:latin typeface="Arial" panose="020B0604020202090204"/>
              </a:rPr>
              <a:t>DCI</a:t>
            </a:r>
            <a:endParaRPr sz="2915" b="1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1062497" y="13287392"/>
            <a:ext cx="3801246" cy="684583"/>
          </a:xfrm>
          <a:prstGeom prst="roundRect">
            <a:avLst>
              <a:gd name="adj" fmla="val 50000"/>
            </a:avLst>
          </a:prstGeom>
          <a:solidFill>
            <a:srgbClr val="F7E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915" b="1">
                <a:solidFill>
                  <a:srgbClr val="AE2622"/>
                </a:solidFill>
                <a:latin typeface="Arial" panose="020B0604020202090204"/>
              </a:rPr>
              <a:t>Metadata Reasoner</a:t>
            </a:r>
            <a:endParaRPr sz="2915" b="1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7708631" y="13552090"/>
            <a:ext cx="3997347" cy="36016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7708631" y="13552090"/>
            <a:ext cx="12385" cy="3601610"/>
          </a:xfrm>
          <a:prstGeom prst="rect">
            <a:avLst/>
          </a:prstGeom>
          <a:solidFill>
            <a:srgbClr val="DEC9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070742" y="13679156"/>
            <a:ext cx="548583" cy="548588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80" b="1">
                <a:solidFill>
                  <a:srgbClr val="FFFFFF"/>
                </a:solidFill>
                <a:latin typeface="Arial" panose="020B0604020202090204"/>
              </a:rPr>
              <a:t>1</a:t>
            </a:r>
            <a:endParaRPr sz="288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21241923" y="14224471"/>
            <a:ext cx="548583" cy="54858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80" b="1">
                <a:solidFill>
                  <a:srgbClr val="FFFFFF"/>
                </a:solidFill>
                <a:latin typeface="Arial" panose="020B0604020202090204"/>
              </a:rPr>
              <a:t>4</a:t>
            </a:r>
            <a:endParaRPr sz="288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32746539" y="19404000"/>
            <a:ext cx="2121872" cy="533413"/>
          </a:xfrm>
          <a:prstGeom prst="roundRect">
            <a:avLst>
              <a:gd name="adj" fmla="val 14294"/>
            </a:avLst>
          </a:prstGeom>
          <a:solidFill>
            <a:srgbClr val="AE2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 panose="020B0604020202090204"/>
              </a:rPr>
              <a:t>DIAGNOSIS</a:t>
            </a:r>
            <a:endParaRPr sz="240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10070742" y="20158215"/>
            <a:ext cx="548583" cy="548589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880" b="1">
                <a:solidFill>
                  <a:srgbClr val="FFFFFF"/>
                </a:solidFill>
                <a:latin typeface="Arial" panose="020B0604020202090204"/>
              </a:rPr>
              <a:t>2</a:t>
            </a:r>
            <a:endParaRPr sz="288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1062497" y="23792263"/>
            <a:ext cx="7815706" cy="4919741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9526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13" y="23792263"/>
            <a:ext cx="7815674" cy="4919741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21241923" y="24345464"/>
            <a:ext cx="2331366" cy="1665704"/>
          </a:xfrm>
          <a:prstGeom prst="roundRect">
            <a:avLst>
              <a:gd name="adj" fmla="val 1307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23790965" y="24345464"/>
            <a:ext cx="2331515" cy="1665704"/>
          </a:xfrm>
          <a:prstGeom prst="roundRect">
            <a:avLst>
              <a:gd name="adj" fmla="val 1307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26340157" y="24345464"/>
            <a:ext cx="2331366" cy="1665704"/>
          </a:xfrm>
          <a:prstGeom prst="roundRect">
            <a:avLst>
              <a:gd name="adj" fmla="val 1307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8889199" y="24345464"/>
            <a:ext cx="2331515" cy="1665704"/>
          </a:xfrm>
          <a:prstGeom prst="roundRect">
            <a:avLst>
              <a:gd name="adj" fmla="val 13078"/>
            </a:avLst>
          </a:prstGeom>
          <a:solidFill>
            <a:srgbClr val="F7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1524919" y="4999194"/>
            <a:ext cx="703173" cy="70318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054327" y="4999194"/>
            <a:ext cx="703175" cy="70318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8583887" y="4999194"/>
            <a:ext cx="703173" cy="703182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413253" y="6512984"/>
            <a:ext cx="9500289" cy="710918"/>
          </a:xfrm>
          <a:prstGeom prst="rect">
            <a:avLst/>
          </a:prstGeom>
          <a:solidFill>
            <a:srgbClr val="F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070742" y="21484085"/>
            <a:ext cx="588125" cy="58813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085" b="1">
                <a:solidFill>
                  <a:srgbClr val="FFFFFF"/>
                </a:solidFill>
                <a:latin typeface="Arial" panose="020B0604020202090204"/>
              </a:rPr>
              <a:t>1</a:t>
            </a:r>
            <a:endParaRPr sz="308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10070742" y="22476663"/>
            <a:ext cx="588125" cy="58813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085" b="1">
                <a:solidFill>
                  <a:srgbClr val="FFFFFF"/>
                </a:solidFill>
                <a:latin typeface="Arial" panose="020B0604020202090204"/>
              </a:rPr>
              <a:t>2</a:t>
            </a:r>
            <a:endParaRPr sz="308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10070742" y="23469241"/>
            <a:ext cx="588125" cy="58813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085" b="1">
                <a:solidFill>
                  <a:srgbClr val="FFFFFF"/>
                </a:solidFill>
                <a:latin typeface="Arial" panose="020B0604020202090204"/>
              </a:rPr>
              <a:t>3</a:t>
            </a:r>
            <a:endParaRPr sz="308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10070742" y="24461819"/>
            <a:ext cx="588125" cy="58813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085" b="1">
                <a:solidFill>
                  <a:srgbClr val="FFFFFF"/>
                </a:solidFill>
                <a:latin typeface="Arial" panose="020B0604020202090204"/>
              </a:rPr>
              <a:t>4</a:t>
            </a:r>
            <a:endParaRPr sz="308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65" name="Rounded Rectangle 64"/>
          <p:cNvSpPr/>
          <p:nvPr/>
        </p:nvSpPr>
        <p:spPr>
          <a:xfrm>
            <a:off x="10070742" y="25454397"/>
            <a:ext cx="588125" cy="588131"/>
          </a:xfrm>
          <a:prstGeom prst="roundRect">
            <a:avLst>
              <a:gd name="adj" fmla="val 50000"/>
            </a:avLst>
          </a:prstGeom>
          <a:solidFill>
            <a:srgbClr val="7D2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3085" b="1">
                <a:solidFill>
                  <a:srgbClr val="FFFFFF"/>
                </a:solidFill>
                <a:latin typeface="Arial" panose="020B0604020202090204"/>
              </a:rPr>
              <a:t>5</a:t>
            </a:r>
            <a:endParaRPr sz="3085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32413253" y="5242615"/>
            <a:ext cx="5094364" cy="559450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413253" y="5792539"/>
            <a:ext cx="5094364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7507617" y="5242615"/>
            <a:ext cx="2202811" cy="559450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507617" y="5792539"/>
            <a:ext cx="2202811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9710428" y="5242615"/>
            <a:ext cx="2203114" cy="559450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710428" y="5792539"/>
            <a:ext cx="2203114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413253" y="5802065"/>
            <a:ext cx="5094364" cy="7109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413253" y="6503457"/>
            <a:ext cx="5094364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7507617" y="5802065"/>
            <a:ext cx="2202811" cy="7109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7507617" y="6503457"/>
            <a:ext cx="2202811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710428" y="5802065"/>
            <a:ext cx="2203114" cy="7109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9710428" y="6503457"/>
            <a:ext cx="2203114" cy="12385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2413253" y="6512984"/>
            <a:ext cx="5094364" cy="71091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413253" y="7214376"/>
            <a:ext cx="5094364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507617" y="6512984"/>
            <a:ext cx="2202811" cy="71091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7507617" y="7214376"/>
            <a:ext cx="2202811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710428" y="6512984"/>
            <a:ext cx="2203114" cy="710918"/>
          </a:xfrm>
          <a:prstGeom prst="rect">
            <a:avLst/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9710428" y="7214376"/>
            <a:ext cx="2203114" cy="12384"/>
          </a:xfrm>
          <a:prstGeom prst="rect">
            <a:avLst/>
          </a:prstGeom>
          <a:solidFill>
            <a:srgbClr val="E5E5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4528875" y="26493397"/>
            <a:ext cx="2386864" cy="2386889"/>
          </a:xfrm>
          <a:prstGeom prst="roundRect">
            <a:avLst>
              <a:gd name="adj" fmla="val 5374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pap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27953" y="26592476"/>
            <a:ext cx="2188708" cy="2188731"/>
          </a:xfrm>
          <a:prstGeom prst="rect">
            <a:avLst/>
          </a:prstGeom>
        </p:spPr>
      </p:pic>
      <p:sp>
        <p:nvSpPr>
          <p:cNvPr id="86" name="Rounded Rectangle 85"/>
          <p:cNvSpPr/>
          <p:nvPr/>
        </p:nvSpPr>
        <p:spPr>
          <a:xfrm>
            <a:off x="37410906" y="26493397"/>
            <a:ext cx="2386863" cy="2386889"/>
          </a:xfrm>
          <a:prstGeom prst="roundRect">
            <a:avLst>
              <a:gd name="adj" fmla="val 5374"/>
            </a:avLst>
          </a:prstGeom>
          <a:solidFill>
            <a:srgbClr val="FFFFFF"/>
          </a:solidFill>
          <a:ln w="9526">
            <a:solidFill>
              <a:srgbClr val="F0F0F0"/>
            </a:solidFill>
          </a:ln>
          <a:effectLst>
            <a:outerShdw blurRad="63500" dist="19050" dir="1080000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o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9983" y="26592476"/>
            <a:ext cx="2188708" cy="2188731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35182501" y="28999615"/>
            <a:ext cx="1079461" cy="449792"/>
          </a:xfrm>
          <a:prstGeom prst="roundRect">
            <a:avLst>
              <a:gd name="adj" fmla="val 50000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30" b="1">
                <a:solidFill>
                  <a:srgbClr val="7D2860"/>
                </a:solidFill>
                <a:latin typeface="Arial" panose="020B0604020202090204"/>
              </a:rPr>
              <a:t>Paper</a:t>
            </a:r>
            <a:endParaRPr sz="203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89" name="Rounded Rectangle 88"/>
          <p:cNvSpPr/>
          <p:nvPr/>
        </p:nvSpPr>
        <p:spPr>
          <a:xfrm>
            <a:off x="38103068" y="28999615"/>
            <a:ext cx="1002387" cy="449792"/>
          </a:xfrm>
          <a:prstGeom prst="roundRect">
            <a:avLst>
              <a:gd name="adj" fmla="val 50000"/>
            </a:avLst>
          </a:prstGeom>
          <a:solidFill>
            <a:srgbClr val="F4E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30" b="1">
                <a:solidFill>
                  <a:srgbClr val="7D2860"/>
                </a:solidFill>
                <a:latin typeface="Arial" panose="020B0604020202090204"/>
              </a:rPr>
              <a:t>Code</a:t>
            </a:r>
            <a:endParaRPr sz="203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1108324" y="850483"/>
            <a:ext cx="37147308" cy="10817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7410"/>
              </a:lnSpc>
              <a:spcBef>
                <a:spcPts val="0"/>
              </a:spcBef>
              <a:spcAft>
                <a:spcPts val="0"/>
              </a:spcAft>
            </a:pPr>
            <a:r>
              <a:rPr sz="6860" b="1" spc="-68">
                <a:solidFill>
                  <a:srgbClr val="7D2860"/>
                </a:solidFill>
                <a:latin typeface="Arial" panose="020B0604020202090204"/>
              </a:rPr>
              <a:t>SANA: What Matters for QA Agents over Massive Data Lakes?</a:t>
            </a:r>
            <a:endParaRPr sz="6860" b="1" spc="-68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1108324" y="1982626"/>
            <a:ext cx="37147308" cy="6224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265"/>
              </a:lnSpc>
              <a:spcBef>
                <a:spcPts val="0"/>
              </a:spcBef>
              <a:spcAft>
                <a:spcPts val="0"/>
              </a:spcAft>
            </a:pPr>
            <a:r>
              <a:rPr sz="3280" b="0">
                <a:solidFill>
                  <a:srgbClr val="1B2331"/>
                </a:solidFill>
                <a:latin typeface="Arial" panose="020B0604020202090204"/>
              </a:rPr>
              <a:t>Austin Senna Wijaya, Jiaxiang Liu, Haonan Wang, Eugene Wu</a:t>
            </a:r>
            <a:endParaRPr sz="3280" b="0">
              <a:solidFill>
                <a:srgbClr val="1B2331"/>
              </a:solidFill>
              <a:latin typeface="Arial" panose="020B0604020202090204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1108324" y="2568115"/>
            <a:ext cx="37147308" cy="46147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160"/>
              </a:lnSpc>
              <a:spcBef>
                <a:spcPts val="0"/>
              </a:spcBef>
              <a:spcAft>
                <a:spcPts val="0"/>
              </a:spcAft>
            </a:pPr>
            <a:r>
              <a:rPr sz="2180" b="0" spc="43">
                <a:solidFill>
                  <a:srgbClr val="55617A"/>
                </a:solidFill>
                <a:latin typeface="Arial" panose="020B0604020202090204"/>
              </a:rPr>
              <a:t>Columbia University · New York, USA</a:t>
            </a:r>
            <a:endParaRPr sz="2180" b="0" spc="43">
              <a:solidFill>
                <a:srgbClr val="55617A"/>
              </a:solidFill>
              <a:latin typeface="Arial" panose="020B0604020202090204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38551072" y="969813"/>
            <a:ext cx="2984122" cy="9568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6555"/>
              </a:lnSpc>
              <a:spcBef>
                <a:spcPts val="0"/>
              </a:spcBef>
              <a:spcAft>
                <a:spcPts val="0"/>
              </a:spcAft>
            </a:pPr>
            <a:r>
              <a:rPr sz="4520" b="1" spc="45">
                <a:solidFill>
                  <a:srgbClr val="7D2860"/>
                </a:solidFill>
                <a:latin typeface="Arial" panose="020B0604020202090204"/>
              </a:rPr>
              <a:t>arXiv 2026</a:t>
            </a:r>
            <a:endParaRPr sz="4520" b="1" spc="45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1062497" y="4028637"/>
            <a:ext cx="8050177" cy="751680"/>
          </a:xfrm>
          <a:prstGeom prst="rect">
            <a:avLst/>
          </a:prstGeom>
          <a:noFill/>
        </p:spPr>
        <p:txBody>
          <a:bodyPr wrap="square" lIns="0" tIns="0" rIns="3269562" bIns="0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680" b="1">
                <a:solidFill>
                  <a:srgbClr val="7D2860"/>
                </a:solidFill>
                <a:latin typeface="Arial" panose="020B0604020202090204"/>
              </a:rPr>
              <a:t>Problem </a:t>
            </a:r>
            <a:endParaRPr sz="468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070742" y="4028637"/>
            <a:ext cx="10278000" cy="751680"/>
          </a:xfrm>
          <a:prstGeom prst="rect">
            <a:avLst/>
          </a:prstGeom>
          <a:noFill/>
        </p:spPr>
        <p:txBody>
          <a:bodyPr wrap="none" lIns="0" tIns="0" rIns="3269562" bIns="0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680" b="1">
                <a:solidFill>
                  <a:srgbClr val="7D2860"/>
                </a:solidFill>
                <a:latin typeface="Arial" panose="020B0604020202090204"/>
              </a:rPr>
              <a:t>Method </a:t>
            </a:r>
            <a:endParaRPr sz="468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413253" y="4028637"/>
            <a:ext cx="9785297" cy="751680"/>
          </a:xfrm>
          <a:prstGeom prst="rect">
            <a:avLst/>
          </a:prstGeom>
          <a:noFill/>
        </p:spPr>
        <p:txBody>
          <a:bodyPr wrap="square" lIns="0" tIns="0" rIns="3269562" bIns="0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680" b="1">
                <a:solidFill>
                  <a:srgbClr val="7D2860"/>
                </a:solidFill>
                <a:latin typeface="Arial" panose="020B0604020202090204"/>
              </a:rPr>
              <a:t>Key Results </a:t>
            </a:r>
            <a:endParaRPr sz="468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62497" y="4949647"/>
            <a:ext cx="8050177" cy="290473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End-to-end EQA accuracy can’t tell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where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an agent fails: search, planning, data-analysis execution, and the Action Policy are conflated into one number.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62497" y="7693186"/>
            <a:ext cx="8050177" cy="2253669"/>
          </a:xfrm>
          <a:prstGeom prst="rect">
            <a:avLst/>
          </a:prstGeom>
          <a:noFill/>
        </p:spPr>
        <p:txBody>
          <a:bodyPr wrap="square" lIns="304980" tIns="130707" rIns="304980" bIns="130707">
            <a:spAutoFit/>
          </a:bodyPr>
          <a:lstStyle/>
          <a:p>
            <a:pPr algn="l">
              <a:lnSpc>
                <a:spcPts val="4460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FFFFFF"/>
                </a:solidFill>
                <a:latin typeface="Arial" panose="020B0604020202090204"/>
              </a:rPr>
              <a:t>One score can’t separate missing sources, ignored evidence, wrong decomposition, and brittle SQL.</a:t>
            </a:r>
            <a:endParaRPr sz="343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21241923" y="7856409"/>
            <a:ext cx="10278154" cy="1452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Each idealized tool is built from the profile, then ablated one axis at a time.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2413253" y="9014888"/>
            <a:ext cx="9785297" cy="2798477"/>
          </a:xfrm>
          <a:prstGeom prst="rect">
            <a:avLst/>
          </a:prstGeom>
          <a:noFill/>
        </p:spPr>
        <p:txBody>
          <a:bodyPr wrap="square" lIns="0" tIns="180376" rIns="0" bIns="0">
            <a:spAutoFit/>
          </a:bodyPr>
          <a:lstStyle/>
          <a:p>
            <a:pPr algn="l">
              <a:lnSpc>
                <a:spcPts val="4420"/>
              </a:lnSpc>
              <a:spcBef>
                <a:spcPts val="0"/>
              </a:spcBef>
              <a:spcAft>
                <a:spcPts val="0"/>
              </a:spcAft>
            </a:pPr>
            <a:r>
              <a:rPr sz="2460" b="1" spc="147">
                <a:solidFill>
                  <a:srgbClr val="111111"/>
                </a:solidFill>
                <a:latin typeface="Arial" panose="020B0604020202090204"/>
              </a:rPr>
              <a:t>SO WHAT → </a:t>
            </a:r>
            <a:r>
              <a:rPr sz="3155" b="0" i="1">
                <a:solidFill>
                  <a:srgbClr val="1C1C1C"/>
                </a:solidFill>
                <a:latin typeface="Arial" panose="020B0604020202090204"/>
              </a:rPr>
              <a:t>Data analysis is the </a:t>
            </a:r>
            <a:r>
              <a:rPr sz="3155" b="1" i="1">
                <a:solidFill>
                  <a:srgbClr val="111111"/>
                </a:solidFill>
                <a:latin typeface="Arial" panose="020B0604020202090204"/>
              </a:rPr>
              <a:t>consistent</a:t>
            </a:r>
            <a:r>
              <a:rPr sz="3155" b="0" i="1">
                <a:solidFill>
                  <a:srgbClr val="1C1C1C"/>
                </a:solidFill>
                <a:latin typeface="Arial" panose="020B0604020202090204"/>
              </a:rPr>
              <a:t> bottleneck; search dominates LakeQA’s large-scale discovery; planning is least limiting — agents write near-gold plans but don’t follow them.</a:t>
            </a:r>
            <a:endParaRPr sz="3155" b="0" i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21241923" y="9459769"/>
            <a:ext cx="10278154" cy="43571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Ideal search routes the query, gold set, and intent to a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selector subagent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; each dataset carries an LLM description plus a schema/row preview. Ideal analysis returns the gold answer on an intent match — otherwise a stronger model (gpt-5.4) regenerates the code and self-repairs up to twice.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062497" y="10583431"/>
            <a:ext cx="8050177" cy="751680"/>
          </a:xfrm>
          <a:prstGeom prst="rect">
            <a:avLst/>
          </a:prstGeom>
          <a:noFill/>
        </p:spPr>
        <p:txBody>
          <a:bodyPr wrap="square" lIns="0" tIns="0" rIns="3269562" bIns="0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680" b="1">
                <a:solidFill>
                  <a:srgbClr val="7D2860"/>
                </a:solidFill>
                <a:latin typeface="Arial" panose="020B0604020202090204"/>
              </a:rPr>
              <a:t>Motivation </a:t>
            </a:r>
            <a:endParaRPr sz="468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32413253" y="12434379"/>
            <a:ext cx="9785297" cy="75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680" b="1">
                <a:solidFill>
                  <a:srgbClr val="7D2860"/>
                </a:solidFill>
                <a:latin typeface="Arial" panose="020B0604020202090204"/>
              </a:rPr>
              <a:t>Headline Numbers</a:t>
            </a:r>
            <a:endParaRPr sz="468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0900088" y="15378040"/>
            <a:ext cx="8569394" cy="295675"/>
          </a:xfrm>
          <a:prstGeom prst="rect">
            <a:avLst/>
          </a:prstGeom>
          <a:noFill/>
        </p:spPr>
        <p:txBody>
          <a:bodyPr wrap="square" lIns="329379" tIns="56465" rIns="329379" bIns="56465">
            <a:spAutoFit/>
          </a:bodyPr>
          <a:lstStyle/>
          <a:p>
            <a:pPr algn="ctr">
              <a:lnSpc>
                <a:spcPts val="2685"/>
              </a:lnSpc>
              <a:spcBef>
                <a:spcPts val="0"/>
              </a:spcBef>
              <a:spcAft>
                <a:spcPts val="0"/>
              </a:spcAft>
            </a:pPr>
            <a:r>
              <a:rPr sz="3705" b="0">
                <a:solidFill>
                  <a:srgbClr val="1C1C1C"/>
                </a:solidFill>
                <a:latin typeface="Cambria Math"/>
              </a:rPr>
              <a:t>                                                              </a:t>
            </a:r>
            <a:r>
              <a:rPr sz="3705" b="0">
                <a:solidFill>
                  <a:srgbClr val="1C1C1C"/>
                </a:solidFill>
                <a:latin typeface="Cambria Math"/>
              </a:rPr>
              <a:t> </a:t>
            </a:r>
            <a:r>
              <a:rPr sz="1850" b="0" i="1">
                <a:solidFill>
                  <a:srgbClr val="555555"/>
                </a:solidFill>
                <a:latin typeface="Cambria Math"/>
              </a:rPr>
              <a:t>each intermediate answer is entailed by its subquestion, gold dataset, and prior answers</a:t>
            </a:r>
            <a:endParaRPr sz="1850" b="0" i="1">
              <a:solidFill>
                <a:srgbClr val="555555"/>
              </a:solidFill>
              <a:latin typeface="Cambria Math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32337072" y="18111015"/>
            <a:ext cx="9863764" cy="751679"/>
          </a:xfrm>
          <a:prstGeom prst="rect">
            <a:avLst/>
          </a:prstGeom>
          <a:noFill/>
        </p:spPr>
        <p:txBody>
          <a:bodyPr wrap="square" lIns="0" tIns="0" rIns="3269562" bIns="0">
            <a:spAutoFit/>
          </a:bodyPr>
          <a:lstStyle/>
          <a:p>
            <a:pPr algn="l">
              <a:lnSpc>
                <a:spcPts val="5150"/>
              </a:lnSpc>
              <a:spcBef>
                <a:spcPts val="0"/>
              </a:spcBef>
              <a:spcAft>
                <a:spcPts val="0"/>
              </a:spcAft>
            </a:pPr>
            <a:r>
              <a:rPr sz="4680" b="1">
                <a:solidFill>
                  <a:srgbClr val="7D2860"/>
                </a:solidFill>
                <a:latin typeface="Arial" panose="020B0604020202090204"/>
              </a:rPr>
              <a:t>Takeaway </a:t>
            </a:r>
            <a:endParaRPr sz="468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21241923" y="19735056"/>
            <a:ext cx="10278154" cy="2233481"/>
          </a:xfrm>
          <a:prstGeom prst="rect">
            <a:avLst/>
          </a:prstGeom>
          <a:noFill/>
        </p:spPr>
        <p:txBody>
          <a:bodyPr wrap="square" lIns="283197" tIns="121993" rIns="283197" bIns="121993">
            <a:spAutoFit/>
          </a:bodyPr>
          <a:lstStyle/>
          <a:p>
            <a:pPr algn="l">
              <a:lnSpc>
                <a:spcPts val="4460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7D2860"/>
                </a:solidFill>
                <a:latin typeface="Arial" panose="020B0604020202090204"/>
              </a:rPr>
              <a:t>All-ideal residual errors = the policy (plan-following, source commitment, finalization), not the tools.</a:t>
            </a:r>
            <a:endParaRPr sz="3430" b="0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1241923" y="21955301"/>
            <a:ext cx="10278154" cy="217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Failed LakeQA traces are audited into seven failure families; the dominant family shifts with model scale and agent capability.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2337072" y="23640795"/>
            <a:ext cx="9863764" cy="1452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Future EQA agents need policies that commit to validated sources and verify the final answer.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21241923" y="26289257"/>
            <a:ext cx="10278154" cy="36309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Three end-to-end modes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— Naive, Standard, Ideal — bound the gap: Standard barely beats Naive (+1.5% / −1.5%), while Ideal lifts both agents sharply. The Standard→Ideal distance is the diagnosis; the all-ideal residual is the policy.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0070742" y="26803029"/>
            <a:ext cx="10278000" cy="2904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Each task becomes a runtime profile — gold source sequence, sanitized subquestions, and execution records — the ground truth that every idealized tool is built from.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21973366" y="4040094"/>
            <a:ext cx="5181605" cy="6045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1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7D2860"/>
                </a:solidFill>
                <a:latin typeface="Arial" panose="020B0604020202090204"/>
              </a:rPr>
              <a:t>Idealized ablation tools</a:t>
            </a:r>
            <a:endParaRPr sz="360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9818085" y="4139932"/>
            <a:ext cx="1444707" cy="3747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570"/>
              </a:lnSpc>
              <a:spcBef>
                <a:spcPts val="0"/>
              </a:spcBef>
              <a:spcAft>
                <a:spcPts val="0"/>
              </a:spcAft>
            </a:pPr>
            <a:r>
              <a:rPr sz="2235" b="1" i="1">
                <a:solidFill>
                  <a:srgbClr val="555555"/>
                </a:solidFill>
                <a:latin typeface="Arial" panose="020B0604020202090204"/>
              </a:rPr>
              <a:t>three axes</a:t>
            </a:r>
            <a:endParaRPr sz="2235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24161746" y="4859927"/>
            <a:ext cx="627872" cy="330478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6965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7D2860"/>
                </a:solidFill>
                <a:latin typeface="Arial" panose="020B0604020202090204"/>
              </a:rPr>
              <a:t>›</a:t>
            </a:r>
            <a:endParaRPr sz="480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7691303" y="4859927"/>
            <a:ext cx="627875" cy="330478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6965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7D2860"/>
                </a:solidFill>
                <a:latin typeface="Arial" panose="020B0604020202090204"/>
              </a:rPr>
              <a:t>›</a:t>
            </a:r>
            <a:endParaRPr sz="480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32413253" y="7468513"/>
            <a:ext cx="3552840" cy="150250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10290"/>
              </a:lnSpc>
              <a:spcBef>
                <a:spcPts val="0"/>
              </a:spcBef>
              <a:spcAft>
                <a:spcPts val="0"/>
              </a:spcAft>
            </a:pPr>
            <a:r>
              <a:rPr sz="10290" b="1">
                <a:solidFill>
                  <a:srgbClr val="7D2860"/>
                </a:solidFill>
                <a:latin typeface="Arial" panose="020B0604020202090204"/>
              </a:rPr>
              <a:t>+20pt</a:t>
            </a:r>
            <a:endParaRPr sz="102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16" name="TextBox 115"/>
          <p:cNvSpPr txBox="1"/>
          <p:nvPr/>
        </p:nvSpPr>
        <p:spPr>
          <a:xfrm>
            <a:off x="36036696" y="8163660"/>
            <a:ext cx="5318153" cy="6534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475"/>
              </a:lnSpc>
              <a:spcBef>
                <a:spcPts val="0"/>
              </a:spcBef>
              <a:spcAft>
                <a:spcPts val="0"/>
              </a:spcAft>
            </a:pPr>
            <a:r>
              <a:rPr sz="3085" b="0">
                <a:solidFill>
                  <a:srgbClr val="555555"/>
                </a:solidFill>
                <a:latin typeface="Arial" panose="020B0604020202090204"/>
              </a:rPr>
              <a:t>end-to-end SM gain (all-ideal)</a:t>
            </a:r>
            <a:endParaRPr sz="3085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10469941" y="11956317"/>
            <a:ext cx="9455651" cy="10677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3655"/>
              </a:lnSpc>
              <a:spcBef>
                <a:spcPts val="0"/>
              </a:spcBef>
              <a:spcAft>
                <a:spcPts val="0"/>
              </a:spcAft>
            </a:pPr>
            <a:r>
              <a:rPr sz="2815" b="0" i="1">
                <a:solidFill>
                  <a:srgbClr val="555555"/>
                </a:solidFill>
                <a:latin typeface="Arial" panose="020B0604020202090204"/>
              </a:rPr>
              <a:t>SANA’s three runtime components — planning, search, and data analysis.</a:t>
            </a:r>
            <a:endParaRPr sz="2815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0802186" y="13690613"/>
            <a:ext cx="5478452" cy="6045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1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7D2860"/>
                </a:solidFill>
                <a:latin typeface="Arial" panose="020B0604020202090204"/>
              </a:rPr>
              <a:t>Anatomy of an EQA task</a:t>
            </a:r>
            <a:endParaRPr sz="360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062191" y="14124485"/>
            <a:ext cx="8050491" cy="36309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Prior work advances each capability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in isolation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— retrieval, decomposition, tool use, SQL — so scores say little about a real long-horizon agent.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1973366" y="14235928"/>
            <a:ext cx="3245419" cy="6045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1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7D2860"/>
                </a:solidFill>
                <a:latin typeface="Arial" panose="020B0604020202090204"/>
              </a:rPr>
              <a:t>Diagnosis rule</a:t>
            </a:r>
            <a:endParaRPr sz="360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29535091" y="14335766"/>
            <a:ext cx="1736191" cy="3747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570"/>
              </a:lnSpc>
              <a:spcBef>
                <a:spcPts val="0"/>
              </a:spcBef>
              <a:spcAft>
                <a:spcPts val="0"/>
              </a:spcAft>
            </a:pPr>
            <a:r>
              <a:rPr sz="2235" b="1" i="1">
                <a:solidFill>
                  <a:srgbClr val="555555"/>
                </a:solidFill>
                <a:latin typeface="Arial" panose="020B0604020202090204"/>
              </a:rPr>
              <a:t>read the gap</a:t>
            </a:r>
            <a:endParaRPr sz="2235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21241615" y="15211098"/>
            <a:ext cx="10278471" cy="1452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Idealize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one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axis at a time; hold the others ideal so no bottlenecks conflict.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10070435" y="15864435"/>
            <a:ext cx="10278316" cy="21785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The agent decomposes Q into subquestions, discovers each subquestion’s gold dataset, and derives intermediate answers within budget B.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21241615" y="16626388"/>
            <a:ext cx="10278471" cy="1452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An idealized axis that improves accuracy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is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a bottleneck.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062191" y="17434169"/>
            <a:ext cx="8050491" cy="2904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Font typeface="Arial" panose="020B0604020202090204" pitchFamily="34" charset="0"/>
              <a:buChar char="•"/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DCI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gives direct corpus access;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Metadata Reasoner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scores dataset selection. Neither isolates search vs planning vs execution vs policy.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0070435" y="17911190"/>
            <a:ext cx="10278316" cy="14523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Search → planning → analysis feed one another inside a single long-horizon loop.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21241615" y="18041678"/>
            <a:ext cx="10278471" cy="14523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Errors under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all-ideal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reveal the residual Action-Policy gap.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746539" y="20111495"/>
            <a:ext cx="9128152" cy="36309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One accuracy number becomes a per-component diagnosis: data analysis is the bottleneck, search dominates discovery, and the hardest gap is the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Action Policy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— not better retrievers or code.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29" name="TextBox 128"/>
          <p:cNvSpPr txBox="1"/>
          <p:nvPr/>
        </p:nvSpPr>
        <p:spPr>
          <a:xfrm>
            <a:off x="1062191" y="20112388"/>
            <a:ext cx="8050491" cy="36309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479425" indent="-479425" algn="l">
              <a:lnSpc>
                <a:spcPts val="4975"/>
              </a:lnSpc>
              <a:spcBef>
                <a:spcPts val="0"/>
              </a:spcBef>
              <a:spcAft>
                <a:spcPts val="0"/>
              </a:spcAft>
              <a:buClr>
                <a:srgbClr val="1C1C1C"/>
              </a:buClr>
              <a:buFont typeface="Arial" panose="020B0604020202090204" pitchFamily="34" charset="0"/>
              <a:buChar char="•"/>
            </a:pP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Without a diagnosis of </a:t>
            </a: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where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an agent fails, builders optimize the wrong thing — a better retriever won’t help if the real gap is plan-following or finalization.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10802186" y="20169672"/>
            <a:ext cx="3898425" cy="6045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14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7D2860"/>
                </a:solidFill>
                <a:latin typeface="Arial" panose="020B0604020202090204"/>
              </a:rPr>
              <a:t>Runtime profiling</a:t>
            </a:r>
            <a:endParaRPr sz="360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8174650" y="20269511"/>
            <a:ext cx="1930974" cy="374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570"/>
              </a:lnSpc>
              <a:spcBef>
                <a:spcPts val="0"/>
              </a:spcBef>
              <a:spcAft>
                <a:spcPts val="0"/>
              </a:spcAft>
            </a:pPr>
            <a:r>
              <a:rPr sz="2235" b="1" i="1">
                <a:solidFill>
                  <a:srgbClr val="555555"/>
                </a:solidFill>
                <a:latin typeface="Arial" panose="020B0604020202090204"/>
              </a:rPr>
              <a:t>task → profile</a:t>
            </a:r>
            <a:endParaRPr sz="2235" b="1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0874532" y="21484085"/>
            <a:ext cx="9450096" cy="84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Collect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the gold source sequence.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10874532" y="22476663"/>
            <a:ext cx="9450096" cy="84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Sanitize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the subquestion decomposition.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10874532" y="23469241"/>
            <a:ext cx="9450096" cy="84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Record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execution traces (query, code, intent).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0874532" y="24461819"/>
            <a:ext cx="9450096" cy="84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Build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idealized tools from the profile.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10874532" y="25454397"/>
            <a:ext cx="9450096" cy="8409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3430" b="1">
                <a:solidFill>
                  <a:srgbClr val="111111"/>
                </a:solidFill>
                <a:latin typeface="Arial" panose="020B0604020202090204"/>
              </a:rPr>
              <a:t>Ablate</a:t>
            </a:r>
            <a:r>
              <a:rPr sz="3430" b="0">
                <a:solidFill>
                  <a:srgbClr val="1C1C1C"/>
                </a:solidFill>
                <a:latin typeface="Arial" panose="020B0604020202090204"/>
              </a:rPr>
              <a:t> one axis, hold the rest ideal.</a:t>
            </a:r>
            <a:endParaRPr sz="343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35908590" y="25918919"/>
            <a:ext cx="2584901" cy="478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3275"/>
              </a:lnSpc>
              <a:spcBef>
                <a:spcPts val="0"/>
              </a:spcBef>
              <a:spcAft>
                <a:spcPts val="0"/>
              </a:spcAft>
            </a:pPr>
            <a:r>
              <a:rPr sz="3120" b="1">
                <a:solidFill>
                  <a:srgbClr val="7D2860"/>
                </a:solidFill>
                <a:latin typeface="Arial" panose="020B0604020202090204"/>
              </a:rPr>
              <a:t>Scan to Read</a:t>
            </a:r>
            <a:endParaRPr sz="312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1533115" y="28836987"/>
            <a:ext cx="7080704" cy="5338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3655"/>
              </a:lnSpc>
              <a:spcBef>
                <a:spcPts val="0"/>
              </a:spcBef>
              <a:spcAft>
                <a:spcPts val="0"/>
              </a:spcAft>
            </a:pPr>
            <a:r>
              <a:rPr sz="2815" b="0" i="1">
                <a:solidFill>
                  <a:srgbClr val="555555"/>
                </a:solidFill>
                <a:latin typeface="Arial" panose="020B0604020202090204"/>
              </a:rPr>
              <a:t>EQA runtime loop and its three bottlenecks.</a:t>
            </a:r>
            <a:endParaRPr sz="2815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39" name="TextBox 138"/>
          <p:cNvSpPr txBox="1"/>
          <p:nvPr/>
        </p:nvSpPr>
        <p:spPr>
          <a:xfrm>
            <a:off x="21524919" y="4999194"/>
            <a:ext cx="724268" cy="80865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260"/>
              </a:lnSpc>
              <a:spcBef>
                <a:spcPts val="0"/>
              </a:spcBef>
              <a:spcAft>
                <a:spcPts val="0"/>
              </a:spcAft>
            </a:pPr>
            <a:r>
              <a:rPr sz="3260" b="1">
                <a:solidFill>
                  <a:srgbClr val="FFFFFF"/>
                </a:solidFill>
                <a:latin typeface="Arial" panose="020B0604020202090204"/>
              </a:rPr>
              <a:t>S</a:t>
            </a:r>
            <a:endParaRPr sz="326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25054327" y="4999194"/>
            <a:ext cx="724270" cy="80865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260"/>
              </a:lnSpc>
              <a:spcBef>
                <a:spcPts val="0"/>
              </a:spcBef>
              <a:spcAft>
                <a:spcPts val="0"/>
              </a:spcAft>
            </a:pPr>
            <a:r>
              <a:rPr sz="3260" b="1">
                <a:solidFill>
                  <a:srgbClr val="FFFFFF"/>
                </a:solidFill>
                <a:latin typeface="Arial" panose="020B0604020202090204"/>
              </a:rPr>
              <a:t>P</a:t>
            </a:r>
            <a:endParaRPr sz="326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41" name="TextBox 140"/>
          <p:cNvSpPr txBox="1"/>
          <p:nvPr/>
        </p:nvSpPr>
        <p:spPr>
          <a:xfrm>
            <a:off x="28583887" y="4999194"/>
            <a:ext cx="724268" cy="80865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260"/>
              </a:lnSpc>
              <a:spcBef>
                <a:spcPts val="0"/>
              </a:spcBef>
              <a:spcAft>
                <a:spcPts val="0"/>
              </a:spcAft>
            </a:pPr>
            <a:r>
              <a:rPr sz="3260" b="1">
                <a:solidFill>
                  <a:srgbClr val="FFFFFF"/>
                </a:solidFill>
                <a:latin typeface="Arial" panose="020B0604020202090204"/>
              </a:rPr>
              <a:t>A</a:t>
            </a:r>
            <a:endParaRPr sz="3260" b="1">
              <a:solidFill>
                <a:srgbClr val="FFFFFF"/>
              </a:solidFill>
              <a:latin typeface="Arial" panose="020B0604020202090204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21524919" y="5776324"/>
            <a:ext cx="2424445" cy="510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500"/>
              </a:lnSpc>
              <a:spcBef>
                <a:spcPts val="0"/>
              </a:spcBef>
              <a:spcAft>
                <a:spcPts val="0"/>
              </a:spcAft>
            </a:pPr>
            <a:r>
              <a:rPr sz="2915" b="1">
                <a:solidFill>
                  <a:srgbClr val="1C1C1C"/>
                </a:solidFill>
                <a:latin typeface="Arial" panose="020B0604020202090204"/>
              </a:rPr>
              <a:t>Ideal search</a:t>
            </a:r>
            <a:endParaRPr sz="2915" b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25054327" y="5776324"/>
            <a:ext cx="2424602" cy="10215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500"/>
              </a:lnSpc>
              <a:spcBef>
                <a:spcPts val="0"/>
              </a:spcBef>
              <a:spcAft>
                <a:spcPts val="0"/>
              </a:spcAft>
            </a:pPr>
            <a:r>
              <a:rPr sz="2915" b="1">
                <a:solidFill>
                  <a:srgbClr val="1C1C1C"/>
                </a:solidFill>
                <a:latin typeface="Arial" panose="020B0604020202090204"/>
              </a:rPr>
              <a:t>Ideal planning</a:t>
            </a:r>
            <a:endParaRPr sz="2915" b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8583887" y="5776324"/>
            <a:ext cx="2424445" cy="10215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500"/>
              </a:lnSpc>
              <a:spcBef>
                <a:spcPts val="0"/>
              </a:spcBef>
              <a:spcAft>
                <a:spcPts val="0"/>
              </a:spcAft>
            </a:pPr>
            <a:r>
              <a:rPr sz="2915" b="1">
                <a:solidFill>
                  <a:srgbClr val="1C1C1C"/>
                </a:solidFill>
                <a:latin typeface="Arial" panose="020B0604020202090204"/>
              </a:rPr>
              <a:t>Ideal analysis</a:t>
            </a:r>
            <a:endParaRPr sz="2915" b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21524919" y="6266141"/>
            <a:ext cx="2424445" cy="5701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4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555555"/>
                </a:solidFill>
                <a:latin typeface="Arial" panose="020B0604020202090204"/>
              </a:rPr>
              <a:t>f</a:t>
            </a:r>
            <a:r>
              <a:rPr sz="3360" b="0" i="1" baseline="-25000">
                <a:solidFill>
                  <a:srgbClr val="555555"/>
                </a:solidFill>
                <a:latin typeface="Arial" panose="020B0604020202090204"/>
              </a:rPr>
              <a:t>ideal</a:t>
            </a:r>
            <a:r>
              <a:rPr sz="2400" b="0" i="1">
                <a:solidFill>
                  <a:srgbClr val="555555"/>
                </a:solidFill>
                <a:latin typeface="Arial" panose="020B0604020202090204"/>
              </a:rPr>
              <a:t>(q,k) ⊆ D</a:t>
            </a:r>
            <a:r>
              <a:rPr sz="3360" b="0" i="1" baseline="-25000">
                <a:solidFill>
                  <a:srgbClr val="555555"/>
                </a:solidFill>
                <a:latin typeface="Arial" panose="020B0604020202090204"/>
              </a:rPr>
              <a:t>gold</a:t>
            </a:r>
            <a:endParaRPr sz="3360" b="0" i="1" baseline="-2500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25054327" y="6710279"/>
            <a:ext cx="2424602" cy="10167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4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555555"/>
                </a:solidFill>
                <a:latin typeface="Arial" panose="020B0604020202090204"/>
              </a:rPr>
              <a:t>sanitized subquestions</a:t>
            </a:r>
            <a:endParaRPr sz="2400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8583887" y="6710279"/>
            <a:ext cx="2424445" cy="10167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4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1">
                <a:solidFill>
                  <a:srgbClr val="555555"/>
                </a:solidFill>
                <a:latin typeface="Arial" panose="020B0604020202090204"/>
              </a:rPr>
              <a:t>intent-verified answer</a:t>
            </a:r>
            <a:endParaRPr sz="2400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32620813" y="13852050"/>
            <a:ext cx="4747135" cy="12484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855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spc="-180">
                <a:solidFill>
                  <a:srgbClr val="7D2860"/>
                </a:solidFill>
                <a:latin typeface="Arial" panose="020B0604020202090204"/>
              </a:rPr>
              <a:t>+20.0pt</a:t>
            </a:r>
            <a:endParaRPr sz="9000" b="1" spc="-180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49" name="TextBox 148"/>
          <p:cNvSpPr txBox="1"/>
          <p:nvPr/>
        </p:nvSpPr>
        <p:spPr>
          <a:xfrm>
            <a:off x="32620813" y="14957411"/>
            <a:ext cx="4747135" cy="10020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3430"/>
              </a:lnSpc>
              <a:spcBef>
                <a:spcPts val="0"/>
              </a:spcBef>
              <a:spcAft>
                <a:spcPts val="0"/>
              </a:spcAft>
            </a:pPr>
            <a:r>
              <a:rPr sz="3120" b="1">
                <a:solidFill>
                  <a:srgbClr val="1C1C1C"/>
                </a:solidFill>
                <a:latin typeface="Arial" panose="020B0604020202090204"/>
              </a:rPr>
              <a:t>LakeQA end-to-end SM gain (gpt-5-mini)</a:t>
            </a:r>
            <a:endParaRPr sz="3120" b="1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50" name="TextBox 149"/>
          <p:cNvSpPr txBox="1"/>
          <p:nvPr/>
        </p:nvSpPr>
        <p:spPr>
          <a:xfrm>
            <a:off x="32620813" y="15828725"/>
            <a:ext cx="4747135" cy="11785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690"/>
              </a:lnSpc>
              <a:spcBef>
                <a:spcPts val="0"/>
              </a:spcBef>
              <a:spcAft>
                <a:spcPts val="0"/>
              </a:spcAft>
            </a:pPr>
            <a:r>
              <a:rPr sz="2340" b="0" i="1">
                <a:solidFill>
                  <a:srgbClr val="555555"/>
                </a:solidFill>
                <a:latin typeface="Arial" panose="020B0604020202090204"/>
              </a:rPr>
              <a:t>56.3% → 76.3% semantic match — the residual gap is the Action Policy.</a:t>
            </a:r>
            <a:endParaRPr sz="2340" b="0" i="1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21416006" y="24476102"/>
            <a:ext cx="2042694" cy="801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5490"/>
              </a:lnSpc>
              <a:spcBef>
                <a:spcPts val="0"/>
              </a:spcBef>
              <a:spcAft>
                <a:spcPts val="0"/>
              </a:spcAft>
            </a:pPr>
            <a:r>
              <a:rPr sz="5490" b="1">
                <a:solidFill>
                  <a:srgbClr val="7D2860"/>
                </a:solidFill>
                <a:latin typeface="Arial" panose="020B0604020202090204"/>
              </a:rPr>
              <a:t>39.6%</a:t>
            </a:r>
            <a:endParaRPr sz="54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9063282" y="24476102"/>
            <a:ext cx="2042849" cy="80130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5490"/>
              </a:lnSpc>
              <a:spcBef>
                <a:spcPts val="0"/>
              </a:spcBef>
              <a:spcAft>
                <a:spcPts val="0"/>
              </a:spcAft>
            </a:pPr>
            <a:r>
              <a:rPr sz="5490" b="1">
                <a:solidFill>
                  <a:srgbClr val="7D2860"/>
                </a:solidFill>
                <a:latin typeface="Arial" panose="020B0604020202090204"/>
              </a:rPr>
              <a:t>12.2%</a:t>
            </a:r>
            <a:endParaRPr sz="54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23965048" y="24801655"/>
            <a:ext cx="2042849" cy="8012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5490"/>
              </a:lnSpc>
              <a:spcBef>
                <a:spcPts val="0"/>
              </a:spcBef>
              <a:spcAft>
                <a:spcPts val="0"/>
              </a:spcAft>
            </a:pPr>
            <a:r>
              <a:rPr sz="5490" b="1">
                <a:solidFill>
                  <a:srgbClr val="7D2860"/>
                </a:solidFill>
                <a:latin typeface="Arial" panose="020B0604020202090204"/>
              </a:rPr>
              <a:t>21.0%</a:t>
            </a:r>
            <a:endParaRPr sz="54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26514240" y="24801655"/>
            <a:ext cx="2042694" cy="8012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ts val="5490"/>
              </a:lnSpc>
              <a:spcBef>
                <a:spcPts val="0"/>
              </a:spcBef>
              <a:spcAft>
                <a:spcPts val="0"/>
              </a:spcAft>
            </a:pPr>
            <a:r>
              <a:rPr sz="5490" b="1">
                <a:solidFill>
                  <a:srgbClr val="7D2860"/>
                </a:solidFill>
                <a:latin typeface="Arial" panose="020B0604020202090204"/>
              </a:rPr>
              <a:t>17.7%</a:t>
            </a:r>
            <a:endParaRPr sz="54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21416006" y="25229426"/>
            <a:ext cx="2042694" cy="748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2230" b="0">
                <a:solidFill>
                  <a:srgbClr val="555555"/>
                </a:solidFill>
                <a:latin typeface="Arial" panose="020B0604020202090204"/>
              </a:rPr>
              <a:t>execution / computation</a:t>
            </a:r>
            <a:endParaRPr sz="223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29063282" y="25229426"/>
            <a:ext cx="2042849" cy="748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2230" b="0">
                <a:solidFill>
                  <a:srgbClr val="555555"/>
                </a:solidFill>
                <a:latin typeface="Arial" panose="020B0604020202090204"/>
              </a:rPr>
              <a:t>incomplete evidence</a:t>
            </a:r>
            <a:endParaRPr sz="223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3965048" y="25554977"/>
            <a:ext cx="2042849" cy="3743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2230" b="0">
                <a:solidFill>
                  <a:srgbClr val="555555"/>
                </a:solidFill>
                <a:latin typeface="Arial" panose="020B0604020202090204"/>
              </a:rPr>
              <a:t>finalization</a:t>
            </a:r>
            <a:endParaRPr sz="223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26514240" y="25554977"/>
            <a:ext cx="2042694" cy="3743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ts val="2565"/>
              </a:lnSpc>
              <a:spcBef>
                <a:spcPts val="0"/>
              </a:spcBef>
              <a:spcAft>
                <a:spcPts val="0"/>
              </a:spcAft>
            </a:pPr>
            <a:r>
              <a:rPr sz="2230" b="0">
                <a:solidFill>
                  <a:srgbClr val="555555"/>
                </a:solidFill>
                <a:latin typeface="Arial" panose="020B0604020202090204"/>
              </a:rPr>
              <a:t>tool blockers</a:t>
            </a:r>
            <a:endParaRPr sz="223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32413253" y="5242615"/>
            <a:ext cx="5247194" cy="643367"/>
          </a:xfrm>
          <a:prstGeom prst="rect">
            <a:avLst/>
          </a:prstGeom>
          <a:noFill/>
        </p:spPr>
        <p:txBody>
          <a:bodyPr wrap="square" lIns="76213" tIns="57160" rIns="76213" bIns="57160">
            <a:spAutoFit/>
          </a:bodyPr>
          <a:lstStyle/>
          <a:p>
            <a:pPr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</a:pPr>
            <a:r>
              <a:rPr sz="2390" b="1" spc="119">
                <a:solidFill>
                  <a:srgbClr val="7D2860"/>
                </a:solidFill>
                <a:latin typeface="Arial" panose="020B0604020202090204"/>
              </a:rPr>
              <a:t>MODEL · LAKEQA</a:t>
            </a:r>
            <a:endParaRPr sz="2390" b="1" spc="119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507617" y="5242615"/>
            <a:ext cx="2268895" cy="643367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3470"/>
              </a:lnSpc>
              <a:spcBef>
                <a:spcPts val="0"/>
              </a:spcBef>
              <a:spcAft>
                <a:spcPts val="0"/>
              </a:spcAft>
            </a:pPr>
            <a:r>
              <a:rPr sz="2390" b="1" spc="119">
                <a:solidFill>
                  <a:srgbClr val="7D2860"/>
                </a:solidFill>
                <a:latin typeface="Arial" panose="020B0604020202090204"/>
              </a:rPr>
              <a:t>NAIVE</a:t>
            </a:r>
            <a:endParaRPr sz="2390" b="1" spc="119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39710428" y="5242615"/>
            <a:ext cx="2269207" cy="643367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3470"/>
              </a:lnSpc>
              <a:spcBef>
                <a:spcPts val="0"/>
              </a:spcBef>
              <a:spcAft>
                <a:spcPts val="0"/>
              </a:spcAft>
            </a:pPr>
            <a:r>
              <a:rPr sz="2390" b="1" spc="119">
                <a:solidFill>
                  <a:srgbClr val="7D2860"/>
                </a:solidFill>
                <a:latin typeface="Arial" panose="020B0604020202090204"/>
              </a:rPr>
              <a:t>IDEAL</a:t>
            </a:r>
            <a:endParaRPr sz="2390" b="1" spc="119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32413253" y="5802065"/>
            <a:ext cx="5247194" cy="817556"/>
          </a:xfrm>
          <a:prstGeom prst="rect">
            <a:avLst/>
          </a:prstGeom>
          <a:noFill/>
        </p:spPr>
        <p:txBody>
          <a:bodyPr wrap="square" lIns="76213" tIns="57160" rIns="76213" bIns="57160">
            <a:spAutoFit/>
          </a:bodyPr>
          <a:lstStyle/>
          <a:p>
            <a:pPr algn="ctr">
              <a:lnSpc>
                <a:spcPts val="4625"/>
              </a:lnSpc>
              <a:spcBef>
                <a:spcPts val="0"/>
              </a:spcBef>
              <a:spcAft>
                <a:spcPts val="0"/>
              </a:spcAft>
            </a:pPr>
            <a:r>
              <a:rPr sz="3190" b="0">
                <a:solidFill>
                  <a:srgbClr val="1C1C1C"/>
                </a:solidFill>
                <a:latin typeface="Arial" panose="020B0604020202090204"/>
              </a:rPr>
              <a:t>gpt-5.4-nano</a:t>
            </a:r>
            <a:endParaRPr sz="319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37507617" y="5802065"/>
            <a:ext cx="2268895" cy="817556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4625"/>
              </a:lnSpc>
              <a:spcBef>
                <a:spcPts val="0"/>
              </a:spcBef>
              <a:spcAft>
                <a:spcPts val="0"/>
              </a:spcAft>
            </a:pPr>
            <a:r>
              <a:rPr sz="3190" b="0">
                <a:solidFill>
                  <a:srgbClr val="1C1C1C"/>
                </a:solidFill>
                <a:latin typeface="Arial" panose="020B0604020202090204"/>
              </a:rPr>
              <a:t>20.7%</a:t>
            </a:r>
            <a:endParaRPr sz="319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39710428" y="5802065"/>
            <a:ext cx="2269207" cy="817556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4625"/>
              </a:lnSpc>
              <a:spcBef>
                <a:spcPts val="0"/>
              </a:spcBef>
              <a:spcAft>
                <a:spcPts val="0"/>
              </a:spcAft>
            </a:pPr>
            <a:r>
              <a:rPr sz="3190" b="0">
                <a:solidFill>
                  <a:srgbClr val="1C1C1C"/>
                </a:solidFill>
                <a:latin typeface="Arial" panose="020B0604020202090204"/>
              </a:rPr>
              <a:t>37.0%</a:t>
            </a:r>
            <a:endParaRPr sz="3190" b="0">
              <a:solidFill>
                <a:srgbClr val="1C1C1C"/>
              </a:solidFill>
              <a:latin typeface="Arial" panose="020B0604020202090204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32413253" y="6512984"/>
            <a:ext cx="5247194" cy="817555"/>
          </a:xfrm>
          <a:prstGeom prst="rect">
            <a:avLst/>
          </a:prstGeom>
          <a:noFill/>
        </p:spPr>
        <p:txBody>
          <a:bodyPr wrap="square" lIns="76213" tIns="57160" rIns="76213" bIns="57160">
            <a:spAutoFit/>
          </a:bodyPr>
          <a:lstStyle/>
          <a:p>
            <a:pPr algn="ctr">
              <a:lnSpc>
                <a:spcPts val="4625"/>
              </a:lnSpc>
              <a:spcBef>
                <a:spcPts val="0"/>
              </a:spcBef>
              <a:spcAft>
                <a:spcPts val="0"/>
              </a:spcAft>
            </a:pPr>
            <a:r>
              <a:rPr sz="3190" b="1">
                <a:solidFill>
                  <a:srgbClr val="7D2860"/>
                </a:solidFill>
                <a:latin typeface="Arial" panose="020B0604020202090204"/>
              </a:rPr>
              <a:t>gpt-5-mini</a:t>
            </a:r>
            <a:endParaRPr sz="31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37507617" y="6512984"/>
            <a:ext cx="2268895" cy="817555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4625"/>
              </a:lnSpc>
              <a:spcBef>
                <a:spcPts val="0"/>
              </a:spcBef>
              <a:spcAft>
                <a:spcPts val="0"/>
              </a:spcAft>
            </a:pPr>
            <a:r>
              <a:rPr sz="3190" b="1">
                <a:solidFill>
                  <a:srgbClr val="7D2860"/>
                </a:solidFill>
                <a:latin typeface="Arial" panose="020B0604020202090204"/>
              </a:rPr>
              <a:t>56.3%</a:t>
            </a:r>
            <a:endParaRPr sz="31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39710428" y="6512984"/>
            <a:ext cx="2269207" cy="817555"/>
          </a:xfrm>
          <a:prstGeom prst="rect">
            <a:avLst/>
          </a:prstGeom>
          <a:noFill/>
        </p:spPr>
        <p:txBody>
          <a:bodyPr wrap="none" lIns="76213" tIns="57160" rIns="76213" bIns="57160">
            <a:spAutoFit/>
          </a:bodyPr>
          <a:lstStyle/>
          <a:p>
            <a:pPr algn="ctr">
              <a:lnSpc>
                <a:spcPts val="4625"/>
              </a:lnSpc>
              <a:spcBef>
                <a:spcPts val="0"/>
              </a:spcBef>
              <a:spcAft>
                <a:spcPts val="0"/>
              </a:spcAft>
            </a:pPr>
            <a:r>
              <a:rPr sz="3190" b="1">
                <a:solidFill>
                  <a:srgbClr val="7D2860"/>
                </a:solidFill>
                <a:latin typeface="Arial" panose="020B0604020202090204"/>
              </a:rPr>
              <a:t>76.3%</a:t>
            </a:r>
            <a:endParaRPr sz="3190" b="1">
              <a:solidFill>
                <a:srgbClr val="7D2860"/>
              </a:solidFill>
              <a:latin typeface="Arial" panose="020B0604020202090204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38110062" y="13552090"/>
            <a:ext cx="1307546" cy="5241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590"/>
              </a:lnSpc>
              <a:spcBef>
                <a:spcPts val="0"/>
              </a:spcBef>
              <a:spcAft>
                <a:spcPts val="0"/>
              </a:spcAft>
            </a:pPr>
            <a:r>
              <a:rPr sz="3590" b="1" spc="-35">
                <a:solidFill>
                  <a:srgbClr val="AE2622"/>
                </a:solidFill>
                <a:latin typeface="Arial" panose="020B0604020202090204"/>
              </a:rPr>
              <a:t>39.6%</a:t>
            </a:r>
            <a:endParaRPr sz="3590" b="1" spc="-35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39531882" y="13656838"/>
            <a:ext cx="3062131" cy="8199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810"/>
              </a:lnSpc>
              <a:spcBef>
                <a:spcPts val="0"/>
              </a:spcBef>
              <a:spcAft>
                <a:spcPts val="0"/>
              </a:spcAft>
            </a:pPr>
            <a:r>
              <a:rPr sz="2340" b="0">
                <a:solidFill>
                  <a:srgbClr val="555555"/>
                </a:solidFill>
                <a:latin typeface="Arial" panose="020B0604020202090204"/>
              </a:rPr>
              <a:t>execution/computation failures (gpt-5-mini)</a:t>
            </a:r>
            <a:endParaRPr sz="234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70" name="TextBox 169"/>
          <p:cNvSpPr txBox="1"/>
          <p:nvPr/>
        </p:nvSpPr>
        <p:spPr>
          <a:xfrm>
            <a:off x="38110062" y="14587518"/>
            <a:ext cx="1307546" cy="52410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590"/>
              </a:lnSpc>
              <a:spcBef>
                <a:spcPts val="0"/>
              </a:spcBef>
              <a:spcAft>
                <a:spcPts val="0"/>
              </a:spcAft>
            </a:pPr>
            <a:r>
              <a:rPr sz="3590" b="1" spc="-35">
                <a:solidFill>
                  <a:srgbClr val="AE2622"/>
                </a:solidFill>
                <a:latin typeface="Arial" panose="020B0604020202090204"/>
              </a:rPr>
              <a:t>81.5%</a:t>
            </a:r>
            <a:endParaRPr sz="3590" b="1" spc="-35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39531882" y="14692267"/>
            <a:ext cx="2239318" cy="1229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810"/>
              </a:lnSpc>
              <a:spcBef>
                <a:spcPts val="0"/>
              </a:spcBef>
              <a:spcAft>
                <a:spcPts val="0"/>
              </a:spcAft>
            </a:pPr>
            <a:r>
              <a:rPr sz="2340" b="0">
                <a:solidFill>
                  <a:srgbClr val="555555"/>
                </a:solidFill>
                <a:latin typeface="Arial" panose="020B0604020202090204"/>
              </a:rPr>
              <a:t>plans judged similar to gold (nano)</a:t>
            </a:r>
            <a:endParaRPr sz="2340" b="0">
              <a:solidFill>
                <a:srgbClr val="555555"/>
              </a:solidFill>
              <a:latin typeface="Arial" panose="020B0604020202090204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38110062" y="15979450"/>
            <a:ext cx="1307546" cy="52410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lnSpc>
                <a:spcPts val="3590"/>
              </a:lnSpc>
              <a:spcBef>
                <a:spcPts val="0"/>
              </a:spcBef>
              <a:spcAft>
                <a:spcPts val="0"/>
              </a:spcAft>
            </a:pPr>
            <a:r>
              <a:rPr sz="3590" b="1" spc="-35">
                <a:solidFill>
                  <a:srgbClr val="AE2622"/>
                </a:solidFill>
                <a:latin typeface="Arial" panose="020B0604020202090204"/>
              </a:rPr>
              <a:t>19.0%</a:t>
            </a:r>
            <a:endParaRPr sz="3590" b="1" spc="-35">
              <a:solidFill>
                <a:srgbClr val="AE2622"/>
              </a:solidFill>
              <a:latin typeface="Arial" panose="020B0604020202090204"/>
            </a:endParaRPr>
          </a:p>
        </p:txBody>
      </p:sp>
      <p:sp>
        <p:nvSpPr>
          <p:cNvPr id="173" name="TextBox 172"/>
          <p:cNvSpPr txBox="1"/>
          <p:nvPr/>
        </p:nvSpPr>
        <p:spPr>
          <a:xfrm>
            <a:off x="39531882" y="16084198"/>
            <a:ext cx="2239318" cy="12299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ts val="2810"/>
              </a:lnSpc>
              <a:spcBef>
                <a:spcPts val="0"/>
              </a:spcBef>
              <a:spcAft>
                <a:spcPts val="0"/>
              </a:spcAft>
            </a:pPr>
            <a:r>
              <a:rPr sz="2340" b="0">
                <a:solidFill>
                  <a:srgbClr val="555555"/>
                </a:solidFill>
                <a:latin typeface="Arial" panose="020B0604020202090204"/>
              </a:rPr>
              <a:t>baseline plan-follow rate (nano)</a:t>
            </a:r>
            <a:endParaRPr sz="2340" b="0">
              <a:solidFill>
                <a:srgbClr val="555555"/>
              </a:solidFill>
              <a:latin typeface="Arial" panose="020B0604020202090204"/>
            </a:endParaRPr>
          </a:p>
        </p:txBody>
      </p:sp>
      <p:pic>
        <p:nvPicPr>
          <p:cNvPr id="174" name="Picture 173" descr="eq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1678" y="14607159"/>
            <a:ext cx="7236621" cy="6665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4005</Words>
  <Application>WPS 演示</Application>
  <PresentationFormat>On-screen Show (4:3)</PresentationFormat>
  <Paragraphs>204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8" baseType="lpstr">
      <vt:lpstr>Arial</vt:lpstr>
      <vt:lpstr>宋体</vt:lpstr>
      <vt:lpstr>Wingdings</vt:lpstr>
      <vt:lpstr>Arial</vt:lpstr>
      <vt:lpstr>Cambria Math</vt:lpstr>
      <vt:lpstr>Kingsoft Math</vt:lpstr>
      <vt:lpstr>Calibri</vt:lpstr>
      <vt:lpstr>Helvetica Neue</vt:lpstr>
      <vt:lpstr>MS PGothic</vt:lpstr>
      <vt:lpstr>苹方-简</vt:lpstr>
      <vt:lpstr>Arial Unicode MS</vt:lpstr>
      <vt:lpstr>微软雅黑</vt:lpstr>
      <vt:lpstr>方正雅意黑 GB18030L2</vt:lpstr>
      <vt:lpstr>宋体</vt:lpstr>
      <vt:lpstr>汉仪书宋二KW</vt:lpstr>
      <vt:lpstr>Cambria Math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白岩浩</cp:lastModifiedBy>
  <cp:revision>2</cp:revision>
  <dcterms:created xsi:type="dcterms:W3CDTF">2026-08-25T09:04:42Z</dcterms:created>
  <dcterms:modified xsi:type="dcterms:W3CDTF">2026-08-25T09:04:42Z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B02203B0631DB62FAA5A8D6A3112A021_43</vt:lpwstr>
  </property>
  <property fmtid="{D5CDD505-2E9C-101B-9397-08002B2CF9AE}" pid="3" name="KSOProductBuildVer">
    <vt:lpwstr>2052-12.1.26055.26055</vt:lpwstr>
  </property>
</Properties>
</file>