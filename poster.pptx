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8959" y="618966"/>
            <a:ext cx="41556003" cy="4088005"/>
          </a:xfrm>
          <a:prstGeom prst="roundRect">
            <a:avLst>
              <a:gd name="adj" fmla="val 3281"/>
            </a:avLst>
          </a:prstGeom>
          <a:solidFill>
            <a:srgbClr val="F4E6EF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8959" y="5198573"/>
            <a:ext cx="8966435" cy="9211142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87568" y="5198573"/>
            <a:ext cx="11208231" cy="7707768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597974" y="5198573"/>
            <a:ext cx="11208228" cy="5643604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208377" y="5198573"/>
            <a:ext cx="8966437" cy="10443123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597974" y="11154934"/>
            <a:ext cx="11208228" cy="18488793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87568" y="13219097"/>
            <a:ext cx="11208231" cy="6249031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959" y="14722472"/>
            <a:ext cx="8966435" cy="14921255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208377" y="15954452"/>
            <a:ext cx="8966437" cy="6203651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87568" y="19780886"/>
            <a:ext cx="11208231" cy="9862841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08377" y="22470860"/>
            <a:ext cx="8966437" cy="7172867"/>
          </a:xfrm>
          <a:prstGeom prst="rect">
            <a:avLst/>
          </a:prstGeom>
          <a:solidFill>
            <a:srgbClr val="F6ECF1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8377" y="22470860"/>
            <a:ext cx="8966437" cy="3810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36708" y="22470860"/>
            <a:ext cx="38106" cy="717286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08377" y="29605620"/>
            <a:ext cx="8966437" cy="3810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208377" y="22470860"/>
            <a:ext cx="57160" cy="7172867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993453" y="6394100"/>
            <a:ext cx="10417270" cy="4109580"/>
          </a:xfrm>
          <a:prstGeom prst="roundRect">
            <a:avLst>
              <a:gd name="adj" fmla="val 4787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03858" y="10188395"/>
            <a:ext cx="8175473" cy="1830414"/>
          </a:xfrm>
          <a:prstGeom prst="roundRect">
            <a:avLst>
              <a:gd name="adj" fmla="val 50000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03858" y="12371590"/>
            <a:ext cx="8175473" cy="27459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03858" y="12371590"/>
            <a:ext cx="8175473" cy="12385"/>
          </a:xfrm>
          <a:prstGeom prst="rect">
            <a:avLst/>
          </a:prstGeom>
          <a:solidFill>
            <a:srgbClr val="D2B4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4439" y="12618283"/>
            <a:ext cx="8175476" cy="13959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4439" y="12618283"/>
            <a:ext cx="114320" cy="1395948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3048" y="14547346"/>
            <a:ext cx="10417270" cy="1409040"/>
          </a:xfrm>
          <a:prstGeom prst="roundRect">
            <a:avLst>
              <a:gd name="adj" fmla="val 15079"/>
            </a:avLst>
          </a:prstGeom>
          <a:solidFill>
            <a:srgbClr val="F7F2F5"/>
          </a:solidFill>
          <a:ln w="9526">
            <a:solidFill>
              <a:srgbClr val="D5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603858" y="17388937"/>
            <a:ext cx="8175473" cy="4428288"/>
          </a:xfrm>
          <a:prstGeom prst="roundRect">
            <a:avLst>
              <a:gd name="adj" fmla="val 1721"/>
            </a:avLst>
          </a:prstGeom>
          <a:gradFill rotWithShape="1" flip="none">
            <a:gsLst>
              <a:gs pos="0">
                <a:srgbClr val="EFE5EC"/>
              </a:gs>
              <a:gs pos="100000">
                <a:srgbClr val="F7F2F5"/>
              </a:gs>
            </a:gsLst>
            <a:lin ang="5400000" scaled="0"/>
          </a:gradFill>
          <a:ln w="9526">
            <a:solidFill>
              <a:srgbClr val="DEC9D7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622902" y="23905343"/>
            <a:ext cx="8156429" cy="5407326"/>
          </a:xfrm>
          <a:prstGeom prst="roundRect">
            <a:avLst>
              <a:gd name="adj" fmla="val 3638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1993453" y="27263830"/>
            <a:ext cx="10417270" cy="2192422"/>
          </a:xfrm>
          <a:prstGeom prst="roundRect">
            <a:avLst>
              <a:gd name="adj" fmla="val 8973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9664009" y="1458736"/>
            <a:ext cx="1899283" cy="1899305"/>
          </a:xfrm>
          <a:prstGeom prst="roundRect">
            <a:avLst>
              <a:gd name="adj" fmla="val 5296"/>
            </a:avLst>
          </a:prstGeom>
          <a:noFill/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4611" y="1559340"/>
            <a:ext cx="1698079" cy="1698097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21993453" y="5594057"/>
            <a:ext cx="619407" cy="619413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83048" y="6677694"/>
            <a:ext cx="10417270" cy="5416998"/>
          </a:xfrm>
          <a:prstGeom prst="roundRect">
            <a:avLst>
              <a:gd name="adj" fmla="val 703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igur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3088" y="6677694"/>
            <a:ext cx="10417190" cy="541699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21993453" y="11550417"/>
            <a:ext cx="619407" cy="619413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83048" y="13614581"/>
            <a:ext cx="619407" cy="619413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54253" y="17599474"/>
            <a:ext cx="3392227" cy="405185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154253" y="17599474"/>
            <a:ext cx="12385" cy="4051851"/>
          </a:xfrm>
          <a:prstGeom prst="rect">
            <a:avLst/>
          </a:prstGeom>
          <a:solidFill>
            <a:srgbClr val="DEC9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383048" y="20176369"/>
            <a:ext cx="619407" cy="619411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75846" y="21749674"/>
            <a:ext cx="7452661" cy="6290395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igur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871" y="21749674"/>
            <a:ext cx="7452611" cy="6290395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33603858" y="9044199"/>
            <a:ext cx="8175473" cy="786652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383048" y="20976413"/>
            <a:ext cx="663892" cy="66389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83048" y="22788079"/>
            <a:ext cx="663892" cy="66389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383048" y="24599746"/>
            <a:ext cx="663892" cy="663898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83048" y="26411412"/>
            <a:ext cx="663892" cy="66389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603858" y="7641258"/>
            <a:ext cx="5500406" cy="616289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603858" y="8248020"/>
            <a:ext cx="5500406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9104264" y="7641258"/>
            <a:ext cx="2675067" cy="616289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9104264" y="8248020"/>
            <a:ext cx="2675067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603858" y="8257547"/>
            <a:ext cx="5500406" cy="7866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603858" y="9034672"/>
            <a:ext cx="5500406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104264" y="8257547"/>
            <a:ext cx="2675067" cy="7866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104264" y="9034672"/>
            <a:ext cx="2675067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603858" y="9044199"/>
            <a:ext cx="5500406" cy="786652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603858" y="9821324"/>
            <a:ext cx="5500406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9104264" y="9044199"/>
            <a:ext cx="2675067" cy="786652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104264" y="9821324"/>
            <a:ext cx="2675067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1993453" y="14071069"/>
            <a:ext cx="7630909" cy="666430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993453" y="14727972"/>
            <a:ext cx="7630909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624362" y="14071069"/>
            <a:ext cx="2786361" cy="666430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624362" y="14727972"/>
            <a:ext cx="2786361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993453" y="14737499"/>
            <a:ext cx="7630909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993453" y="15619969"/>
            <a:ext cx="7630909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9624362" y="14737499"/>
            <a:ext cx="2786361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624362" y="15619969"/>
            <a:ext cx="2786361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1993453" y="15629496"/>
            <a:ext cx="7630909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993453" y="16511964"/>
            <a:ext cx="7630909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9624362" y="15629496"/>
            <a:ext cx="2786361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9624362" y="16511964"/>
            <a:ext cx="2786361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1993453" y="16521491"/>
            <a:ext cx="7630909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993453" y="17403961"/>
            <a:ext cx="7630909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9624362" y="16521491"/>
            <a:ext cx="2786361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9624362" y="17403961"/>
            <a:ext cx="2786361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993453" y="17413488"/>
            <a:ext cx="7630909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993453" y="18295956"/>
            <a:ext cx="7630909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9624362" y="17413488"/>
            <a:ext cx="2786361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9624362" y="18295956"/>
            <a:ext cx="2786361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1993453" y="18305483"/>
            <a:ext cx="7630909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993453" y="19187953"/>
            <a:ext cx="7630909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9624362" y="18305483"/>
            <a:ext cx="2786361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9624362" y="19187953"/>
            <a:ext cx="2786361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44614" y="976359"/>
            <a:ext cx="38890514" cy="13240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9069"/>
              </a:lnSpc>
              <a:spcBef>
                <a:spcPts val="0"/>
              </a:spcBef>
              <a:spcAft>
                <a:spcPts val="0"/>
              </a:spcAft>
            </a:pPr>
            <a:r>
              <a:rPr sz="8097" b="1" spc="-80">
                <a:solidFill>
                  <a:srgbClr val="7D2860"/>
                </a:solidFill>
                <a:latin typeface="Arial"/>
              </a:rPr>
              <a:t>LAKEQA: An Exploratory QA Benchmark over a Million-Scale Data Lake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44614" y="2384657"/>
            <a:ext cx="38890514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B2331"/>
                </a:solidFill>
                <a:latin typeface="Arial"/>
              </a:rPr>
              <a:t>Haonan Wang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*, Jiaxiang Liu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*, Yurong Liu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2</a:t>
            </a:r>
            <a:r>
              <a:rPr sz="3872" b="0">
                <a:solidFill>
                  <a:srgbClr val="1B2331"/>
                </a:solidFill>
                <a:latin typeface="Arial"/>
              </a:rPr>
              <a:t>, Austin Senna Wijaya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Tianle Zhou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Eden Wu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2</a:t>
            </a:r>
            <a:r>
              <a:rPr sz="3872" b="0">
                <a:solidFill>
                  <a:srgbClr val="1B2331"/>
                </a:solidFill>
                <a:latin typeface="Arial"/>
              </a:rPr>
              <a:t>, Yijia Chen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Wanting You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3</a:t>
            </a:r>
            <a:r>
              <a:rPr sz="3872" b="0">
                <a:solidFill>
                  <a:srgbClr val="1B2331"/>
                </a:solidFill>
                <a:latin typeface="Arial"/>
              </a:rPr>
              <a:t>, Reya Vir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Daniela Pinto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2</a:t>
            </a:r>
            <a:r>
              <a:rPr sz="3872" b="0">
                <a:solidFill>
                  <a:srgbClr val="1B2331"/>
                </a:solidFill>
                <a:latin typeface="Arial"/>
              </a:rPr>
              <a:t>, Grace Fan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2</a:t>
            </a:r>
            <a:r>
              <a:rPr sz="3872" b="0">
                <a:solidFill>
                  <a:srgbClr val="1B2331"/>
                </a:solidFill>
                <a:latin typeface="Arial"/>
              </a:rPr>
              <a:t>, Yusen Zhang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  <a:r>
              <a:rPr sz="3872" b="0">
                <a:solidFill>
                  <a:srgbClr val="1B2331"/>
                </a:solidFill>
                <a:latin typeface="Arial"/>
              </a:rPr>
              <a:t>, Juliana Freire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2</a:t>
            </a:r>
            <a:r>
              <a:rPr sz="3872" b="0">
                <a:solidFill>
                  <a:srgbClr val="1B2331"/>
                </a:solidFill>
                <a:latin typeface="Arial"/>
              </a:rPr>
              <a:t>, Eugene Wu</a:t>
            </a:r>
            <a:r>
              <a:rPr sz="5421" b="0" baseline="30000">
                <a:solidFill>
                  <a:srgbClr val="1B2331"/>
                </a:solidFill>
                <a:latin typeface="Arial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44614" y="3863629"/>
            <a:ext cx="38890514" cy="55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2402" b="0" spc="52" baseline="30000">
                <a:solidFill>
                  <a:srgbClr val="55617A"/>
                </a:solidFill>
                <a:latin typeface="Arial"/>
              </a:rPr>
              <a:t>1</a:t>
            </a:r>
            <a:r>
              <a:rPr sz="2640" b="0" spc="52">
                <a:solidFill>
                  <a:srgbClr val="55617A"/>
                </a:solidFill>
                <a:latin typeface="Arial"/>
              </a:rPr>
              <a:t>Columbia University   </a:t>
            </a:r>
            <a:r>
              <a:rPr sz="3696" b="0" spc="52" baseline="30000">
                <a:solidFill>
                  <a:srgbClr val="55617A"/>
                </a:solidFill>
                <a:latin typeface="Arial"/>
              </a:rPr>
              <a:t>2</a:t>
            </a:r>
            <a:r>
              <a:rPr sz="2640" b="0" spc="52">
                <a:solidFill>
                  <a:srgbClr val="55617A"/>
                </a:solidFill>
                <a:latin typeface="Arial"/>
              </a:rPr>
              <a:t>New York University   </a:t>
            </a:r>
            <a:r>
              <a:rPr sz="3696" b="0" spc="52" baseline="30000">
                <a:solidFill>
                  <a:srgbClr val="55617A"/>
                </a:solidFill>
                <a:latin typeface="Arial"/>
              </a:rPr>
              <a:t>3</a:t>
            </a:r>
            <a:r>
              <a:rPr sz="2640" b="0" spc="52">
                <a:solidFill>
                  <a:srgbClr val="55617A"/>
                </a:solidFill>
                <a:latin typeface="Arial"/>
              </a:rPr>
              <a:t>Barnard College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4439" y="5594057"/>
            <a:ext cx="8420740" cy="848013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PROBLEM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83048" y="5594057"/>
            <a:ext cx="10729788" cy="848013"/>
          </a:xfrm>
          <a:prstGeom prst="rect">
            <a:avLst/>
          </a:prstGeom>
          <a:noFill/>
        </p:spPr>
        <p:txBody>
          <a:bodyPr wrap="non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METHOD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603858" y="5594057"/>
            <a:ext cx="8420737" cy="1696026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KEY RESULTS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993453" y="6394100"/>
            <a:ext cx="10729788" cy="4726017"/>
          </a:xfrm>
          <a:prstGeom prst="rect">
            <a:avLst/>
          </a:prstGeom>
          <a:noFill/>
        </p:spPr>
        <p:txBody>
          <a:bodyPr wrap="square" lIns="319690" rIns="319690" tIns="137714" bIns="137714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7D2860"/>
                </a:solidFill>
                <a:latin typeface="Arial"/>
              </a:rPr>
              <a:t>Nine annotators (5 CS Ph.D. students + 4 screened seniors) build tasks; every task is reviewed by </a:t>
            </a:r>
            <a:r>
              <a:rPr sz="3872" b="1">
                <a:solidFill>
                  <a:srgbClr val="111111"/>
                </a:solidFill>
                <a:latin typeface="Arial"/>
              </a:rPr>
              <a:t>≥4 annotators</a:t>
            </a:r>
            <a:r>
              <a:rPr sz="3872" b="0">
                <a:solidFill>
                  <a:srgbClr val="7D2860"/>
                </a:solidFill>
                <a:latin typeface="Arial"/>
              </a:rPr>
              <a:t>, including ≥1 Ph.D., across construction and rewrite stages, ensuring expert verification of answers.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4439" y="6651954"/>
            <a:ext cx="8420740" cy="65568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Real-world questions are rarely paired with their evidence — useful evidence sits scattered across massive data lakes, so an agent must </a:t>
            </a:r>
            <a:r>
              <a:rPr sz="3872" b="1">
                <a:solidFill>
                  <a:srgbClr val="111111"/>
                </a:solidFill>
                <a:latin typeface="Arial"/>
              </a:rPr>
              <a:t>search before answering</a:t>
            </a:r>
            <a:r>
              <a:rPr sz="3872" b="0">
                <a:solidFill>
                  <a:srgbClr val="1C1C1C"/>
                </a:solidFill>
                <a:latin typeface="Arial"/>
              </a:rPr>
              <a:t>. Existing benchmarks hand over evidence; </a:t>
            </a:r>
            <a:r>
              <a:rPr sz="3872" b="1">
                <a:solidFill>
                  <a:srgbClr val="111111"/>
                </a:solidFill>
                <a:latin typeface="Arial"/>
              </a:rPr>
              <a:t>none jointly scales search and reasoning</a:t>
            </a:r>
            <a:r>
              <a:rPr sz="3872" b="0">
                <a:solidFill>
                  <a:srgbClr val="1C1C1C"/>
                </a:solidFill>
                <a:latin typeface="Arial"/>
              </a:rPr>
              <a:t>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603858" y="10188395"/>
            <a:ext cx="8420737" cy="2104976"/>
          </a:xfrm>
          <a:prstGeom prst="rect">
            <a:avLst/>
          </a:prstGeom>
          <a:noFill/>
        </p:spPr>
        <p:txBody>
          <a:bodyPr wrap="square" lIns="457894" rIns="457894" tIns="265100" bIns="265100">
            <a:spAutoFit/>
          </a:bodyPr>
          <a:lstStyle/>
          <a:p>
            <a:pPr algn="ctr">
              <a:lnSpc>
                <a:spcPts val="5123"/>
              </a:lnSpc>
              <a:spcBef>
                <a:spcPts val="0"/>
              </a:spcBef>
              <a:spcAft>
                <a:spcPts val="0"/>
              </a:spcAft>
            </a:pPr>
            <a:r>
              <a:rPr sz="3795" b="1">
                <a:solidFill>
                  <a:srgbClr val="7D2860"/>
                </a:solidFill>
                <a:latin typeface="Arial"/>
              </a:rPr>
              <a:t>Best 32.87% vs GPT-5.2 18.37% · all 7 frontier LLMs &lt; 35%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603858" y="12371590"/>
            <a:ext cx="8420737" cy="3157806"/>
          </a:xfrm>
          <a:prstGeom prst="rect">
            <a:avLst/>
          </a:prstGeom>
          <a:noFill/>
        </p:spPr>
        <p:txBody>
          <a:bodyPr wrap="square" lIns="0" rIns="0" tIns="203620" bIns="0">
            <a:spAutoFit/>
          </a:bodyPr>
          <a:lstStyle/>
          <a:p>
            <a:pPr algn="l">
              <a:lnSpc>
                <a:spcPts val="4988"/>
              </a:lnSpc>
              <a:spcBef>
                <a:spcPts val="0"/>
              </a:spcBef>
              <a:spcAft>
                <a:spcPts val="0"/>
              </a:spcAft>
            </a:pPr>
            <a:r>
              <a:rPr sz="2779" b="1" spc="166">
                <a:solidFill>
                  <a:srgbClr val="111111"/>
                </a:solidFill>
                <a:latin typeface="Arial"/>
              </a:rPr>
              <a:t>SO WHAT → </a:t>
            </a:r>
            <a:r>
              <a:rPr sz="3562" b="0" i="1">
                <a:solidFill>
                  <a:srgbClr val="1C1C1C"/>
                </a:solidFill>
                <a:latin typeface="Arial"/>
              </a:rPr>
              <a:t>Failures are dominated by missing evidence: Claude-sonnet-4.5 retrieves 42.36% of gold docs but accesses only 13.04%.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4439" y="12618283"/>
            <a:ext cx="8420740" cy="1605340"/>
          </a:xfrm>
          <a:prstGeom prst="rect">
            <a:avLst/>
          </a:prstGeom>
          <a:noFill/>
        </p:spPr>
        <p:txBody>
          <a:bodyPr wrap="square" lIns="344282" rIns="344282" tIns="59020" bIns="59020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 i="1">
                <a:solidFill>
                  <a:srgbClr val="1C1C1C"/>
                </a:solidFill>
                <a:latin typeface="Arial"/>
              </a:rPr>
              <a:t>Search is a prerequisite — evidence is never handed over.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14439" y="15117955"/>
            <a:ext cx="8420740" cy="848013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MOTIVATION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949492" y="15490377"/>
            <a:ext cx="7502761" cy="400394"/>
          </a:xfrm>
          <a:prstGeom prst="rect">
            <a:avLst/>
          </a:prstGeom>
          <a:noFill/>
        </p:spPr>
        <p:txBody>
          <a:bodyPr wrap="square" lIns="371825" rIns="371825" tIns="63742" bIns="63742">
            <a:spAutoFit/>
          </a:bodyPr>
          <a:lstStyle/>
          <a:p>
            <a:pPr algn="ctr">
              <a:lnSpc>
                <a:spcPts val="3032"/>
              </a:lnSpc>
              <a:spcBef>
                <a:spcPts val="0"/>
              </a:spcBef>
              <a:spcAft>
                <a:spcPts val="0"/>
              </a:spcAft>
            </a:pPr>
            <a:r>
              <a:rPr sz="4182" b="0">
                <a:solidFill>
                  <a:srgbClr val="1C1C1C"/>
                </a:solidFill>
                <a:latin typeface="Cambria Math"/>
              </a:rPr>
              <a:t>                                              </a:t>
            </a:r>
            <a:r>
              <a:rPr sz="2091" b="0" i="1">
                <a:solidFill>
                  <a:srgbClr val="555555"/>
                </a:solidFill>
                <a:latin typeface="Cambria Math"/>
              </a:rPr>
              <a:t>facts F</a:t>
            </a:r>
            <a:r>
              <a:rPr sz="2927" b="0" i="1" baseline="-25000">
                <a:solidFill>
                  <a:srgbClr val="555555"/>
                </a:solidFill>
                <a:latin typeface="Cambria Math"/>
              </a:rPr>
              <a:t>i</a:t>
            </a:r>
            <a:r>
              <a:rPr sz="2091" b="0" i="1">
                <a:solidFill>
                  <a:srgbClr val="555555"/>
                </a:solidFill>
                <a:latin typeface="Cambria Math"/>
              </a:rPr>
              <a:t> from retrieved docs · D</a:t>
            </a:r>
            <a:r>
              <a:rPr sz="2927" b="0" i="1" baseline="-25000">
                <a:solidFill>
                  <a:srgbClr val="555555"/>
                </a:solidFill>
                <a:latin typeface="Cambria Math"/>
              </a:rPr>
              <a:t>acc</a:t>
            </a:r>
            <a:r>
              <a:rPr sz="2091" b="0" i="1">
                <a:solidFill>
                  <a:srgbClr val="555555"/>
                </a:solidFill>
                <a:latin typeface="Cambria Math"/>
              </a:rPr>
              <a:t> / D</a:t>
            </a:r>
            <a:r>
              <a:rPr sz="2927" b="0" i="1" baseline="-25000">
                <a:solidFill>
                  <a:srgbClr val="555555"/>
                </a:solidFill>
                <a:latin typeface="Cambria Math"/>
              </a:rPr>
              <a:t>ret</a:t>
            </a:r>
            <a:r>
              <a:rPr sz="2091" b="0" i="1">
                <a:solidFill>
                  <a:srgbClr val="555555"/>
                </a:solidFill>
                <a:latin typeface="Cambria Math"/>
              </a:rPr>
              <a:t> ground evidence vs gold D*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603858" y="16349937"/>
            <a:ext cx="8420737" cy="848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HEADLINE NUMBERS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622902" y="22866343"/>
            <a:ext cx="8401121" cy="848013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TAKEAWAY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622902" y="23905343"/>
            <a:ext cx="8401121" cy="6218424"/>
          </a:xfrm>
          <a:prstGeom prst="rect">
            <a:avLst/>
          </a:prstGeom>
          <a:noFill/>
        </p:spPr>
        <p:txBody>
          <a:bodyPr wrap="square" lIns="344282" rIns="344282" tIns="147551" bIns="147551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FFFFFF"/>
                </a:solidFill>
                <a:latin typeface="Arial"/>
              </a:rPr>
              <a:t>Exploratory QA over a million-scale data lake is </a:t>
            </a:r>
            <a:r>
              <a:rPr sz="3872" b="1">
                <a:solidFill>
                  <a:srgbClr val="111111"/>
                </a:solidFill>
                <a:latin typeface="Arial"/>
              </a:rPr>
              <a:t>far from solved</a:t>
            </a:r>
            <a:r>
              <a:rPr sz="3872" b="1">
                <a:solidFill>
                  <a:srgbClr val="FFFFFF"/>
                </a:solidFill>
                <a:latin typeface="Arial"/>
              </a:rPr>
              <a:t>: document discovery is the bottleneck, and accuracy degrades steeply as reasoning intensity grows. LAKEQA gives the community a realistic testbed to close that gap.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993453" y="27263830"/>
            <a:ext cx="10729788" cy="2521285"/>
          </a:xfrm>
          <a:prstGeom prst="rect">
            <a:avLst/>
          </a:prstGeom>
          <a:noFill/>
        </p:spPr>
        <p:txBody>
          <a:bodyPr wrap="square" lIns="319690" rIns="319690" tIns="137714" bIns="137714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7D2860"/>
                </a:solidFill>
                <a:latin typeface="Arial"/>
              </a:rPr>
              <a:t>Trajectory failures: search-dataset-missing (GPT-5-mini 112/135); retrieved-but-not-selected (GPT-5.2 56/135).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83048" y="27928178"/>
            <a:ext cx="10729788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Structured and unstructured data coexist; evidence often spans many files.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0214078" y="3518734"/>
            <a:ext cx="822965" cy="4007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46"/>
              </a:lnSpc>
              <a:spcBef>
                <a:spcPts val="0"/>
              </a:spcBef>
              <a:spcAft>
                <a:spcPts val="0"/>
              </a:spcAft>
            </a:pPr>
            <a:r>
              <a:rPr sz="2112" b="1" spc="84">
                <a:solidFill>
                  <a:srgbClr val="1B2331"/>
                </a:solidFill>
                <a:latin typeface="Arial"/>
              </a:rPr>
              <a:t>Paper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819228" y="5607002"/>
            <a:ext cx="5078772" cy="6825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Annotation protocol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206423" y="5719785"/>
            <a:ext cx="2270429" cy="423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quality control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19228" y="11563362"/>
            <a:ext cx="5348036" cy="682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Benchmark statistics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0756792" y="11676145"/>
            <a:ext cx="1703548" cy="42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at a glance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985811" y="12235745"/>
            <a:ext cx="3308097" cy="602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128"/>
              </a:lnSpc>
              <a:spcBef>
                <a:spcPts val="0"/>
              </a:spcBef>
              <a:spcAft>
                <a:spcPts val="0"/>
              </a:spcAft>
            </a:pPr>
            <a:r>
              <a:rPr sz="3175" b="0" i="1">
                <a:solidFill>
                  <a:srgbClr val="555555"/>
                </a:solidFill>
                <a:latin typeface="Arial"/>
              </a:rPr>
              <a:t>LAKEQA pipeline.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993453" y="12473362"/>
            <a:ext cx="3379513" cy="16960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1618"/>
              </a:lnSpc>
              <a:spcBef>
                <a:spcPts val="0"/>
              </a:spcBef>
              <a:spcAft>
                <a:spcPts val="0"/>
              </a:spcAft>
            </a:pPr>
            <a:r>
              <a:rPr sz="11618" b="1">
                <a:solidFill>
                  <a:srgbClr val="7D2860"/>
                </a:solidFill>
                <a:latin typeface="Arial"/>
              </a:rPr>
              <a:t>1007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5471083" y="13244690"/>
            <a:ext cx="6052384" cy="7378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053"/>
              </a:lnSpc>
              <a:spcBef>
                <a:spcPts val="0"/>
              </a:spcBef>
              <a:spcAft>
                <a:spcPts val="0"/>
              </a:spcAft>
            </a:pPr>
            <a:r>
              <a:rPr sz="3485" b="0">
                <a:solidFill>
                  <a:srgbClr val="555555"/>
                </a:solidFill>
                <a:latin typeface="Arial"/>
              </a:rPr>
              <a:t>full tasks · 135 mini (stratified)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208824" y="13627526"/>
            <a:ext cx="5091339" cy="6825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Exploratory QA task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8293978" y="13740309"/>
            <a:ext cx="2581530" cy="423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formal definition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82731" y="16089108"/>
            <a:ext cx="10730114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Search axis N</a:t>
            </a:r>
            <a:r>
              <a:rPr sz="3872" b="0">
                <a:solidFill>
                  <a:srgbClr val="1C1C1C"/>
                </a:solidFill>
                <a:latin typeface="Arial"/>
              </a:rPr>
              <a:t> ≈ 40M documents — evidence never handed over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4121" y="16163949"/>
            <a:ext cx="8421067" cy="3278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Benchmarks scale one axis only</a:t>
            </a:r>
            <a:r>
              <a:rPr sz="3872" b="0">
                <a:solidFill>
                  <a:srgbClr val="1C1C1C"/>
                </a:solidFill>
                <a:latin typeface="Arial"/>
              </a:rPr>
              <a:t> — OTT-QA (huge search) vs MuSiQue / HotpotQA (deep reasoning).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82731" y="17686517"/>
            <a:ext cx="10730114" cy="16392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Reasoning axis K</a:t>
            </a:r>
            <a:r>
              <a:rPr sz="3872" b="0">
                <a:solidFill>
                  <a:srgbClr val="1C1C1C"/>
                </a:solidFill>
                <a:latin typeface="Arial"/>
              </a:rPr>
              <a:t> = 13.12 hops — answers chain across many files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14121" y="19186767"/>
            <a:ext cx="8421067" cy="24588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Industry is racing</a:t>
            </a:r>
            <a:r>
              <a:rPr sz="3872" b="0">
                <a:solidFill>
                  <a:srgbClr val="1C1C1C"/>
                </a:solidFill>
                <a:latin typeface="Arial"/>
              </a:rPr>
              <a:t> toward data-lake agents — yet no realistic testbed exists.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993136" y="19202241"/>
            <a:ext cx="10730114" cy="1639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13.12 hops</a:t>
            </a:r>
            <a:r>
              <a:rPr sz="3872" b="0">
                <a:solidFill>
                  <a:srgbClr val="1C1C1C"/>
                </a:solidFill>
                <a:latin typeface="Arial"/>
              </a:rPr>
              <a:t> avg · 2.06 wiki + 11.06 data.gov docs per task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208824" y="20189312"/>
            <a:ext cx="4903145" cy="682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Four-stage pipeline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8756263" y="20302096"/>
            <a:ext cx="2105376" cy="423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how it is built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993136" y="20799651"/>
            <a:ext cx="10730114" cy="16392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101 tokens</a:t>
            </a:r>
            <a:r>
              <a:rPr sz="3872" b="0">
                <a:solidFill>
                  <a:srgbClr val="1C1C1C"/>
                </a:solidFill>
                <a:latin typeface="Arial"/>
              </a:rPr>
              <a:t> avg question (max 255) · 45.9% numeric, 24.4% temporal answers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290397" y="20976413"/>
            <a:ext cx="9795218" cy="17442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Build the lake</a:t>
            </a:r>
            <a:r>
              <a:rPr sz="3872" b="0">
                <a:solidFill>
                  <a:srgbClr val="1C1C1C"/>
                </a:solidFill>
                <a:latin typeface="Arial"/>
              </a:rPr>
              <a:t> — Wikipedia + data.gov → ~40M files, ~9.5 TB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993136" y="22397059"/>
            <a:ext cx="10730114" cy="17249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Evaluation harness</a:t>
            </a:r>
            <a:r>
              <a:rPr sz="3872" b="0">
                <a:solidFill>
                  <a:srgbClr val="1C1C1C"/>
                </a:solidFill>
                <a:latin typeface="Arial"/>
              </a:rPr>
              <a:t> — Exact Match + LLM-judge + evidence grounding via D</a:t>
            </a:r>
            <a:r>
              <a:rPr sz="5421" b="0" baseline="-25000">
                <a:solidFill>
                  <a:srgbClr val="1C1C1C"/>
                </a:solidFill>
                <a:latin typeface="Arial"/>
              </a:rPr>
              <a:t>acc</a:t>
            </a:r>
            <a:r>
              <a:rPr sz="3872" b="0">
                <a:solidFill>
                  <a:srgbClr val="1C1C1C"/>
                </a:solidFill>
                <a:latin typeface="Arial"/>
              </a:rPr>
              <a:t> / D</a:t>
            </a:r>
            <a:r>
              <a:rPr sz="5421" b="0" baseline="-25000">
                <a:solidFill>
                  <a:srgbClr val="1C1C1C"/>
                </a:solidFill>
                <a:latin typeface="Arial"/>
              </a:rPr>
              <a:t>ret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290397" y="22788079"/>
            <a:ext cx="9795218" cy="1744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Annotate tasks</a:t>
            </a:r>
            <a:r>
              <a:rPr sz="3872" b="0">
                <a:solidFill>
                  <a:srgbClr val="1C1C1C"/>
                </a:solidFill>
                <a:latin typeface="Arial"/>
              </a:rPr>
              <a:t> — chain subquestions; each answer instantiates the next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993136" y="24069013"/>
            <a:ext cx="10730114" cy="24588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RAG baselines</a:t>
            </a:r>
            <a:r>
              <a:rPr sz="3872" b="0">
                <a:solidFill>
                  <a:srgbClr val="1C1C1C"/>
                </a:solidFill>
                <a:latin typeface="Arial"/>
              </a:rPr>
              <a:t> — BM25 vs hybrid BM25+HNSW over 10K/25K/50K; gains unstable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290397" y="24599746"/>
            <a:ext cx="9795218" cy="17442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Search</a:t>
            </a:r>
            <a:r>
              <a:rPr sz="3872" b="0">
                <a:solidFill>
                  <a:srgbClr val="1C1C1C"/>
                </a:solidFill>
                <a:latin typeface="Arial"/>
              </a:rPr>
              <a:t> — ontology-indexed query tool locates facts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993136" y="26379126"/>
            <a:ext cx="10730114" cy="819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Mini split</a:t>
            </a:r>
            <a:r>
              <a:rPr sz="3872" b="0">
                <a:solidFill>
                  <a:srgbClr val="1C1C1C"/>
                </a:solidFill>
                <a:latin typeface="Arial"/>
              </a:rPr>
              <a:t> — 135 stratified tasks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290397" y="26411412"/>
            <a:ext cx="9795218" cy="1744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Format</a:t>
            </a:r>
            <a:r>
              <a:rPr sz="3872" b="0">
                <a:solidFill>
                  <a:srgbClr val="1C1C1C"/>
                </a:solidFill>
                <a:latin typeface="Arial"/>
              </a:rPr>
              <a:t> — implicit question + gold answer + hidden reasoning chain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674018" y="28181122"/>
            <a:ext cx="7062007" cy="120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128"/>
              </a:lnSpc>
              <a:spcBef>
                <a:spcPts val="0"/>
              </a:spcBef>
              <a:spcAft>
                <a:spcPts val="0"/>
              </a:spcAft>
            </a:pPr>
            <a:r>
              <a:rPr sz="3175" b="0" i="1">
                <a:solidFill>
                  <a:srgbClr val="555555"/>
                </a:solidFill>
                <a:latin typeface="Arial"/>
              </a:rPr>
              <a:t>No benchmark scales both axes — LAKEQA fills that corner.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836711" y="18066825"/>
            <a:ext cx="3890149" cy="15418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0561"/>
              </a:lnSpc>
              <a:spcBef>
                <a:spcPts val="0"/>
              </a:spcBef>
              <a:spcAft>
                <a:spcPts val="0"/>
              </a:spcAft>
            </a:pPr>
            <a:r>
              <a:rPr sz="10561" b="1" spc="-211">
                <a:solidFill>
                  <a:srgbClr val="7D2860"/>
                </a:solidFill>
                <a:latin typeface="Arial"/>
              </a:rPr>
              <a:t>32.87%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836711" y="19429890"/>
            <a:ext cx="3890149" cy="1130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872"/>
              </a:lnSpc>
              <a:spcBef>
                <a:spcPts val="0"/>
              </a:spcBef>
              <a:spcAft>
                <a:spcPts val="0"/>
              </a:spcAft>
            </a:pPr>
            <a:r>
              <a:rPr sz="3520" b="1">
                <a:solidFill>
                  <a:srgbClr val="1C1C1C"/>
                </a:solidFill>
                <a:latin typeface="Arial"/>
              </a:rPr>
              <a:t>best end-to-end EM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836711" y="20413094"/>
            <a:ext cx="3890149" cy="886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36"/>
              </a:lnSpc>
              <a:spcBef>
                <a:spcPts val="0"/>
              </a:spcBef>
              <a:spcAft>
                <a:spcPts val="0"/>
              </a:spcAft>
            </a:pPr>
            <a:r>
              <a:rPr sz="2640" b="0" i="1">
                <a:solidFill>
                  <a:srgbClr val="555555"/>
                </a:solidFill>
                <a:latin typeface="Arial"/>
              </a:rPr>
              <a:t>7 LLMs · none above 35%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3603858" y="7641258"/>
            <a:ext cx="5665418" cy="708732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l">
              <a:lnSpc>
                <a:spcPts val="3916"/>
              </a:lnSpc>
              <a:spcBef>
                <a:spcPts val="0"/>
              </a:spcBef>
              <a:spcAft>
                <a:spcPts val="0"/>
              </a:spcAft>
            </a:pPr>
            <a:r>
              <a:rPr sz="2701" b="1" spc="135">
                <a:solidFill>
                  <a:srgbClr val="7D2860"/>
                </a:solidFill>
                <a:latin typeface="Arial"/>
              </a:rPr>
              <a:t>MODEL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104264" y="7641258"/>
            <a:ext cx="2755319" cy="708732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ctr">
              <a:lnSpc>
                <a:spcPts val="3916"/>
              </a:lnSpc>
              <a:spcBef>
                <a:spcPts val="0"/>
              </a:spcBef>
              <a:spcAft>
                <a:spcPts val="0"/>
              </a:spcAft>
            </a:pPr>
            <a:r>
              <a:rPr sz="2701" b="1" spc="135">
                <a:solidFill>
                  <a:srgbClr val="7D2860"/>
                </a:solidFill>
                <a:latin typeface="Arial"/>
              </a:rPr>
              <a:t>EM · FULL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603858" y="8257547"/>
            <a:ext cx="5665418" cy="904649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1C1C1C"/>
                </a:solidFill>
                <a:latin typeface="Arial"/>
              </a:rPr>
              <a:t>GPT-5.2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104264" y="8257547"/>
            <a:ext cx="2755319" cy="904649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0">
                <a:solidFill>
                  <a:srgbClr val="1C1C1C"/>
                </a:solidFill>
                <a:latin typeface="Arial"/>
              </a:rPr>
              <a:t>18.37%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603858" y="9044199"/>
            <a:ext cx="5665418" cy="904649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7D2860"/>
                </a:solidFill>
                <a:latin typeface="Arial"/>
              </a:rPr>
              <a:t>Claude-sonnet-4.5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9104264" y="9044199"/>
            <a:ext cx="2755319" cy="904649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7D2860"/>
                </a:solidFill>
                <a:latin typeface="Arial"/>
              </a:rPr>
              <a:t>32.87%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1993453" y="14071069"/>
            <a:ext cx="7859836" cy="766394"/>
          </a:xfrm>
          <a:prstGeom prst="rect">
            <a:avLst/>
          </a:prstGeom>
          <a:noFill/>
        </p:spPr>
        <p:txBody>
          <a:bodyPr wrap="non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DOMAIN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9624362" y="14071069"/>
            <a:ext cx="2869951" cy="766394"/>
          </a:xfrm>
          <a:prstGeom prst="rect">
            <a:avLst/>
          </a:prstGeom>
          <a:noFill/>
        </p:spPr>
        <p:txBody>
          <a:bodyPr wrap="non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SHARE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993453" y="14737499"/>
            <a:ext cx="7859836" cy="1025796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Government &amp; Admin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9624362" y="14737499"/>
            <a:ext cx="2869951" cy="1025796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27.5%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993453" y="15629496"/>
            <a:ext cx="7859836" cy="1025794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Health &amp; Social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9624362" y="15629496"/>
            <a:ext cx="2869951" cy="1025794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20.8%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993453" y="16521491"/>
            <a:ext cx="7859836" cy="1025796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Environment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624362" y="16521491"/>
            <a:ext cx="2869951" cy="1025796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17.5%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993453" y="17413488"/>
            <a:ext cx="7859836" cy="1025794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Education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9624362" y="17413488"/>
            <a:ext cx="2869951" cy="1025794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11.5%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606122" y="17599474"/>
            <a:ext cx="1298196" cy="5910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13.12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038509" y="17713746"/>
            <a:ext cx="1553210" cy="1387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avg reasoning hops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993453" y="18305483"/>
            <a:ext cx="7859836" cy="1025796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Economy &amp; Infra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9624362" y="18305483"/>
            <a:ext cx="2869951" cy="1025796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9.6%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606122" y="19166085"/>
            <a:ext cx="1763624" cy="591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45.93%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0490380" y="19280355"/>
            <a:ext cx="1087783" cy="1387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best EM on mini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8606122" y="20732693"/>
            <a:ext cx="1013916" cy="5910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40M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9762504" y="20846966"/>
            <a:ext cx="1837495" cy="925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docs · ~9.5 TB</a:t>
            </a:r>
          </a:p>
        </p:txBody>
      </p:sp>
      <p:pic>
        <p:nvPicPr>
          <p:cNvPr id="151" name="Picture 150" descr="eq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35570" y="14620550"/>
            <a:ext cx="6112227" cy="75228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