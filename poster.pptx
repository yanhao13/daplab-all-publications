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307238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1887" y="651887"/>
            <a:ext cx="49902625" cy="4819630"/>
          </a:xfrm>
          <a:prstGeom prst="roundRect">
            <a:avLst>
              <a:gd name="adj" fmla="val 2951"/>
            </a:avLst>
          </a:prstGeom>
          <a:solidFill>
            <a:srgbClr val="F4E6EF"/>
          </a:solidFill>
          <a:ln>
            <a:noFill/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1887" y="5992971"/>
            <a:ext cx="10804961" cy="11486991"/>
          </a:xfrm>
          <a:prstGeom prst="rect">
            <a:avLst/>
          </a:prstGeom>
          <a:solidFill>
            <a:srgbClr val="FFFFFF"/>
          </a:solidFill>
          <a:ln w="35560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3568" y="5992971"/>
            <a:ext cx="13506133" cy="14032865"/>
          </a:xfrm>
          <a:prstGeom prst="rect">
            <a:avLst/>
          </a:prstGeom>
          <a:solidFill>
            <a:srgbClr val="FFFFFF"/>
          </a:solidFill>
          <a:ln w="35560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816421" y="5992971"/>
            <a:ext cx="13506271" cy="6502618"/>
          </a:xfrm>
          <a:prstGeom prst="rect">
            <a:avLst/>
          </a:prstGeom>
          <a:solidFill>
            <a:srgbClr val="FFFFFF"/>
          </a:solidFill>
          <a:ln w="35560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9749412" y="5992971"/>
            <a:ext cx="10804962" cy="11191260"/>
          </a:xfrm>
          <a:prstGeom prst="rect">
            <a:avLst/>
          </a:prstGeom>
          <a:solidFill>
            <a:srgbClr val="FFFFFF"/>
          </a:solidFill>
          <a:ln w="35560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816421" y="12827436"/>
            <a:ext cx="13506271" cy="8170049"/>
          </a:xfrm>
          <a:prstGeom prst="rect">
            <a:avLst/>
          </a:prstGeom>
          <a:solidFill>
            <a:srgbClr val="FFFFFF"/>
          </a:solidFill>
          <a:ln w="35560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9749412" y="17516078"/>
            <a:ext cx="10804962" cy="6077009"/>
          </a:xfrm>
          <a:prstGeom prst="rect">
            <a:avLst/>
          </a:prstGeom>
          <a:solidFill>
            <a:srgbClr val="FFFFFF"/>
          </a:solidFill>
          <a:ln w="35560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1887" y="17811809"/>
            <a:ext cx="10804961" cy="12260143"/>
          </a:xfrm>
          <a:prstGeom prst="rect">
            <a:avLst/>
          </a:prstGeom>
          <a:solidFill>
            <a:srgbClr val="FFFFFF"/>
          </a:solidFill>
          <a:ln w="35560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883568" y="20357683"/>
            <a:ext cx="13506133" cy="9714269"/>
          </a:xfrm>
          <a:prstGeom prst="rect">
            <a:avLst/>
          </a:prstGeom>
          <a:solidFill>
            <a:srgbClr val="FFFFFF"/>
          </a:solidFill>
          <a:ln w="35560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816421" y="21329332"/>
            <a:ext cx="13506271" cy="8742620"/>
          </a:xfrm>
          <a:prstGeom prst="rect">
            <a:avLst/>
          </a:prstGeom>
          <a:solidFill>
            <a:srgbClr val="FFFFFF"/>
          </a:solidFill>
          <a:ln w="35560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49412" y="23924934"/>
            <a:ext cx="10804962" cy="6147018"/>
          </a:xfrm>
          <a:prstGeom prst="rect">
            <a:avLst/>
          </a:prstGeom>
          <a:solidFill>
            <a:srgbClr val="F6ECF1"/>
          </a:solidFill>
          <a:ln>
            <a:noFill/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749412" y="23924934"/>
            <a:ext cx="10804962" cy="35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518814" y="23924934"/>
            <a:ext cx="35560" cy="614701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749412" y="30036392"/>
            <a:ext cx="10804962" cy="35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749412" y="23924934"/>
            <a:ext cx="53340" cy="6147018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66661" y="7658179"/>
            <a:ext cx="9975413" cy="4601825"/>
          </a:xfrm>
          <a:prstGeom prst="roundRect">
            <a:avLst>
              <a:gd name="adj" fmla="val 3966"/>
            </a:avLst>
          </a:prstGeom>
          <a:solidFill>
            <a:srgbClr val="F5E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66661" y="7658179"/>
            <a:ext cx="124460" cy="4601825"/>
          </a:xfrm>
          <a:prstGeom prst="rect">
            <a:avLst/>
          </a:prstGeom>
          <a:solidFill>
            <a:srgbClr val="AE26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6231195" y="8979177"/>
            <a:ext cx="12676723" cy="2325985"/>
          </a:xfrm>
          <a:prstGeom prst="roundRect">
            <a:avLst>
              <a:gd name="adj" fmla="val 8969"/>
            </a:avLst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164186" y="12225694"/>
            <a:ext cx="9975414" cy="283702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164186" y="12225694"/>
            <a:ext cx="124460" cy="2837021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231195" y="14693086"/>
            <a:ext cx="12676723" cy="1647984"/>
          </a:xfrm>
          <a:prstGeom prst="roundRect">
            <a:avLst>
              <a:gd name="adj" fmla="val 12659"/>
            </a:avLst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164186" y="15132169"/>
            <a:ext cx="9975414" cy="156797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164186" y="15132169"/>
            <a:ext cx="9975414" cy="11557"/>
          </a:xfrm>
          <a:prstGeom prst="rect">
            <a:avLst/>
          </a:prstGeom>
          <a:solidFill>
            <a:srgbClr val="D2B4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0164186" y="19033212"/>
            <a:ext cx="9975414" cy="4231501"/>
          </a:xfrm>
          <a:prstGeom prst="roundRect">
            <a:avLst>
              <a:gd name="adj" fmla="val 1680"/>
            </a:avLst>
          </a:prstGeom>
          <a:gradFill rotWithShape="1" flip="none">
            <a:gsLst>
              <a:gs pos="0">
                <a:srgbClr val="EFE5EC"/>
              </a:gs>
              <a:gs pos="100000">
                <a:srgbClr val="F7F2F5"/>
              </a:gs>
            </a:gsLst>
            <a:lin ang="5400000" scaled="0"/>
          </a:gradFill>
          <a:ln w="8890">
            <a:solidFill>
              <a:srgbClr val="DEC9D7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0181966" y="25442068"/>
            <a:ext cx="9957634" cy="4302621"/>
          </a:xfrm>
          <a:prstGeom prst="roundRect">
            <a:avLst>
              <a:gd name="adj" fmla="val 4848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6231195" y="6407745"/>
            <a:ext cx="657026" cy="657026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49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231195" y="7464821"/>
            <a:ext cx="1867733" cy="1514356"/>
          </a:xfrm>
          <a:prstGeom prst="roundRect">
            <a:avLst>
              <a:gd name="adj" fmla="val 9884"/>
            </a:avLst>
          </a:prstGeom>
          <a:solidFill>
            <a:srgbClr val="FFFFFF"/>
          </a:solidFill>
          <a:ln w="8890">
            <a:solidFill>
              <a:srgbClr val="CEAD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933338" y="7774860"/>
            <a:ext cx="1867872" cy="894279"/>
          </a:xfrm>
          <a:prstGeom prst="roundRect">
            <a:avLst>
              <a:gd name="adj" fmla="val 16737"/>
            </a:avLst>
          </a:prstGeom>
          <a:solidFill>
            <a:srgbClr val="FFFFFF"/>
          </a:solidFill>
          <a:ln w="8890">
            <a:solidFill>
              <a:srgbClr val="CEAD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67" b="1">
                <a:solidFill>
                  <a:srgbClr val="7D2860"/>
                </a:solidFill>
                <a:latin typeface="Arial"/>
              </a:rPr>
              <a:t>Invoke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35620" y="7774860"/>
            <a:ext cx="1867734" cy="894279"/>
          </a:xfrm>
          <a:prstGeom prst="roundRect">
            <a:avLst>
              <a:gd name="adj" fmla="val 16737"/>
            </a:avLst>
          </a:prstGeom>
          <a:solidFill>
            <a:srgbClr val="FFFFFF"/>
          </a:solidFill>
          <a:ln w="8890">
            <a:solidFill>
              <a:srgbClr val="CEAD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67" b="1">
                <a:solidFill>
                  <a:srgbClr val="7D2860"/>
                </a:solidFill>
                <a:latin typeface="Arial"/>
              </a:rPr>
              <a:t>Execute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337763" y="7774860"/>
            <a:ext cx="1867873" cy="894279"/>
          </a:xfrm>
          <a:prstGeom prst="roundRect">
            <a:avLst>
              <a:gd name="adj" fmla="val 16737"/>
            </a:avLst>
          </a:prstGeom>
          <a:solidFill>
            <a:srgbClr val="FFFFFF"/>
          </a:solidFill>
          <a:ln w="8890">
            <a:solidFill>
              <a:srgbClr val="CEAD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67" b="1">
                <a:solidFill>
                  <a:srgbClr val="7D2860"/>
                </a:solidFill>
                <a:latin typeface="Arial"/>
              </a:rPr>
              <a:t>Test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040046" y="7774860"/>
            <a:ext cx="1867872" cy="894279"/>
          </a:xfrm>
          <a:prstGeom prst="roundRect">
            <a:avLst>
              <a:gd name="adj" fmla="val 16737"/>
            </a:avLst>
          </a:prstGeom>
          <a:solidFill>
            <a:srgbClr val="FFFFFF"/>
          </a:solidFill>
          <a:ln w="8890">
            <a:solidFill>
              <a:srgbClr val="CEAD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67" b="1">
                <a:solidFill>
                  <a:srgbClr val="7D2860"/>
                </a:solidFill>
                <a:latin typeface="Arial"/>
              </a:rPr>
              <a:t>Submit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488505" y="7785417"/>
            <a:ext cx="12296259" cy="11159173"/>
          </a:xfrm>
          <a:prstGeom prst="roundRect">
            <a:avLst>
              <a:gd name="adj" fmla="val 318"/>
            </a:avLst>
          </a:prstGeom>
          <a:solidFill>
            <a:srgbClr val="FFFFFF"/>
          </a:solidFill>
          <a:ln w="889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igur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8505" y="7786207"/>
            <a:ext cx="12296259" cy="11157592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1556166" y="7814587"/>
            <a:ext cx="1589088" cy="638691"/>
          </a:xfrm>
          <a:prstGeom prst="roundRect">
            <a:avLst>
              <a:gd name="adj" fmla="val 14290"/>
            </a:avLst>
          </a:prstGeom>
          <a:solidFill>
            <a:srgbClr val="AE2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874" b="1">
                <a:solidFill>
                  <a:srgbClr val="FFFFFF"/>
                </a:solidFill>
                <a:latin typeface="Arial"/>
              </a:rPr>
              <a:t>STALE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231195" y="13543359"/>
            <a:ext cx="657026" cy="657026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49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992" y="19255462"/>
            <a:ext cx="4172743" cy="388187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992" y="19255462"/>
            <a:ext cx="11557" cy="3881874"/>
          </a:xfrm>
          <a:prstGeom prst="rect">
            <a:avLst/>
          </a:prstGeom>
          <a:solidFill>
            <a:srgbClr val="DEC9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66661" y="19328943"/>
            <a:ext cx="3654762" cy="819825"/>
          </a:xfrm>
          <a:prstGeom prst="roundRect">
            <a:avLst>
              <a:gd name="adj" fmla="val 50000"/>
            </a:avLst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90" b="1">
                <a:solidFill>
                  <a:srgbClr val="7D2860"/>
                </a:solidFill>
                <a:latin typeface="Arial"/>
              </a:rPr>
              <a:t>6,000+ crashes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77831" y="19328943"/>
            <a:ext cx="3468073" cy="819825"/>
          </a:xfrm>
          <a:prstGeom prst="roundRect">
            <a:avLst>
              <a:gd name="adj" fmla="val 50000"/>
            </a:avLst>
          </a:prstGeom>
          <a:solidFill>
            <a:srgbClr val="F7E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90" b="1">
                <a:solidFill>
                  <a:srgbClr val="AE2622"/>
                </a:solidFill>
                <a:latin typeface="Arial"/>
              </a:rPr>
              <a:t>CVE-assigned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6661" y="20305176"/>
            <a:ext cx="3319859" cy="819825"/>
          </a:xfrm>
          <a:prstGeom prst="roundRect">
            <a:avLst>
              <a:gd name="adj" fmla="val 50000"/>
            </a:avLst>
          </a:prstGeom>
          <a:solidFill>
            <a:srgbClr val="EAE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90" b="1">
                <a:solidFill>
                  <a:srgbClr val="555555"/>
                </a:solidFill>
                <a:latin typeface="Arial"/>
              </a:rPr>
              <a:t>30 min / build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42928" y="20305176"/>
            <a:ext cx="4551125" cy="819825"/>
          </a:xfrm>
          <a:prstGeom prst="roundRect">
            <a:avLst>
              <a:gd name="adj" fmla="val 50000"/>
            </a:avLst>
          </a:prstGeom>
          <a:solidFill>
            <a:srgbClr val="EAE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90" b="1">
                <a:solidFill>
                  <a:srgbClr val="555555"/>
                </a:solidFill>
                <a:latin typeface="Arial"/>
              </a:rPr>
              <a:t>data contamination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2298342" y="21073606"/>
            <a:ext cx="657027" cy="657026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49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231195" y="22045255"/>
            <a:ext cx="657026" cy="657026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49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2298342" y="22512952"/>
            <a:ext cx="3369866" cy="819825"/>
          </a:xfrm>
          <a:prstGeom prst="roundRect">
            <a:avLst>
              <a:gd name="adj" fmla="val 50000"/>
            </a:avLst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90" b="1">
                <a:solidFill>
                  <a:srgbClr val="7D2860"/>
                </a:solidFill>
                <a:latin typeface="Arial"/>
              </a:rPr>
              <a:t>crash context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5824616" y="22512952"/>
            <a:ext cx="3246239" cy="819825"/>
          </a:xfrm>
          <a:prstGeom prst="roundRect">
            <a:avLst>
              <a:gd name="adj" fmla="val 50000"/>
            </a:avLst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90" b="1">
                <a:solidFill>
                  <a:srgbClr val="7D2860"/>
                </a:solidFill>
                <a:latin typeface="Arial"/>
              </a:rPr>
              <a:t>Linux source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227264" y="22512952"/>
            <a:ext cx="3788251" cy="819825"/>
          </a:xfrm>
          <a:prstGeom prst="roundRect">
            <a:avLst>
              <a:gd name="adj" fmla="val 50000"/>
            </a:avLst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90" b="1">
                <a:solidFill>
                  <a:srgbClr val="7D2860"/>
                </a:solidFill>
                <a:latin typeface="Arial"/>
              </a:rPr>
              <a:t>run_kernel CRF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6231195" y="23194982"/>
            <a:ext cx="4051756" cy="1604923"/>
          </a:xfrm>
          <a:prstGeom prst="roundRect">
            <a:avLst>
              <a:gd name="adj" fmla="val 16248"/>
            </a:avLst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0543678" y="23194982"/>
            <a:ext cx="4051757" cy="1604923"/>
          </a:xfrm>
          <a:prstGeom prst="roundRect">
            <a:avLst>
              <a:gd name="adj" fmla="val 16248"/>
            </a:avLst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4856162" y="23194982"/>
            <a:ext cx="4051756" cy="1604923"/>
          </a:xfrm>
          <a:prstGeom prst="roundRect">
            <a:avLst>
              <a:gd name="adj" fmla="val 16248"/>
            </a:avLst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2298342" y="23489185"/>
            <a:ext cx="3936325" cy="819825"/>
          </a:xfrm>
          <a:prstGeom prst="roundRect">
            <a:avLst>
              <a:gd name="adj" fmla="val 50000"/>
            </a:avLst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90" b="1">
                <a:solidFill>
                  <a:srgbClr val="7D2860"/>
                </a:solidFill>
                <a:latin typeface="Arial"/>
              </a:rPr>
              <a:t>agent Dockerfile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0164186" y="10488255"/>
            <a:ext cx="9975414" cy="1663541"/>
          </a:xfrm>
          <a:prstGeom prst="rect">
            <a:avLst/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6231195" y="16341070"/>
            <a:ext cx="703977" cy="703977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696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231195" y="17532469"/>
            <a:ext cx="703977" cy="703976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696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6231195" y="18723867"/>
            <a:ext cx="703977" cy="703977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696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231195" y="19915266"/>
            <a:ext cx="703977" cy="703977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696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0164186" y="7579558"/>
            <a:ext cx="3694490" cy="1245156"/>
          </a:xfrm>
          <a:prstGeom prst="rect">
            <a:avLst/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0164186" y="8815824"/>
            <a:ext cx="3694490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858676" y="7579558"/>
            <a:ext cx="2928282" cy="1245156"/>
          </a:xfrm>
          <a:prstGeom prst="rect">
            <a:avLst/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858676" y="8815824"/>
            <a:ext cx="2928282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6786958" y="7579558"/>
            <a:ext cx="3352642" cy="1245156"/>
          </a:xfrm>
          <a:prstGeom prst="rect">
            <a:avLst/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786958" y="8815824"/>
            <a:ext cx="3352642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0164186" y="8824714"/>
            <a:ext cx="3694490" cy="166354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164186" y="10479365"/>
            <a:ext cx="3694490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858676" y="8824714"/>
            <a:ext cx="2928282" cy="166354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3858676" y="10479365"/>
            <a:ext cx="2928282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6786958" y="8824714"/>
            <a:ext cx="3352642" cy="166354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6786958" y="10479365"/>
            <a:ext cx="3352642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0164186" y="10488255"/>
            <a:ext cx="3694490" cy="166354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0164186" y="12142906"/>
            <a:ext cx="3694490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3858676" y="10488255"/>
            <a:ext cx="2928282" cy="166354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3858676" y="12142906"/>
            <a:ext cx="2928282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6786958" y="10488255"/>
            <a:ext cx="3352642" cy="166354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6786958" y="12142906"/>
            <a:ext cx="3352642" cy="11557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556166" y="8750677"/>
            <a:ext cx="8269787" cy="15341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0">
                <a:solidFill>
                  <a:srgbClr val="1C1C1C"/>
                </a:solidFill>
                <a:latin typeface="Arial"/>
              </a:rPr>
              <a:t>Static data overstates kernel-crash repair by up to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56166" y="11436290"/>
            <a:ext cx="149368" cy="6645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0">
                <a:solidFill>
                  <a:srgbClr val="1C1C1C"/>
                </a:solidFill>
                <a:latin typeface="Arial"/>
              </a:rPr>
              <a:t>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20847" y="983734"/>
            <a:ext cx="12104012" cy="47793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5973" b="1" spc="59">
                <a:solidFill>
                  <a:srgbClr val="7D2860"/>
                </a:solidFill>
                <a:latin typeface="Arial"/>
              </a:rPr>
              <a:t>ICML 2026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3446402" y="983734"/>
            <a:ext cx="24740176" cy="25188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8624"/>
              </a:lnSpc>
              <a:spcBef>
                <a:spcPts val="0"/>
              </a:spcBef>
              <a:spcAft>
                <a:spcPts val="0"/>
              </a:spcAft>
            </a:pPr>
            <a:r>
              <a:rPr sz="7840" b="1" spc="-78">
                <a:solidFill>
                  <a:srgbClr val="7D2860"/>
                </a:solidFill>
                <a:latin typeface="Arial"/>
              </a:rPr>
              <a:t>Outrunning LLM Cutoffs: A Live Kernel Crash</a:t>
            </a:r>
          </a:p>
          <a:p>
            <a:pPr algn="ctr">
              <a:lnSpc>
                <a:spcPts val="8624"/>
              </a:lnSpc>
              <a:spcBef>
                <a:spcPts val="0"/>
              </a:spcBef>
              <a:spcAft>
                <a:spcPts val="0"/>
              </a:spcAft>
            </a:pPr>
            <a:r>
              <a:rPr sz="7840" b="1" spc="-78">
                <a:solidFill>
                  <a:srgbClr val="7D2860"/>
                </a:solidFill>
                <a:latin typeface="Arial"/>
              </a:rPr>
              <a:t>Resolution Benchmark for All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446402" y="3373060"/>
            <a:ext cx="24740176" cy="1417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4853"/>
              </a:lnSpc>
              <a:spcBef>
                <a:spcPts val="0"/>
              </a:spcBef>
              <a:spcAft>
                <a:spcPts val="0"/>
              </a:spcAft>
            </a:pPr>
            <a:r>
              <a:rPr sz="3733" b="0">
                <a:solidFill>
                  <a:srgbClr val="1B2331"/>
                </a:solidFill>
                <a:latin typeface="Arial"/>
              </a:rPr>
              <a:t>Chenxi Huang</a:t>
            </a:r>
            <a:r>
              <a:rPr sz="5226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733" b="0">
                <a:solidFill>
                  <a:srgbClr val="1B2331"/>
                </a:solidFill>
                <a:latin typeface="Arial"/>
              </a:rPr>
              <a:t>, Alex Mathai</a:t>
            </a:r>
            <a:r>
              <a:rPr sz="5226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733" b="0">
                <a:solidFill>
                  <a:srgbClr val="1B2331"/>
                </a:solidFill>
                <a:latin typeface="Arial"/>
              </a:rPr>
              <a:t>, Feiyang Yu</a:t>
            </a:r>
            <a:r>
              <a:rPr sz="5226" b="0" baseline="30000">
                <a:solidFill>
                  <a:srgbClr val="1B2331"/>
                </a:solidFill>
                <a:latin typeface="Arial"/>
              </a:rPr>
              <a:t>2</a:t>
            </a:r>
            <a:r>
              <a:rPr sz="3733" b="0">
                <a:solidFill>
                  <a:srgbClr val="1B2331"/>
                </a:solidFill>
                <a:latin typeface="Arial"/>
              </a:rPr>
              <a:t>, Aleksandr Nogikh</a:t>
            </a:r>
            <a:r>
              <a:rPr sz="5226" b="0" baseline="30000">
                <a:solidFill>
                  <a:srgbClr val="1B2331"/>
                </a:solidFill>
                <a:latin typeface="Arial"/>
              </a:rPr>
              <a:t>3</a:t>
            </a:r>
            <a:r>
              <a:rPr sz="3733" b="0">
                <a:solidFill>
                  <a:srgbClr val="1B2331"/>
                </a:solidFill>
                <a:latin typeface="Arial"/>
              </a:rPr>
              <a:t>, Petros Maniatis</a:t>
            </a:r>
            <a:r>
              <a:rPr sz="5226" b="0" baseline="30000">
                <a:solidFill>
                  <a:srgbClr val="1B2331"/>
                </a:solidFill>
                <a:latin typeface="Arial"/>
              </a:rPr>
              <a:t>4</a:t>
            </a:r>
            <a:r>
              <a:rPr sz="3733" b="0">
                <a:solidFill>
                  <a:srgbClr val="1B2331"/>
                </a:solidFill>
                <a:latin typeface="Arial"/>
              </a:rPr>
              <a:t>, Franjo Ivančić</a:t>
            </a:r>
            <a:r>
              <a:rPr sz="5226" b="0" baseline="30000">
                <a:solidFill>
                  <a:srgbClr val="1B2331"/>
                </a:solidFill>
                <a:latin typeface="Arial"/>
              </a:rPr>
              <a:t>3</a:t>
            </a:r>
            <a:r>
              <a:rPr sz="3733" b="0">
                <a:solidFill>
                  <a:srgbClr val="1B2331"/>
                </a:solidFill>
                <a:latin typeface="Arial"/>
              </a:rPr>
              <a:t>, Eugene Wu</a:t>
            </a:r>
            <a:r>
              <a:rPr sz="5226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733" b="0">
                <a:solidFill>
                  <a:srgbClr val="1B2331"/>
                </a:solidFill>
                <a:latin typeface="Arial"/>
              </a:rPr>
              <a:t>, Kostis Kaffes</a:t>
            </a:r>
            <a:r>
              <a:rPr sz="5226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733" b="0">
                <a:solidFill>
                  <a:srgbClr val="1B2331"/>
                </a:solidFill>
                <a:latin typeface="Arial"/>
              </a:rPr>
              <a:t>, Junfeng Yang</a:t>
            </a:r>
            <a:r>
              <a:rPr sz="5226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733" b="0">
                <a:solidFill>
                  <a:srgbClr val="1B2331"/>
                </a:solidFill>
                <a:latin typeface="Arial"/>
              </a:rPr>
              <a:t>, Baishakhi Ray</a:t>
            </a:r>
            <a:r>
              <a:rPr sz="5226" b="0" baseline="30000">
                <a:solidFill>
                  <a:srgbClr val="1B2331"/>
                </a:solidFill>
                <a:latin typeface="Arial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3446402" y="4658498"/>
            <a:ext cx="24740176" cy="5533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789"/>
              </a:lnSpc>
              <a:spcBef>
                <a:spcPts val="0"/>
              </a:spcBef>
              <a:spcAft>
                <a:spcPts val="0"/>
              </a:spcAft>
            </a:pPr>
            <a:r>
              <a:rPr sz="2268" b="0" spc="52" baseline="30000">
                <a:solidFill>
                  <a:srgbClr val="55617A"/>
                </a:solidFill>
                <a:latin typeface="Arial"/>
              </a:rPr>
              <a:t>1</a:t>
            </a:r>
            <a:r>
              <a:rPr sz="2613" b="0" spc="52">
                <a:solidFill>
                  <a:srgbClr val="55617A"/>
                </a:solidFill>
                <a:latin typeface="Arial"/>
              </a:rPr>
              <a:t> Columbia University    </a:t>
            </a:r>
            <a:r>
              <a:rPr sz="3658" b="0" spc="52" baseline="30000">
                <a:solidFill>
                  <a:srgbClr val="55617A"/>
                </a:solidFill>
                <a:latin typeface="Arial"/>
              </a:rPr>
              <a:t>2</a:t>
            </a:r>
            <a:r>
              <a:rPr sz="2613" b="0" spc="52">
                <a:solidFill>
                  <a:srgbClr val="55617A"/>
                </a:solidFill>
                <a:latin typeface="Arial"/>
              </a:rPr>
              <a:t> New York University    </a:t>
            </a:r>
            <a:r>
              <a:rPr sz="3658" b="0" spc="52" baseline="30000">
                <a:solidFill>
                  <a:srgbClr val="55617A"/>
                </a:solidFill>
                <a:latin typeface="Arial"/>
              </a:rPr>
              <a:t>3</a:t>
            </a:r>
            <a:r>
              <a:rPr sz="2613" b="0" spc="52">
                <a:solidFill>
                  <a:srgbClr val="55617A"/>
                </a:solidFill>
                <a:latin typeface="Arial"/>
              </a:rPr>
              <a:t> Google    </a:t>
            </a:r>
            <a:r>
              <a:rPr sz="3658" b="0" spc="52" baseline="30000">
                <a:solidFill>
                  <a:srgbClr val="55617A"/>
                </a:solidFill>
                <a:latin typeface="Arial"/>
              </a:rPr>
              <a:t>4</a:t>
            </a:r>
            <a:r>
              <a:rPr sz="2613" b="0" spc="52">
                <a:solidFill>
                  <a:srgbClr val="55617A"/>
                </a:solidFill>
                <a:latin typeface="Arial"/>
              </a:rPr>
              <a:t> Google DeepMind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6661" y="6407745"/>
            <a:ext cx="10274675" cy="899667"/>
          </a:xfrm>
          <a:prstGeom prst="rect">
            <a:avLst/>
          </a:prstGeom>
          <a:noFill/>
        </p:spPr>
        <p:txBody>
          <a:bodyPr wrap="square" lIns="0" rIns="3911600" tIns="0" bIns="0">
            <a:spAutoFit/>
          </a:bodyPr>
          <a:lstStyle/>
          <a:p>
            <a:pPr algn="l">
              <a:lnSpc>
                <a:spcPts val="616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spc="56">
                <a:solidFill>
                  <a:srgbClr val="111111"/>
                </a:solidFill>
                <a:latin typeface="Arial"/>
              </a:rPr>
              <a:t>PROBLEM 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298342" y="6407745"/>
            <a:ext cx="13056882" cy="899667"/>
          </a:xfrm>
          <a:prstGeom prst="rect">
            <a:avLst/>
          </a:prstGeom>
          <a:noFill/>
        </p:spPr>
        <p:txBody>
          <a:bodyPr wrap="none" lIns="0" rIns="3911600" tIns="0" bIns="0">
            <a:spAutoFit/>
          </a:bodyPr>
          <a:lstStyle/>
          <a:p>
            <a:pPr algn="l">
              <a:lnSpc>
                <a:spcPts val="616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spc="56">
                <a:solidFill>
                  <a:srgbClr val="111111"/>
                </a:solidFill>
                <a:latin typeface="Arial"/>
              </a:rPr>
              <a:t>METHOD 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164186" y="6407745"/>
            <a:ext cx="10274676" cy="899667"/>
          </a:xfrm>
          <a:prstGeom prst="rect">
            <a:avLst/>
          </a:prstGeom>
          <a:noFill/>
        </p:spPr>
        <p:txBody>
          <a:bodyPr wrap="square" lIns="0" rIns="3911600" tIns="0" bIns="0">
            <a:spAutoFit/>
          </a:bodyPr>
          <a:lstStyle/>
          <a:p>
            <a:pPr algn="l">
              <a:lnSpc>
                <a:spcPts val="616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spc="56">
                <a:solidFill>
                  <a:srgbClr val="111111"/>
                </a:solidFill>
                <a:latin typeface="Arial"/>
              </a:rPr>
              <a:t>KEY RESULTS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6231195" y="8979177"/>
            <a:ext cx="13057024" cy="2674882"/>
          </a:xfrm>
          <a:prstGeom prst="rect">
            <a:avLst/>
          </a:prstGeom>
          <a:noFill/>
        </p:spPr>
        <p:txBody>
          <a:bodyPr wrap="square" lIns="339005" rIns="339005" tIns="146033" bIns="146033">
            <a:spAutoFit/>
          </a:bodyPr>
          <a:lstStyle/>
          <a:p>
            <a:pPr algn="l">
              <a:lnSpc>
                <a:spcPts val="5338"/>
              </a:lnSpc>
              <a:spcBef>
                <a:spcPts val="0"/>
              </a:spcBef>
              <a:spcAft>
                <a:spcPts val="0"/>
              </a:spcAft>
            </a:pPr>
            <a:r>
              <a:rPr sz="4106" b="0">
                <a:solidFill>
                  <a:srgbClr val="7D2860"/>
                </a:solidFill>
                <a:latin typeface="Arial"/>
              </a:rPr>
              <a:t>run_kernel submits the agent’s git diff and returns crash resolved, crash reproduced (new stack trace), or compilation error.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164186" y="12225694"/>
            <a:ext cx="10274676" cy="3262574"/>
          </a:xfrm>
          <a:prstGeom prst="rect">
            <a:avLst/>
          </a:prstGeom>
          <a:noFill/>
        </p:spPr>
        <p:txBody>
          <a:bodyPr wrap="square" lIns="365082" rIns="365082" tIns="62585" bIns="62585">
            <a:spAutoFit/>
          </a:bodyPr>
          <a:lstStyle/>
          <a:p>
            <a:pPr algn="l">
              <a:lnSpc>
                <a:spcPts val="5338"/>
              </a:lnSpc>
              <a:spcBef>
                <a:spcPts val="0"/>
              </a:spcBef>
              <a:spcAft>
                <a:spcPts val="0"/>
              </a:spcAft>
            </a:pPr>
            <a:r>
              <a:rPr sz="4106" b="0" i="1">
                <a:solidFill>
                  <a:srgbClr val="1C1C1C"/>
                </a:solidFill>
                <a:latin typeface="Arial"/>
              </a:rPr>
              <a:t>−25 pts EPR: static benchmarks overstate patch equivalence by up to 25 pts (pre vs post knowledge-cutoff bugs).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6661" y="12408078"/>
            <a:ext cx="10274675" cy="52178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0">
                <a:solidFill>
                  <a:srgbClr val="1C1C1C"/>
                </a:solidFill>
                <a:latin typeface="Arial"/>
              </a:rPr>
              <a:t>Existing LLM-agent benchmarks for Linux kernel crash resolution are static and manually curated — they miss the kernel’s constant evolution and are vulnerable to data contamination from LLM knowledge cutoffs — old fixes get memorized.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31195" y="14693086"/>
            <a:ext cx="13057024" cy="1895181"/>
          </a:xfrm>
          <a:prstGeom prst="rect">
            <a:avLst/>
          </a:prstGeom>
          <a:noFill/>
        </p:spPr>
        <p:txBody>
          <a:bodyPr wrap="square" lIns="339005" rIns="339005" tIns="146033" bIns="146033">
            <a:spAutoFit/>
          </a:bodyPr>
          <a:lstStyle/>
          <a:p>
            <a:pPr algn="l">
              <a:lnSpc>
                <a:spcPts val="5338"/>
              </a:lnSpc>
              <a:spcBef>
                <a:spcPts val="0"/>
              </a:spcBef>
              <a:spcAft>
                <a:spcPts val="0"/>
              </a:spcAft>
            </a:pPr>
            <a:r>
              <a:rPr sz="4106" b="0">
                <a:solidFill>
                  <a:srgbClr val="7D2860"/>
                </a:solidFill>
                <a:latin typeface="Arial"/>
              </a:rPr>
              <a:t>534 bugs · 70 subsystems · 10 bug types (Jan 2025 cutoff).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164186" y="15132169"/>
            <a:ext cx="10274676" cy="1803168"/>
          </a:xfrm>
          <a:prstGeom prst="rect">
            <a:avLst/>
          </a:prstGeom>
          <a:noFill/>
        </p:spPr>
        <p:txBody>
          <a:bodyPr wrap="square" lIns="0" rIns="0" tIns="215920" bIns="0">
            <a:spAutoFit/>
          </a:bodyPr>
          <a:lstStyle/>
          <a:p>
            <a:pPr algn="l">
              <a:lnSpc>
                <a:spcPts val="5289"/>
              </a:lnSpc>
              <a:spcBef>
                <a:spcPts val="0"/>
              </a:spcBef>
              <a:spcAft>
                <a:spcPts val="0"/>
              </a:spcAft>
            </a:pPr>
            <a:r>
              <a:rPr sz="2946" b="1" spc="176">
                <a:solidFill>
                  <a:srgbClr val="111111"/>
                </a:solidFill>
                <a:latin typeface="Arial"/>
              </a:rPr>
              <a:t>SO WHAT → </a:t>
            </a:r>
            <a:r>
              <a:rPr sz="3778" b="0" i="1">
                <a:solidFill>
                  <a:srgbClr val="1C1C1C"/>
                </a:solidFill>
                <a:latin typeface="Arial"/>
              </a:rPr>
              <a:t>Only ~20% of patches truly match the developer’s fix.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164186" y="17930852"/>
            <a:ext cx="10274676" cy="899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616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spc="56">
                <a:solidFill>
                  <a:srgbClr val="111111"/>
                </a:solidFill>
                <a:latin typeface="Arial"/>
              </a:rPr>
              <a:t>HEADLINE NUMBERS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66661" y="18226583"/>
            <a:ext cx="10274675" cy="899667"/>
          </a:xfrm>
          <a:prstGeom prst="rect">
            <a:avLst/>
          </a:prstGeom>
          <a:noFill/>
        </p:spPr>
        <p:txBody>
          <a:bodyPr wrap="square" lIns="0" rIns="3911600" tIns="0" bIns="0">
            <a:spAutoFit/>
          </a:bodyPr>
          <a:lstStyle/>
          <a:p>
            <a:pPr algn="l">
              <a:lnSpc>
                <a:spcPts val="616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spc="56">
                <a:solidFill>
                  <a:srgbClr val="111111"/>
                </a:solidFill>
                <a:latin typeface="Arial"/>
              </a:rPr>
              <a:t>MOTIVATION 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181966" y="24339708"/>
            <a:ext cx="10256363" cy="899667"/>
          </a:xfrm>
          <a:prstGeom prst="rect">
            <a:avLst/>
          </a:prstGeom>
          <a:noFill/>
        </p:spPr>
        <p:txBody>
          <a:bodyPr wrap="square" lIns="0" rIns="3911600" tIns="0" bIns="0">
            <a:spAutoFit/>
          </a:bodyPr>
          <a:lstStyle/>
          <a:p>
            <a:pPr algn="l">
              <a:lnSpc>
                <a:spcPts val="616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spc="56">
                <a:solidFill>
                  <a:srgbClr val="111111"/>
                </a:solidFill>
                <a:latin typeface="Arial"/>
              </a:rPr>
              <a:t>TAKEAWAY 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0181966" y="25442068"/>
            <a:ext cx="10256363" cy="4948014"/>
          </a:xfrm>
          <a:prstGeom prst="rect">
            <a:avLst/>
          </a:prstGeom>
          <a:noFill/>
        </p:spPr>
        <p:txBody>
          <a:bodyPr wrap="square" lIns="365082" rIns="365082" tIns="156464" bIns="78232">
            <a:spAutoFit/>
          </a:bodyPr>
          <a:lstStyle/>
          <a:p>
            <a:pPr algn="l">
              <a:lnSpc>
                <a:spcPts val="5338"/>
              </a:lnSpc>
              <a:spcBef>
                <a:spcPts val="0"/>
              </a:spcBef>
              <a:spcAft>
                <a:spcPts val="0"/>
              </a:spcAft>
            </a:pPr>
            <a:r>
              <a:rPr sz="4106" b="1">
                <a:solidFill>
                  <a:srgbClr val="FFFFFF"/>
                </a:solidFill>
                <a:latin typeface="Arial"/>
              </a:rPr>
              <a:t>Static benchmarks overestimate kernel-crash repair by up to 25%; a live, time-aware benchmark is required to measure — and drive — real progress. The 74%-vs-~20% gap is the field’s open problem.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07137" y="6421358"/>
            <a:ext cx="6895997" cy="7241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958"/>
              </a:lnSpc>
              <a:spcBef>
                <a:spcPts val="0"/>
              </a:spcBef>
              <a:spcAft>
                <a:spcPts val="0"/>
              </a:spcAft>
            </a:pPr>
            <a:r>
              <a:rPr sz="4312" b="1">
                <a:solidFill>
                  <a:srgbClr val="7D2860"/>
                </a:solidFill>
                <a:latin typeface="Arial"/>
              </a:rPr>
              <a:t>CRF: run_kernel Interface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040198" y="6541095"/>
            <a:ext cx="2953751" cy="448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4"/>
              </a:lnSpc>
              <a:spcBef>
                <a:spcPts val="0"/>
              </a:spcBef>
              <a:spcAft>
                <a:spcPts val="0"/>
              </a:spcAft>
            </a:pPr>
            <a:r>
              <a:rPr sz="2673" b="1" i="1">
                <a:solidFill>
                  <a:srgbClr val="555555"/>
                </a:solidFill>
                <a:latin typeface="Arial"/>
              </a:rPr>
              <a:t>Uniform feedback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31195" y="7464821"/>
            <a:ext cx="1923764" cy="1741509"/>
          </a:xfrm>
          <a:prstGeom prst="rect">
            <a:avLst/>
          </a:prstGeom>
          <a:noFill/>
        </p:spPr>
        <p:txBody>
          <a:bodyPr wrap="square" lIns="85533" rIns="85533" tIns="128300" bIns="128300">
            <a:spAutoFit/>
          </a:bodyPr>
          <a:lstStyle/>
          <a:p>
            <a:pPr algn="ctr">
              <a:lnSpc>
                <a:spcPts val="4882"/>
              </a:lnSpc>
              <a:spcBef>
                <a:spcPts val="0"/>
              </a:spcBef>
              <a:spcAft>
                <a:spcPts val="0"/>
              </a:spcAft>
            </a:pPr>
            <a:r>
              <a:rPr sz="3367" b="1">
                <a:solidFill>
                  <a:srgbClr val="7D2860"/>
                </a:solidFill>
                <a:latin typeface="Arial"/>
              </a:rPr>
              <a:t>Bring-up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255337" y="7843897"/>
            <a:ext cx="537240" cy="8696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1">
                <a:solidFill>
                  <a:srgbClr val="7D2860"/>
                </a:solidFill>
                <a:latin typeface="Arial"/>
              </a:rPr>
              <a:t>→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957619" y="7843897"/>
            <a:ext cx="537240" cy="8696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1">
                <a:solidFill>
                  <a:srgbClr val="7D2860"/>
                </a:solidFill>
                <a:latin typeface="Arial"/>
              </a:rPr>
              <a:t>→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659762" y="7843897"/>
            <a:ext cx="537240" cy="8696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1">
                <a:solidFill>
                  <a:srgbClr val="7D2860"/>
                </a:solidFill>
                <a:latin typeface="Arial"/>
              </a:rPr>
              <a:t>→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362044" y="7843897"/>
            <a:ext cx="537240" cy="8696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954"/>
              </a:lnSpc>
              <a:spcBef>
                <a:spcPts val="0"/>
              </a:spcBef>
              <a:spcAft>
                <a:spcPts val="0"/>
              </a:spcAft>
            </a:pPr>
            <a:r>
              <a:rPr sz="4106" b="1">
                <a:solidFill>
                  <a:srgbClr val="7D2860"/>
                </a:solidFill>
                <a:latin typeface="Arial"/>
              </a:rPr>
              <a:t>→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6231176" y="11305162"/>
            <a:ext cx="13057044" cy="8696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73701" indent="-573701">
              <a:lnSpc>
                <a:spcPts val="5954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4106" b="0">
                <a:solidFill>
                  <a:srgbClr val="1C1C1C"/>
                </a:solidFill>
                <a:latin typeface="Arial"/>
              </a:rPr>
              <a:t>~</a:t>
            </a:r>
            <a:r>
              <a:rPr sz="4106" b="0">
                <a:solidFill>
                  <a:srgbClr val="1C1C1C"/>
                </a:solidFill>
                <a:latin typeface="Arial"/>
              </a:rPr>
              <a:t>$0.28 per job; ~7× the wall-clock of LLM inference.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107137" y="13242210"/>
            <a:ext cx="8935366" cy="14482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958"/>
              </a:lnSpc>
              <a:spcBef>
                <a:spcPts val="0"/>
              </a:spcBef>
              <a:spcAft>
                <a:spcPts val="0"/>
              </a:spcAft>
            </a:pPr>
            <a:r>
              <a:rPr sz="4312" b="1">
                <a:solidFill>
                  <a:srgbClr val="7D2860"/>
                </a:solidFill>
                <a:latin typeface="Arial"/>
              </a:rPr>
              <a:t>LIVE-KBENCH: Self-Evolving</a:t>
            </a:r>
          </a:p>
          <a:p>
            <a:pPr algn="l">
              <a:lnSpc>
                <a:spcPts val="4958"/>
              </a:lnSpc>
              <a:spcBef>
                <a:spcPts val="0"/>
              </a:spcBef>
              <a:spcAft>
                <a:spcPts val="0"/>
              </a:spcAft>
            </a:pPr>
            <a:r>
              <a:rPr sz="4312" b="1">
                <a:solidFill>
                  <a:srgbClr val="7D2860"/>
                </a:solidFill>
                <a:latin typeface="Arial"/>
              </a:rPr>
              <a:t>Curation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6001166" y="13481546"/>
            <a:ext cx="2993954" cy="897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4"/>
              </a:lnSpc>
              <a:spcBef>
                <a:spcPts val="0"/>
              </a:spcBef>
              <a:spcAft>
                <a:spcPts val="0"/>
              </a:spcAft>
            </a:pPr>
            <a:r>
              <a:rPr sz="2673" b="1" i="1">
                <a:solidFill>
                  <a:srgbClr val="555555"/>
                </a:solidFill>
                <a:latin typeface="Arial"/>
              </a:rPr>
              <a:t>Weekly Syzbot crawl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193337" y="16341070"/>
            <a:ext cx="12066018" cy="1010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749"/>
              </a:lnSpc>
              <a:spcBef>
                <a:spcPts val="0"/>
              </a:spcBef>
              <a:spcAft>
                <a:spcPts val="0"/>
              </a:spcAft>
            </a:pPr>
            <a:r>
              <a:rPr sz="4106" b="1">
                <a:solidFill>
                  <a:srgbClr val="111111"/>
                </a:solidFill>
                <a:latin typeface="Arial"/>
              </a:rPr>
              <a:t>Crawl</a:t>
            </a:r>
            <a:r>
              <a:rPr sz="4106" b="0">
                <a:solidFill>
                  <a:srgbClr val="1C1C1C"/>
                </a:solidFill>
                <a:latin typeface="Arial"/>
              </a:rPr>
              <a:t> — weekly Syzbot bug harvest.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193337" y="17532469"/>
            <a:ext cx="12066018" cy="1010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749"/>
              </a:lnSpc>
              <a:spcBef>
                <a:spcPts val="0"/>
              </a:spcBef>
              <a:spcAft>
                <a:spcPts val="0"/>
              </a:spcAft>
            </a:pPr>
            <a:r>
              <a:rPr sz="4106" b="1">
                <a:solidFill>
                  <a:srgbClr val="111111"/>
                </a:solidFill>
                <a:latin typeface="Arial"/>
              </a:rPr>
              <a:t>Filter</a:t>
            </a:r>
            <a:r>
              <a:rPr sz="4106" b="0">
                <a:solidFill>
                  <a:srgbClr val="1C1C1C"/>
                </a:solidFill>
                <a:latin typeface="Arial"/>
              </a:rPr>
              <a:t> — drop reliably-triggered crashes.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193337" y="18723867"/>
            <a:ext cx="12066018" cy="10103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749"/>
              </a:lnSpc>
              <a:spcBef>
                <a:spcPts val="0"/>
              </a:spcBef>
              <a:spcAft>
                <a:spcPts val="0"/>
              </a:spcAft>
            </a:pPr>
            <a:r>
              <a:rPr sz="4106" b="1">
                <a:solidFill>
                  <a:srgbClr val="111111"/>
                </a:solidFill>
                <a:latin typeface="Arial"/>
              </a:rPr>
              <a:t>Execute</a:t>
            </a:r>
            <a:r>
              <a:rPr sz="4106" b="0">
                <a:solidFill>
                  <a:srgbClr val="1C1C1C"/>
                </a:solidFill>
                <a:latin typeface="Arial"/>
              </a:rPr>
              <a:t> — agents run on live bugs.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5279687" y="19094192"/>
            <a:ext cx="6915168" cy="6392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4377"/>
              </a:lnSpc>
              <a:spcBef>
                <a:spcPts val="0"/>
              </a:spcBef>
              <a:spcAft>
                <a:spcPts val="0"/>
              </a:spcAft>
            </a:pPr>
            <a:r>
              <a:rPr sz="3367" b="0" i="1">
                <a:solidFill>
                  <a:srgbClr val="555555"/>
                </a:solidFill>
                <a:latin typeface="Arial"/>
              </a:rPr>
              <a:t>KENV × LIVE-KBENCH interaction.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193337" y="19915266"/>
            <a:ext cx="12066018" cy="1010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749"/>
              </a:lnSpc>
              <a:spcBef>
                <a:spcPts val="0"/>
              </a:spcBef>
              <a:spcAft>
                <a:spcPts val="0"/>
              </a:spcAft>
            </a:pPr>
            <a:r>
              <a:rPr sz="4106" b="1">
                <a:solidFill>
                  <a:srgbClr val="111111"/>
                </a:solidFill>
                <a:latin typeface="Arial"/>
              </a:rPr>
              <a:t>Dashboard</a:t>
            </a:r>
            <a:r>
              <a:rPr sz="4106" b="0">
                <a:solidFill>
                  <a:srgbClr val="1C1C1C"/>
                </a:solidFill>
                <a:latin typeface="Arial"/>
              </a:rPr>
              <a:t> — metrics &amp; leaderboard.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3174285" y="20772457"/>
            <a:ext cx="8712600" cy="14482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958"/>
              </a:lnSpc>
              <a:spcBef>
                <a:spcPts val="0"/>
              </a:spcBef>
              <a:spcAft>
                <a:spcPts val="0"/>
              </a:spcAft>
            </a:pPr>
            <a:r>
              <a:rPr sz="4312" b="1">
                <a:solidFill>
                  <a:srgbClr val="7D2860"/>
                </a:solidFill>
                <a:latin typeface="Arial"/>
              </a:rPr>
              <a:t>KENV: Agent-Agnostic</a:t>
            </a:r>
          </a:p>
          <a:p>
            <a:pPr algn="l">
              <a:lnSpc>
                <a:spcPts val="4958"/>
              </a:lnSpc>
              <a:spcBef>
                <a:spcPts val="0"/>
              </a:spcBef>
              <a:spcAft>
                <a:spcPts val="0"/>
              </a:spcAft>
            </a:pPr>
            <a:r>
              <a:rPr sz="4312" b="1">
                <a:solidFill>
                  <a:srgbClr val="7D2860"/>
                </a:solidFill>
                <a:latin typeface="Arial"/>
              </a:rPr>
              <a:t>Environment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1852036" y="21011792"/>
            <a:ext cx="3216577" cy="897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4"/>
              </a:lnSpc>
              <a:spcBef>
                <a:spcPts val="0"/>
              </a:spcBef>
              <a:spcAft>
                <a:spcPts val="0"/>
              </a:spcAft>
            </a:pPr>
            <a:r>
              <a:rPr sz="2673" b="1" i="1">
                <a:solidFill>
                  <a:srgbClr val="555555"/>
                </a:solidFill>
                <a:latin typeface="Arial"/>
              </a:rPr>
              <a:t>Base image + overlay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6642" y="21125001"/>
            <a:ext cx="10274694" cy="52178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73701" indent="-573701">
              <a:lnSpc>
                <a:spcPts val="5954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4106" b="0">
                <a:solidFill>
                  <a:srgbClr val="1C1C1C"/>
                </a:solidFill>
                <a:latin typeface="Arial"/>
              </a:rPr>
              <a:t>Syzkaller has surfaced over six thousand kernel crashes — many assigned CVE identifiers — yet automated repair of system-level failures lags far behind user-space coding agents for such crashes.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7107137" y="21744106"/>
            <a:ext cx="8526891" cy="14482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958"/>
              </a:lnSpc>
              <a:spcBef>
                <a:spcPts val="0"/>
              </a:spcBef>
              <a:spcAft>
                <a:spcPts val="0"/>
              </a:spcAft>
            </a:pPr>
            <a:r>
              <a:rPr sz="4312" b="1">
                <a:solidFill>
                  <a:srgbClr val="7D2860"/>
                </a:solidFill>
                <a:latin typeface="Arial"/>
              </a:rPr>
              <a:t>Patch Equivalence via LLM</a:t>
            </a:r>
          </a:p>
          <a:p>
            <a:pPr algn="l">
              <a:lnSpc>
                <a:spcPts val="4958"/>
              </a:lnSpc>
              <a:spcBef>
                <a:spcPts val="0"/>
              </a:spcBef>
              <a:spcAft>
                <a:spcPts val="0"/>
              </a:spcAft>
            </a:pPr>
            <a:r>
              <a:rPr sz="4312" b="1">
                <a:solidFill>
                  <a:srgbClr val="7D2860"/>
                </a:solidFill>
                <a:latin typeface="Arial"/>
              </a:rPr>
              <a:t>Judge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604588" y="21983442"/>
            <a:ext cx="3402429" cy="897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4"/>
              </a:lnSpc>
              <a:spcBef>
                <a:spcPts val="0"/>
              </a:spcBef>
              <a:spcAft>
                <a:spcPts val="0"/>
              </a:spcAft>
            </a:pPr>
            <a:r>
              <a:rPr sz="2673" b="1" i="1">
                <a:solidFill>
                  <a:srgbClr val="555555"/>
                </a:solidFill>
                <a:latin typeface="Arial"/>
              </a:rPr>
              <a:t>9-vote Gemini 3 Flash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2298324" y="24598630"/>
            <a:ext cx="13056901" cy="1739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73701" indent="-573701">
              <a:lnSpc>
                <a:spcPts val="5954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4106" b="0">
                <a:solidFill>
                  <a:srgbClr val="1C1C1C"/>
                </a:solidFill>
                <a:latin typeface="Arial"/>
              </a:rPr>
              <a:t>An agent-specific Dockerfile overlays the base — any bash-capable agent drops in.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6231176" y="24799905"/>
            <a:ext cx="13057044" cy="1739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73701" indent="-573701">
              <a:lnSpc>
                <a:spcPts val="5954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4106" b="0">
                <a:solidFill>
                  <a:srgbClr val="1C1C1C"/>
                </a:solidFill>
                <a:latin typeface="Arial"/>
              </a:rPr>
              <a:t>Crash Resolution Rate (CRR) and Localization IoU are scored on every run.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66642" y="25844757"/>
            <a:ext cx="10274694" cy="43481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73701" indent="-573701">
              <a:lnSpc>
                <a:spcPts val="5954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4106" b="0">
                <a:solidFill>
                  <a:srgbClr val="1C1C1C"/>
                </a:solidFill>
                <a:latin typeface="Arial"/>
              </a:rPr>
              <a:t>Kernel crashes are underspecified and a single build/test cycle takes at least 30 minutes; a static benchmark silently overestimates generalization as the kernel drifts.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298324" y="26293564"/>
            <a:ext cx="13056901" cy="1739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73701" indent="-573701">
              <a:lnSpc>
                <a:spcPts val="5954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4106" b="0">
                <a:solidFill>
                  <a:srgbClr val="1C1C1C"/>
                </a:solidFill>
                <a:latin typeface="Arial"/>
              </a:rPr>
              <a:t>Identical conditions for every agent: same crash context, same parent commit, same feedback tool.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6231176" y="26494839"/>
            <a:ext cx="13057044" cy="1739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73701" indent="-573701">
              <a:lnSpc>
                <a:spcPts val="5954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4106" b="0">
                <a:solidFill>
                  <a:srgbClr val="1C1C1C"/>
                </a:solidFill>
                <a:latin typeface="Arial"/>
              </a:rPr>
              <a:t>Equivalent Patch Rate (EPR): how closely a patch matches the developer’s fix.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2298324" y="27988498"/>
            <a:ext cx="13056901" cy="1739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73701" indent="-573701">
              <a:lnSpc>
                <a:spcPts val="5954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4106" b="0">
                <a:solidFill>
                  <a:srgbClr val="1C1C1C"/>
                </a:solidFill>
                <a:latin typeface="Arial"/>
              </a:rPr>
              <a:t>Compilation and testing run on the KGymSuite backend; the agent only edits files.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6231176" y="28189773"/>
            <a:ext cx="13057044" cy="1739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73701" indent="-573701">
              <a:lnSpc>
                <a:spcPts val="5954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4106" b="0">
                <a:solidFill>
                  <a:srgbClr val="1C1C1C"/>
                </a:solidFill>
                <a:latin typeface="Arial"/>
              </a:rPr>
              <a:t>Rigid: apart from variable names, structure and logic must match.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0410050" y="19578558"/>
            <a:ext cx="4879376" cy="15539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0640"/>
              </a:lnSpc>
              <a:spcBef>
                <a:spcPts val="0"/>
              </a:spcBef>
              <a:spcAft>
                <a:spcPts val="0"/>
              </a:spcAft>
            </a:pPr>
            <a:r>
              <a:rPr sz="11200" b="1" spc="-224">
                <a:solidFill>
                  <a:srgbClr val="7D2860"/>
                </a:solidFill>
                <a:latin typeface="Arial"/>
              </a:rPr>
              <a:t>74%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0410050" y="20953452"/>
            <a:ext cx="4879376" cy="1199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106"/>
              </a:lnSpc>
              <a:spcBef>
                <a:spcPts val="0"/>
              </a:spcBef>
              <a:spcAft>
                <a:spcPts val="0"/>
              </a:spcAft>
            </a:pPr>
            <a:r>
              <a:rPr sz="3733" b="1">
                <a:solidFill>
                  <a:srgbClr val="1C1C1C"/>
                </a:solidFill>
                <a:latin typeface="Arial"/>
              </a:rPr>
              <a:t>First-Try Crash Resolution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0410050" y="21996360"/>
            <a:ext cx="4879376" cy="9405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22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1">
                <a:solidFill>
                  <a:srgbClr val="555555"/>
                </a:solidFill>
                <a:latin typeface="Arial"/>
              </a:rPr>
              <a:t>vs ~20% true patch equivalence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6439693" y="23351390"/>
            <a:ext cx="3743802" cy="9595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6570"/>
              </a:lnSpc>
              <a:spcBef>
                <a:spcPts val="0"/>
              </a:spcBef>
              <a:spcAft>
                <a:spcPts val="0"/>
              </a:spcAft>
            </a:pPr>
            <a:r>
              <a:rPr sz="6570" b="1">
                <a:solidFill>
                  <a:srgbClr val="7D2860"/>
                </a:solidFill>
                <a:latin typeface="Arial"/>
              </a:rPr>
              <a:t>~90%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0752176" y="23351390"/>
            <a:ext cx="3743802" cy="9595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6570"/>
              </a:lnSpc>
              <a:spcBef>
                <a:spcPts val="0"/>
              </a:spcBef>
              <a:spcAft>
                <a:spcPts val="0"/>
              </a:spcAft>
            </a:pPr>
            <a:r>
              <a:rPr sz="6570" b="1">
                <a:solidFill>
                  <a:srgbClr val="7D2860"/>
                </a:solidFill>
                <a:latin typeface="Arial"/>
              </a:rPr>
              <a:t>83%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064660" y="23351390"/>
            <a:ext cx="3743802" cy="9595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6570"/>
              </a:lnSpc>
              <a:spcBef>
                <a:spcPts val="0"/>
              </a:spcBef>
              <a:spcAft>
                <a:spcPts val="0"/>
              </a:spcAft>
            </a:pPr>
            <a:r>
              <a:rPr sz="6570" b="1">
                <a:solidFill>
                  <a:srgbClr val="7D2860"/>
                </a:solidFill>
                <a:latin typeface="Arial"/>
              </a:rP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6439693" y="24253586"/>
            <a:ext cx="3743802" cy="4483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069"/>
              </a:lnSpc>
              <a:spcBef>
                <a:spcPts val="0"/>
              </a:spcBef>
              <a:spcAft>
                <a:spcPts val="0"/>
              </a:spcAft>
            </a:pPr>
            <a:r>
              <a:rPr sz="2669" b="0">
                <a:solidFill>
                  <a:srgbClr val="555555"/>
                </a:solidFill>
                <a:latin typeface="Arial"/>
              </a:rPr>
              <a:t>judge accuracy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0752176" y="24253586"/>
            <a:ext cx="3743802" cy="4483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069"/>
              </a:lnSpc>
              <a:spcBef>
                <a:spcPts val="0"/>
              </a:spcBef>
              <a:spcAft>
                <a:spcPts val="0"/>
              </a:spcAft>
            </a:pPr>
            <a:r>
              <a:rPr sz="2669" b="0">
                <a:solidFill>
                  <a:srgbClr val="555555"/>
                </a:solidFill>
                <a:latin typeface="Arial"/>
              </a:rPr>
              <a:t>judge F1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5064660" y="24253586"/>
            <a:ext cx="3743802" cy="4483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069"/>
              </a:lnSpc>
              <a:spcBef>
                <a:spcPts val="0"/>
              </a:spcBef>
              <a:spcAft>
                <a:spcPts val="0"/>
              </a:spcAft>
            </a:pPr>
            <a:r>
              <a:rPr sz="2669" b="0">
                <a:solidFill>
                  <a:srgbClr val="555555"/>
                </a:solidFill>
                <a:latin typeface="Arial"/>
              </a:rPr>
              <a:t>judge votes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0164186" y="7579558"/>
            <a:ext cx="3805324" cy="1431929"/>
          </a:xfrm>
          <a:prstGeom prst="rect">
            <a:avLst/>
          </a:prstGeom>
          <a:noFill/>
        </p:spPr>
        <p:txBody>
          <a:bodyPr wrap="square" lIns="185800" rIns="185800" tIns="81752" bIns="81752">
            <a:spAutoFit/>
          </a:bodyPr>
          <a:lstStyle/>
          <a:p>
            <a:pPr algn="l">
              <a:lnSpc>
                <a:spcPts val="4242"/>
              </a:lnSpc>
              <a:spcBef>
                <a:spcPts val="0"/>
              </a:spcBef>
              <a:spcAft>
                <a:spcPts val="0"/>
              </a:spcAft>
            </a:pPr>
            <a:r>
              <a:rPr sz="2926" b="1" spc="146">
                <a:solidFill>
                  <a:srgbClr val="555555"/>
                </a:solidFill>
                <a:latin typeface="Arial"/>
              </a:rPr>
              <a:t>SETTING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3858676" y="7579558"/>
            <a:ext cx="3016130" cy="1431929"/>
          </a:xfrm>
          <a:prstGeom prst="rect">
            <a:avLst/>
          </a:prstGeom>
          <a:noFill/>
        </p:spPr>
        <p:txBody>
          <a:bodyPr wrap="square" lIns="185800" rIns="185800" tIns="81752" bIns="81752">
            <a:spAutoFit/>
          </a:bodyPr>
          <a:lstStyle/>
          <a:p>
            <a:pPr algn="l">
              <a:lnSpc>
                <a:spcPts val="4242"/>
              </a:lnSpc>
              <a:spcBef>
                <a:spcPts val="0"/>
              </a:spcBef>
              <a:spcAft>
                <a:spcPts val="0"/>
              </a:spcAft>
            </a:pPr>
            <a:r>
              <a:rPr sz="2926" b="1" spc="146">
                <a:solidFill>
                  <a:srgbClr val="555555"/>
                </a:solidFill>
                <a:latin typeface="Arial"/>
              </a:rPr>
              <a:t>CRR (FIRST-TRY)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6786958" y="7579558"/>
            <a:ext cx="3453221" cy="1431929"/>
          </a:xfrm>
          <a:prstGeom prst="rect">
            <a:avLst/>
          </a:prstGeom>
          <a:noFill/>
        </p:spPr>
        <p:txBody>
          <a:bodyPr wrap="square" lIns="185800" rIns="185800" tIns="81752" bIns="81752">
            <a:spAutoFit/>
          </a:bodyPr>
          <a:lstStyle/>
          <a:p>
            <a:pPr algn="l">
              <a:lnSpc>
                <a:spcPts val="4242"/>
              </a:lnSpc>
              <a:spcBef>
                <a:spcPts val="0"/>
              </a:spcBef>
              <a:spcAft>
                <a:spcPts val="0"/>
              </a:spcAft>
            </a:pPr>
            <a:r>
              <a:rPr sz="2926" b="1" spc="146">
                <a:solidFill>
                  <a:srgbClr val="555555"/>
                </a:solidFill>
                <a:latin typeface="Arial"/>
              </a:rPr>
              <a:t>EPR (PATCH MATCH)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0164186" y="8824714"/>
            <a:ext cx="3805324" cy="1913072"/>
          </a:xfrm>
          <a:prstGeom prst="rect">
            <a:avLst/>
          </a:prstGeom>
          <a:noFill/>
        </p:spPr>
        <p:txBody>
          <a:bodyPr wrap="square" lIns="247734" rIns="247734" tIns="109002" bIns="109002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1" b="0">
                <a:solidFill>
                  <a:srgbClr val="1C1C1C"/>
                </a:solidFill>
                <a:latin typeface="Arial"/>
              </a:rPr>
              <a:t>Claude Opus 4.5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3858676" y="8824714"/>
            <a:ext cx="3016130" cy="1913072"/>
          </a:xfrm>
          <a:prstGeom prst="rect">
            <a:avLst/>
          </a:prstGeom>
          <a:noFill/>
        </p:spPr>
        <p:txBody>
          <a:bodyPr wrap="none" lIns="247734" rIns="247734" tIns="109002" bIns="109002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1" b="0">
                <a:solidFill>
                  <a:srgbClr val="1C1C1C"/>
                </a:solidFill>
                <a:latin typeface="Arial"/>
              </a:rPr>
              <a:t>74.2%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6786958" y="8824714"/>
            <a:ext cx="3453221" cy="1913072"/>
          </a:xfrm>
          <a:prstGeom prst="rect">
            <a:avLst/>
          </a:prstGeom>
          <a:noFill/>
        </p:spPr>
        <p:txBody>
          <a:bodyPr wrap="none" lIns="247734" rIns="247734" tIns="109002" bIns="109002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1" b="0">
                <a:solidFill>
                  <a:srgbClr val="1C1C1C"/>
                </a:solidFill>
                <a:latin typeface="Arial"/>
              </a:rPr>
              <a:t>19.9%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164186" y="10488255"/>
            <a:ext cx="3805324" cy="1913072"/>
          </a:xfrm>
          <a:prstGeom prst="rect">
            <a:avLst/>
          </a:prstGeom>
          <a:noFill/>
        </p:spPr>
        <p:txBody>
          <a:bodyPr wrap="square" lIns="247734" rIns="247734" tIns="109002" bIns="109002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1" b="1">
                <a:solidFill>
                  <a:srgbClr val="1C1C1C"/>
                </a:solidFill>
                <a:latin typeface="Arial"/>
              </a:rPr>
              <a:t>+ test-time scaling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3858676" y="10488255"/>
            <a:ext cx="3016130" cy="1913072"/>
          </a:xfrm>
          <a:prstGeom prst="rect">
            <a:avLst/>
          </a:prstGeom>
          <a:noFill/>
        </p:spPr>
        <p:txBody>
          <a:bodyPr wrap="none" lIns="247734" rIns="247734" tIns="109002" bIns="109002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1" b="1">
                <a:solidFill>
                  <a:srgbClr val="1C1C1C"/>
                </a:solidFill>
                <a:latin typeface="Arial"/>
              </a:rPr>
              <a:t>~90%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6786958" y="10488255"/>
            <a:ext cx="3453221" cy="1913072"/>
          </a:xfrm>
          <a:prstGeom prst="rect">
            <a:avLst/>
          </a:prstGeom>
          <a:noFill/>
        </p:spPr>
        <p:txBody>
          <a:bodyPr wrap="none" lIns="247734" rIns="247734" tIns="109002" bIns="109002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1" b="1">
                <a:solidFill>
                  <a:srgbClr val="1C1C1C"/>
                </a:solidFill>
                <a:latin typeface="Arial"/>
              </a:rPr>
              <a:t>~30%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6199246" y="19255462"/>
            <a:ext cx="1429589" cy="6269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293"/>
              </a:lnSpc>
              <a:spcBef>
                <a:spcPts val="0"/>
              </a:spcBef>
              <a:spcAft>
                <a:spcPts val="0"/>
              </a:spcAft>
            </a:pPr>
            <a:r>
              <a:rPr sz="4293" b="1" spc="-42">
                <a:solidFill>
                  <a:srgbClr val="AE2622"/>
                </a:solidFill>
                <a:latin typeface="Arial"/>
              </a:rPr>
              <a:t>~20%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7769720" y="19379922"/>
            <a:ext cx="2187735" cy="9814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555555"/>
                </a:solidFill>
                <a:latin typeface="Arial"/>
              </a:rPr>
              <a:t>EPR (patch match)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6199246" y="20494089"/>
            <a:ext cx="1911746" cy="626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293"/>
              </a:lnSpc>
              <a:spcBef>
                <a:spcPts val="0"/>
              </a:spcBef>
              <a:spcAft>
                <a:spcPts val="0"/>
              </a:spcAft>
            </a:pPr>
            <a:r>
              <a:rPr sz="4293" b="1" spc="-42">
                <a:solidFill>
                  <a:srgbClr val="AE2622"/>
                </a:solidFill>
                <a:latin typeface="Arial"/>
              </a:rPr>
              <a:t>−25 pts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8237834" y="20618549"/>
            <a:ext cx="1705578" cy="9814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555555"/>
                </a:solidFill>
                <a:latin typeface="Arial"/>
              </a:rPr>
              <a:t>EPR cutoff gap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6199246" y="21732716"/>
            <a:ext cx="1429589" cy="6269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293"/>
              </a:lnSpc>
              <a:spcBef>
                <a:spcPts val="0"/>
              </a:spcBef>
              <a:spcAft>
                <a:spcPts val="0"/>
              </a:spcAft>
            </a:pPr>
            <a:r>
              <a:rPr sz="4293" b="1" spc="-42">
                <a:solidFill>
                  <a:srgbClr val="AE2622"/>
                </a:solidFill>
                <a:latin typeface="Arial"/>
              </a:rPr>
              <a:t>+29%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769720" y="21857176"/>
            <a:ext cx="2187735" cy="1472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555555"/>
                </a:solidFill>
                <a:latin typeface="Arial"/>
              </a:rPr>
              <a:t>CRR with CRF feedback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