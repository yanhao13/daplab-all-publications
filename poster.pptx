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793920" cy="302666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2084" y="622090"/>
            <a:ext cx="41549756" cy="3163573"/>
          </a:xfrm>
          <a:prstGeom prst="roundRect">
            <a:avLst>
              <a:gd name="adj" fmla="val 5621"/>
            </a:avLst>
          </a:prstGeom>
          <a:solidFill>
            <a:srgbClr val="FFFFFF"/>
          </a:solidFill>
          <a:ln w="38106">
            <a:solidFill>
              <a:srgbClr val="34373B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946997" y="990197"/>
            <a:ext cx="2475836" cy="1217995"/>
          </a:xfrm>
          <a:prstGeom prst="roundRect">
            <a:avLst>
              <a:gd name="adj" fmla="val 83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2084" y="4280836"/>
            <a:ext cx="8962417" cy="10423930"/>
          </a:xfrm>
          <a:prstGeom prst="roundRect">
            <a:avLst>
              <a:gd name="adj" fmla="val 1984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90693" y="4280836"/>
            <a:ext cx="11203171" cy="9140021"/>
          </a:xfrm>
          <a:prstGeom prst="roundRect">
            <a:avLst>
              <a:gd name="adj" fmla="val 1945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600055" y="4280836"/>
            <a:ext cx="11203023" cy="9928756"/>
          </a:xfrm>
          <a:prstGeom prst="roundRect">
            <a:avLst>
              <a:gd name="adj" fmla="val 1791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209270" y="4280836"/>
            <a:ext cx="8962567" cy="9772229"/>
          </a:xfrm>
          <a:prstGeom prst="roundRect">
            <a:avLst>
              <a:gd name="adj" fmla="val 1984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990693" y="13738226"/>
            <a:ext cx="11203171" cy="6525631"/>
          </a:xfrm>
          <a:prstGeom prst="roundRect">
            <a:avLst>
              <a:gd name="adj" fmla="val 2725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209270" y="14370435"/>
            <a:ext cx="8962567" cy="4693282"/>
          </a:xfrm>
          <a:prstGeom prst="roundRect">
            <a:avLst>
              <a:gd name="adj" fmla="val 3789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600055" y="14526962"/>
            <a:ext cx="11203023" cy="15113639"/>
          </a:xfrm>
          <a:prstGeom prst="roundRect">
            <a:avLst>
              <a:gd name="adj" fmla="val 1587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084" y="15022134"/>
            <a:ext cx="8962417" cy="14618467"/>
          </a:xfrm>
          <a:prstGeom prst="roundRect">
            <a:avLst>
              <a:gd name="adj" fmla="val 1984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209270" y="19381086"/>
            <a:ext cx="8962567" cy="5061091"/>
          </a:xfrm>
          <a:prstGeom prst="roundRect">
            <a:avLst>
              <a:gd name="adj" fmla="val 3513"/>
            </a:avLst>
          </a:prstGeom>
          <a:solidFill>
            <a:srgbClr val="F2F2F3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09270" y="19381086"/>
            <a:ext cx="57160" cy="5061091"/>
          </a:xfrm>
          <a:prstGeom prst="rect">
            <a:avLst/>
          </a:prstGeom>
          <a:solidFill>
            <a:srgbClr val="3437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90693" y="20581225"/>
            <a:ext cx="11203171" cy="9059376"/>
          </a:xfrm>
          <a:prstGeom prst="roundRect">
            <a:avLst>
              <a:gd name="adj" fmla="val 1962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209270" y="24759547"/>
            <a:ext cx="8962567" cy="4881054"/>
          </a:xfrm>
          <a:prstGeom prst="roundRect">
            <a:avLst>
              <a:gd name="adj" fmla="val 3643"/>
            </a:avLst>
          </a:prstGeom>
          <a:solidFill>
            <a:srgbClr val="FAFAF7"/>
          </a:solidFill>
          <a:ln w="9526">
            <a:solidFill>
              <a:srgbClr val="D8D8D4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0869" y="4239622"/>
            <a:ext cx="9044847" cy="1116966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49479" y="4239622"/>
            <a:ext cx="11285599" cy="1116966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168056" y="4239622"/>
            <a:ext cx="9044996" cy="1116966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965035" y="5451665"/>
            <a:ext cx="10473066" cy="2851708"/>
          </a:xfrm>
          <a:prstGeom prst="roundRect">
            <a:avLst>
              <a:gd name="adj" fmla="val 6948"/>
            </a:avLst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574247" y="7977672"/>
            <a:ext cx="8232613" cy="2498481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574247" y="10790249"/>
            <a:ext cx="8232613" cy="26742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574247" y="10790249"/>
            <a:ext cx="8232613" cy="12385"/>
          </a:xfrm>
          <a:prstGeom prst="rect">
            <a:avLst/>
          </a:prstGeom>
          <a:solidFill>
            <a:srgbClr val="B8B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7062" y="11650256"/>
            <a:ext cx="8232461" cy="26933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7062" y="11650256"/>
            <a:ext cx="123847" cy="2693396"/>
          </a:xfrm>
          <a:prstGeom prst="rect">
            <a:avLst/>
          </a:prstGeom>
          <a:solidFill>
            <a:srgbClr val="3437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168056" y="14329219"/>
            <a:ext cx="9044996" cy="1116967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80869" y="14980920"/>
            <a:ext cx="9044847" cy="1116966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355672" y="15042667"/>
            <a:ext cx="10473214" cy="1407404"/>
          </a:xfrm>
          <a:prstGeom prst="roundRect">
            <a:avLst>
              <a:gd name="adj" fmla="val 15206"/>
            </a:avLst>
          </a:prstGeom>
          <a:solidFill>
            <a:srgbClr val="F3F3F3"/>
          </a:solidFill>
          <a:ln w="9526">
            <a:solidFill>
              <a:srgbClr val="BEB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574247" y="15580692"/>
            <a:ext cx="8232613" cy="3119829"/>
          </a:xfrm>
          <a:prstGeom prst="roundRect">
            <a:avLst>
              <a:gd name="adj" fmla="val 2442"/>
            </a:avLst>
          </a:prstGeom>
          <a:gradFill rotWithShape="1" flip="none">
            <a:gsLst>
              <a:gs pos="0">
                <a:srgbClr val="E7E7E7"/>
              </a:gs>
              <a:gs pos="100000">
                <a:srgbClr val="F3F3F3"/>
              </a:gs>
            </a:gsLst>
            <a:lin ang="5400000" scaled="0"/>
          </a:gradFill>
          <a:ln w="9526">
            <a:solidFill>
              <a:srgbClr val="CCCDCE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3215668" y="19339871"/>
            <a:ext cx="8997384" cy="1116966"/>
          </a:xfrm>
          <a:prstGeom prst="roundRect">
            <a:avLst>
              <a:gd name="adj" fmla="val 15921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3621860" y="20712458"/>
            <a:ext cx="8185000" cy="3366672"/>
          </a:xfrm>
          <a:prstGeom prst="roundRect">
            <a:avLst>
              <a:gd name="adj" fmla="val 5885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87062" y="25307987"/>
            <a:ext cx="8232461" cy="3973138"/>
          </a:xfrm>
          <a:prstGeom prst="roundRect">
            <a:avLst>
              <a:gd name="adj" fmla="val 4363"/>
            </a:avLst>
          </a:prstGeom>
          <a:solidFill>
            <a:srgbClr val="F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7062" y="25307987"/>
            <a:ext cx="123847" cy="3973138"/>
          </a:xfrm>
          <a:prstGeom prst="rect">
            <a:avLst/>
          </a:prstGeom>
          <a:solidFill>
            <a:srgbClr val="AE26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columbia-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0023" y="2474913"/>
            <a:ext cx="722810" cy="942554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21965035" y="4645818"/>
            <a:ext cx="623869" cy="623876"/>
          </a:xfrm>
          <a:prstGeom prst="roundRect">
            <a:avLst>
              <a:gd name="adj" fmla="val 50000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76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74262" y="5906962"/>
            <a:ext cx="8235884" cy="5500320"/>
          </a:xfrm>
          <a:prstGeom prst="roundRect">
            <a:avLst>
              <a:gd name="adj" fmla="val 1847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fig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4262" y="5907005"/>
            <a:ext cx="8235884" cy="5500234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10355672" y="14103208"/>
            <a:ext cx="623869" cy="623876"/>
          </a:xfrm>
          <a:prstGeom prst="roundRect">
            <a:avLst>
              <a:gd name="adj" fmla="val 50000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76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965035" y="14891943"/>
            <a:ext cx="623869" cy="623877"/>
          </a:xfrm>
          <a:prstGeom prst="roundRect">
            <a:avLst>
              <a:gd name="adj" fmla="val 50000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76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152914" y="15793313"/>
            <a:ext cx="3390589" cy="28469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152914" y="15793313"/>
            <a:ext cx="12384" cy="2846948"/>
          </a:xfrm>
          <a:prstGeom prst="rect">
            <a:avLst/>
          </a:prstGeom>
          <a:solidFill>
            <a:srgbClr val="CCCD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355672" y="20946209"/>
            <a:ext cx="623869" cy="623875"/>
          </a:xfrm>
          <a:prstGeom prst="roundRect">
            <a:avLst>
              <a:gd name="adj" fmla="val 50000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276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57382" y="25456478"/>
            <a:ext cx="2179006" cy="606468"/>
          </a:xfrm>
          <a:prstGeom prst="roundRect">
            <a:avLst>
              <a:gd name="adj" fmla="val 14294"/>
            </a:avLst>
          </a:prstGeom>
          <a:solidFill>
            <a:srgbClr val="AE2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730" b="1">
                <a:solidFill>
                  <a:srgbClr val="FFFFFF"/>
                </a:solidFill>
                <a:latin typeface="Arial"/>
              </a:rPr>
              <a:t>WHY NOW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574247" y="6981226"/>
            <a:ext cx="8232613" cy="791414"/>
          </a:xfrm>
          <a:prstGeom prst="rect">
            <a:avLst/>
          </a:prstGeom>
          <a:solidFill>
            <a:srgbClr val="EA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1965035" y="21455218"/>
            <a:ext cx="10473066" cy="898394"/>
          </a:xfrm>
          <a:prstGeom prst="rect">
            <a:avLst/>
          </a:prstGeom>
          <a:solidFill>
            <a:srgbClr val="EA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355672" y="21967502"/>
            <a:ext cx="668655" cy="668662"/>
          </a:xfrm>
          <a:prstGeom prst="roundRect">
            <a:avLst>
              <a:gd name="adj" fmla="val 49866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51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355672" y="23791221"/>
            <a:ext cx="668655" cy="668662"/>
          </a:xfrm>
          <a:prstGeom prst="roundRect">
            <a:avLst>
              <a:gd name="adj" fmla="val 49866"/>
            </a:avLst>
          </a:prstGeom>
          <a:solidFill>
            <a:srgbClr val="343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51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574247" y="5570101"/>
            <a:ext cx="6335856" cy="619711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574247" y="6180285"/>
            <a:ext cx="6335856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9910103" y="5570101"/>
            <a:ext cx="1896757" cy="619711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910103" y="6180285"/>
            <a:ext cx="1896757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3574247" y="6189812"/>
            <a:ext cx="6335856" cy="79141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3574247" y="6971699"/>
            <a:ext cx="6335856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910103" y="6189812"/>
            <a:ext cx="1896757" cy="79141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9910103" y="6971699"/>
            <a:ext cx="1896757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3574247" y="6981226"/>
            <a:ext cx="6335856" cy="791414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574247" y="7763113"/>
            <a:ext cx="6335856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9910103" y="6981226"/>
            <a:ext cx="1896757" cy="791414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9910103" y="7763113"/>
            <a:ext cx="1896757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1965035" y="18987239"/>
            <a:ext cx="5923266" cy="671191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965035" y="19648904"/>
            <a:ext cx="5923266" cy="12384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7888301" y="18987239"/>
            <a:ext cx="2274824" cy="671191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888301" y="19648904"/>
            <a:ext cx="2274824" cy="12384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163125" y="18987239"/>
            <a:ext cx="2274976" cy="671191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0163125" y="19648904"/>
            <a:ext cx="2274976" cy="12384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1965035" y="19658430"/>
            <a:ext cx="5923266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1965035" y="20547297"/>
            <a:ext cx="5923266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7888301" y="19658430"/>
            <a:ext cx="2274824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7888301" y="20547297"/>
            <a:ext cx="2274824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0163125" y="19658430"/>
            <a:ext cx="2274976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163125" y="20547297"/>
            <a:ext cx="2274976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965035" y="20556824"/>
            <a:ext cx="5923266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1965035" y="21445691"/>
            <a:ext cx="5923266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7888301" y="20556824"/>
            <a:ext cx="2274824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888301" y="21445691"/>
            <a:ext cx="2274824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163125" y="20556824"/>
            <a:ext cx="2274976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0163125" y="21445691"/>
            <a:ext cx="2274976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1965035" y="21455218"/>
            <a:ext cx="5923266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1965035" y="22344085"/>
            <a:ext cx="5923266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7888301" y="21455218"/>
            <a:ext cx="2274824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888301" y="22344085"/>
            <a:ext cx="2274824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0163125" y="21455218"/>
            <a:ext cx="2274976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0163125" y="22344085"/>
            <a:ext cx="2274976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1965035" y="22353612"/>
            <a:ext cx="5923266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1965035" y="23242479"/>
            <a:ext cx="5923266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7888301" y="22353612"/>
            <a:ext cx="2274824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888301" y="23242479"/>
            <a:ext cx="2274824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0163125" y="22353612"/>
            <a:ext cx="2274976" cy="8983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0163125" y="23242479"/>
            <a:ext cx="2274976" cy="12385"/>
          </a:xfrm>
          <a:prstGeom prst="rect">
            <a:avLst/>
          </a:prstGeom>
          <a:solidFill>
            <a:srgbClr val="E1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4503728" y="25705405"/>
            <a:ext cx="2907475" cy="2907505"/>
          </a:xfrm>
          <a:prstGeom prst="roundRect">
            <a:avLst>
              <a:gd name="adj" fmla="val 5679"/>
            </a:avLst>
          </a:prstGeom>
          <a:solidFill>
            <a:srgbClr val="FFFFFF"/>
          </a:solidFill>
          <a:ln w="9526">
            <a:solidFill>
              <a:srgbClr val="F0F0F0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pap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8050" y="25819727"/>
            <a:ext cx="2678832" cy="2678861"/>
          </a:xfrm>
          <a:prstGeom prst="rect">
            <a:avLst/>
          </a:prstGeom>
        </p:spPr>
      </p:pic>
      <p:sp>
        <p:nvSpPr>
          <p:cNvPr id="91" name="Rounded Rectangle 90"/>
          <p:cNvSpPr/>
          <p:nvPr/>
        </p:nvSpPr>
        <p:spPr>
          <a:xfrm>
            <a:off x="37969755" y="25705405"/>
            <a:ext cx="2907475" cy="2907505"/>
          </a:xfrm>
          <a:prstGeom prst="roundRect">
            <a:avLst>
              <a:gd name="adj" fmla="val 5679"/>
            </a:avLst>
          </a:prstGeom>
          <a:solidFill>
            <a:srgbClr val="FFFFFF"/>
          </a:solidFill>
          <a:ln w="9526">
            <a:solidFill>
              <a:srgbClr val="F0F0F0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84076" y="25819727"/>
            <a:ext cx="2678833" cy="2678861"/>
          </a:xfrm>
          <a:prstGeom prst="rect">
            <a:avLst/>
          </a:prstGeom>
        </p:spPr>
      </p:pic>
      <p:sp>
        <p:nvSpPr>
          <p:cNvPr id="93" name="Rounded Rectangle 92"/>
          <p:cNvSpPr/>
          <p:nvPr/>
        </p:nvSpPr>
        <p:spPr>
          <a:xfrm>
            <a:off x="35321322" y="28752474"/>
            <a:ext cx="1272139" cy="524932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300" b="1">
                <a:solidFill>
                  <a:srgbClr val="34373B"/>
                </a:solidFill>
                <a:latin typeface="Arial"/>
              </a:rPr>
              <a:t>Paper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8831091" y="28752474"/>
            <a:ext cx="1184801" cy="524932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300" b="1">
                <a:solidFill>
                  <a:srgbClr val="34373B"/>
                </a:solidFill>
                <a:latin typeface="Arial"/>
              </a:rPr>
              <a:t>Code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371085" y="990197"/>
            <a:ext cx="37449198" cy="12141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8317"/>
              </a:lnSpc>
              <a:spcBef>
                <a:spcPts val="0"/>
              </a:spcBef>
              <a:spcAft>
                <a:spcPts val="0"/>
              </a:spcAft>
            </a:pPr>
            <a:r>
              <a:rPr sz="7701" b="1" spc="-77">
                <a:solidFill>
                  <a:srgbClr val="34373B"/>
                </a:solidFill>
                <a:latin typeface="Arial"/>
              </a:rPr>
              <a:t>SANA: What Matters for QA Agents over Massive Data Lakes?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371085" y="2261012"/>
            <a:ext cx="37449198" cy="70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810"/>
              </a:lnSpc>
              <a:spcBef>
                <a:spcPts val="0"/>
              </a:spcBef>
              <a:spcAft>
                <a:spcPts val="0"/>
              </a:spcAft>
            </a:pPr>
            <a:r>
              <a:rPr sz="3700" b="0">
                <a:solidFill>
                  <a:srgbClr val="1C1C1C"/>
                </a:solidFill>
                <a:latin typeface="Arial"/>
              </a:rPr>
              <a:t>Austin Senna Wijaya</a:t>
            </a:r>
            <a:r>
              <a:rPr sz="5180" b="0" baseline="30000">
                <a:solidFill>
                  <a:srgbClr val="1C1C1C"/>
                </a:solidFill>
                <a:latin typeface="Arial"/>
              </a:rPr>
              <a:t>1</a:t>
            </a:r>
            <a:r>
              <a:rPr sz="3700" b="0">
                <a:solidFill>
                  <a:srgbClr val="1C1C1C"/>
                </a:solidFill>
                <a:latin typeface="Arial"/>
              </a:rPr>
              <a:t>, Jiaxiang Liu</a:t>
            </a:r>
            <a:r>
              <a:rPr sz="5180" b="0" baseline="30000">
                <a:solidFill>
                  <a:srgbClr val="1C1C1C"/>
                </a:solidFill>
                <a:latin typeface="Arial"/>
              </a:rPr>
              <a:t>1</a:t>
            </a:r>
            <a:r>
              <a:rPr sz="3700" b="0">
                <a:solidFill>
                  <a:srgbClr val="1C1C1C"/>
                </a:solidFill>
                <a:latin typeface="Arial"/>
              </a:rPr>
              <a:t>, Haonan Wang</a:t>
            </a:r>
            <a:r>
              <a:rPr sz="5180" b="0" baseline="30000">
                <a:solidFill>
                  <a:srgbClr val="1C1C1C"/>
                </a:solidFill>
                <a:latin typeface="Arial"/>
              </a:rPr>
              <a:t>1</a:t>
            </a:r>
            <a:r>
              <a:rPr sz="3700" b="0">
                <a:solidFill>
                  <a:srgbClr val="1C1C1C"/>
                </a:solidFill>
                <a:latin typeface="Arial"/>
              </a:rPr>
              <a:t>, Eugene Wu</a:t>
            </a:r>
            <a:r>
              <a:rPr sz="5180" b="0" baseline="30000">
                <a:solidFill>
                  <a:srgbClr val="1C1C1C"/>
                </a:solidFill>
                <a:latin typeface="Arial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71085" y="2922384"/>
            <a:ext cx="37449198" cy="529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25"/>
              </a:lnSpc>
              <a:spcBef>
                <a:spcPts val="0"/>
              </a:spcBef>
              <a:spcAft>
                <a:spcPts val="0"/>
              </a:spcAft>
            </a:pPr>
            <a:r>
              <a:rPr sz="2170" b="0" spc="50" baseline="30000">
                <a:solidFill>
                  <a:srgbClr val="555555"/>
                </a:solidFill>
                <a:latin typeface="Arial"/>
              </a:rPr>
              <a:t>1</a:t>
            </a:r>
            <a:r>
              <a:rPr sz="2500" b="0" spc="50">
                <a:solidFill>
                  <a:srgbClr val="555555"/>
                </a:solidFill>
                <a:latin typeface="Arial"/>
              </a:rPr>
              <a:t>Columbia University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9451686" y="1129762"/>
            <a:ext cx="1510453" cy="10796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7396"/>
              </a:lnSpc>
              <a:spcBef>
                <a:spcPts val="0"/>
              </a:spcBef>
              <a:spcAft>
                <a:spcPts val="0"/>
              </a:spcAft>
            </a:pPr>
            <a:r>
              <a:rPr sz="5100" b="1" spc="51">
                <a:solidFill>
                  <a:srgbClr val="34373B"/>
                </a:solidFill>
                <a:latin typeface="Arial"/>
              </a:rPr>
              <a:t> 2026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80869" y="4239622"/>
            <a:ext cx="9316192" cy="1284510"/>
          </a:xfrm>
          <a:prstGeom prst="rect">
            <a:avLst/>
          </a:prstGeom>
          <a:noFill/>
        </p:spPr>
        <p:txBody>
          <a:bodyPr wrap="square" lIns="406472" rIns="3702712" tIns="188503" bIns="188503">
            <a:spAutoFit/>
          </a:bodyPr>
          <a:lstStyle/>
          <a:p>
            <a:pPr algn="l">
              <a:lnSpc>
                <a:spcPts val="5831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/>
              </a:rPr>
              <a:t>Problem 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949479" y="4239622"/>
            <a:ext cx="11624166" cy="1284510"/>
          </a:xfrm>
          <a:prstGeom prst="rect">
            <a:avLst/>
          </a:prstGeom>
          <a:noFill/>
        </p:spPr>
        <p:txBody>
          <a:bodyPr wrap="none" lIns="406472" rIns="3702712" tIns="188503" bIns="188503">
            <a:spAutoFit/>
          </a:bodyPr>
          <a:lstStyle/>
          <a:p>
            <a:pPr algn="l">
              <a:lnSpc>
                <a:spcPts val="5831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/>
              </a:rPr>
              <a:t>Method 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3168056" y="4239622"/>
            <a:ext cx="9316345" cy="1284510"/>
          </a:xfrm>
          <a:prstGeom prst="rect">
            <a:avLst/>
          </a:prstGeom>
          <a:noFill/>
        </p:spPr>
        <p:txBody>
          <a:bodyPr wrap="square" lIns="406472" rIns="3702712" tIns="188503" bIns="188503">
            <a:spAutoFit/>
          </a:bodyPr>
          <a:lstStyle/>
          <a:p>
            <a:pPr algn="l">
              <a:lnSpc>
                <a:spcPts val="5831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/>
              </a:rPr>
              <a:t>Key Results 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965035" y="5451665"/>
            <a:ext cx="10787257" cy="3279464"/>
          </a:xfrm>
          <a:prstGeom prst="rect">
            <a:avLst/>
          </a:prstGeom>
          <a:noFill/>
        </p:spPr>
        <p:txBody>
          <a:bodyPr wrap="none" lIns="322002" rIns="322002" tIns="138710" bIns="138710">
            <a:spAutoFit/>
          </a:bodyPr>
          <a:lstStyle/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/>
              </a:rPr>
              <a:t>Ideal search restricts every query’s results to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/>
              </a:rPr>
              <a:t>the gold datasets, isolating retrieval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/>
              </a:rPr>
              <a:t>precision from query formulation and source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34373B"/>
                </a:solidFill>
                <a:latin typeface="Arial"/>
              </a:rPr>
              <a:t>commitment.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87062" y="5659376"/>
            <a:ext cx="8479434" cy="66047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Exploratory question answering over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data lakes asks an agent to search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for sources, plan subquestions, and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analyze retrieved data — but one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end-to-end accuracy score conflates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failures in search, planning, data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analysis, and the agent’s own action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policy at every turn.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574247" y="7977672"/>
            <a:ext cx="8479591" cy="2873253"/>
          </a:xfrm>
          <a:prstGeom prst="rect">
            <a:avLst/>
          </a:prstGeom>
          <a:noFill/>
        </p:spPr>
        <p:txBody>
          <a:bodyPr wrap="none" lIns="461206" rIns="461206" tIns="267017" bIns="267017">
            <a:spAutoFit/>
          </a:bodyPr>
          <a:lstStyle/>
          <a:p>
            <a:pPr algn="ctr">
              <a:lnSpc>
                <a:spcPts val="5160"/>
              </a:lnSpc>
              <a:spcBef>
                <a:spcPts val="0"/>
              </a:spcBef>
              <a:spcAft>
                <a:spcPts val="0"/>
              </a:spcAft>
            </a:pPr>
            <a:r>
              <a:rPr sz="3822" b="1">
                <a:solidFill>
                  <a:srgbClr val="34373B"/>
                </a:solidFill>
                <a:latin typeface="Arial"/>
              </a:rPr>
              <a:t>+20.0 pts — Ideal lifts gpt-5-</a:t>
            </a:r>
          </a:p>
          <a:p>
            <a:pPr algn="ctr">
              <a:lnSpc>
                <a:spcPts val="5160"/>
              </a:lnSpc>
              <a:spcBef>
                <a:spcPts val="0"/>
              </a:spcBef>
              <a:spcAft>
                <a:spcPts val="0"/>
              </a:spcAft>
            </a:pPr>
            <a:r>
              <a:rPr sz="3822" b="1">
                <a:solidFill>
                  <a:srgbClr val="34373B"/>
                </a:solidFill>
                <a:latin typeface="Arial"/>
              </a:rPr>
              <a:t>mini 56.3% → 76.3% semantic</a:t>
            </a:r>
          </a:p>
          <a:p>
            <a:pPr algn="ctr">
              <a:lnSpc>
                <a:spcPts val="5160"/>
              </a:lnSpc>
              <a:spcBef>
                <a:spcPts val="0"/>
              </a:spcBef>
              <a:spcAft>
                <a:spcPts val="0"/>
              </a:spcAft>
            </a:pPr>
            <a:r>
              <a:rPr sz="3822" b="1">
                <a:solidFill>
                  <a:srgbClr val="34373B"/>
                </a:solidFill>
                <a:latin typeface="Arial"/>
              </a:rPr>
              <a:t>match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3574247" y="10790249"/>
            <a:ext cx="8479591" cy="3075333"/>
          </a:xfrm>
          <a:prstGeom prst="rect">
            <a:avLst/>
          </a:prstGeom>
          <a:noFill/>
        </p:spPr>
        <p:txBody>
          <a:bodyPr wrap="square" lIns="0" rIns="0" tIns="113940" bIns="0">
            <a:spAutoFit/>
          </a:bodyPr>
          <a:lstStyle/>
          <a:p>
            <a:pPr algn="l">
              <a:lnSpc>
                <a:spcPts val="5024"/>
              </a:lnSpc>
              <a:spcBef>
                <a:spcPts val="0"/>
              </a:spcBef>
              <a:spcAft>
                <a:spcPts val="0"/>
              </a:spcAft>
            </a:pPr>
            <a:r>
              <a:rPr sz="2799" b="1" spc="167">
                <a:solidFill>
                  <a:srgbClr val="111111"/>
                </a:solidFill>
                <a:latin typeface="Arial"/>
              </a:rPr>
              <a:t>SO WHAT → </a:t>
            </a:r>
            <a:r>
              <a:rPr sz="3588" b="0" i="1">
                <a:solidFill>
                  <a:srgbClr val="1C1C1C"/>
                </a:solidFill>
                <a:latin typeface="Arial"/>
              </a:rPr>
              <a:t>Data analysis is the bottleneck; search dominates large-scale discovery; planning is least limiting.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87062" y="11650256"/>
            <a:ext cx="8479434" cy="3097405"/>
          </a:xfrm>
          <a:prstGeom prst="rect">
            <a:avLst/>
          </a:prstGeom>
          <a:noFill/>
        </p:spPr>
        <p:txBody>
          <a:bodyPr wrap="none" lIns="346771" rIns="346771" tIns="59447" bIns="59447">
            <a:spAutoFit/>
          </a:bodyPr>
          <a:lstStyle/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 i="1">
                <a:solidFill>
                  <a:srgbClr val="1C1C1C"/>
                </a:solidFill>
                <a:latin typeface="Arial"/>
              </a:rPr>
              <a:t>One number can’t say whether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 i="1">
                <a:solidFill>
                  <a:srgbClr val="1C1C1C"/>
                </a:solidFill>
                <a:latin typeface="Arial"/>
              </a:rPr>
              <a:t>the agent failed to find the data,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 i="1">
                <a:solidFill>
                  <a:srgbClr val="1C1C1C"/>
                </a:solidFill>
                <a:latin typeface="Arial"/>
              </a:rPr>
              <a:t>plan the steps, or run the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0" i="1">
                <a:solidFill>
                  <a:srgbClr val="1C1C1C"/>
                </a:solidFill>
                <a:latin typeface="Arial"/>
              </a:rPr>
              <a:t>analysis.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168056" y="14329219"/>
            <a:ext cx="9316345" cy="1284512"/>
          </a:xfrm>
          <a:prstGeom prst="rect">
            <a:avLst/>
          </a:prstGeom>
          <a:noFill/>
        </p:spPr>
        <p:txBody>
          <a:bodyPr wrap="square" lIns="406472" rIns="0" tIns="188503" bIns="188503">
            <a:spAutoFit/>
          </a:bodyPr>
          <a:lstStyle/>
          <a:p>
            <a:pPr algn="l">
              <a:lnSpc>
                <a:spcPts val="5831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/>
              </a:rPr>
              <a:t>Headline Numbers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80869" y="14980920"/>
            <a:ext cx="9316192" cy="1284510"/>
          </a:xfrm>
          <a:prstGeom prst="rect">
            <a:avLst/>
          </a:prstGeom>
          <a:noFill/>
        </p:spPr>
        <p:txBody>
          <a:bodyPr wrap="square" lIns="406472" rIns="3702712" tIns="188503" bIns="188503">
            <a:spAutoFit/>
          </a:bodyPr>
          <a:lstStyle/>
          <a:p>
            <a:pPr algn="l">
              <a:lnSpc>
                <a:spcPts val="5831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/>
              </a:rPr>
              <a:t>Motivation 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781362" y="16026913"/>
            <a:ext cx="7850335" cy="339478"/>
          </a:xfrm>
          <a:prstGeom prst="rect">
            <a:avLst/>
          </a:prstGeom>
          <a:noFill/>
        </p:spPr>
        <p:txBody>
          <a:bodyPr wrap="square" lIns="374513" rIns="374513" tIns="64203" bIns="64203">
            <a:spAutoFit/>
          </a:bodyPr>
          <a:lstStyle/>
          <a:p>
            <a:pPr algn="ctr">
              <a:lnSpc>
                <a:spcPts val="3054"/>
              </a:lnSpc>
              <a:spcBef>
                <a:spcPts val="0"/>
              </a:spcBef>
              <a:spcAft>
                <a:spcPts val="0"/>
              </a:spcAft>
            </a:pPr>
            <a:r>
              <a:rPr sz="4212" b="0">
                <a:solidFill>
                  <a:srgbClr val="1C1C1C"/>
                </a:solidFill>
                <a:latin typeface="TimesNewRomanPS-ItalicMT"/>
              </a:rPr>
              <a:t>                                                            </a:t>
            </a:r>
            <a:r>
              <a:rPr sz="2106" b="0" i="1">
                <a:solidFill>
                  <a:srgbClr val="555555"/>
                </a:solidFill>
                <a:latin typeface="TimesNewRomanPS-ItalicMT"/>
              </a:rPr>
              <a:t>each intermediate answer is entailed by the subquestion + gold dataset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3215668" y="19339871"/>
            <a:ext cx="9267305" cy="1284510"/>
          </a:xfrm>
          <a:prstGeom prst="rect">
            <a:avLst/>
          </a:prstGeom>
          <a:noFill/>
        </p:spPr>
        <p:txBody>
          <a:bodyPr wrap="square" lIns="406472" rIns="3702712" tIns="188503" bIns="188503">
            <a:spAutoFit/>
          </a:bodyPr>
          <a:lstStyle/>
          <a:p>
            <a:pPr algn="l">
              <a:lnSpc>
                <a:spcPts val="5831"/>
              </a:lnSpc>
              <a:spcBef>
                <a:spcPts val="0"/>
              </a:spcBef>
              <a:spcAft>
                <a:spcPts val="0"/>
              </a:spcAft>
            </a:pPr>
            <a:r>
              <a:rPr sz="5300" b="1">
                <a:solidFill>
                  <a:srgbClr val="FFFFFF"/>
                </a:solidFill>
                <a:latin typeface="Arial"/>
              </a:rPr>
              <a:t>Takeaway 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3621860" y="20712458"/>
            <a:ext cx="8430550" cy="3871672"/>
          </a:xfrm>
          <a:prstGeom prst="rect">
            <a:avLst/>
          </a:prstGeom>
          <a:noFill/>
        </p:spPr>
        <p:txBody>
          <a:bodyPr wrap="none" lIns="346771" rIns="346771" tIns="138710" bIns="9907">
            <a:spAutoFit/>
          </a:bodyPr>
          <a:lstStyle/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/>
              </a:rPr>
              <a:t>SANA turns “did the agent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/>
              </a:rPr>
              <a:t>fail?” into “where did it fail?” —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/>
              </a:rPr>
              <a:t>data analysis is the bottleneck;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/>
              </a:rPr>
              <a:t>retrievers alone can’t fix policy</a:t>
            </a:r>
          </a:p>
          <a:p>
            <a:pPr algn="l">
              <a:lnSpc>
                <a:spcPts val="507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FFFFFF"/>
                </a:solidFill>
                <a:latin typeface="Arial"/>
              </a:rPr>
              <a:t>failures.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355672" y="25533404"/>
            <a:ext cx="10787410" cy="41279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SANA hands the agent the correct subquestion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sequence and measures the residual gap.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Agents already plan 78–82% similar to gold —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the failure is in </a:t>
            </a:r>
            <a:r>
              <a:rPr sz="3900" b="0" i="1">
                <a:solidFill>
                  <a:srgbClr val="1C1C1C"/>
                </a:solidFill>
                <a:latin typeface="Arial"/>
              </a:rPr>
              <a:t>following</a:t>
            </a:r>
            <a:r>
              <a:rPr sz="3900" b="0">
                <a:solidFill>
                  <a:srgbClr val="1C1C1C"/>
                </a:solidFill>
                <a:latin typeface="Arial"/>
              </a:rPr>
              <a:t> the plan, not writing it.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Ideal planning adds only +3.0% (nano).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796761" y="4658763"/>
            <a:ext cx="4057040" cy="687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710"/>
              </a:lnSpc>
              <a:spcBef>
                <a:spcPts val="0"/>
              </a:spcBef>
              <a:spcAft>
                <a:spcPts val="0"/>
              </a:spcAft>
            </a:pPr>
            <a:r>
              <a:rPr sz="4095" b="1">
                <a:solidFill>
                  <a:srgbClr val="34373B"/>
                </a:solidFill>
                <a:latin typeface="Arial"/>
              </a:rPr>
              <a:t>Search Ablation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144379" y="4772290"/>
            <a:ext cx="2362533" cy="4264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920"/>
              </a:lnSpc>
              <a:spcBef>
                <a:spcPts val="0"/>
              </a:spcBef>
              <a:spcAft>
                <a:spcPts val="0"/>
              </a:spcAft>
            </a:pPr>
            <a:r>
              <a:rPr sz="2539" b="1" i="1">
                <a:solidFill>
                  <a:srgbClr val="555555"/>
                </a:solidFill>
                <a:latin typeface="Arial"/>
              </a:rPr>
              <a:t>oracle retrieval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964672" y="8303373"/>
            <a:ext cx="10787631" cy="16511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Preloaded gold sources</a:t>
            </a:r>
            <a:r>
              <a:rPr sz="3900" b="0">
                <a:solidFill>
                  <a:srgbClr val="1C1C1C"/>
                </a:solidFill>
                <a:latin typeface="Arial"/>
              </a:rPr>
              <a:t> — the biggest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single lift: +28.9% (nano), +14.1% (mini)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1964672" y="9912388"/>
            <a:ext cx="10787631" cy="16511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Ideal search over BM25</a:t>
            </a:r>
            <a:r>
              <a:rPr sz="3900" b="0">
                <a:solidFill>
                  <a:srgbClr val="1C1C1C"/>
                </a:solidFill>
                <a:latin typeface="Arial"/>
              </a:rPr>
              <a:t> — +14.1% (nano),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+13.3% (mini)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1964672" y="11521403"/>
            <a:ext cx="10787631" cy="2476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Large-lake effect</a:t>
            </a:r>
            <a:r>
              <a:rPr sz="3900" b="0">
                <a:solidFill>
                  <a:srgbClr val="1C1C1C"/>
                </a:solidFill>
                <a:latin typeface="Arial"/>
              </a:rPr>
              <a:t> — search dominates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LakeQA’s ~40M-dataset discovery, barely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matters on KramaBench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1803680" y="11549377"/>
            <a:ext cx="7804205" cy="1820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ts val="4158"/>
              </a:lnSpc>
              <a:spcBef>
                <a:spcPts val="0"/>
              </a:spcBef>
              <a:spcAft>
                <a:spcPts val="0"/>
              </a:spcAft>
            </a:pPr>
            <a:r>
              <a:rPr sz="3198" b="0" i="1">
                <a:solidFill>
                  <a:srgbClr val="555555"/>
                </a:solidFill>
                <a:latin typeface="Arial"/>
              </a:rPr>
              <a:t>SANA’s three runtime components —</a:t>
            </a:r>
          </a:p>
          <a:p>
            <a:pPr algn="ctr">
              <a:lnSpc>
                <a:spcPts val="4158"/>
              </a:lnSpc>
              <a:spcBef>
                <a:spcPts val="0"/>
              </a:spcBef>
              <a:spcAft>
                <a:spcPts val="0"/>
              </a:spcAft>
            </a:pPr>
            <a:r>
              <a:rPr sz="3198" b="0" i="1">
                <a:solidFill>
                  <a:srgbClr val="555555"/>
                </a:solidFill>
                <a:latin typeface="Arial"/>
              </a:rPr>
              <a:t>planning, search, and data analysis —</a:t>
            </a:r>
          </a:p>
          <a:p>
            <a:pPr algn="ctr">
              <a:lnSpc>
                <a:spcPts val="4158"/>
              </a:lnSpc>
              <a:spcBef>
                <a:spcPts val="0"/>
              </a:spcBef>
              <a:spcAft>
                <a:spcPts val="0"/>
              </a:spcAft>
            </a:pPr>
            <a:r>
              <a:rPr sz="3198" b="0" i="1">
                <a:solidFill>
                  <a:srgbClr val="555555"/>
                </a:solidFill>
                <a:latin typeface="Arial"/>
              </a:rPr>
              <a:t>each ablated in isolation.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1187398" y="14116152"/>
            <a:ext cx="3293999" cy="687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710"/>
              </a:lnSpc>
              <a:spcBef>
                <a:spcPts val="0"/>
              </a:spcBef>
              <a:spcAft>
                <a:spcPts val="0"/>
              </a:spcAft>
            </a:pPr>
            <a:r>
              <a:rPr sz="4095" b="1">
                <a:solidFill>
                  <a:srgbClr val="34373B"/>
                </a:solidFill>
                <a:latin typeface="Arial"/>
              </a:rPr>
              <a:t>Task Profiles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895381" y="14229678"/>
            <a:ext cx="1991510" cy="4264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920"/>
              </a:lnSpc>
              <a:spcBef>
                <a:spcPts val="0"/>
              </a:spcBef>
              <a:spcAft>
                <a:spcPts val="0"/>
              </a:spcAft>
            </a:pPr>
            <a:r>
              <a:rPr sz="2539" b="1" i="1">
                <a:solidFill>
                  <a:srgbClr val="555555"/>
                </a:solidFill>
                <a:latin typeface="Arial"/>
              </a:rPr>
              <a:t>ground truth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796761" y="14904888"/>
            <a:ext cx="5812696" cy="687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710"/>
              </a:lnSpc>
              <a:spcBef>
                <a:spcPts val="0"/>
              </a:spcBef>
              <a:spcAft>
                <a:spcPts val="0"/>
              </a:spcAft>
            </a:pPr>
            <a:r>
              <a:rPr sz="4095" b="1">
                <a:solidFill>
                  <a:srgbClr val="34373B"/>
                </a:solidFill>
                <a:latin typeface="Arial"/>
              </a:rPr>
              <a:t>Data-Analysis Ablation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0324560" y="15018415"/>
            <a:ext cx="2176947" cy="4264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920"/>
              </a:lnSpc>
              <a:spcBef>
                <a:spcPts val="0"/>
              </a:spcBef>
              <a:spcAft>
                <a:spcPts val="0"/>
              </a:spcAft>
            </a:pPr>
            <a:r>
              <a:rPr sz="2539" b="1" i="1">
                <a:solidFill>
                  <a:srgbClr val="555555"/>
                </a:solidFill>
                <a:latin typeface="Arial"/>
              </a:rPr>
              <a:t>verified intent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1965035" y="16301282"/>
            <a:ext cx="5232023" cy="17083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1702"/>
              </a:lnSpc>
              <a:spcBef>
                <a:spcPts val="0"/>
              </a:spcBef>
              <a:spcAft>
                <a:spcPts val="0"/>
              </a:spcAft>
            </a:pPr>
            <a:r>
              <a:rPr sz="11702" b="1">
                <a:solidFill>
                  <a:srgbClr val="34373B"/>
                </a:solidFill>
                <a:latin typeface="Arial"/>
              </a:rPr>
              <a:t>+18.5%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355310" y="16583685"/>
            <a:ext cx="10787783" cy="18389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Gold source sequence</a:t>
            </a:r>
            <a:r>
              <a:rPr sz="3900" b="0">
                <a:solidFill>
                  <a:srgbClr val="1C1C1C"/>
                </a:solidFill>
                <a:latin typeface="Arial"/>
              </a:rPr>
              <a:t> — d</a:t>
            </a:r>
            <a:r>
              <a:rPr sz="5460" b="0" baseline="-25000">
                <a:solidFill>
                  <a:srgbClr val="1C1C1C"/>
                </a:solidFill>
                <a:latin typeface="Arial"/>
              </a:rPr>
              <a:t>i</a:t>
            </a:r>
            <a:r>
              <a:rPr sz="5460" b="0" baseline="30000">
                <a:solidFill>
                  <a:srgbClr val="1C1C1C"/>
                </a:solidFill>
                <a:latin typeface="Arial"/>
              </a:rPr>
              <a:t>gold</a:t>
            </a:r>
            <a:r>
              <a:rPr sz="3900" b="0">
                <a:solidFill>
                  <a:srgbClr val="1C1C1C"/>
                </a:solidFill>
                <a:latin typeface="Arial"/>
              </a:rPr>
              <a:t>, the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datasets each subquestion needs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86700" y="16732624"/>
            <a:ext cx="8479807" cy="49535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Data scientists ask high-level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1">
                <a:solidFill>
                  <a:srgbClr val="111111"/>
                </a:solidFill>
                <a:latin typeface="Arial"/>
              </a:rPr>
              <a:t>questions</a:t>
            </a:r>
            <a:r>
              <a:rPr sz="3900" b="0">
                <a:solidFill>
                  <a:srgbClr val="1C1C1C"/>
                </a:solidFill>
                <a:latin typeface="Arial"/>
              </a:rPr>
              <a:t> — not which tables,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filters, or computations answer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them, so diagnosing where agents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break is the prerequisite to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improving them.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242706" y="17091655"/>
            <a:ext cx="5351256" cy="14859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090"/>
              </a:lnSpc>
              <a:spcBef>
                <a:spcPts val="0"/>
              </a:spcBef>
              <a:spcAft>
                <a:spcPts val="0"/>
              </a:spcAft>
            </a:pPr>
            <a:r>
              <a:rPr sz="3510" b="0">
                <a:solidFill>
                  <a:srgbClr val="555555"/>
                </a:solidFill>
                <a:latin typeface="Arial"/>
              </a:rPr>
              <a:t>ideal data-analysis gain</a:t>
            </a:r>
          </a:p>
          <a:p>
            <a:pPr algn="l">
              <a:lnSpc>
                <a:spcPts val="5090"/>
              </a:lnSpc>
              <a:spcBef>
                <a:spcPts val="0"/>
              </a:spcBef>
              <a:spcAft>
                <a:spcPts val="0"/>
              </a:spcAft>
            </a:pPr>
            <a:r>
              <a:rPr sz="3510" b="0">
                <a:solidFill>
                  <a:srgbClr val="555555"/>
                </a:solidFill>
                <a:latin typeface="Arial"/>
              </a:rPr>
              <a:t>(mini)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355310" y="18355923"/>
            <a:ext cx="10787783" cy="16511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Sanitized subquestions</a:t>
            </a:r>
            <a:r>
              <a:rPr sz="3900" b="0">
                <a:solidFill>
                  <a:srgbClr val="1C1C1C"/>
                </a:solidFill>
                <a:latin typeface="Arial"/>
              </a:rPr>
              <a:t> — dataset names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scrubbed so search cannot be gamed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187398" y="20959152"/>
            <a:ext cx="4531970" cy="687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710"/>
              </a:lnSpc>
              <a:spcBef>
                <a:spcPts val="0"/>
              </a:spcBef>
              <a:spcAft>
                <a:spcPts val="0"/>
              </a:spcAft>
            </a:pPr>
            <a:r>
              <a:rPr sz="4095" b="1">
                <a:solidFill>
                  <a:srgbClr val="34373B"/>
                </a:solidFill>
                <a:latin typeface="Arial"/>
              </a:rPr>
              <a:t>Planning Ablation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7712513" y="21072679"/>
            <a:ext cx="3209864" cy="4264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920"/>
              </a:lnSpc>
              <a:spcBef>
                <a:spcPts val="0"/>
              </a:spcBef>
              <a:spcAft>
                <a:spcPts val="0"/>
              </a:spcAft>
            </a:pPr>
            <a:r>
              <a:rPr sz="2539" b="1" i="1">
                <a:solidFill>
                  <a:srgbClr val="555555"/>
                </a:solidFill>
                <a:latin typeface="Arial"/>
              </a:rPr>
              <a:t>ideal decomposition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86700" y="21213285"/>
            <a:ext cx="8479807" cy="41279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Prior benchmarks conflate:</a:t>
            </a:r>
            <a:r>
              <a:rPr sz="3900" b="0">
                <a:solidFill>
                  <a:srgbClr val="1C1C1C"/>
                </a:solidFill>
                <a:latin typeface="Arial"/>
              </a:rPr>
              <a:t> they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test components in isolation or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report one score — none isolates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search, planning, analysis, and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policy as separate failure modes.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269544" y="21967502"/>
            <a:ext cx="9846122" cy="17557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46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111111"/>
                </a:solidFill>
                <a:latin typeface="Arial"/>
              </a:rPr>
              <a:t>Decompose</a:t>
            </a:r>
            <a:r>
              <a:rPr sz="3900" b="0">
                <a:solidFill>
                  <a:srgbClr val="1C1C1C"/>
                </a:solidFill>
                <a:latin typeface="Arial"/>
              </a:rPr>
              <a:t> — sanitized subquestions</a:t>
            </a:r>
          </a:p>
          <a:p>
            <a:pPr algn="l">
              <a:lnSpc>
                <a:spcPts val="546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from the gold profile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1964672" y="23736468"/>
            <a:ext cx="10787631" cy="16511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Intent match</a:t>
            </a:r>
            <a:r>
              <a:rPr sz="3900" b="0">
                <a:solidFill>
                  <a:srgbClr val="1C1C1C"/>
                </a:solidFill>
                <a:latin typeface="Arial"/>
              </a:rPr>
              <a:t> → return the verified gold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answer, no code needed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269544" y="23791221"/>
            <a:ext cx="9846122" cy="17557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46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111111"/>
                </a:solidFill>
                <a:latin typeface="Arial"/>
              </a:rPr>
              <a:t>Search &amp; analyze</a:t>
            </a:r>
            <a:r>
              <a:rPr sz="3900" b="0">
                <a:solidFill>
                  <a:srgbClr val="1C1C1C"/>
                </a:solidFill>
                <a:latin typeface="Arial"/>
              </a:rPr>
              <a:t> — execute against gold</a:t>
            </a:r>
          </a:p>
          <a:p>
            <a:pPr algn="l">
              <a:lnSpc>
                <a:spcPts val="5460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sources, verify, submit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283090" y="25124529"/>
            <a:ext cx="2899221" cy="5365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675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34373B"/>
                </a:solidFill>
                <a:latin typeface="Arial"/>
              </a:rPr>
              <a:t>Scan to Read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964672" y="25345483"/>
            <a:ext cx="10787631" cy="16511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Intent mismatch</a:t>
            </a:r>
            <a:r>
              <a:rPr sz="3900" b="0">
                <a:solidFill>
                  <a:srgbClr val="1C1C1C"/>
                </a:solidFill>
                <a:latin typeface="Arial"/>
              </a:rPr>
              <a:t> → a stronger model writes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code matching the stated intent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57382" y="26260986"/>
            <a:ext cx="7638081" cy="33023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Search, planning, analysis, and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policy all shape success — yet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no existing evaluation can</a:t>
            </a:r>
          </a:p>
          <a:p>
            <a:pPr algn="l">
              <a:lnSpc>
                <a:spcPts val="5656"/>
              </a:lnSpc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C1C1C"/>
                </a:solidFill>
                <a:latin typeface="Arial"/>
              </a:rPr>
              <a:t>separate them.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1964672" y="26954498"/>
            <a:ext cx="10787631" cy="2476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 marL="544927" indent="-544927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3900" b="1">
                <a:solidFill>
                  <a:srgbClr val="111111"/>
                </a:solidFill>
                <a:latin typeface="Arial"/>
              </a:rPr>
              <a:t>Failure audit</a:t>
            </a:r>
            <a:r>
              <a:rPr sz="3900" b="0">
                <a:solidFill>
                  <a:srgbClr val="1C1C1C"/>
                </a:solidFill>
                <a:latin typeface="Arial"/>
              </a:rPr>
              <a:t> — gpt-5-mini concentrates its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errors in computation (39.6%) and</a:t>
            </a:r>
          </a:p>
          <a:p>
            <a:pPr algn="l" marL="544927" indent="0">
              <a:lnSpc>
                <a:spcPts val="565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900" b="0">
                <a:solidFill>
                  <a:srgbClr val="1C1C1C"/>
                </a:solidFill>
                <a:latin typeface="Arial"/>
              </a:rPr>
              <a:t>finalization (21.0%), never the wrong source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3837604" y="15887944"/>
            <a:ext cx="3883865" cy="1470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0071"/>
              </a:lnSpc>
              <a:spcBef>
                <a:spcPts val="0"/>
              </a:spcBef>
              <a:spcAft>
                <a:spcPts val="0"/>
              </a:spcAft>
            </a:pPr>
            <a:r>
              <a:rPr sz="10601" b="1" spc="-212">
                <a:solidFill>
                  <a:srgbClr val="34373B"/>
                </a:solidFill>
                <a:latin typeface="Arial"/>
              </a:rPr>
              <a:t>76.3%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3837604" y="17188517"/>
            <a:ext cx="3883865" cy="11241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385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1C1C1C"/>
                </a:solidFill>
                <a:latin typeface="Arial"/>
              </a:rPr>
              <a:t>semantic match,</a:t>
            </a:r>
          </a:p>
          <a:p>
            <a:pPr algn="l">
              <a:lnSpc>
                <a:spcPts val="385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1C1C1C"/>
                </a:solidFill>
                <a:latin typeface="Arial"/>
              </a:rPr>
              <a:t>Ideal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3837604" y="18166068"/>
            <a:ext cx="3883865" cy="436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1">
                <a:solidFill>
                  <a:srgbClr val="555555"/>
                </a:solidFill>
                <a:latin typeface="Arial"/>
              </a:rPr>
              <a:t>LakeQA, vs 56.3% Naive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3574247" y="5570101"/>
            <a:ext cx="6525931" cy="712667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l">
              <a:lnSpc>
                <a:spcPts val="3945"/>
              </a:lnSpc>
              <a:spcBef>
                <a:spcPts val="0"/>
              </a:spcBef>
              <a:spcAft>
                <a:spcPts val="0"/>
              </a:spcAft>
            </a:pPr>
            <a:r>
              <a:rPr sz="2720" b="1" spc="136">
                <a:solidFill>
                  <a:srgbClr val="34373B"/>
                </a:solidFill>
                <a:latin typeface="Arial"/>
              </a:rPr>
              <a:t>METHOD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9910103" y="5570101"/>
            <a:ext cx="1953659" cy="712667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ctr">
              <a:lnSpc>
                <a:spcPts val="3945"/>
              </a:lnSpc>
              <a:spcBef>
                <a:spcPts val="0"/>
              </a:spcBef>
              <a:spcAft>
                <a:spcPts val="0"/>
              </a:spcAft>
            </a:pPr>
            <a:r>
              <a:rPr sz="2720" b="1" spc="136">
                <a:solidFill>
                  <a:srgbClr val="34373B"/>
                </a:solidFill>
                <a:latin typeface="Arial"/>
              </a:rPr>
              <a:t>METRIC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3574247" y="6189812"/>
            <a:ext cx="6525931" cy="910126"/>
          </a:xfrm>
          <a:prstGeom prst="rect">
            <a:avLst/>
          </a:prstGeom>
          <a:noFill/>
        </p:spPr>
        <p:txBody>
          <a:bodyPr wrap="square" lIns="76213" rIns="76213" tIns="57160" bIns="57160">
            <a:spAutoFit/>
          </a:bodyPr>
          <a:lstStyle/>
          <a:p>
            <a:pPr algn="l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7" b="1">
                <a:solidFill>
                  <a:srgbClr val="1C1C1C"/>
                </a:solidFill>
                <a:latin typeface="Arial"/>
              </a:rPr>
              <a:t>Naive (gpt-5-mini)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9910103" y="6189812"/>
            <a:ext cx="1953659" cy="910126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ctr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7" b="0">
                <a:solidFill>
                  <a:srgbClr val="1C1C1C"/>
                </a:solidFill>
                <a:latin typeface="Arial"/>
              </a:rPr>
              <a:t>56.3%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3574247" y="6981226"/>
            <a:ext cx="6525931" cy="910126"/>
          </a:xfrm>
          <a:prstGeom prst="rect">
            <a:avLst/>
          </a:prstGeom>
          <a:noFill/>
        </p:spPr>
        <p:txBody>
          <a:bodyPr wrap="square" lIns="76213" rIns="76213" tIns="57160" bIns="57160">
            <a:spAutoFit/>
          </a:bodyPr>
          <a:lstStyle/>
          <a:p>
            <a:pPr algn="l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7" b="1">
                <a:solidFill>
                  <a:srgbClr val="34373B"/>
                </a:solidFill>
                <a:latin typeface="Arial"/>
              </a:rPr>
              <a:t>SANA Ideal (gpt-5-mini)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9910103" y="6981226"/>
            <a:ext cx="1953659" cy="910126"/>
          </a:xfrm>
          <a:prstGeom prst="rect">
            <a:avLst/>
          </a:prstGeom>
          <a:noFill/>
        </p:spPr>
        <p:txBody>
          <a:bodyPr wrap="none" lIns="76213" rIns="76213" tIns="57160" bIns="57160">
            <a:spAutoFit/>
          </a:bodyPr>
          <a:lstStyle/>
          <a:p>
            <a:pPr algn="ctr">
              <a:lnSpc>
                <a:spcPts val="5260"/>
              </a:lnSpc>
              <a:spcBef>
                <a:spcPts val="0"/>
              </a:spcBef>
              <a:spcAft>
                <a:spcPts val="0"/>
              </a:spcAft>
            </a:pPr>
            <a:r>
              <a:rPr sz="3627" b="1">
                <a:solidFill>
                  <a:srgbClr val="34373B"/>
                </a:solidFill>
                <a:latin typeface="Arial"/>
              </a:rPr>
              <a:t>76.3%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608058" y="15793313"/>
            <a:ext cx="1757341" cy="5839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40">
                <a:solidFill>
                  <a:srgbClr val="AE2622"/>
                </a:solidFill>
                <a:latin typeface="Arial"/>
              </a:rPr>
              <a:t>+28.9%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0487403" y="15917106"/>
            <a:ext cx="1512293" cy="9109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/>
              </a:rPr>
              <a:t>preloaded</a:t>
            </a: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/>
              </a:rPr>
              <a:t>sources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8608058" y="16956850"/>
            <a:ext cx="1757341" cy="5839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40">
                <a:solidFill>
                  <a:srgbClr val="AE2622"/>
                </a:solidFill>
                <a:latin typeface="Arial"/>
              </a:rPr>
              <a:t>+18.5%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0487403" y="17080644"/>
            <a:ext cx="1228162" cy="9109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/>
              </a:rPr>
              <a:t>data</a:t>
            </a: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/>
              </a:rPr>
              <a:t>analysis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8608058" y="18120388"/>
            <a:ext cx="1471677" cy="5839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40">
                <a:solidFill>
                  <a:srgbClr val="AE2622"/>
                </a:solidFill>
                <a:latin typeface="Arial"/>
              </a:rPr>
              <a:t>+9.6%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0210064" y="18244182"/>
            <a:ext cx="1285475" cy="4554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555555"/>
                </a:solidFill>
                <a:latin typeface="Arial"/>
              </a:rPr>
              <a:t>planning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1965035" y="18987239"/>
            <a:ext cx="6100963" cy="771869"/>
          </a:xfrm>
          <a:prstGeom prst="rect">
            <a:avLst/>
          </a:prstGeom>
          <a:noFill/>
        </p:spPr>
        <p:txBody>
          <a:bodyPr wrap="square" lIns="176482" rIns="176482" tIns="77652" bIns="77652">
            <a:spAutoFit/>
          </a:bodyPr>
          <a:lstStyle/>
          <a:p>
            <a:pPr algn="l">
              <a:lnSpc>
                <a:spcPts val="4029"/>
              </a:lnSpc>
              <a:spcBef>
                <a:spcPts val="0"/>
              </a:spcBef>
              <a:spcAft>
                <a:spcPts val="0"/>
              </a:spcAft>
            </a:pPr>
            <a:r>
              <a:rPr sz="2779" b="1" spc="138">
                <a:solidFill>
                  <a:srgbClr val="555555"/>
                </a:solidFill>
                <a:latin typeface="Arial"/>
              </a:rPr>
              <a:t>IDEAL COMPONENT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7888301" y="18987239"/>
            <a:ext cx="2343068" cy="771869"/>
          </a:xfrm>
          <a:prstGeom prst="rect">
            <a:avLst/>
          </a:prstGeom>
          <a:noFill/>
        </p:spPr>
        <p:txBody>
          <a:bodyPr wrap="none" lIns="176482" rIns="176482" tIns="77652" bIns="77652">
            <a:spAutoFit/>
          </a:bodyPr>
          <a:lstStyle/>
          <a:p>
            <a:pPr algn="l">
              <a:lnSpc>
                <a:spcPts val="4029"/>
              </a:lnSpc>
              <a:spcBef>
                <a:spcPts val="0"/>
              </a:spcBef>
              <a:spcAft>
                <a:spcPts val="0"/>
              </a:spcAft>
            </a:pPr>
            <a:r>
              <a:rPr sz="2779" b="1" spc="138">
                <a:solidFill>
                  <a:srgbClr val="555555"/>
                </a:solidFill>
                <a:latin typeface="Arial"/>
              </a:rPr>
              <a:t>NANO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0163125" y="18987239"/>
            <a:ext cx="2343225" cy="771869"/>
          </a:xfrm>
          <a:prstGeom prst="rect">
            <a:avLst/>
          </a:prstGeom>
          <a:noFill/>
        </p:spPr>
        <p:txBody>
          <a:bodyPr wrap="none" lIns="176482" rIns="176482" tIns="77652" bIns="77652">
            <a:spAutoFit/>
          </a:bodyPr>
          <a:lstStyle/>
          <a:p>
            <a:pPr algn="l">
              <a:lnSpc>
                <a:spcPts val="4029"/>
              </a:lnSpc>
              <a:spcBef>
                <a:spcPts val="0"/>
              </a:spcBef>
              <a:spcAft>
                <a:spcPts val="0"/>
              </a:spcAft>
            </a:pPr>
            <a:r>
              <a:rPr sz="2779" b="1" spc="138">
                <a:solidFill>
                  <a:srgbClr val="555555"/>
                </a:solidFill>
                <a:latin typeface="Arial"/>
              </a:rPr>
              <a:t>MINI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1965035" y="19658430"/>
            <a:ext cx="6100963" cy="1033153"/>
          </a:xfrm>
          <a:prstGeom prst="rect">
            <a:avLst/>
          </a:prstGeom>
          <a:noFill/>
        </p:spPr>
        <p:txBody>
          <a:bodyPr wrap="squar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Search over BM25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7888301" y="19658430"/>
            <a:ext cx="2343068" cy="1033153"/>
          </a:xfrm>
          <a:prstGeom prst="rect">
            <a:avLst/>
          </a:prstGeom>
          <a:noFill/>
        </p:spPr>
        <p:txBody>
          <a:bodyPr wrap="non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+14.1%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0163125" y="19658430"/>
            <a:ext cx="2343225" cy="1033153"/>
          </a:xfrm>
          <a:prstGeom prst="rect">
            <a:avLst/>
          </a:prstGeom>
          <a:noFill/>
        </p:spPr>
        <p:txBody>
          <a:bodyPr wrap="non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+13.3%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1965035" y="20556824"/>
            <a:ext cx="6100963" cy="1033153"/>
          </a:xfrm>
          <a:prstGeom prst="rect">
            <a:avLst/>
          </a:prstGeom>
          <a:noFill/>
        </p:spPr>
        <p:txBody>
          <a:bodyPr wrap="squar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Preloaded gold sources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7888301" y="20556824"/>
            <a:ext cx="2343068" cy="1033153"/>
          </a:xfrm>
          <a:prstGeom prst="rect">
            <a:avLst/>
          </a:prstGeom>
          <a:noFill/>
        </p:spPr>
        <p:txBody>
          <a:bodyPr wrap="non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+28.9%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0163125" y="20556824"/>
            <a:ext cx="2343225" cy="1033153"/>
          </a:xfrm>
          <a:prstGeom prst="rect">
            <a:avLst/>
          </a:prstGeom>
          <a:noFill/>
        </p:spPr>
        <p:txBody>
          <a:bodyPr wrap="non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+14.1%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965035" y="21455218"/>
            <a:ext cx="6100963" cy="1033153"/>
          </a:xfrm>
          <a:prstGeom prst="rect">
            <a:avLst/>
          </a:prstGeom>
          <a:noFill/>
        </p:spPr>
        <p:txBody>
          <a:bodyPr wrap="squar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1">
                <a:solidFill>
                  <a:srgbClr val="1C1C1C"/>
                </a:solidFill>
                <a:latin typeface="Arial"/>
              </a:rPr>
              <a:t>Data analysis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7888301" y="21455218"/>
            <a:ext cx="2343068" cy="1033153"/>
          </a:xfrm>
          <a:prstGeom prst="rect">
            <a:avLst/>
          </a:prstGeom>
          <a:noFill/>
        </p:spPr>
        <p:txBody>
          <a:bodyPr wrap="non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1">
                <a:solidFill>
                  <a:srgbClr val="1C1C1C"/>
                </a:solidFill>
                <a:latin typeface="Arial"/>
              </a:rPr>
              <a:t>+8.2%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0163125" y="21455218"/>
            <a:ext cx="2343225" cy="1033153"/>
          </a:xfrm>
          <a:prstGeom prst="rect">
            <a:avLst/>
          </a:prstGeom>
          <a:noFill/>
        </p:spPr>
        <p:txBody>
          <a:bodyPr wrap="non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1">
                <a:solidFill>
                  <a:srgbClr val="1C1C1C"/>
                </a:solidFill>
                <a:latin typeface="Arial"/>
              </a:rPr>
              <a:t>+18.5%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965035" y="22353612"/>
            <a:ext cx="6100963" cy="1033153"/>
          </a:xfrm>
          <a:prstGeom prst="rect">
            <a:avLst/>
          </a:prstGeom>
          <a:noFill/>
        </p:spPr>
        <p:txBody>
          <a:bodyPr wrap="squar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Planning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7888301" y="22353612"/>
            <a:ext cx="2343068" cy="1033153"/>
          </a:xfrm>
          <a:prstGeom prst="rect">
            <a:avLst/>
          </a:prstGeom>
          <a:noFill/>
        </p:spPr>
        <p:txBody>
          <a:bodyPr wrap="non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+3.0%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0163125" y="22353612"/>
            <a:ext cx="2343225" cy="1033153"/>
          </a:xfrm>
          <a:prstGeom prst="rect">
            <a:avLst/>
          </a:prstGeom>
          <a:noFill/>
        </p:spPr>
        <p:txBody>
          <a:bodyPr wrap="none" lIns="235309" rIns="235309" tIns="103537" bIns="103537">
            <a:spAutoFit/>
          </a:bodyPr>
          <a:lstStyle/>
          <a:p>
            <a:pPr algn="l">
              <a:lnSpc>
                <a:spcPts val="5373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Arial"/>
              </a:rPr>
              <a:t>+9.6%</a:t>
            </a:r>
          </a:p>
        </p:txBody>
      </p:sp>
      <p:pic>
        <p:nvPicPr>
          <p:cNvPr id="168" name="Picture 167" descr="eq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50294" y="15161104"/>
            <a:ext cx="8083822" cy="75228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