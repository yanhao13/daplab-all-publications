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2084" y="622090"/>
            <a:ext cx="41549756" cy="3933859"/>
          </a:xfrm>
          <a:prstGeom prst="roundRect">
            <a:avLst>
              <a:gd name="adj" fmla="val 3874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2084" y="5051122"/>
            <a:ext cx="8962417" cy="9998539"/>
          </a:xfrm>
          <a:prstGeom prst="rect">
            <a:avLst/>
          </a:prstGeom>
          <a:solidFill>
            <a:srgbClr val="FFFFFF"/>
          </a:solidFill>
          <a:ln w="9526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2084" y="5051122"/>
            <a:ext cx="171480" cy="9998539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90693" y="5051122"/>
            <a:ext cx="11203171" cy="5748204"/>
          </a:xfrm>
          <a:prstGeom prst="rect">
            <a:avLst/>
          </a:prstGeom>
          <a:solidFill>
            <a:srgbClr val="FFFFFF"/>
          </a:solidFill>
          <a:ln w="9526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90693" y="5051122"/>
            <a:ext cx="171481" cy="5748204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00055" y="5051122"/>
            <a:ext cx="11203023" cy="11644156"/>
          </a:xfrm>
          <a:prstGeom prst="rect">
            <a:avLst/>
          </a:prstGeom>
          <a:solidFill>
            <a:srgbClr val="FFFFFF"/>
          </a:solidFill>
          <a:ln w="9526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600055" y="5051122"/>
            <a:ext cx="171481" cy="11644156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209270" y="5051122"/>
            <a:ext cx="8962567" cy="5497493"/>
          </a:xfrm>
          <a:prstGeom prst="rect">
            <a:avLst/>
          </a:prstGeom>
          <a:solidFill>
            <a:srgbClr val="FFFFFF"/>
          </a:solidFill>
          <a:ln w="9526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09270" y="5051122"/>
            <a:ext cx="171480" cy="5497493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09270" y="10865983"/>
            <a:ext cx="8962567" cy="5125221"/>
          </a:xfrm>
          <a:prstGeom prst="rect">
            <a:avLst/>
          </a:prstGeom>
          <a:solidFill>
            <a:srgbClr val="FFFFFF"/>
          </a:solidFill>
          <a:ln w="9526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09270" y="10865983"/>
            <a:ext cx="171480" cy="5125221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90693" y="11116695"/>
            <a:ext cx="11203171" cy="9288810"/>
          </a:xfrm>
          <a:prstGeom prst="rect">
            <a:avLst/>
          </a:prstGeom>
          <a:solidFill>
            <a:srgbClr val="FFFFFF"/>
          </a:solidFill>
          <a:ln w="9526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90693" y="11116695"/>
            <a:ext cx="171481" cy="928881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084" y="15367030"/>
            <a:ext cx="8962417" cy="14273571"/>
          </a:xfrm>
          <a:prstGeom prst="rect">
            <a:avLst/>
          </a:prstGeom>
          <a:solidFill>
            <a:srgbClr val="FFFFFF"/>
          </a:solidFill>
          <a:ln w="9526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084" y="15367030"/>
            <a:ext cx="171480" cy="14273571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09270" y="16308573"/>
            <a:ext cx="8962567" cy="5070912"/>
          </a:xfrm>
          <a:prstGeom prst="rect">
            <a:avLst/>
          </a:prstGeom>
          <a:solidFill>
            <a:srgbClr val="F6ECF1"/>
          </a:solidFill>
          <a:ln w="9526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209270" y="16308573"/>
            <a:ext cx="57160" cy="5070912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600055" y="17012647"/>
            <a:ext cx="11203023" cy="12627954"/>
          </a:xfrm>
          <a:prstGeom prst="rect">
            <a:avLst/>
          </a:prstGeom>
          <a:solidFill>
            <a:srgbClr val="FFFFFF"/>
          </a:solidFill>
          <a:ln w="9526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00055" y="17012647"/>
            <a:ext cx="171481" cy="12627954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90693" y="20722873"/>
            <a:ext cx="11203171" cy="8917728"/>
          </a:xfrm>
          <a:prstGeom prst="rect">
            <a:avLst/>
          </a:prstGeom>
          <a:solidFill>
            <a:srgbClr val="FFFFFF"/>
          </a:solidFill>
          <a:ln w="9526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90693" y="20722873"/>
            <a:ext cx="171481" cy="8917728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09270" y="21696854"/>
            <a:ext cx="8962567" cy="7943747"/>
          </a:xfrm>
          <a:prstGeom prst="rect">
            <a:avLst/>
          </a:prstGeom>
          <a:solidFill>
            <a:srgbClr val="FFFFFF"/>
          </a:solidFill>
          <a:ln w="9526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209270" y="21696854"/>
            <a:ext cx="171480" cy="7943747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863046" y="8846160"/>
            <a:ext cx="7943814" cy="892442"/>
          </a:xfrm>
          <a:prstGeom prst="roundRect">
            <a:avLst>
              <a:gd name="adj" fmla="val 21065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75860" y="12082788"/>
            <a:ext cx="7943663" cy="25550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75860" y="12082788"/>
            <a:ext cx="114320" cy="2555022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63046" y="12214765"/>
            <a:ext cx="7943814" cy="2925360"/>
          </a:xfrm>
          <a:prstGeom prst="roundRect">
            <a:avLst>
              <a:gd name="adj" fmla="val 2605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9526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2253832" y="14117491"/>
            <a:ext cx="10184269" cy="2140642"/>
          </a:xfrm>
          <a:prstGeom prst="roundRect">
            <a:avLst>
              <a:gd name="adj" fmla="val 9484"/>
            </a:avLst>
          </a:prstGeom>
          <a:solidFill>
            <a:srgbClr val="F7F2F5"/>
          </a:solidFill>
          <a:ln w="9526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748777" y="17657354"/>
            <a:ext cx="8058083" cy="1503077"/>
          </a:xfrm>
          <a:prstGeom prst="roundRect">
            <a:avLst>
              <a:gd name="adj" fmla="val 12507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44470" y="26408884"/>
            <a:ext cx="10184416" cy="2094963"/>
          </a:xfrm>
          <a:prstGeom prst="roundRect">
            <a:avLst>
              <a:gd name="adj" fmla="val 8973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253832" y="5687348"/>
            <a:ext cx="591881" cy="59188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08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44470" y="6634694"/>
            <a:ext cx="10184416" cy="272122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491" y="6634694"/>
            <a:ext cx="10184374" cy="272122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0644470" y="11752921"/>
            <a:ext cx="591879" cy="591886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08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283103" y="12427385"/>
            <a:ext cx="3285696" cy="25255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283103" y="12427385"/>
            <a:ext cx="12385" cy="2525563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2253832" y="17377628"/>
            <a:ext cx="591881" cy="591888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08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44470" y="21087855"/>
            <a:ext cx="591879" cy="59188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08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644470" y="22054395"/>
            <a:ext cx="1393255" cy="1367084"/>
          </a:xfrm>
          <a:prstGeom prst="roundRect">
            <a:avLst>
              <a:gd name="adj" fmla="val 9866"/>
            </a:avLst>
          </a:prstGeom>
          <a:solidFill>
            <a:srgbClr val="FFFFFF"/>
          </a:solidFill>
          <a:ln w="9526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34" b="1">
                <a:solidFill>
                  <a:srgbClr val="7D2860"/>
                </a:solidFill>
                <a:latin typeface="Arial"/>
              </a:rPr>
              <a:t>Query names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789403" y="22054395"/>
            <a:ext cx="1821616" cy="1367084"/>
          </a:xfrm>
          <a:prstGeom prst="roundRect">
            <a:avLst>
              <a:gd name="adj" fmla="val 9866"/>
            </a:avLst>
          </a:prstGeom>
          <a:solidFill>
            <a:srgbClr val="FFFFFF"/>
          </a:solidFill>
          <a:ln w="9526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34" b="1">
                <a:solidFill>
                  <a:srgbClr val="7D2860"/>
                </a:solidFill>
                <a:latin typeface="Arial"/>
              </a:rPr>
              <a:t>LLM validates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362699" y="22054395"/>
            <a:ext cx="1436105" cy="1367084"/>
          </a:xfrm>
          <a:prstGeom prst="roundRect">
            <a:avLst>
              <a:gd name="adj" fmla="val 9866"/>
            </a:avLst>
          </a:prstGeom>
          <a:solidFill>
            <a:srgbClr val="FFFFFF"/>
          </a:solidFill>
          <a:ln w="9526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34" b="1">
                <a:solidFill>
                  <a:srgbClr val="7D2860"/>
                </a:solidFill>
                <a:latin typeface="Arial"/>
              </a:rPr>
              <a:t>Read source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550483" y="22054395"/>
            <a:ext cx="1350105" cy="1367084"/>
          </a:xfrm>
          <a:prstGeom prst="roundRect">
            <a:avLst>
              <a:gd name="adj" fmla="val 9990"/>
            </a:avLst>
          </a:prstGeom>
          <a:solidFill>
            <a:srgbClr val="FFFFFF"/>
          </a:solidFill>
          <a:ln w="9526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34" b="1">
                <a:solidFill>
                  <a:srgbClr val="7D2860"/>
                </a:solidFill>
                <a:latin typeface="Arial"/>
              </a:rPr>
              <a:t>Refine query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652267" y="22054395"/>
            <a:ext cx="1414086" cy="1367084"/>
          </a:xfrm>
          <a:prstGeom prst="roundRect">
            <a:avLst>
              <a:gd name="adj" fmla="val 9866"/>
            </a:avLst>
          </a:prstGeom>
          <a:solidFill>
            <a:srgbClr val="FFFFFF"/>
          </a:solidFill>
          <a:ln w="9526">
            <a:solidFill>
              <a:srgbClr val="C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34" b="1">
                <a:solidFill>
                  <a:srgbClr val="7D2860"/>
                </a:solidFill>
                <a:latin typeface="Arial"/>
              </a:rPr>
              <a:t>Report ops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75860" y="27612596"/>
            <a:ext cx="1726243" cy="738443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45" b="1">
                <a:solidFill>
                  <a:srgbClr val="555555"/>
                </a:solidFill>
                <a:latin typeface="Arial"/>
              </a:rPr>
              <a:t>MScan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43005" y="27612596"/>
            <a:ext cx="2658105" cy="738443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45" b="1">
                <a:solidFill>
                  <a:srgbClr val="555555"/>
                </a:solidFill>
                <a:latin typeface="Arial"/>
              </a:rPr>
              <a:t>Microscope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2012" y="27612596"/>
            <a:ext cx="1614950" cy="738443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45" b="1">
                <a:solidFill>
                  <a:srgbClr val="555555"/>
                </a:solidFill>
                <a:latin typeface="Arial"/>
              </a:rPr>
              <a:t>MACE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75860" y="28491943"/>
            <a:ext cx="2169930" cy="73844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45" b="1">
                <a:solidFill>
                  <a:srgbClr val="555555"/>
                </a:solidFill>
                <a:latin typeface="Arial"/>
              </a:rPr>
              <a:t>RoleCast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86693" y="28491943"/>
            <a:ext cx="1991979" cy="73844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45" b="1">
                <a:solidFill>
                  <a:srgbClr val="555555"/>
                </a:solidFill>
                <a:latin typeface="Arial"/>
              </a:rPr>
              <a:t>CodeQL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19574" y="28491943"/>
            <a:ext cx="1991979" cy="73844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45" b="1">
                <a:solidFill>
                  <a:srgbClr val="AE2622"/>
                </a:solidFill>
                <a:latin typeface="Arial"/>
              </a:rPr>
              <a:t>EnIGMA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253832" y="9040479"/>
            <a:ext cx="634419" cy="634426"/>
          </a:xfrm>
          <a:prstGeom prst="roundRect">
            <a:avLst>
              <a:gd name="adj" fmla="val 49554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3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253832" y="10777900"/>
            <a:ext cx="634419" cy="634426"/>
          </a:xfrm>
          <a:prstGeom prst="roundRect">
            <a:avLst>
              <a:gd name="adj" fmla="val 49554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3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253832" y="12515321"/>
            <a:ext cx="634419" cy="634426"/>
          </a:xfrm>
          <a:prstGeom prst="roundRect">
            <a:avLst>
              <a:gd name="adj" fmla="val 49554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33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63046" y="6574583"/>
            <a:ext cx="6263547" cy="752431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863046" y="7317487"/>
            <a:ext cx="626354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126593" y="6574583"/>
            <a:ext cx="1680267" cy="752431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126593" y="7317487"/>
            <a:ext cx="168026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863046" y="7327014"/>
            <a:ext cx="6263547" cy="7571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863046" y="8074679"/>
            <a:ext cx="626354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126593" y="7327014"/>
            <a:ext cx="1680267" cy="7571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0126593" y="8074679"/>
            <a:ext cx="168026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863046" y="8084206"/>
            <a:ext cx="6263547" cy="75719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863046" y="8831872"/>
            <a:ext cx="626354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126593" y="8084206"/>
            <a:ext cx="1680267" cy="75719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0126593" y="8831872"/>
            <a:ext cx="1680267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644470" y="15213776"/>
            <a:ext cx="3165175" cy="637119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644470" y="15841368"/>
            <a:ext cx="316517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809645" y="15213776"/>
            <a:ext cx="4509628" cy="637119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809645" y="15841368"/>
            <a:ext cx="4509628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8319273" y="15213776"/>
            <a:ext cx="2509613" cy="637119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8319273" y="15841368"/>
            <a:ext cx="2509613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644470" y="15850895"/>
            <a:ext cx="3165175" cy="8525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644470" y="16693934"/>
            <a:ext cx="316517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3809645" y="15850895"/>
            <a:ext cx="4509628" cy="8525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3809645" y="16693934"/>
            <a:ext cx="4509628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319273" y="15850895"/>
            <a:ext cx="2509613" cy="8525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8319273" y="16693934"/>
            <a:ext cx="2509613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644470" y="16703461"/>
            <a:ext cx="3165175" cy="8525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644470" y="17546501"/>
            <a:ext cx="316517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3809645" y="16703461"/>
            <a:ext cx="4509628" cy="8525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3809645" y="17546501"/>
            <a:ext cx="4509628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319273" y="16703461"/>
            <a:ext cx="2509613" cy="8525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8319273" y="17546501"/>
            <a:ext cx="2509613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644470" y="17556028"/>
            <a:ext cx="3165175" cy="8525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44470" y="18399068"/>
            <a:ext cx="316517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3809645" y="17556028"/>
            <a:ext cx="4509628" cy="8525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3809645" y="18399068"/>
            <a:ext cx="4509628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8319273" y="17556028"/>
            <a:ext cx="2509613" cy="8525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8319273" y="18399068"/>
            <a:ext cx="2509613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44470" y="18408595"/>
            <a:ext cx="3165175" cy="8525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644470" y="19251634"/>
            <a:ext cx="3165175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809645" y="18408595"/>
            <a:ext cx="4509628" cy="8525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3809645" y="19251634"/>
            <a:ext cx="4509628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8319273" y="18408595"/>
            <a:ext cx="2509613" cy="8525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8319273" y="19251634"/>
            <a:ext cx="2509613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33526933" y="22852655"/>
            <a:ext cx="4062817" cy="4062859"/>
          </a:xfrm>
          <a:prstGeom prst="roundRect">
            <a:avLst>
              <a:gd name="adj" fmla="val 4064"/>
            </a:avLst>
          </a:prstGeom>
          <a:solidFill>
            <a:srgbClr val="FFFFFF"/>
          </a:solidFill>
          <a:ln w="9526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1254" y="22966976"/>
            <a:ext cx="3834174" cy="3834216"/>
          </a:xfrm>
          <a:prstGeom prst="rect">
            <a:avLst/>
          </a:prstGeom>
        </p:spPr>
      </p:pic>
      <p:sp>
        <p:nvSpPr>
          <p:cNvPr id="98" name="Rounded Rectangle 97"/>
          <p:cNvSpPr/>
          <p:nvPr/>
        </p:nvSpPr>
        <p:spPr>
          <a:xfrm>
            <a:off x="38080156" y="22852655"/>
            <a:ext cx="4062818" cy="4062859"/>
          </a:xfrm>
          <a:prstGeom prst="roundRect">
            <a:avLst>
              <a:gd name="adj" fmla="val 4064"/>
            </a:avLst>
          </a:prstGeom>
          <a:solidFill>
            <a:srgbClr val="FFFFFF"/>
          </a:solidFill>
          <a:ln w="9526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4478" y="22966976"/>
            <a:ext cx="3834174" cy="3834216"/>
          </a:xfrm>
          <a:prstGeom prst="rect">
            <a:avLst/>
          </a:prstGeom>
        </p:spPr>
      </p:pic>
      <p:sp>
        <p:nvSpPr>
          <p:cNvPr id="100" name="Rounded Rectangle 99"/>
          <p:cNvSpPr/>
          <p:nvPr/>
        </p:nvSpPr>
        <p:spPr>
          <a:xfrm>
            <a:off x="34965717" y="27055078"/>
            <a:ext cx="1185099" cy="506332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7D2860"/>
                </a:solidFill>
                <a:latin typeface="Arial"/>
              </a:rPr>
              <a:t>Paper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9560750" y="27055078"/>
            <a:ext cx="1101478" cy="506332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7D2860"/>
                </a:solidFill>
                <a:latin typeface="Arial"/>
              </a:rPr>
              <a:t>Code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810748" y="14273572"/>
            <a:ext cx="1210844" cy="64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795"/>
              </a:lnSpc>
              <a:spcBef>
                <a:spcPts val="0"/>
              </a:spcBef>
              <a:spcAft>
                <a:spcPts val="0"/>
              </a:spcAft>
            </a:pPr>
            <a:r>
              <a:rPr sz="3996" b="0">
                <a:solidFill>
                  <a:srgbClr val="1C1C1C"/>
                </a:solidFill>
                <a:latin typeface="TimesNewRomanPSMT"/>
              </a:rPr>
              <a:t>G = ∪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4150884" y="14273572"/>
            <a:ext cx="508184" cy="646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795"/>
              </a:lnSpc>
              <a:spcBef>
                <a:spcPts val="0"/>
              </a:spcBef>
              <a:spcAft>
                <a:spcPts val="0"/>
              </a:spcAft>
            </a:pPr>
            <a:r>
              <a:rPr sz="3996" b="0">
                <a:solidFill>
                  <a:srgbClr val="1C1C1C"/>
                </a:solidFill>
                <a:latin typeface="TimesNewRomanPSMT"/>
              </a:rPr>
              <a:t>Q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419305" y="14273572"/>
            <a:ext cx="6655735" cy="1577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795"/>
              </a:lnSpc>
              <a:spcBef>
                <a:spcPts val="0"/>
              </a:spcBef>
              <a:spcAft>
                <a:spcPts val="0"/>
              </a:spcAft>
            </a:pPr>
            <a:r>
              <a:rPr sz="3996" b="0">
                <a:solidFill>
                  <a:srgbClr val="1C1C1C"/>
                </a:solidFill>
                <a:latin typeface="TimesNewRomanPSMT"/>
              </a:rPr>
              <a:t>(s, src, dst) ∪ { c → endpoint | c ∈ Q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940972" y="15083288"/>
            <a:ext cx="381597" cy="646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795"/>
              </a:lnSpc>
              <a:spcBef>
                <a:spcPts val="0"/>
              </a:spcBef>
              <a:spcAft>
                <a:spcPts val="0"/>
              </a:spcAft>
            </a:pPr>
            <a:r>
              <a:rPr sz="3996" b="0">
                <a:solidFill>
                  <a:srgbClr val="1C1C1C"/>
                </a:solidFill>
                <a:latin typeface="TimesNewRomanPSMT"/>
              </a:rPr>
              <a:t>}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44168" y="952107"/>
            <a:ext cx="35704655" cy="2302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7382"/>
              </a:lnSpc>
              <a:spcBef>
                <a:spcPts val="0"/>
              </a:spcBef>
              <a:spcAft>
                <a:spcPts val="0"/>
              </a:spcAft>
            </a:pPr>
            <a:r>
              <a:rPr sz="6835" b="1" spc="-73">
                <a:solidFill>
                  <a:srgbClr val="7D2860"/>
                </a:solidFill>
                <a:latin typeface="Arial"/>
              </a:rPr>
              <a:t>Detecting Privilege Escalation in Polyglot Microservices via Agentic Program</a:t>
            </a:r>
          </a:p>
          <a:p>
            <a:pPr algn="l">
              <a:lnSpc>
                <a:spcPts val="7382"/>
              </a:lnSpc>
              <a:spcBef>
                <a:spcPts val="0"/>
              </a:spcBef>
              <a:spcAft>
                <a:spcPts val="0"/>
              </a:spcAft>
            </a:pPr>
            <a:r>
              <a:rPr sz="6835" b="1" spc="-73">
                <a:solidFill>
                  <a:srgbClr val="7D2860"/>
                </a:solidFill>
                <a:latin typeface="Arial"/>
              </a:rPr>
              <a:t>Analysis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44168" y="3157769"/>
            <a:ext cx="35704655" cy="664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0"/>
              </a:spcAft>
            </a:pPr>
            <a:r>
              <a:rPr sz="3500" b="0">
                <a:solidFill>
                  <a:srgbClr val="1B2331"/>
                </a:solidFill>
                <a:latin typeface="Arial"/>
              </a:rPr>
              <a:t>Penghui Li</a:t>
            </a:r>
            <a:r>
              <a:rPr sz="49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500" b="0">
                <a:solidFill>
                  <a:srgbClr val="1B2331"/>
                </a:solidFill>
                <a:latin typeface="Arial"/>
              </a:rPr>
              <a:t>, Hong Yau Chong</a:t>
            </a:r>
            <a:r>
              <a:rPr sz="49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500" b="0">
                <a:solidFill>
                  <a:srgbClr val="1B2331"/>
                </a:solidFill>
                <a:latin typeface="Arial"/>
              </a:rPr>
              <a:t>, Yinzhi Cao</a:t>
            </a:r>
            <a:r>
              <a:rPr sz="4900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500" b="0">
                <a:solidFill>
                  <a:srgbClr val="1B2331"/>
                </a:solidFill>
                <a:latin typeface="Arial"/>
              </a:rPr>
              <a:t>, Junfeng Yang</a:t>
            </a:r>
            <a:r>
              <a:rPr sz="4900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44168" y="3784175"/>
            <a:ext cx="35704655" cy="508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480"/>
              </a:lnSpc>
              <a:spcBef>
                <a:spcPts val="0"/>
              </a:spcBef>
              <a:spcAft>
                <a:spcPts val="0"/>
              </a:spcAft>
            </a:pPr>
            <a:r>
              <a:rPr sz="2083" b="0" spc="48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400" b="0" spc="48">
                <a:solidFill>
                  <a:srgbClr val="55617A"/>
                </a:solidFill>
                <a:latin typeface="Arial"/>
              </a:rPr>
              <a:t>Columbia University    </a:t>
            </a:r>
            <a:r>
              <a:rPr sz="3360" b="0" spc="48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400" b="0" spc="48">
                <a:solidFill>
                  <a:srgbClr val="55617A"/>
                </a:solidFill>
                <a:latin typeface="Arial"/>
              </a:rPr>
              <a:t>Johns Hopkins University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7342165" y="1091672"/>
            <a:ext cx="4059187" cy="10162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961"/>
              </a:lnSpc>
              <a:spcBef>
                <a:spcPts val="0"/>
              </a:spcBef>
              <a:spcAft>
                <a:spcPts val="0"/>
              </a:spcAft>
            </a:pPr>
            <a:r>
              <a:rPr sz="4800" b="1" spc="48">
                <a:solidFill>
                  <a:srgbClr val="7D2860"/>
                </a:solidFill>
                <a:latin typeface="Arial"/>
              </a:rPr>
              <a:t>Preprint 2026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75860" y="5416104"/>
            <a:ext cx="8181972" cy="803011"/>
          </a:xfrm>
          <a:prstGeom prst="rect">
            <a:avLst/>
          </a:prstGeom>
          <a:noFill/>
        </p:spPr>
        <p:txBody>
          <a:bodyPr wrap="square" lIns="0" rIns="3493125" tIns="0" bIns="0">
            <a:sp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7D2860"/>
                </a:solidFill>
                <a:latin typeface="Arial"/>
              </a:rPr>
              <a:t>Problem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644470" y="5416104"/>
            <a:ext cx="10489948" cy="803011"/>
          </a:xfrm>
          <a:prstGeom prst="rect">
            <a:avLst/>
          </a:prstGeom>
          <a:noFill/>
        </p:spPr>
        <p:txBody>
          <a:bodyPr wrap="none" lIns="0" rIns="3493125" tIns="0" bIns="0">
            <a:sp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7D2860"/>
                </a:solidFill>
                <a:latin typeface="Arial"/>
              </a:rPr>
              <a:t>Method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863046" y="5416104"/>
            <a:ext cx="8182128" cy="803011"/>
          </a:xfrm>
          <a:prstGeom prst="rect">
            <a:avLst/>
          </a:prstGeom>
          <a:noFill/>
        </p:spPr>
        <p:txBody>
          <a:bodyPr wrap="square" lIns="0" rIns="3493125" tIns="0" bIns="0">
            <a:sp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7D2860"/>
                </a:solidFill>
                <a:latin typeface="Arial"/>
              </a:rPr>
              <a:t>Key Results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75860" y="6399903"/>
            <a:ext cx="8181972" cy="6265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Microservices distribute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authentication (authN) and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authorization (authZ) checks across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independently deployable, often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polyglot services — so no single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service sees the whole privilege path,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and coordination gaps become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privilege escalation.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253832" y="6742864"/>
            <a:ext cx="10489797" cy="23494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Qsource finds data entry points; Qinter matches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inter-service calls; Qglobalflow stitches a global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reachability graph across service boundaries.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863046" y="8846160"/>
            <a:ext cx="8182128" cy="1026308"/>
          </a:xfrm>
          <a:prstGeom prst="rect">
            <a:avLst/>
          </a:prstGeom>
          <a:noFill/>
        </p:spPr>
        <p:txBody>
          <a:bodyPr wrap="square" lIns="328988" rIns="328988" tIns="140996" bIns="140996">
            <a:spAutoFit/>
          </a:bodyPr>
          <a:lstStyle/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Arial"/>
              </a:rPr>
              <a:t>+24 vulns over EnIGMA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863046" y="9738602"/>
            <a:ext cx="8182128" cy="783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2.6× more than the best prior agent.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863046" y="11230965"/>
            <a:ext cx="8182128" cy="803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7D2860"/>
                </a:solidFill>
                <a:latin typeface="Arial"/>
              </a:rPr>
              <a:t>Headline Numbers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75860" y="12082788"/>
            <a:ext cx="8181972" cy="2938275"/>
          </a:xfrm>
          <a:prstGeom prst="rect">
            <a:avLst/>
          </a:prstGeom>
          <a:noFill/>
        </p:spPr>
        <p:txBody>
          <a:bodyPr wrap="none" lIns="328988" rIns="328988" tIns="56398" bIns="56398">
            <a:spAutoFit/>
          </a:bodyPr>
          <a:lstStyle/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1">
                <a:solidFill>
                  <a:srgbClr val="1C1C1C"/>
                </a:solidFill>
                <a:latin typeface="Arial"/>
              </a:rPr>
              <a:t>Three hurdles: cross-service</a:t>
            </a:r>
          </a:p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1">
                <a:solidFill>
                  <a:srgbClr val="1C1C1C"/>
                </a:solidFill>
                <a:latin typeface="Arial"/>
              </a:rPr>
              <a:t>architecture (C1), semantic</a:t>
            </a:r>
          </a:p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1">
                <a:solidFill>
                  <a:srgbClr val="1C1C1C"/>
                </a:solidFill>
                <a:latin typeface="Arial"/>
              </a:rPr>
              <a:t>understanding (C2), check</a:t>
            </a:r>
          </a:p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1">
                <a:solidFill>
                  <a:srgbClr val="1C1C1C"/>
                </a:solidFill>
                <a:latin typeface="Arial"/>
              </a:rPr>
              <a:t>correlation (C3).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2253832" y="14117491"/>
            <a:ext cx="10489797" cy="2461738"/>
          </a:xfrm>
          <a:prstGeom prst="rect">
            <a:avLst/>
          </a:prstGeom>
          <a:noFill/>
        </p:spPr>
        <p:txBody>
          <a:bodyPr wrap="none" lIns="355307" rIns="355307" tIns="60910" bIns="60910">
            <a:spAutoFit/>
          </a:bodyPr>
          <a:lstStyle/>
          <a:p>
            <a:pPr algn="ctr">
              <a:lnSpc>
                <a:spcPts val="5795"/>
              </a:lnSpc>
              <a:spcBef>
                <a:spcPts val="0"/>
              </a:spcBef>
              <a:spcAft>
                <a:spcPts val="0"/>
              </a:spcAft>
            </a:pPr>
            <a:r>
              <a:rPr sz="3996" b="0">
                <a:solidFill>
                  <a:srgbClr val="1C1C1C"/>
                </a:solidFill>
                <a:latin typeface="TimesNewRomanPSMT"/>
              </a:rPr>
              <a:t>G = ∪</a:t>
            </a:r>
            <a:r>
              <a:rPr sz="5595" b="0" baseline="-25000">
                <a:solidFill>
                  <a:srgbClr val="1C1C1C"/>
                </a:solidFill>
                <a:latin typeface="TimesNewRomanPSMT"/>
              </a:rPr>
              <a:t>s</a:t>
            </a:r>
            <a:r>
              <a:rPr sz="3996" b="0">
                <a:solidFill>
                  <a:srgbClr val="1C1C1C"/>
                </a:solidFill>
                <a:latin typeface="TimesNewRomanPSMT"/>
              </a:rPr>
              <a:t> Q</a:t>
            </a:r>
            <a:r>
              <a:rPr sz="5595" b="0" baseline="-25000">
                <a:solidFill>
                  <a:srgbClr val="1C1C1C"/>
                </a:solidFill>
                <a:latin typeface="TimesNewRomanPSMT"/>
              </a:rPr>
              <a:t>flow</a:t>
            </a:r>
            <a:r>
              <a:rPr sz="3996" b="0">
                <a:solidFill>
                  <a:srgbClr val="1C1C1C"/>
                </a:solidFill>
                <a:latin typeface="TimesNewRomanPSMT"/>
              </a:rPr>
              <a:t>(s, src, dst) ∪ { c → endpoint | c</a:t>
            </a:r>
          </a:p>
          <a:p>
            <a:pPr algn="ctr">
              <a:lnSpc>
                <a:spcPts val="5795"/>
              </a:lnSpc>
              <a:spcBef>
                <a:spcPts val="0"/>
              </a:spcBef>
              <a:spcAft>
                <a:spcPts val="0"/>
              </a:spcAft>
            </a:pPr>
            <a:r>
              <a:rPr sz="3996" b="0">
                <a:solidFill>
                  <a:srgbClr val="1C1C1C"/>
                </a:solidFill>
                <a:latin typeface="TimesNewRomanPSMT"/>
              </a:rPr>
              <a:t>∈ Q</a:t>
            </a:r>
            <a:r>
              <a:rPr sz="5595" b="0" baseline="-25000">
                <a:solidFill>
                  <a:srgbClr val="1C1C1C"/>
                </a:solidFill>
                <a:latin typeface="TimesNewRomanPSMT"/>
              </a:rPr>
              <a:t>inter</a:t>
            </a:r>
            <a:r>
              <a:rPr sz="3996" b="0">
                <a:solidFill>
                  <a:srgbClr val="1C1C1C"/>
                </a:solidFill>
                <a:latin typeface="TimesNewRomanPSMT"/>
              </a:rPr>
              <a:t> }</a:t>
            </a:r>
          </a:p>
          <a:p>
            <a:pPr algn="ctr">
              <a:lnSpc>
                <a:spcPts val="5795"/>
              </a:lnSpc>
              <a:spcBef>
                <a:spcPts val="0"/>
              </a:spcBef>
              <a:spcAft>
                <a:spcPts val="0"/>
              </a:spcAft>
            </a:pPr>
            <a:r>
              <a:rPr sz="1998" b="0" i="1">
                <a:solidFill>
                  <a:srgbClr val="555555"/>
                </a:solidFill>
                <a:latin typeface="TimesNewRomanPSMT"/>
              </a:rPr>
              <a:t>global reachability graph: intra-service flows joined at inter-service calls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863046" y="15140125"/>
            <a:ext cx="8182128" cy="7831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All 42 responsibly disclosed.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75860" y="15732011"/>
            <a:ext cx="8181972" cy="803012"/>
          </a:xfrm>
          <a:prstGeom prst="rect">
            <a:avLst/>
          </a:prstGeom>
          <a:noFill/>
        </p:spPr>
        <p:txBody>
          <a:bodyPr wrap="square" lIns="0" rIns="3493125" tIns="0" bIns="0">
            <a:sp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7D2860"/>
                </a:solidFill>
                <a:latin typeface="Arial"/>
              </a:rPr>
              <a:t>Motivation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748777" y="16673555"/>
            <a:ext cx="8299825" cy="803011"/>
          </a:xfrm>
          <a:prstGeom prst="rect">
            <a:avLst/>
          </a:prstGeom>
          <a:noFill/>
        </p:spPr>
        <p:txBody>
          <a:bodyPr wrap="square" lIns="0" rIns="3493125" tIns="0" bIns="0">
            <a:sp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7D2860"/>
                </a:solidFill>
                <a:latin typeface="Arial"/>
              </a:rPr>
              <a:t>Takeaway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748777" y="17657354"/>
            <a:ext cx="8299825" cy="1728538"/>
          </a:xfrm>
          <a:prstGeom prst="rect">
            <a:avLst/>
          </a:prstGeom>
          <a:noFill/>
        </p:spPr>
        <p:txBody>
          <a:bodyPr wrap="none" lIns="328988" rIns="328988" tIns="140996" bIns="140996">
            <a:spAutoFit/>
          </a:bodyPr>
          <a:lstStyle/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Arial"/>
              </a:rPr>
              <a:t>24 zero-days — generalizes to</a:t>
            </a:r>
          </a:p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Arial"/>
              </a:rPr>
              <a:t>any taint-style bug.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748777" y="19160431"/>
            <a:ext cx="8299825" cy="23494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LLM reasoning + program-analysis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primitives → scalable, precise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privilege-escalation detection.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644470" y="19292556"/>
            <a:ext cx="10489948" cy="783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From 290 CodeQL queries.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644470" y="23435762"/>
            <a:ext cx="10489948" cy="3132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Privileged ops touch sensitive resources,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security-critical actions, or protected state; the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LLM judges each candidate against this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definition, refining queries over rounds.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644470" y="26408884"/>
            <a:ext cx="10489948" cy="2409207"/>
          </a:xfrm>
          <a:prstGeom prst="rect">
            <a:avLst/>
          </a:prstGeom>
          <a:noFill/>
        </p:spPr>
        <p:txBody>
          <a:bodyPr wrap="none" lIns="305489" rIns="305489" tIns="131596" bIns="131596">
            <a:spAutoFit/>
          </a:bodyPr>
          <a:lstStyle/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7D2860"/>
                </a:solidFill>
                <a:latin typeface="Arial"/>
              </a:rPr>
              <a:t>getSource() reads only structured results —</a:t>
            </a:r>
          </a:p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7D2860"/>
                </a:solidFill>
                <a:latin typeface="Arial"/>
              </a:rPr>
              <a:t>never whole files — so the context never</a:t>
            </a:r>
          </a:p>
          <a:p>
            <a:pPr algn="l">
              <a:lnSpc>
                <a:spcPts val="4810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7D2860"/>
                </a:solidFill>
                <a:latin typeface="Arial"/>
              </a:rPr>
              <a:t>exhausts.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644470" y="28518130"/>
            <a:ext cx="10489948" cy="783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Iterates until no new ops remain.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3043006" y="5416104"/>
            <a:ext cx="5532398" cy="13045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68"/>
              </a:lnSpc>
              <a:spcBef>
                <a:spcPts val="0"/>
              </a:spcBef>
              <a:spcAft>
                <a:spcPts val="0"/>
              </a:spcAft>
            </a:pPr>
            <a:r>
              <a:rPr sz="3885" b="1">
                <a:solidFill>
                  <a:srgbClr val="7D2860"/>
                </a:solidFill>
                <a:latin typeface="Arial"/>
              </a:rPr>
              <a:t>Trace Cross-service</a:t>
            </a:r>
          </a:p>
          <a:p>
            <a:pPr algn="l">
              <a:lnSpc>
                <a:spcPts val="4468"/>
              </a:lnSpc>
              <a:spcBef>
                <a:spcPts val="0"/>
              </a:spcBef>
              <a:spcAft>
                <a:spcPts val="0"/>
              </a:spcAft>
            </a:pPr>
            <a:r>
              <a:rPr sz="3885" b="1">
                <a:solidFill>
                  <a:srgbClr val="7D2860"/>
                </a:solidFill>
                <a:latin typeface="Arial"/>
              </a:rPr>
              <a:t>Flows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611560" y="5631701"/>
            <a:ext cx="3941337" cy="8086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sz="2409" b="1" i="1">
                <a:solidFill>
                  <a:srgbClr val="555555"/>
                </a:solidFill>
                <a:latin typeface="Arial"/>
              </a:rPr>
              <a:t>Qsource · Qinter ·</a:t>
            </a:r>
          </a:p>
          <a:p>
            <a:pPr algn="l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sz="2409" b="1" i="1">
                <a:solidFill>
                  <a:srgbClr val="555555"/>
                </a:solidFill>
                <a:latin typeface="Arial"/>
              </a:rPr>
              <a:t>Qglobalflow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3120893" y="9040479"/>
            <a:ext cx="9596724" cy="16739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18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111111"/>
                </a:solidFill>
                <a:latin typeface="Arial"/>
              </a:rPr>
              <a:t>Qsource</a:t>
            </a:r>
            <a:r>
              <a:rPr sz="3700" b="0">
                <a:solidFill>
                  <a:srgbClr val="1C1C1C"/>
                </a:solidFill>
                <a:latin typeface="Arial"/>
              </a:rPr>
              <a:t> locates untrusted data sources in</a:t>
            </a:r>
          </a:p>
          <a:p>
            <a:pPr algn="l">
              <a:lnSpc>
                <a:spcPts val="5180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each service.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051852" y="9490718"/>
            <a:ext cx="9650740" cy="11515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034" b="0" i="1">
                <a:solidFill>
                  <a:srgbClr val="555555"/>
                </a:solidFill>
                <a:latin typeface="Arial"/>
              </a:rPr>
              <a:t>Workflow of NEO: search primitives find privileged</a:t>
            </a:r>
          </a:p>
          <a:p>
            <a:pPr algn="ctr">
              <a:lnSpc>
                <a:spcPts val="3944"/>
              </a:lnSpc>
              <a:spcBef>
                <a:spcPts val="0"/>
              </a:spcBef>
              <a:spcAft>
                <a:spcPts val="0"/>
              </a:spcAft>
            </a:pPr>
            <a:r>
              <a:rPr sz="3034" b="0" i="1">
                <a:solidFill>
                  <a:srgbClr val="555555"/>
                </a:solidFill>
                <a:latin typeface="Arial"/>
              </a:rPr>
              <a:t>ops, trace cross-service flows, and validate checks.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3120893" y="10777900"/>
            <a:ext cx="9596724" cy="16739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18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111111"/>
                </a:solidFill>
                <a:latin typeface="Arial"/>
              </a:rPr>
              <a:t>Qinter</a:t>
            </a:r>
            <a:r>
              <a:rPr sz="3700" b="0">
                <a:solidFill>
                  <a:srgbClr val="1C1C1C"/>
                </a:solidFill>
                <a:latin typeface="Arial"/>
              </a:rPr>
              <a:t> identifies cross-service calls (REST,</a:t>
            </a:r>
          </a:p>
          <a:p>
            <a:pPr algn="l">
              <a:lnSpc>
                <a:spcPts val="5180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gRPC, Kafka).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433643" y="11481676"/>
            <a:ext cx="5503434" cy="13045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68"/>
              </a:lnSpc>
              <a:spcBef>
                <a:spcPts val="0"/>
              </a:spcBef>
              <a:spcAft>
                <a:spcPts val="0"/>
              </a:spcAft>
            </a:pPr>
            <a:r>
              <a:rPr sz="3885" b="1">
                <a:solidFill>
                  <a:srgbClr val="7D2860"/>
                </a:solidFill>
                <a:latin typeface="Arial"/>
              </a:rPr>
              <a:t>Code Search</a:t>
            </a:r>
          </a:p>
          <a:p>
            <a:pPr algn="l">
              <a:lnSpc>
                <a:spcPts val="4468"/>
              </a:lnSpc>
              <a:spcBef>
                <a:spcPts val="0"/>
              </a:spcBef>
              <a:spcAft>
                <a:spcPts val="0"/>
              </a:spcAft>
            </a:pPr>
            <a:r>
              <a:rPr sz="3885" b="1">
                <a:solidFill>
                  <a:srgbClr val="7D2860"/>
                </a:solidFill>
                <a:latin typeface="Arial"/>
              </a:rPr>
              <a:t>Primitives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6974077" y="11697273"/>
            <a:ext cx="3970453" cy="8086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sz="2409" b="1" i="1">
                <a:solidFill>
                  <a:srgbClr val="555555"/>
                </a:solidFill>
                <a:latin typeface="Arial"/>
              </a:rPr>
              <a:t>Qname · Qast · Qflow ·</a:t>
            </a:r>
          </a:p>
          <a:p>
            <a:pPr algn="l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sz="2409" b="1" i="1">
                <a:solidFill>
                  <a:srgbClr val="555555"/>
                </a:solidFill>
                <a:latin typeface="Arial"/>
              </a:rPr>
              <a:t>Qcg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3120893" y="12515321"/>
            <a:ext cx="9596724" cy="16739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18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111111"/>
                </a:solidFill>
                <a:latin typeface="Arial"/>
              </a:rPr>
              <a:t>Qglobalflow</a:t>
            </a:r>
            <a:r>
              <a:rPr sz="3700" b="0">
                <a:solidFill>
                  <a:srgbClr val="1C1C1C"/>
                </a:solidFill>
                <a:latin typeface="Arial"/>
              </a:rPr>
              <a:t> joins intra-service Qflow paths</a:t>
            </a:r>
          </a:p>
          <a:p>
            <a:pPr algn="l">
              <a:lnSpc>
                <a:spcPts val="5180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into one graph.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644229" y="12815281"/>
            <a:ext cx="10490196" cy="783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16982" indent="-516982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700" b="0">
                <a:solidFill>
                  <a:srgbClr val="1C1C1C"/>
                </a:solidFill>
                <a:latin typeface="Arial"/>
              </a:rPr>
              <a:t>One language-agnostic API over CodeQL.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644229" y="13660706"/>
            <a:ext cx="10490196" cy="15663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16982" indent="-516982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700" b="1">
                <a:solidFill>
                  <a:srgbClr val="111111"/>
                </a:solidFill>
                <a:latin typeface="Arial"/>
              </a:rPr>
              <a:t>getLocation / getSource / getType</a:t>
            </a:r>
            <a:r>
              <a:rPr sz="3700" b="0">
                <a:solidFill>
                  <a:srgbClr val="1C1C1C"/>
                </a:solidFill>
                <a:latin typeface="Arial"/>
              </a:rPr>
              <a:t> fetch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context on demand.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75620" y="16809995"/>
            <a:ext cx="8182221" cy="4698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16982" indent="-516982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700" b="0">
                <a:solidFill>
                  <a:srgbClr val="1C1C1C"/>
                </a:solidFill>
                <a:latin typeface="Arial"/>
              </a:rPr>
              <a:t>Prior tools can't see this class —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MScan finds taint bugs but never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privileges; Microscope does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change-impact only; MACE /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RoleCast assume one language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and no cross-service flow.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3043006" y="17389979"/>
            <a:ext cx="3501197" cy="652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8"/>
              </a:lnSpc>
              <a:spcBef>
                <a:spcPts val="0"/>
              </a:spcBef>
              <a:spcAft>
                <a:spcPts val="0"/>
              </a:spcAft>
            </a:pPr>
            <a:r>
              <a:rPr sz="3885" b="1">
                <a:solidFill>
                  <a:srgbClr val="7D2860"/>
                </a:solidFill>
                <a:latin typeface="Arial"/>
              </a:rPr>
              <a:t>Validate Flows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8895746" y="17497702"/>
            <a:ext cx="3648625" cy="4043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sz="2409" b="1" i="1">
                <a:solidFill>
                  <a:srgbClr val="555555"/>
                </a:solidFill>
                <a:latin typeface="Arial"/>
              </a:rPr>
              <a:t>authN/authZ + feasibility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2253591" y="18142112"/>
            <a:ext cx="10490045" cy="23494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16982" indent="-516982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700" b="0">
                <a:solidFill>
                  <a:srgbClr val="1C1C1C"/>
                </a:solidFill>
                <a:latin typeface="Arial"/>
              </a:rPr>
              <a:t>Locate checks through decorators,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middleware, and inline logic; retrieve their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implementations.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2253591" y="20349561"/>
            <a:ext cx="10490045" cy="2349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16982" indent="-516982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700" b="0">
                <a:solidFill>
                  <a:srgbClr val="1C1C1C"/>
                </a:solidFill>
                <a:latin typeface="Arial"/>
              </a:rPr>
              <a:t>Classify each check (authN vs authZ; role,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permission, ownership) and assess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sufficiency.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75620" y="21060479"/>
            <a:ext cx="8182221" cy="46989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16982" indent="-516982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700" b="0">
                <a:solidFill>
                  <a:srgbClr val="1C1C1C"/>
                </a:solidFill>
                <a:latin typeface="Arial"/>
              </a:rPr>
              <a:t>LLM agents like EnIGMA read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whole files as text, so context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exhaustion and bash noise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overwhelm them — one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DeathStarBench flow spans 35+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functions.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433643" y="21100205"/>
            <a:ext cx="6464938" cy="6522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8"/>
              </a:lnSpc>
              <a:spcBef>
                <a:spcPts val="0"/>
              </a:spcBef>
              <a:spcAft>
                <a:spcPts val="0"/>
              </a:spcAft>
            </a:pPr>
            <a:r>
              <a:rPr sz="3885" b="1">
                <a:solidFill>
                  <a:srgbClr val="7D2860"/>
                </a:solidFill>
                <a:latin typeface="Arial"/>
              </a:rPr>
              <a:t>Find Privileged Operations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8025713" y="21207928"/>
            <a:ext cx="2887268" cy="4043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770"/>
              </a:lnSpc>
              <a:spcBef>
                <a:spcPts val="0"/>
              </a:spcBef>
              <a:spcAft>
                <a:spcPts val="0"/>
              </a:spcAft>
            </a:pPr>
            <a:r>
              <a:rPr sz="2409" b="1" i="1">
                <a:solidFill>
                  <a:srgbClr val="555555"/>
                </a:solidFill>
                <a:latin typeface="Arial"/>
              </a:rPr>
              <a:t>LLM-guided search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5985067" y="22061835"/>
            <a:ext cx="3810765" cy="705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3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7D2860"/>
                </a:solidFill>
                <a:latin typeface="Arial"/>
              </a:rPr>
              <a:t>Scan to Read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178627" y="22397357"/>
            <a:ext cx="483970" cy="78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4751921" y="22397357"/>
            <a:ext cx="483971" cy="78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939706" y="22397357"/>
            <a:ext cx="483970" cy="78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9041491" y="22397357"/>
            <a:ext cx="483969" cy="783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2253591" y="22557008"/>
            <a:ext cx="10490045" cy="2349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16982" indent="-516982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700" b="0">
                <a:solidFill>
                  <a:srgbClr val="1C1C1C"/>
                </a:solidFill>
                <a:latin typeface="Arial"/>
              </a:rPr>
              <a:t>Prune infeasible paths: LLM writes SMT-LIB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constraints, Z3 proves UNSAT ⇒ false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positive, pruning it.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2253591" y="24764457"/>
            <a:ext cx="10490045" cy="15663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16982" indent="-516982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700" b="0">
                <a:solidFill>
                  <a:srgbClr val="1C1C1C"/>
                </a:solidFill>
                <a:latin typeface="Arial"/>
              </a:rPr>
              <a:t>Z3 filtered 15 of 135 flows; LLM validation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cleared 69 more.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75620" y="25310962"/>
            <a:ext cx="8182221" cy="23494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16982" indent="-516982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700" b="0">
                <a:solidFill>
                  <a:srgbClr val="1C1C1C"/>
                </a:solidFill>
                <a:latin typeface="Arial"/>
              </a:rPr>
              <a:t>Attackers reach admin, RCE, or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root — Mall4cloud's </a:t>
            </a:r>
            <a:r>
              <a:rPr sz="3700" b="1">
                <a:solidFill>
                  <a:srgbClr val="111111"/>
                </a:solidFill>
                <a:latin typeface="Arial"/>
              </a:rPr>
              <a:t>role=admin</a:t>
            </a:r>
          </a:p>
          <a:p>
            <a:pPr algn="l" marL="516982" indent="0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700" b="0">
                <a:solidFill>
                  <a:srgbClr val="1C1C1C"/>
                </a:solidFill>
                <a:latin typeface="Arial"/>
              </a:rPr>
              <a:t>bug is one example.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2253591" y="26290894"/>
            <a:ext cx="10490045" cy="7831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16982" indent="-516982">
              <a:lnSpc>
                <a:spcPts val="536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700" b="0">
                <a:solidFill>
                  <a:srgbClr val="1C1C1C"/>
                </a:solidFill>
                <a:latin typeface="Arial"/>
              </a:rPr>
              <a:t>Default agent: Claude 3.7 Sonnet (T = 0.2).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3863046" y="26947057"/>
            <a:ext cx="8182128" cy="23494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Scan to open the arXiv paper or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browse the NEO repository on</a:t>
            </a:r>
          </a:p>
          <a:p>
            <a:pPr algn="l">
              <a:lnSpc>
                <a:spcPts val="5365"/>
              </a:lnSpc>
              <a:spcBef>
                <a:spcPts val="0"/>
              </a:spcBef>
              <a:spcAft>
                <a:spcPts val="0"/>
              </a:spcAft>
            </a:pPr>
            <a:r>
              <a:rPr sz="3700" b="0">
                <a:solidFill>
                  <a:srgbClr val="1C1C1C"/>
                </a:solidFill>
                <a:latin typeface="Arial"/>
              </a:rPr>
              <a:t>GitHub.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2253832" y="27253713"/>
            <a:ext cx="4116042" cy="1620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101"/>
              </a:lnSpc>
              <a:spcBef>
                <a:spcPts val="0"/>
              </a:spcBef>
              <a:spcAft>
                <a:spcPts val="0"/>
              </a:spcAft>
            </a:pPr>
            <a:r>
              <a:rPr sz="11101" b="1">
                <a:solidFill>
                  <a:srgbClr val="7D2860"/>
                </a:solidFill>
                <a:latin typeface="Arial"/>
              </a:rPr>
              <a:t>62.2%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6437761" y="27996473"/>
            <a:ext cx="6180350" cy="1409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829"/>
              </a:lnSpc>
              <a:spcBef>
                <a:spcPts val="0"/>
              </a:spcBef>
              <a:spcAft>
                <a:spcPts val="0"/>
              </a:spcAft>
            </a:pPr>
            <a:r>
              <a:rPr sz="3330" b="0">
                <a:solidFill>
                  <a:srgbClr val="555555"/>
                </a:solidFill>
                <a:latin typeface="Arial"/>
              </a:rPr>
              <a:t>false positives eliminated (135</a:t>
            </a:r>
          </a:p>
          <a:p>
            <a:pPr algn="l">
              <a:lnSpc>
                <a:spcPts val="4829"/>
              </a:lnSpc>
              <a:spcBef>
                <a:spcPts val="0"/>
              </a:spcBef>
              <a:spcAft>
                <a:spcPts val="0"/>
              </a:spcAft>
            </a:pPr>
            <a:r>
              <a:rPr sz="3330" b="0">
                <a:solidFill>
                  <a:srgbClr val="555555"/>
                </a:solidFill>
                <a:latin typeface="Arial"/>
              </a:rPr>
              <a:t>→ 51 reports)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4101107" y="12427385"/>
            <a:ext cx="3775211" cy="1401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9596"/>
              </a:lnSpc>
              <a:spcBef>
                <a:spcPts val="0"/>
              </a:spcBef>
              <a:spcAft>
                <a:spcPts val="0"/>
              </a:spcAft>
            </a:pPr>
            <a:r>
              <a:rPr sz="10101" b="1" spc="-202">
                <a:solidFill>
                  <a:srgbClr val="7D2860"/>
                </a:solidFill>
                <a:latin typeface="Arial"/>
              </a:rPr>
              <a:t>24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4101107" y="13666509"/>
            <a:ext cx="3775211" cy="10598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3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C1C1C"/>
                </a:solidFill>
                <a:latin typeface="Arial"/>
              </a:rPr>
              <a:t>zero-day privilege</a:t>
            </a:r>
          </a:p>
          <a:p>
            <a:pPr algn="l">
              <a:lnSpc>
                <a:spcPts val="363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C1C1C"/>
                </a:solidFill>
                <a:latin typeface="Arial"/>
              </a:rPr>
              <a:t>escalations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4101107" y="14588114"/>
            <a:ext cx="3775211" cy="419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1">
                <a:solidFill>
                  <a:srgbClr val="555555"/>
                </a:solidFill>
                <a:latin typeface="Arial"/>
              </a:rPr>
              <a:t>in 25 apps · 7 languages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3863046" y="6574583"/>
            <a:ext cx="6451453" cy="865295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4990"/>
              </a:lnSpc>
              <a:spcBef>
                <a:spcPts val="0"/>
              </a:spcBef>
              <a:spcAft>
                <a:spcPts val="0"/>
              </a:spcAft>
            </a:pPr>
            <a:r>
              <a:rPr sz="3441" b="1">
                <a:solidFill>
                  <a:srgbClr val="7D2860"/>
                </a:solidFill>
                <a:latin typeface="Arial"/>
              </a:rPr>
              <a:t>Method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0126593" y="6574583"/>
            <a:ext cx="1730675" cy="865295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4990"/>
              </a:lnSpc>
              <a:spcBef>
                <a:spcPts val="0"/>
              </a:spcBef>
              <a:spcAft>
                <a:spcPts val="0"/>
              </a:spcAft>
            </a:pPr>
            <a:r>
              <a:rPr sz="3441" b="1">
                <a:solidFill>
                  <a:srgbClr val="7D2860"/>
                </a:solidFill>
                <a:latin typeface="Arial"/>
              </a:rPr>
              <a:t>Metric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3863046" y="7327014"/>
            <a:ext cx="6451453" cy="87077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4990"/>
              </a:lnSpc>
              <a:spcBef>
                <a:spcPts val="0"/>
              </a:spcBef>
              <a:spcAft>
                <a:spcPts val="0"/>
              </a:spcAft>
            </a:pPr>
            <a:r>
              <a:rPr sz="3441" b="1">
                <a:solidFill>
                  <a:srgbClr val="1C1C1C"/>
                </a:solidFill>
                <a:latin typeface="Arial"/>
              </a:rPr>
              <a:t>EnIGMA (best prior agent)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126593" y="7327014"/>
            <a:ext cx="1730675" cy="87077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4990"/>
              </a:lnSpc>
              <a:spcBef>
                <a:spcPts val="0"/>
              </a:spcBef>
              <a:spcAft>
                <a:spcPts val="0"/>
              </a:spcAft>
            </a:pPr>
            <a:r>
              <a:rPr sz="3441" b="0">
                <a:solidFill>
                  <a:srgbClr val="1C1C1C"/>
                </a:solidFill>
                <a:latin typeface="Arial"/>
              </a:rPr>
              <a:t>15 / 44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3863046" y="8084206"/>
            <a:ext cx="6451453" cy="87077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4990"/>
              </a:lnSpc>
              <a:spcBef>
                <a:spcPts val="0"/>
              </a:spcBef>
              <a:spcAft>
                <a:spcPts val="0"/>
              </a:spcAft>
            </a:pPr>
            <a:r>
              <a:rPr sz="3441" b="1">
                <a:solidFill>
                  <a:srgbClr val="7D2860"/>
                </a:solidFill>
                <a:latin typeface="Arial"/>
              </a:rPr>
              <a:t>NEO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0126593" y="8084206"/>
            <a:ext cx="1730675" cy="870771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4990"/>
              </a:lnSpc>
              <a:spcBef>
                <a:spcPts val="0"/>
              </a:spcBef>
              <a:spcAft>
                <a:spcPts val="0"/>
              </a:spcAft>
            </a:pPr>
            <a:r>
              <a:rPr sz="3441" b="1">
                <a:solidFill>
                  <a:srgbClr val="7D2860"/>
                </a:solidFill>
                <a:latin typeface="Arial"/>
              </a:rPr>
              <a:t>39 / 44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8715333" y="12427385"/>
            <a:ext cx="1384172" cy="554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38">
                <a:solidFill>
                  <a:srgbClr val="AE2622"/>
                </a:solidFill>
                <a:latin typeface="Arial"/>
              </a:rPr>
              <a:t>81.0%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0223600" y="12532134"/>
            <a:ext cx="1308315" cy="437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555555"/>
                </a:solidFill>
                <a:latin typeface="Arial"/>
              </a:rPr>
              <a:t>precision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8715333" y="13257039"/>
            <a:ext cx="1384172" cy="55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38">
                <a:solidFill>
                  <a:srgbClr val="AE2622"/>
                </a:solidFill>
                <a:latin typeface="Arial"/>
              </a:rPr>
              <a:t>85.0%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0223600" y="13361787"/>
            <a:ext cx="781281" cy="4378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555555"/>
                </a:solidFill>
                <a:latin typeface="Arial"/>
              </a:rPr>
              <a:t>recall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8715333" y="14086692"/>
            <a:ext cx="542818" cy="5549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38">
                <a:solidFill>
                  <a:srgbClr val="AE2622"/>
                </a:solidFill>
                <a:latin typeface="Arial"/>
              </a:rPr>
              <a:t>42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9406751" y="14191440"/>
            <a:ext cx="2226909" cy="875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555555"/>
                </a:solidFill>
                <a:latin typeface="Arial"/>
              </a:rPr>
              <a:t>new</a:t>
            </a: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555555"/>
                </a:solidFill>
                <a:latin typeface="Arial"/>
              </a:rPr>
              <a:t>vulnerabilities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644470" y="15213776"/>
            <a:ext cx="3260130" cy="732686"/>
          </a:xfrm>
          <a:prstGeom prst="rect">
            <a:avLst/>
          </a:prstGeom>
          <a:noFill/>
        </p:spPr>
        <p:txBody>
          <a:bodyPr wrap="square" lIns="167431" rIns="167431" tIns="73670" bIns="73670">
            <a:sp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</a:pPr>
            <a:r>
              <a:rPr sz="2636" b="1" spc="131">
                <a:solidFill>
                  <a:srgbClr val="555555"/>
                </a:solidFill>
                <a:latin typeface="Arial"/>
              </a:rPr>
              <a:t>PRIMITIVE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3809645" y="15213776"/>
            <a:ext cx="4644916" cy="732686"/>
          </a:xfrm>
          <a:prstGeom prst="rect">
            <a:avLst/>
          </a:prstGeom>
          <a:noFill/>
        </p:spPr>
        <p:txBody>
          <a:bodyPr wrap="square" lIns="167431" rIns="167431" tIns="73670" bIns="73670">
            <a:sp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</a:pPr>
            <a:r>
              <a:rPr sz="2636" b="1" spc="131">
                <a:solidFill>
                  <a:srgbClr val="555555"/>
                </a:solidFill>
                <a:latin typeface="Arial"/>
              </a:rPr>
              <a:t>OPERATION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8319273" y="15213776"/>
            <a:ext cx="2584901" cy="732686"/>
          </a:xfrm>
          <a:prstGeom prst="rect">
            <a:avLst/>
          </a:prstGeom>
          <a:noFill/>
        </p:spPr>
        <p:txBody>
          <a:bodyPr wrap="none" lIns="167431" rIns="167431" tIns="73670" bIns="73670">
            <a:spAutoFit/>
          </a:bodyPr>
          <a:lstStyle/>
          <a:p>
            <a:pPr algn="l">
              <a:lnSpc>
                <a:spcPts val="3823"/>
              </a:lnSpc>
              <a:spcBef>
                <a:spcPts val="0"/>
              </a:spcBef>
              <a:spcAft>
                <a:spcPts val="0"/>
              </a:spcAft>
            </a:pPr>
            <a:r>
              <a:rPr sz="2636" b="1" spc="131">
                <a:solidFill>
                  <a:srgbClr val="555555"/>
                </a:solidFill>
                <a:latin typeface="Arial"/>
              </a:rPr>
              <a:t>FREQ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644470" y="15850895"/>
            <a:ext cx="3260130" cy="980450"/>
          </a:xfrm>
          <a:prstGeom prst="rect">
            <a:avLst/>
          </a:prstGeom>
          <a:noFill/>
        </p:spPr>
        <p:txBody>
          <a:bodyPr wrap="non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Qname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3809645" y="15850895"/>
            <a:ext cx="4644916" cy="980450"/>
          </a:xfrm>
          <a:prstGeom prst="rect">
            <a:avLst/>
          </a:prstGeom>
          <a:noFill/>
        </p:spPr>
        <p:txBody>
          <a:bodyPr wrap="squar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Name lookup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8319273" y="15850895"/>
            <a:ext cx="2584901" cy="980450"/>
          </a:xfrm>
          <a:prstGeom prst="rect">
            <a:avLst/>
          </a:prstGeom>
          <a:noFill/>
        </p:spPr>
        <p:txBody>
          <a:bodyPr wrap="non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98.6%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644470" y="16703461"/>
            <a:ext cx="3260130" cy="980452"/>
          </a:xfrm>
          <a:prstGeom prst="rect">
            <a:avLst/>
          </a:prstGeom>
          <a:noFill/>
        </p:spPr>
        <p:txBody>
          <a:bodyPr wrap="non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Qast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3809645" y="16703461"/>
            <a:ext cx="4644916" cy="980452"/>
          </a:xfrm>
          <a:prstGeom prst="rect">
            <a:avLst/>
          </a:prstGeom>
          <a:noFill/>
        </p:spPr>
        <p:txBody>
          <a:bodyPr wrap="squar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AST lookup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8319273" y="16703461"/>
            <a:ext cx="2584901" cy="980452"/>
          </a:xfrm>
          <a:prstGeom prst="rect">
            <a:avLst/>
          </a:prstGeom>
          <a:noFill/>
        </p:spPr>
        <p:txBody>
          <a:bodyPr wrap="non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73.8%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644470" y="17556028"/>
            <a:ext cx="3260130" cy="980452"/>
          </a:xfrm>
          <a:prstGeom prst="rect">
            <a:avLst/>
          </a:prstGeom>
          <a:noFill/>
        </p:spPr>
        <p:txBody>
          <a:bodyPr wrap="non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Qflow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3809645" y="17556028"/>
            <a:ext cx="4644916" cy="980452"/>
          </a:xfrm>
          <a:prstGeom prst="rect">
            <a:avLst/>
          </a:prstGeom>
          <a:noFill/>
        </p:spPr>
        <p:txBody>
          <a:bodyPr wrap="squar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Flow tracking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8319273" y="17556028"/>
            <a:ext cx="2584901" cy="980452"/>
          </a:xfrm>
          <a:prstGeom prst="rect">
            <a:avLst/>
          </a:prstGeom>
          <a:noFill/>
        </p:spPr>
        <p:txBody>
          <a:bodyPr wrap="non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70.7%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644470" y="18408595"/>
            <a:ext cx="3260130" cy="980450"/>
          </a:xfrm>
          <a:prstGeom prst="rect">
            <a:avLst/>
          </a:prstGeom>
          <a:noFill/>
        </p:spPr>
        <p:txBody>
          <a:bodyPr wrap="non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Qcg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809645" y="18408595"/>
            <a:ext cx="4644916" cy="980450"/>
          </a:xfrm>
          <a:prstGeom prst="rect">
            <a:avLst/>
          </a:prstGeom>
          <a:noFill/>
        </p:spPr>
        <p:txBody>
          <a:bodyPr wrap="squar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Call graph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319273" y="18408595"/>
            <a:ext cx="2584901" cy="980450"/>
          </a:xfrm>
          <a:prstGeom prst="rect">
            <a:avLst/>
          </a:prstGeom>
          <a:noFill/>
        </p:spPr>
        <p:txBody>
          <a:bodyPr wrap="none" lIns="223241" rIns="223241" tIns="98227" bIns="98227">
            <a:spAutoFit/>
          </a:bodyPr>
          <a:lstStyle/>
          <a:p>
            <a:pPr algn="l">
              <a:lnSpc>
                <a:spcPts val="5097"/>
              </a:lnSpc>
              <a:spcBef>
                <a:spcPts val="0"/>
              </a:spcBef>
              <a:spcAft>
                <a:spcPts val="0"/>
              </a:spcAft>
            </a:pPr>
            <a:r>
              <a:rPr sz="3515" b="0">
                <a:solidFill>
                  <a:srgbClr val="1C1C1C"/>
                </a:solidFill>
                <a:latin typeface="Arial"/>
              </a:rPr>
              <a:t>49.7%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