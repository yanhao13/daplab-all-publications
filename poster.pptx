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793920" cy="30266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8959" y="618966"/>
            <a:ext cx="41556003" cy="4286044"/>
          </a:xfrm>
          <a:prstGeom prst="roundRect">
            <a:avLst>
              <a:gd name="adj" fmla="val 3129"/>
            </a:avLst>
          </a:prstGeom>
          <a:solidFill>
            <a:srgbClr val="F4E6EF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8959" y="5396612"/>
            <a:ext cx="8966435" cy="9049853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87568" y="5396612"/>
            <a:ext cx="11208231" cy="8534743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597974" y="5396612"/>
            <a:ext cx="11208228" cy="5731838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208377" y="5396612"/>
            <a:ext cx="8966437" cy="9438047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597974" y="11441206"/>
            <a:ext cx="11208228" cy="18202521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87568" y="14244112"/>
            <a:ext cx="11208231" cy="7085974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959" y="14759223"/>
            <a:ext cx="8966435" cy="14884504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208377" y="15147415"/>
            <a:ext cx="8966437" cy="6500337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87568" y="21642842"/>
            <a:ext cx="11208231" cy="8000885"/>
          </a:xfrm>
          <a:prstGeom prst="rect">
            <a:avLst/>
          </a:prstGeom>
          <a:solidFill>
            <a:srgbClr val="FFFFFF"/>
          </a:solidFill>
          <a:ln w="38106">
            <a:solidFill>
              <a:srgbClr val="111111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08377" y="21960508"/>
            <a:ext cx="8966437" cy="7683219"/>
          </a:xfrm>
          <a:prstGeom prst="rect">
            <a:avLst/>
          </a:prstGeom>
          <a:solidFill>
            <a:srgbClr val="F6ECF1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08377" y="21960508"/>
            <a:ext cx="8966437" cy="38107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36708" y="21960508"/>
            <a:ext cx="38106" cy="768321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208377" y="29605620"/>
            <a:ext cx="8966437" cy="38107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208377" y="21960508"/>
            <a:ext cx="57160" cy="7683219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993453" y="6630231"/>
            <a:ext cx="10417270" cy="4109578"/>
          </a:xfrm>
          <a:prstGeom prst="roundRect">
            <a:avLst>
              <a:gd name="adj" fmla="val 4787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603858" y="10235263"/>
            <a:ext cx="8175473" cy="1830414"/>
          </a:xfrm>
          <a:prstGeom prst="roundRect">
            <a:avLst>
              <a:gd name="adj" fmla="val 50000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14439" y="11390914"/>
            <a:ext cx="8175476" cy="267405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14439" y="11390914"/>
            <a:ext cx="114320" cy="2674055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03858" y="12342873"/>
            <a:ext cx="8175473" cy="21126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03858" y="12342873"/>
            <a:ext cx="8175473" cy="12385"/>
          </a:xfrm>
          <a:prstGeom prst="rect">
            <a:avLst/>
          </a:prstGeom>
          <a:solidFill>
            <a:srgbClr val="D2B4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3048" y="15572359"/>
            <a:ext cx="10417270" cy="2181410"/>
          </a:xfrm>
          <a:prstGeom prst="roundRect">
            <a:avLst>
              <a:gd name="adj" fmla="val 9740"/>
            </a:avLst>
          </a:prstGeom>
          <a:solidFill>
            <a:srgbClr val="F7F2F5"/>
          </a:solidFill>
          <a:ln w="9526">
            <a:solidFill>
              <a:srgbClr val="D5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993453" y="15608070"/>
            <a:ext cx="10417270" cy="2121893"/>
          </a:xfrm>
          <a:prstGeom prst="roundRect">
            <a:avLst>
              <a:gd name="adj" fmla="val 10013"/>
            </a:avLst>
          </a:prstGeom>
          <a:solidFill>
            <a:srgbClr val="F7F2F5"/>
          </a:solidFill>
          <a:ln w="9526">
            <a:solidFill>
              <a:srgbClr val="D5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603858" y="16581900"/>
            <a:ext cx="8175473" cy="4830466"/>
          </a:xfrm>
          <a:prstGeom prst="roundRect">
            <a:avLst>
              <a:gd name="adj" fmla="val 1577"/>
            </a:avLst>
          </a:prstGeom>
          <a:gradFill rotWithShape="1" flip="none">
            <a:gsLst>
              <a:gs pos="0">
                <a:srgbClr val="EFE5EC"/>
              </a:gs>
              <a:gs pos="100000">
                <a:srgbClr val="F7F2F5"/>
              </a:gs>
            </a:gsLst>
            <a:lin ang="5400000" scaled="0"/>
          </a:gradFill>
          <a:ln w="9526">
            <a:solidFill>
              <a:srgbClr val="DEC9D7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3622902" y="23394994"/>
            <a:ext cx="8156429" cy="6046380"/>
          </a:xfrm>
          <a:prstGeom prst="roundRect">
            <a:avLst>
              <a:gd name="adj" fmla="val 3253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14439" y="24615220"/>
            <a:ext cx="8175476" cy="4656830"/>
          </a:xfrm>
          <a:prstGeom prst="roundRect">
            <a:avLst>
              <a:gd name="adj" fmla="val 3696"/>
            </a:avLst>
          </a:prstGeom>
          <a:solidFill>
            <a:srgbClr val="F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14439" y="24615220"/>
            <a:ext cx="114320" cy="4656830"/>
          </a:xfrm>
          <a:prstGeom prst="rect">
            <a:avLst/>
          </a:prstGeom>
          <a:solidFill>
            <a:srgbClr val="AE26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columbia-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4453" y="976365"/>
            <a:ext cx="737545" cy="961768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5743583" y="2139153"/>
            <a:ext cx="1899285" cy="1899304"/>
          </a:xfrm>
          <a:prstGeom prst="roundRect">
            <a:avLst>
              <a:gd name="adj" fmla="val 5296"/>
            </a:avLst>
          </a:prstGeom>
          <a:noFill/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185" y="2239756"/>
            <a:ext cx="1698080" cy="169809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21993453" y="5792096"/>
            <a:ext cx="619407" cy="619413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83048" y="7076898"/>
            <a:ext cx="10417270" cy="5955319"/>
          </a:xfrm>
          <a:prstGeom prst="roundRect">
            <a:avLst>
              <a:gd name="adj" fmla="val 639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igur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3084" y="7076898"/>
            <a:ext cx="10417198" cy="5955319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21993453" y="11836690"/>
            <a:ext cx="619407" cy="619412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83048" y="14639596"/>
            <a:ext cx="619407" cy="619412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54253" y="16792437"/>
            <a:ext cx="3392227" cy="445402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154253" y="16792437"/>
            <a:ext cx="12385" cy="4454029"/>
          </a:xfrm>
          <a:prstGeom prst="rect">
            <a:avLst/>
          </a:prstGeom>
          <a:solidFill>
            <a:srgbClr val="DEC9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383048" y="22038328"/>
            <a:ext cx="619407" cy="619411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53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2707" y="24762671"/>
            <a:ext cx="2162788" cy="601856"/>
          </a:xfrm>
          <a:prstGeom prst="roundRect">
            <a:avLst>
              <a:gd name="adj" fmla="val 14301"/>
            </a:avLst>
          </a:prstGeom>
          <a:solidFill>
            <a:srgbClr val="AE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710" b="1">
                <a:solidFill>
                  <a:srgbClr val="FFFFFF"/>
                </a:solidFill>
                <a:latin typeface="Arial"/>
              </a:rPr>
              <a:t>WHY NOW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603858" y="9166653"/>
            <a:ext cx="8175473" cy="786653"/>
          </a:xfrm>
          <a:prstGeom prst="rect">
            <a:avLst/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1993453" y="20582267"/>
            <a:ext cx="10417270" cy="891998"/>
          </a:xfrm>
          <a:prstGeom prst="rect">
            <a:avLst/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383048" y="22927048"/>
            <a:ext cx="663892" cy="663899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85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83048" y="25426870"/>
            <a:ext cx="663892" cy="663899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485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603858" y="7763713"/>
            <a:ext cx="6097197" cy="616288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3603858" y="8370474"/>
            <a:ext cx="6097197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9701055" y="7763713"/>
            <a:ext cx="2078276" cy="616288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701055" y="8370474"/>
            <a:ext cx="2078276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603858" y="8380001"/>
            <a:ext cx="6097197" cy="7866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603858" y="9157126"/>
            <a:ext cx="6097197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701055" y="8380001"/>
            <a:ext cx="2078276" cy="7866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701055" y="9157126"/>
            <a:ext cx="2078276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603858" y="9166653"/>
            <a:ext cx="6097197" cy="786653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3603858" y="9943780"/>
            <a:ext cx="6097197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701055" y="9166653"/>
            <a:ext cx="2078276" cy="786653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701055" y="9943780"/>
            <a:ext cx="2078276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993453" y="18131846"/>
            <a:ext cx="6680747" cy="666429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993453" y="18788748"/>
            <a:ext cx="6680747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674200" y="18131846"/>
            <a:ext cx="3736523" cy="666429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674200" y="18788748"/>
            <a:ext cx="3736523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993453" y="18798275"/>
            <a:ext cx="6680747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993453" y="19680745"/>
            <a:ext cx="6680747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674200" y="18798275"/>
            <a:ext cx="3736523" cy="8919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674200" y="19680745"/>
            <a:ext cx="3736523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1993453" y="19690272"/>
            <a:ext cx="6680747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1993453" y="20572740"/>
            <a:ext cx="6680747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674200" y="19690272"/>
            <a:ext cx="3736523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8674200" y="20572740"/>
            <a:ext cx="3736523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1993453" y="20582267"/>
            <a:ext cx="6680747" cy="89199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993453" y="21464738"/>
            <a:ext cx="6680747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674200" y="20582267"/>
            <a:ext cx="3736523" cy="89199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674200" y="21464738"/>
            <a:ext cx="3736523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1993453" y="21748186"/>
            <a:ext cx="6807664" cy="666431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1993453" y="22405091"/>
            <a:ext cx="6807664" cy="12384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8801117" y="21748186"/>
            <a:ext cx="3609606" cy="666431"/>
          </a:xfrm>
          <a:prstGeom prst="rect">
            <a:avLst/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1117" y="22405091"/>
            <a:ext cx="3609606" cy="12384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993453" y="22414617"/>
            <a:ext cx="6807664" cy="8919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1993453" y="23297086"/>
            <a:ext cx="6807664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801117" y="22414617"/>
            <a:ext cx="3609606" cy="8919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801117" y="23297086"/>
            <a:ext cx="3609606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1993453" y="23306613"/>
            <a:ext cx="6807664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1993453" y="24189081"/>
            <a:ext cx="6807664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8801117" y="23306613"/>
            <a:ext cx="3609606" cy="8919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8801117" y="24189081"/>
            <a:ext cx="3609606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993453" y="24198608"/>
            <a:ext cx="6807664" cy="8919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1993453" y="25081077"/>
            <a:ext cx="6807664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8801117" y="24198608"/>
            <a:ext cx="3609606" cy="8919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8801117" y="25081077"/>
            <a:ext cx="3609606" cy="12385"/>
          </a:xfrm>
          <a:prstGeom prst="rect">
            <a:avLst/>
          </a:prstGeom>
          <a:solidFill>
            <a:srgbClr val="ECDF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44614" y="1431657"/>
            <a:ext cx="31049959" cy="13240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9069"/>
              </a:lnSpc>
              <a:spcBef>
                <a:spcPts val="0"/>
              </a:spcBef>
              <a:spcAft>
                <a:spcPts val="0"/>
              </a:spcAft>
            </a:pPr>
            <a:r>
              <a:rPr sz="8097" b="1" spc="-80">
                <a:solidFill>
                  <a:srgbClr val="7D2860"/>
                </a:solidFill>
                <a:latin typeface="Arial"/>
              </a:rPr>
              <a:t>VineLM: Trie-Based Fine-Grained Control for Agentic Workflows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44614" y="2839954"/>
            <a:ext cx="31049959" cy="819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B2331"/>
                </a:solidFill>
                <a:latin typeface="Arial"/>
              </a:rPr>
              <a:t>Nikos Pagonas, Matthew Lou, Tianyi Peng, Dan Rubenstein, Kostis Kaffes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44614" y="3606223"/>
            <a:ext cx="31049959" cy="55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2402" b="0" spc="52" baseline="30000">
                <a:solidFill>
                  <a:srgbClr val="55617A"/>
                </a:solidFill>
                <a:latin typeface="Arial"/>
              </a:rPr>
              <a:t>1</a:t>
            </a:r>
            <a:r>
              <a:rPr sz="2640" b="0" spc="52">
                <a:solidFill>
                  <a:srgbClr val="55617A"/>
                </a:solidFill>
                <a:latin typeface="Arial"/>
              </a:rPr>
              <a:t>Columbia University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4439" y="5792096"/>
            <a:ext cx="8420740" cy="848014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PROBLEM 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83048" y="5792096"/>
            <a:ext cx="10729788" cy="848014"/>
          </a:xfrm>
          <a:prstGeom prst="rect">
            <a:avLst/>
          </a:prstGeom>
          <a:noFill/>
        </p:spPr>
        <p:txBody>
          <a:bodyPr wrap="non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METHOD 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603858" y="5792096"/>
            <a:ext cx="8420737" cy="1696028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KEY RESULTS 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1993453" y="6630231"/>
            <a:ext cx="10729788" cy="4726014"/>
          </a:xfrm>
          <a:prstGeom prst="rect">
            <a:avLst/>
          </a:prstGeom>
          <a:noFill/>
        </p:spPr>
        <p:txBody>
          <a:bodyPr wrap="square" lIns="319690" rIns="319690" tIns="137714" bIns="137714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7D2860"/>
                </a:solidFill>
                <a:latin typeface="Arial"/>
              </a:rPr>
              <a:t>After each stage the controller re-roots the trie and searches only the remaining subtrie under the remaining budget — optionally inflating latency estimates from a load model. Replanning overhead stays below 1% of the fastest LLM call.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4439" y="6849993"/>
            <a:ext cx="8420740" cy="4917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C1C1C"/>
                </a:solidFill>
                <a:latin typeface="Arial"/>
              </a:rPr>
              <a:t>Agentic workflows interleave configurable LLM stages with tool stages and refinement loops — yet managers like Murakkab bind each stage to one model up front and never revisit the choice at runtime.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603858" y="10235263"/>
            <a:ext cx="8420737" cy="2104976"/>
          </a:xfrm>
          <a:prstGeom prst="rect">
            <a:avLst/>
          </a:prstGeom>
          <a:noFill/>
        </p:spPr>
        <p:txBody>
          <a:bodyPr wrap="square" lIns="457894" rIns="457894" tIns="265100" bIns="265100">
            <a:spAutoFit/>
          </a:bodyPr>
          <a:lstStyle/>
          <a:p>
            <a:pPr algn="ctr">
              <a:lnSpc>
                <a:spcPts val="5123"/>
              </a:lnSpc>
              <a:spcBef>
                <a:spcPts val="0"/>
              </a:spcBef>
              <a:spcAft>
                <a:spcPts val="0"/>
              </a:spcAft>
            </a:pPr>
            <a:r>
              <a:rPr sz="3795" b="1">
                <a:solidFill>
                  <a:srgbClr val="7D2860"/>
                </a:solidFill>
                <a:latin typeface="Arial"/>
              </a:rPr>
              <a:t>98–99.8% lower profiling cost · +18% accuracy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14439" y="11390914"/>
            <a:ext cx="8420740" cy="3075163"/>
          </a:xfrm>
          <a:prstGeom prst="rect">
            <a:avLst/>
          </a:prstGeom>
          <a:noFill/>
        </p:spPr>
        <p:txBody>
          <a:bodyPr wrap="square" lIns="344282" rIns="344282" tIns="59020" bIns="59020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0" i="1">
                <a:solidFill>
                  <a:srgbClr val="1C1C1C"/>
                </a:solidFill>
                <a:latin typeface="Arial"/>
              </a:rPr>
              <a:t>Coarse-grained control collapses a loop into one average plan, leaving real accuracy on the table.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3603858" y="12342873"/>
            <a:ext cx="8420737" cy="2429569"/>
          </a:xfrm>
          <a:prstGeom prst="rect">
            <a:avLst/>
          </a:prstGeom>
          <a:noFill/>
        </p:spPr>
        <p:txBody>
          <a:bodyPr wrap="square" lIns="0" rIns="0" tIns="203620" bIns="0">
            <a:spAutoFit/>
          </a:bodyPr>
          <a:lstStyle/>
          <a:p>
            <a:pPr algn="l">
              <a:lnSpc>
                <a:spcPts val="4988"/>
              </a:lnSpc>
              <a:spcBef>
                <a:spcPts val="0"/>
              </a:spcBef>
              <a:spcAft>
                <a:spcPts val="0"/>
              </a:spcAft>
            </a:pPr>
            <a:r>
              <a:rPr sz="2779" b="1" spc="166">
                <a:solidFill>
                  <a:srgbClr val="111111"/>
                </a:solidFill>
                <a:latin typeface="Arial"/>
              </a:rPr>
              <a:t>SO WHAT → </a:t>
            </a:r>
            <a:r>
              <a:rPr sz="3562" b="0" i="1">
                <a:solidFill>
                  <a:srgbClr val="1C1C1C"/>
                </a:solidFill>
                <a:latin typeface="Arial"/>
              </a:rPr>
              <a:t>VineLM beats the best static config: +18% accuracy, −85% SLO violations.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14439" y="15154706"/>
            <a:ext cx="8420740" cy="848013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MOTIVATION 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603858" y="15542900"/>
            <a:ext cx="8420737" cy="8480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HEADLINE NUMBERS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4636976" y="17310078"/>
            <a:ext cx="5283977" cy="339478"/>
          </a:xfrm>
          <a:prstGeom prst="rect">
            <a:avLst/>
          </a:prstGeom>
          <a:noFill/>
        </p:spPr>
        <p:txBody>
          <a:bodyPr wrap="square" lIns="371825" rIns="371825" tIns="63742" bIns="63742">
            <a:spAutoFit/>
          </a:bodyPr>
          <a:lstStyle/>
          <a:p>
            <a:pPr algn="ctr">
              <a:lnSpc>
                <a:spcPts val="3032"/>
              </a:lnSpc>
              <a:spcBef>
                <a:spcPts val="0"/>
              </a:spcBef>
              <a:spcAft>
                <a:spcPts val="0"/>
              </a:spcAft>
            </a:pPr>
            <a:r>
              <a:rPr sz="4182" b="0">
                <a:solidFill>
                  <a:srgbClr val="1C1C1C"/>
                </a:solidFill>
                <a:latin typeface="Cambria Math"/>
              </a:rPr>
              <a:t>                                                                  </a:t>
            </a:r>
            <a:r>
              <a:rPr sz="2091" b="0" i="1">
                <a:solidFill>
                  <a:srgbClr val="555555"/>
                </a:solidFill>
                <a:latin typeface="Cambria Math"/>
              </a:rPr>
              <a:t>cascade decomposition — depth-unbiased fill-in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857251" y="17333884"/>
            <a:ext cx="5632778" cy="339480"/>
          </a:xfrm>
          <a:prstGeom prst="rect">
            <a:avLst/>
          </a:prstGeom>
          <a:noFill/>
        </p:spPr>
        <p:txBody>
          <a:bodyPr wrap="square" lIns="371825" rIns="371825" tIns="63742" bIns="63742">
            <a:spAutoFit/>
          </a:bodyPr>
          <a:lstStyle/>
          <a:p>
            <a:pPr algn="ctr">
              <a:lnSpc>
                <a:spcPts val="3032"/>
              </a:lnSpc>
              <a:spcBef>
                <a:spcPts val="0"/>
              </a:spcBef>
              <a:spcAft>
                <a:spcPts val="0"/>
              </a:spcAft>
            </a:pPr>
            <a:r>
              <a:rPr sz="4182" b="0">
                <a:solidFill>
                  <a:srgbClr val="1C1C1C"/>
                </a:solidFill>
                <a:latin typeface="Cambria Math"/>
              </a:rPr>
              <a:t>                                                                    </a:t>
            </a:r>
            <a:r>
              <a:rPr sz="2091" b="0" i="1">
                <a:solidFill>
                  <a:srgbClr val="555555"/>
                </a:solidFill>
                <a:latin typeface="Cambria Math"/>
              </a:rPr>
              <a:t>pick the min-cost path that meets the accuracy SLO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622902" y="22355994"/>
            <a:ext cx="8401121" cy="848013"/>
          </a:xfrm>
          <a:prstGeom prst="rect">
            <a:avLst/>
          </a:prstGeom>
          <a:noFill/>
        </p:spPr>
        <p:txBody>
          <a:bodyPr wrap="square" lIns="0" rIns="3688736" tIns="0" bIns="0">
            <a:spAutoFit/>
          </a:bodyPr>
          <a:lstStyle/>
          <a:p>
            <a:pPr algn="l">
              <a:lnSpc>
                <a:spcPts val="5809"/>
              </a:lnSpc>
              <a:spcBef>
                <a:spcPts val="0"/>
              </a:spcBef>
              <a:spcAft>
                <a:spcPts val="0"/>
              </a:spcAft>
            </a:pPr>
            <a:r>
              <a:rPr sz="5280" b="1" spc="52">
                <a:solidFill>
                  <a:srgbClr val="111111"/>
                </a:solidFill>
                <a:latin typeface="Arial"/>
              </a:rPr>
              <a:t>TAKEAWAY 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3622902" y="23394994"/>
            <a:ext cx="8401121" cy="6953336"/>
          </a:xfrm>
          <a:prstGeom prst="rect">
            <a:avLst/>
          </a:prstGeom>
          <a:noFill/>
        </p:spPr>
        <p:txBody>
          <a:bodyPr wrap="square" lIns="344282" rIns="344282" tIns="147551" bIns="147551">
            <a:spAutoFit/>
          </a:bodyPr>
          <a:lstStyle/>
          <a:p>
            <a:pPr algn="l">
              <a:lnSpc>
                <a:spcPts val="5034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FFFFFF"/>
                </a:solidFill>
                <a:latin typeface="Arial"/>
              </a:rPr>
              <a:t>Agentic workflows should be controlled by online policies over execution prefixes — an annotated trie — rather than fixed workflow-level model assignments; the trie plus cascade decomposition makes fine-grained control practical at ~1% profiling cost.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83048" y="27032315"/>
            <a:ext cx="10729788" cy="24588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C1C1C"/>
                </a:solidFill>
                <a:latin typeface="Arial"/>
              </a:rPr>
              <a:t>Profiles paths in cascade order so deeper stages are only queried when earlier ones run; shared prefixes are computed once.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293654" y="4199151"/>
            <a:ext cx="822963" cy="4007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46"/>
              </a:lnSpc>
              <a:spcBef>
                <a:spcPts val="0"/>
              </a:spcBef>
              <a:spcAft>
                <a:spcPts val="0"/>
              </a:spcAft>
            </a:pPr>
            <a:r>
              <a:rPr sz="2112" b="1" spc="84">
                <a:solidFill>
                  <a:srgbClr val="1B2331"/>
                </a:solidFill>
                <a:latin typeface="Arial"/>
              </a:rPr>
              <a:t>Paper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2819228" y="5805041"/>
            <a:ext cx="4873721" cy="6825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Dynamic re-rooting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0295547" y="5917824"/>
            <a:ext cx="2178631" cy="423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online control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2819228" y="11849635"/>
            <a:ext cx="6115064" cy="682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Cascade decomposition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153156" y="11962417"/>
            <a:ext cx="2325294" cy="423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unbiased fill-in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1993453" y="13028795"/>
            <a:ext cx="4307302" cy="16960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1618"/>
              </a:lnSpc>
              <a:spcBef>
                <a:spcPts val="0"/>
              </a:spcBef>
              <a:spcAft>
                <a:spcPts val="0"/>
              </a:spcAft>
            </a:pPr>
            <a:r>
              <a:rPr sz="11618" b="1">
                <a:solidFill>
                  <a:srgbClr val="7D2860"/>
                </a:solidFill>
                <a:latin typeface="Arial"/>
              </a:rPr>
              <a:t>1.04%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257633" y="13173270"/>
            <a:ext cx="6868144" cy="602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128"/>
              </a:lnSpc>
              <a:spcBef>
                <a:spcPts val="0"/>
              </a:spcBef>
              <a:spcAft>
                <a:spcPts val="0"/>
              </a:spcAft>
            </a:pPr>
            <a:r>
              <a:rPr sz="3175" b="0" i="1">
                <a:solidFill>
                  <a:srgbClr val="555555"/>
                </a:solidFill>
                <a:latin typeface="Arial"/>
              </a:rPr>
              <a:t>NL2SQL workflow example (G, E, R).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371849" y="13800122"/>
            <a:ext cx="6220040" cy="1475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053"/>
              </a:lnSpc>
              <a:spcBef>
                <a:spcPts val="0"/>
              </a:spcBef>
              <a:spcAft>
                <a:spcPts val="0"/>
              </a:spcAft>
            </a:pPr>
            <a:r>
              <a:rPr sz="3485" b="0">
                <a:solidFill>
                  <a:srgbClr val="555555"/>
                </a:solidFill>
                <a:latin typeface="Arial"/>
              </a:rPr>
              <a:t>column-mean MAE (vs 1.45% VineLM-Lite)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208824" y="14652541"/>
            <a:ext cx="3515448" cy="682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Execution trie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8772481" y="14765322"/>
            <a:ext cx="2088672" cy="423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search space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14121" y="16226589"/>
            <a:ext cx="8421067" cy="3278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Refinement loops should be optimized as a sequence of model choices</a:t>
            </a:r>
            <a:r>
              <a:rPr sz="3872" b="0">
                <a:solidFill>
                  <a:srgbClr val="1C1C1C"/>
                </a:solidFill>
                <a:latin typeface="Arial"/>
              </a:rPr>
              <a:t>, not by binding one model to the whole loop.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382731" y="17886491"/>
            <a:ext cx="10730114" cy="1639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Nodes are model-choice prefixes</a:t>
            </a:r>
            <a:r>
              <a:rPr sz="3872" b="0">
                <a:solidFill>
                  <a:srgbClr val="1C1C1C"/>
                </a:solidFill>
                <a:latin typeface="Arial"/>
              </a:rPr>
              <a:t>; each root-to-leaf path is one workflow run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14121" y="19249407"/>
            <a:ext cx="8421067" cy="4098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The decision space explodes:</a:t>
            </a:r>
            <a:r>
              <a:rPr sz="3872" b="0">
                <a:solidFill>
                  <a:srgbClr val="1C1C1C"/>
                </a:solidFill>
                <a:latin typeface="Arial"/>
              </a:rPr>
              <a:t> the NL2SQL workflow alone induces 584 feasible model-choice paths — exhaustive profiling is infeasible.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382731" y="19483900"/>
            <a:ext cx="10730114" cy="1639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Annotated with cost, latency, accuracy</a:t>
            </a:r>
            <a:r>
              <a:rPr sz="3872" b="0">
                <a:solidFill>
                  <a:srgbClr val="1C1C1C"/>
                </a:solidFill>
                <a:latin typeface="Arial"/>
              </a:rPr>
              <a:t> — all three monotone along each path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208824" y="22051271"/>
            <a:ext cx="4489671" cy="682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676"/>
              </a:lnSpc>
              <a:spcBef>
                <a:spcPts val="0"/>
              </a:spcBef>
              <a:spcAft>
                <a:spcPts val="0"/>
              </a:spcAft>
            </a:pPr>
            <a:r>
              <a:rPr sz="4066" b="1">
                <a:solidFill>
                  <a:srgbClr val="7D2860"/>
                </a:solidFill>
                <a:latin typeface="Arial"/>
              </a:rPr>
              <a:t>Offline estimation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8507192" y="22164053"/>
            <a:ext cx="2361919" cy="423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spcAft>
                <a:spcPts val="0"/>
              </a:spcAft>
            </a:pPr>
            <a:r>
              <a:rPr sz="2521" b="1" i="1">
                <a:solidFill>
                  <a:srgbClr val="555555"/>
                </a:solidFill>
                <a:latin typeface="Arial"/>
              </a:rPr>
              <a:t>cheap profiling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290397" y="22927048"/>
            <a:ext cx="9795218" cy="2535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421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111111"/>
                </a:solidFill>
                <a:latin typeface="Arial"/>
              </a:rPr>
              <a:t>Cascade sampling + checkpointing</a:t>
            </a:r>
            <a:r>
              <a:rPr sz="3872" b="0">
                <a:solidFill>
                  <a:srgbClr val="1C1C1C"/>
                </a:solidFill>
                <a:latin typeface="Arial"/>
              </a:rPr>
              <a:t> — profile shared prefixes once, reuse across paths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4121" y="22984928"/>
            <a:ext cx="8421067" cy="1639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Runtime variability</a:t>
            </a:r>
            <a:r>
              <a:rPr sz="3872" b="0">
                <a:solidFill>
                  <a:srgbClr val="1C1C1C"/>
                </a:solidFill>
                <a:latin typeface="Arial"/>
              </a:rPr>
              <a:t> makes offline averages miss the SLO.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1993136" y="25364527"/>
            <a:ext cx="10730114" cy="24588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Depth-dependent missingness</a:t>
            </a:r>
            <a:r>
              <a:rPr sz="3872" b="0">
                <a:solidFill>
                  <a:srgbClr val="1C1C1C"/>
                </a:solidFill>
                <a:latin typeface="Arial"/>
              </a:rPr>
              <a:t> — later stages are only reached when earlier ones run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290397" y="25426870"/>
            <a:ext cx="9795218" cy="1744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421"/>
              </a:lnSpc>
              <a:spcBef>
                <a:spcPts val="0"/>
              </a:spcBef>
              <a:spcAft>
                <a:spcPts val="0"/>
              </a:spcAft>
            </a:pPr>
            <a:r>
              <a:rPr sz="3872" b="1">
                <a:solidFill>
                  <a:srgbClr val="111111"/>
                </a:solidFill>
                <a:latin typeface="Arial"/>
              </a:rPr>
              <a:t>Subtree fill-in</a:t>
            </a:r>
            <a:r>
              <a:rPr sz="3872" b="0">
                <a:solidFill>
                  <a:srgbClr val="1C1C1C"/>
                </a:solidFill>
                <a:latin typeface="Arial"/>
              </a:rPr>
              <a:t> — propagate success to descendants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72707" y="25561078"/>
            <a:ext cx="7594404" cy="4098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3872" b="0">
                <a:solidFill>
                  <a:srgbClr val="1C1C1C"/>
                </a:solidFill>
                <a:latin typeface="Arial"/>
              </a:rPr>
              <a:t>Static plans fail in opposite ways — a strong model blows the budget while a cheap one returns the wrong answer; only a mixed-model path does both right.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1993136" y="27674641"/>
            <a:ext cx="10730114" cy="1639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41014" indent="-541014">
              <a:lnSpc>
                <a:spcPts val="561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872" b="1">
                <a:solidFill>
                  <a:srgbClr val="111111"/>
                </a:solidFill>
                <a:latin typeface="Arial"/>
              </a:rPr>
              <a:t>Low-rank smoothing</a:t>
            </a:r>
            <a:r>
              <a:rPr sz="3872" b="0">
                <a:solidFill>
                  <a:srgbClr val="1C1C1C"/>
                </a:solidFill>
                <a:latin typeface="Arial"/>
              </a:rPr>
              <a:t> cuts MAE 1.45% → 1.04%, max error 6.29% → 4.33%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3836711" y="17460951"/>
            <a:ext cx="3890149" cy="15418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0561"/>
              </a:lnSpc>
              <a:spcBef>
                <a:spcPts val="0"/>
              </a:spcBef>
              <a:spcAft>
                <a:spcPts val="0"/>
              </a:spcAft>
            </a:pPr>
            <a:r>
              <a:rPr sz="10561" b="1" spc="-211">
                <a:solidFill>
                  <a:srgbClr val="7D2860"/>
                </a:solidFill>
                <a:latin typeface="Arial"/>
              </a:rPr>
              <a:t>+18%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836711" y="18824017"/>
            <a:ext cx="3890149" cy="1130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872"/>
              </a:lnSpc>
              <a:spcBef>
                <a:spcPts val="0"/>
              </a:spcBef>
              <a:spcAft>
                <a:spcPts val="0"/>
              </a:spcAft>
            </a:pPr>
            <a:r>
              <a:rPr sz="3520" b="1">
                <a:solidFill>
                  <a:srgbClr val="1C1C1C"/>
                </a:solidFill>
                <a:latin typeface="Arial"/>
              </a:rPr>
              <a:t>accuracy at equal budget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836711" y="19807221"/>
            <a:ext cx="3890149" cy="8863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36"/>
              </a:lnSpc>
              <a:spcBef>
                <a:spcPts val="0"/>
              </a:spcBef>
              <a:spcAft>
                <a:spcPts val="0"/>
              </a:spcAft>
            </a:pPr>
            <a:r>
              <a:rPr sz="2640" b="0" i="1">
                <a:solidFill>
                  <a:srgbClr val="555555"/>
                </a:solidFill>
                <a:latin typeface="Arial"/>
              </a:rPr>
              <a:t>vs best static (Murakkab-style) config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3603858" y="7763713"/>
            <a:ext cx="6280112" cy="708731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l">
              <a:lnSpc>
                <a:spcPts val="3916"/>
              </a:lnSpc>
              <a:spcBef>
                <a:spcPts val="0"/>
              </a:spcBef>
              <a:spcAft>
                <a:spcPts val="0"/>
              </a:spcAft>
            </a:pPr>
            <a:r>
              <a:rPr sz="2701" b="1" spc="135">
                <a:solidFill>
                  <a:srgbClr val="7D2860"/>
                </a:solidFill>
                <a:latin typeface="Arial"/>
              </a:rPr>
              <a:t>METHOD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701055" y="7763713"/>
            <a:ext cx="2140624" cy="708731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3916"/>
              </a:lnSpc>
              <a:spcBef>
                <a:spcPts val="0"/>
              </a:spcBef>
              <a:spcAft>
                <a:spcPts val="0"/>
              </a:spcAft>
            </a:pPr>
            <a:r>
              <a:rPr sz="2701" b="1" spc="135">
                <a:solidFill>
                  <a:srgbClr val="7D2860"/>
                </a:solidFill>
                <a:latin typeface="Arial"/>
              </a:rPr>
              <a:t>METRIC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603858" y="8380001"/>
            <a:ext cx="6280112" cy="904649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l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1">
                <a:solidFill>
                  <a:srgbClr val="1C1C1C"/>
                </a:solidFill>
                <a:latin typeface="Arial"/>
              </a:rPr>
              <a:t>Full offline profiling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9701055" y="8380001"/>
            <a:ext cx="2140624" cy="904649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0">
                <a:solidFill>
                  <a:srgbClr val="1C1C1C"/>
                </a:solidFill>
                <a:latin typeface="Arial"/>
              </a:rPr>
              <a:t>100%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3603858" y="9166653"/>
            <a:ext cx="6280112" cy="904650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l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1">
                <a:solidFill>
                  <a:srgbClr val="7D2860"/>
                </a:solidFill>
                <a:latin typeface="Arial"/>
              </a:rPr>
              <a:t>VineLM (2% coverage)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9701055" y="9166653"/>
            <a:ext cx="2140624" cy="904650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5222"/>
              </a:lnSpc>
              <a:spcBef>
                <a:spcPts val="0"/>
              </a:spcBef>
              <a:spcAft>
                <a:spcPts val="0"/>
              </a:spcAft>
            </a:pPr>
            <a:r>
              <a:rPr sz="3601" b="1">
                <a:solidFill>
                  <a:srgbClr val="7D2860"/>
                </a:solidFill>
                <a:latin typeface="Arial"/>
              </a:rPr>
              <a:t>0.2–2%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606122" y="16792437"/>
            <a:ext cx="1474438" cy="118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048"/>
              </a:lnSpc>
              <a:spcBef>
                <a:spcPts val="0"/>
              </a:spcBef>
              <a:spcAft>
                <a:spcPts val="0"/>
              </a:spcAft>
            </a:pPr>
            <a:r>
              <a:rPr sz="4048" b="1" spc="-40">
                <a:solidFill>
                  <a:srgbClr val="AE2622"/>
                </a:solidFill>
                <a:latin typeface="Arial"/>
              </a:rPr>
              <a:t>98–99.8%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09617" y="16906709"/>
            <a:ext cx="1376968" cy="1387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555555"/>
                </a:solidFill>
                <a:latin typeface="Arial"/>
              </a:rPr>
              <a:t>lower profiling cost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993453" y="18131846"/>
            <a:ext cx="6881169" cy="766393"/>
          </a:xfrm>
          <a:prstGeom prst="rect">
            <a:avLst/>
          </a:prstGeom>
          <a:noFill/>
        </p:spPr>
        <p:txBody>
          <a:bodyPr wrap="square" lIns="175214" rIns="175214" tIns="77095" bIns="77095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2759" b="1" spc="137">
                <a:solidFill>
                  <a:srgbClr val="555555"/>
                </a:solidFill>
                <a:latin typeface="Arial"/>
              </a:rPr>
              <a:t>FILL-IN ESTIMATOR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8674200" y="18131846"/>
            <a:ext cx="3848618" cy="766393"/>
          </a:xfrm>
          <a:prstGeom prst="rect">
            <a:avLst/>
          </a:prstGeom>
          <a:noFill/>
        </p:spPr>
        <p:txBody>
          <a:bodyPr wrap="square" lIns="175214" rIns="175214" tIns="77095" bIns="77095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2759" b="1" spc="137">
                <a:solidFill>
                  <a:srgbClr val="555555"/>
                </a:solidFill>
                <a:latin typeface="Arial"/>
              </a:rPr>
              <a:t>SIGNED ERROR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606122" y="18359048"/>
            <a:ext cx="1347546" cy="591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048"/>
              </a:lnSpc>
              <a:spcBef>
                <a:spcPts val="0"/>
              </a:spcBef>
              <a:spcAft>
                <a:spcPts val="0"/>
              </a:spcAft>
            </a:pPr>
            <a:r>
              <a:rPr sz="4048" b="1" spc="-40">
                <a:solidFill>
                  <a:srgbClr val="AE2622"/>
                </a:solidFill>
                <a:latin typeface="Arial"/>
              </a:rPr>
              <a:t>−85%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0086417" y="18473318"/>
            <a:ext cx="1503864" cy="1387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555555"/>
                </a:solidFill>
                <a:latin typeface="Arial"/>
              </a:rPr>
              <a:t>latency-SLO violations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1993453" y="18798275"/>
            <a:ext cx="6881169" cy="1025796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Direct averaging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8674200" y="18798275"/>
            <a:ext cx="3848618" cy="1025796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−49.5%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1993453" y="19690272"/>
            <a:ext cx="6881169" cy="1025794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Prefix fill-in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8674200" y="19690272"/>
            <a:ext cx="3848618" cy="1025794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optimistic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606122" y="19925658"/>
            <a:ext cx="1058361" cy="5910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048"/>
              </a:lnSpc>
              <a:spcBef>
                <a:spcPts val="0"/>
              </a:spcBef>
              <a:spcAft>
                <a:spcPts val="0"/>
              </a:spcAft>
            </a:pPr>
            <a:r>
              <a:rPr sz="4048" b="1" spc="-40">
                <a:solidFill>
                  <a:srgbClr val="AE2622"/>
                </a:solidFill>
                <a:latin typeface="Arial"/>
              </a:rPr>
              <a:t>~1%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05653" y="20039928"/>
            <a:ext cx="1793051" cy="1387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</a:pPr>
            <a:r>
              <a:rPr sz="2640" b="0">
                <a:solidFill>
                  <a:srgbClr val="555555"/>
                </a:solidFill>
                <a:latin typeface="Arial"/>
              </a:rPr>
              <a:t>column-mean MAE @ 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993453" y="20582267"/>
            <a:ext cx="6881169" cy="1025797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1">
                <a:solidFill>
                  <a:srgbClr val="1C1C1C"/>
                </a:solidFill>
                <a:latin typeface="Arial"/>
              </a:rPr>
              <a:t>Cascade decomposition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8674200" y="20582267"/>
            <a:ext cx="3848618" cy="1025797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1">
                <a:solidFill>
                  <a:srgbClr val="1C1C1C"/>
                </a:solidFill>
                <a:latin typeface="Arial"/>
              </a:rPr>
              <a:t>≈ unbiased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1993453" y="21748186"/>
            <a:ext cx="7011893" cy="766395"/>
          </a:xfrm>
          <a:prstGeom prst="rect">
            <a:avLst/>
          </a:prstGeom>
          <a:noFill/>
        </p:spPr>
        <p:txBody>
          <a:bodyPr wrap="none" lIns="175214" rIns="175214" tIns="77095" bIns="77095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2759" b="1" spc="137">
                <a:solidFill>
                  <a:srgbClr val="555555"/>
                </a:solidFill>
                <a:latin typeface="Arial"/>
              </a:rPr>
              <a:t>DEPTH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8801117" y="21748186"/>
            <a:ext cx="3717894" cy="766395"/>
          </a:xfrm>
          <a:prstGeom prst="rect">
            <a:avLst/>
          </a:prstGeom>
          <a:noFill/>
        </p:spPr>
        <p:txBody>
          <a:bodyPr wrap="square" lIns="175214" rIns="175214" tIns="77095" bIns="77095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2759" b="1" spc="137">
                <a:solidFill>
                  <a:srgbClr val="555555"/>
                </a:solidFill>
                <a:latin typeface="Arial"/>
              </a:rPr>
              <a:t>OBSERVED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1993453" y="22414617"/>
            <a:ext cx="7011893" cy="1025795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Depth-1 (8 paths)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8801117" y="22414617"/>
            <a:ext cx="3717894" cy="1025795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97%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993453" y="23306613"/>
            <a:ext cx="7011893" cy="1025794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Depth-2 (64 paths)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8801117" y="23306613"/>
            <a:ext cx="3717894" cy="1025794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17%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1993453" y="24198608"/>
            <a:ext cx="7011893" cy="1025795"/>
          </a:xfrm>
          <a:prstGeom prst="rect">
            <a:avLst/>
          </a:prstGeom>
          <a:noFill/>
        </p:spPr>
        <p:txBody>
          <a:bodyPr wrap="squar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Depth-3 (512 paths)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8801117" y="24198608"/>
            <a:ext cx="3717894" cy="1025795"/>
          </a:xfrm>
          <a:prstGeom prst="rect">
            <a:avLst/>
          </a:prstGeom>
          <a:noFill/>
        </p:spPr>
        <p:txBody>
          <a:bodyPr wrap="none" lIns="233620" rIns="233620" tIns="102794" bIns="102794">
            <a:spAutoFit/>
          </a:bodyPr>
          <a:lstStyle/>
          <a:p>
            <a:pPr algn="l">
              <a:lnSpc>
                <a:spcPts val="5334"/>
              </a:lnSpc>
              <a:spcBef>
                <a:spcPts val="0"/>
              </a:spcBef>
              <a:spcAft>
                <a:spcPts val="0"/>
              </a:spcAft>
            </a:pPr>
            <a:r>
              <a:rPr sz="3679" b="0">
                <a:solidFill>
                  <a:srgbClr val="1C1C1C"/>
                </a:solidFill>
                <a:latin typeface="Arial"/>
              </a:rPr>
              <a:t>1.8%</a:t>
            </a:r>
          </a:p>
        </p:txBody>
      </p:sp>
      <p:pic>
        <p:nvPicPr>
          <p:cNvPr id="160" name="Picture 159" descr="eq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571" y="15645564"/>
            <a:ext cx="9072224" cy="1570776"/>
          </a:xfrm>
          <a:prstGeom prst="rect">
            <a:avLst/>
          </a:prstGeom>
        </p:spPr>
      </p:pic>
      <p:pic>
        <p:nvPicPr>
          <p:cNvPr id="161" name="Picture 160" descr="eq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2352" y="15681274"/>
            <a:ext cx="8759469" cy="15410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