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2793920" cy="302666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6641" y="596647"/>
            <a:ext cx="41600636" cy="6729920"/>
          </a:xfrm>
          <a:prstGeom prst="roundRect">
            <a:avLst>
              <a:gd name="adj" fmla="val 2264"/>
            </a:avLst>
          </a:prstGeom>
          <a:solidFill>
            <a:srgbClr val="F6E7EA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6641" y="7758207"/>
            <a:ext cx="8939801" cy="7023483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3520" y="7758207"/>
            <a:ext cx="11174901" cy="9579695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625500" y="7758207"/>
            <a:ext cx="11174750" cy="7574601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257329" y="7758207"/>
            <a:ext cx="8939949" cy="5875420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3257329" y="13989086"/>
            <a:ext cx="8939949" cy="5521150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6641" y="15137149"/>
            <a:ext cx="8939801" cy="14528895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1625500" y="15688267"/>
            <a:ext cx="11174750" cy="13977777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993520" y="17693361"/>
            <a:ext cx="11174901" cy="6680225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257329" y="19865694"/>
            <a:ext cx="8939949" cy="5325343"/>
          </a:xfrm>
          <a:prstGeom prst="rect">
            <a:avLst/>
          </a:prstGeom>
          <a:solidFill>
            <a:srgbClr val="F7EDEE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257329" y="19865694"/>
            <a:ext cx="8939949" cy="38107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159171" y="19865694"/>
            <a:ext cx="38107" cy="5325343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257329" y="25152930"/>
            <a:ext cx="8939949" cy="38107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257329" y="19865694"/>
            <a:ext cx="57160" cy="5325343"/>
          </a:xfrm>
          <a:prstGeom prst="rect">
            <a:avLst/>
          </a:prstGeom>
          <a:solidFill>
            <a:srgbClr val="8F24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993520" y="24729046"/>
            <a:ext cx="11174901" cy="4936998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257329" y="25546497"/>
            <a:ext cx="8939949" cy="4119547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microso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0191" y="1455612"/>
            <a:ext cx="7275752" cy="1552177"/>
          </a:xfrm>
          <a:prstGeom prst="rect">
            <a:avLst/>
          </a:prstGeom>
        </p:spPr>
      </p:pic>
      <p:pic>
        <p:nvPicPr>
          <p:cNvPr id="19" name="Picture 18" descr="columbia-univers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19774" y="1455621"/>
            <a:ext cx="1190902" cy="1552159"/>
          </a:xfrm>
          <a:prstGeom prst="rect">
            <a:avLst/>
          </a:prstGeom>
        </p:spPr>
      </p:pic>
      <p:pic>
        <p:nvPicPr>
          <p:cNvPr id="20" name="Picture 19" descr="google-deepmi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00464" y="3185448"/>
            <a:ext cx="6699940" cy="1552170"/>
          </a:xfrm>
          <a:prstGeom prst="rect">
            <a:avLst/>
          </a:prstGeom>
        </p:spPr>
      </p:pic>
      <p:pic>
        <p:nvPicPr>
          <p:cNvPr id="21" name="Picture 20" descr="stanford-univers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54829" y="4915280"/>
            <a:ext cx="7391211" cy="1552171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33638227" y="11413234"/>
            <a:ext cx="8178155" cy="166555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638227" y="11413234"/>
            <a:ext cx="8178155" cy="12384"/>
          </a:xfrm>
          <a:prstGeom prst="rect">
            <a:avLst/>
          </a:prstGeom>
          <a:solidFill>
            <a:srgbClr val="D8B3B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2006398" y="11915251"/>
            <a:ext cx="10412954" cy="1042571"/>
          </a:xfrm>
          <a:prstGeom prst="roundRect">
            <a:avLst>
              <a:gd name="adj" fmla="val 16053"/>
            </a:avLst>
          </a:prstGeom>
          <a:solidFill>
            <a:srgbClr val="F8F2F3"/>
          </a:solidFill>
          <a:ln w="9526">
            <a:solidFill>
              <a:srgbClr val="DBB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77539" y="12170723"/>
            <a:ext cx="8178005" cy="2230065"/>
          </a:xfrm>
          <a:prstGeom prst="roundRect">
            <a:avLst>
              <a:gd name="adj" fmla="val 6949"/>
            </a:avLst>
          </a:prstGeom>
          <a:solidFill>
            <a:srgbClr val="F6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3638227" y="15094595"/>
            <a:ext cx="8178155" cy="4178619"/>
          </a:xfrm>
          <a:prstGeom prst="roundRect">
            <a:avLst>
              <a:gd name="adj" fmla="val 1823"/>
            </a:avLst>
          </a:prstGeom>
          <a:gradFill rotWithShape="1" flip="none">
            <a:gsLst>
              <a:gs pos="0">
                <a:srgbClr val="F2E5E7"/>
              </a:gs>
              <a:gs pos="100000">
                <a:srgbClr val="F8F2F3"/>
              </a:gs>
            </a:gsLst>
            <a:lin ang="5400000" scaled="0"/>
          </a:gradFill>
          <a:ln w="9526">
            <a:solidFill>
              <a:srgbClr val="E3C8CD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77539" y="16382372"/>
            <a:ext cx="8178005" cy="160291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77539" y="16382372"/>
            <a:ext cx="95267" cy="1602915"/>
          </a:xfrm>
          <a:prstGeom prst="rect">
            <a:avLst/>
          </a:prstGeom>
          <a:solidFill>
            <a:srgbClr val="8F24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2006398" y="23004421"/>
            <a:ext cx="10412954" cy="2230064"/>
          </a:xfrm>
          <a:prstGeom prst="roundRect">
            <a:avLst>
              <a:gd name="adj" fmla="val 6949"/>
            </a:avLst>
          </a:prstGeom>
          <a:solidFill>
            <a:srgbClr val="F6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3657271" y="23147258"/>
            <a:ext cx="8159111" cy="1806461"/>
          </a:xfrm>
          <a:prstGeom prst="roundRect">
            <a:avLst>
              <a:gd name="adj" fmla="val 7506"/>
            </a:avLst>
          </a:prstGeom>
          <a:solidFill>
            <a:srgbClr val="F5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657271" y="23147258"/>
            <a:ext cx="95267" cy="1806461"/>
          </a:xfrm>
          <a:prstGeom prst="rect">
            <a:avLst/>
          </a:prstGeom>
          <a:solidFill>
            <a:srgbClr val="AE26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374418" y="28191239"/>
            <a:ext cx="10413105" cy="109955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374418" y="28191239"/>
            <a:ext cx="95267" cy="1099557"/>
          </a:xfrm>
          <a:prstGeom prst="rect">
            <a:avLst/>
          </a:prstGeom>
          <a:solidFill>
            <a:srgbClr val="8F24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2006398" y="8362592"/>
            <a:ext cx="487876" cy="487883"/>
          </a:xfrm>
          <a:prstGeom prst="roundRect">
            <a:avLst>
              <a:gd name="adj" fmla="val 50000"/>
            </a:avLst>
          </a:prstGeom>
          <a:solidFill>
            <a:srgbClr val="8F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562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400307" y="9080801"/>
            <a:ext cx="10361178" cy="7132248"/>
          </a:xfrm>
          <a:prstGeom prst="roundRect">
            <a:avLst>
              <a:gd name="adj" fmla="val 534"/>
            </a:avLst>
          </a:prstGeom>
          <a:solidFill>
            <a:srgbClr val="FFFFFF"/>
          </a:solidFill>
          <a:ln w="9526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page8_figure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00307" y="9083756"/>
            <a:ext cx="10361178" cy="7126338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38186392" y="15332659"/>
            <a:ext cx="3366633" cy="37533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8186392" y="15332659"/>
            <a:ext cx="12385" cy="3753376"/>
          </a:xfrm>
          <a:prstGeom prst="rect">
            <a:avLst/>
          </a:prstGeom>
          <a:solidFill>
            <a:srgbClr val="E3C8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2006398" y="16292653"/>
            <a:ext cx="487876" cy="487882"/>
          </a:xfrm>
          <a:prstGeom prst="roundRect">
            <a:avLst>
              <a:gd name="adj" fmla="val 50000"/>
            </a:avLst>
          </a:prstGeom>
          <a:solidFill>
            <a:srgbClr val="8F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562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374418" y="18297746"/>
            <a:ext cx="487878" cy="487882"/>
          </a:xfrm>
          <a:prstGeom prst="roundRect">
            <a:avLst>
              <a:gd name="adj" fmla="val 50000"/>
            </a:avLst>
          </a:prstGeom>
          <a:solidFill>
            <a:srgbClr val="8F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562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77539" y="22414617"/>
            <a:ext cx="8178005" cy="4607878"/>
          </a:xfrm>
          <a:prstGeom prst="roundRect">
            <a:avLst>
              <a:gd name="adj" fmla="val 827"/>
            </a:avLst>
          </a:prstGeom>
          <a:solidFill>
            <a:srgbClr val="FFFFFF"/>
          </a:solidFill>
          <a:ln w="9526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page2_figure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7563" y="22414617"/>
            <a:ext cx="8177957" cy="4607878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34023440" y="23263314"/>
            <a:ext cx="1821915" cy="428218"/>
          </a:xfrm>
          <a:prstGeom prst="roundRect">
            <a:avLst>
              <a:gd name="adj" fmla="val 15832"/>
            </a:avLst>
          </a:prstGeom>
          <a:solidFill>
            <a:srgbClr val="AE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135" b="1">
                <a:solidFill>
                  <a:srgbClr val="FFFFFF"/>
                </a:solidFill>
                <a:latin typeface="Cambria"/>
              </a:rPr>
              <a:t>SO WHAT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374418" y="25109948"/>
            <a:ext cx="487878" cy="487881"/>
          </a:xfrm>
          <a:prstGeom prst="roundRect">
            <a:avLst>
              <a:gd name="adj" fmla="val 50000"/>
            </a:avLst>
          </a:prstGeom>
          <a:solidFill>
            <a:srgbClr val="8F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562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374418" y="25894962"/>
            <a:ext cx="1591441" cy="615842"/>
          </a:xfrm>
          <a:prstGeom prst="roundRect">
            <a:avLst>
              <a:gd name="adj" fmla="val 18054"/>
            </a:avLst>
          </a:prstGeom>
          <a:solidFill>
            <a:srgbClr val="FFFFFF"/>
          </a:solidFill>
          <a:ln w="9526">
            <a:solidFill>
              <a:srgbClr val="D4AC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501" b="1">
                <a:solidFill>
                  <a:srgbClr val="8F2437"/>
                </a:solidFill>
                <a:latin typeface="Cambria"/>
              </a:rPr>
              <a:t>Request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2522477" y="25894962"/>
            <a:ext cx="1565403" cy="615842"/>
          </a:xfrm>
          <a:prstGeom prst="roundRect">
            <a:avLst>
              <a:gd name="adj" fmla="val 18054"/>
            </a:avLst>
          </a:prstGeom>
          <a:solidFill>
            <a:srgbClr val="FFFFFF"/>
          </a:solidFill>
          <a:ln w="9526">
            <a:solidFill>
              <a:srgbClr val="D4AC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501" b="1">
                <a:solidFill>
                  <a:srgbClr val="8F2437"/>
                </a:solidFill>
                <a:latin typeface="Cambria"/>
              </a:rPr>
              <a:t>Assess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4644497" y="25894962"/>
            <a:ext cx="1898837" cy="615842"/>
          </a:xfrm>
          <a:prstGeom prst="roundRect">
            <a:avLst>
              <a:gd name="adj" fmla="val 18054"/>
            </a:avLst>
          </a:prstGeom>
          <a:solidFill>
            <a:srgbClr val="FFFFFF"/>
          </a:solidFill>
          <a:ln w="9526">
            <a:solidFill>
              <a:srgbClr val="D4AC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501" b="1">
                <a:solidFill>
                  <a:srgbClr val="8F2437"/>
                </a:solidFill>
                <a:latin typeface="Cambria"/>
              </a:rPr>
              <a:t>Collateral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7099952" y="25894962"/>
            <a:ext cx="1565551" cy="615842"/>
          </a:xfrm>
          <a:prstGeom prst="roundRect">
            <a:avLst>
              <a:gd name="adj" fmla="val 18054"/>
            </a:avLst>
          </a:prstGeom>
          <a:solidFill>
            <a:srgbClr val="FFFFFF"/>
          </a:solidFill>
          <a:ln w="9526">
            <a:solidFill>
              <a:srgbClr val="D4AC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501" b="1">
                <a:solidFill>
                  <a:srgbClr val="8F2437"/>
                </a:solidFill>
                <a:latin typeface="Cambria"/>
              </a:rPr>
              <a:t>Execute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9222120" y="25894962"/>
            <a:ext cx="1565403" cy="615842"/>
          </a:xfrm>
          <a:prstGeom prst="roundRect">
            <a:avLst>
              <a:gd name="adj" fmla="val 18054"/>
            </a:avLst>
          </a:prstGeom>
          <a:solidFill>
            <a:srgbClr val="FFFFFF"/>
          </a:solidFill>
          <a:ln w="9526">
            <a:solidFill>
              <a:srgbClr val="D4AC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501" b="1">
                <a:solidFill>
                  <a:srgbClr val="8F2437"/>
                </a:solidFill>
                <a:latin typeface="Cambria"/>
              </a:rPr>
              <a:t>Settle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3638227" y="9482386"/>
            <a:ext cx="8178155" cy="642028"/>
          </a:xfrm>
          <a:prstGeom prst="rect">
            <a:avLst/>
          </a:prstGeom>
          <a:solidFill>
            <a:srgbClr val="F4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37220307" y="26227509"/>
            <a:ext cx="2107588" cy="2107609"/>
          </a:xfrm>
          <a:prstGeom prst="roundRect">
            <a:avLst>
              <a:gd name="adj" fmla="val 7834"/>
            </a:avLst>
          </a:prstGeom>
          <a:solidFill>
            <a:srgbClr val="FFFFFF"/>
          </a:solidFill>
          <a:ln w="9526">
            <a:solidFill>
              <a:srgbClr val="E5E5E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pap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347330" y="26354533"/>
            <a:ext cx="1853542" cy="1853562"/>
          </a:xfrm>
          <a:prstGeom prst="rect">
            <a:avLst/>
          </a:prstGeom>
        </p:spPr>
      </p:pic>
      <p:sp>
        <p:nvSpPr>
          <p:cNvPr id="53" name="Rounded Rectangle 52"/>
          <p:cNvSpPr/>
          <p:nvPr/>
        </p:nvSpPr>
        <p:spPr>
          <a:xfrm>
            <a:off x="39708796" y="26227509"/>
            <a:ext cx="2107586" cy="2107609"/>
          </a:xfrm>
          <a:prstGeom prst="roundRect">
            <a:avLst>
              <a:gd name="adj" fmla="val 7834"/>
            </a:avLst>
          </a:prstGeom>
          <a:solidFill>
            <a:srgbClr val="FFFFFF"/>
          </a:solidFill>
          <a:ln w="9526">
            <a:solidFill>
              <a:srgbClr val="E5E5E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cod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835818" y="26354533"/>
            <a:ext cx="1853542" cy="1853562"/>
          </a:xfrm>
          <a:prstGeom prst="rect">
            <a:avLst/>
          </a:prstGeom>
        </p:spPr>
      </p:pic>
      <p:sp>
        <p:nvSpPr>
          <p:cNvPr id="55" name="Rounded Rectangle 54"/>
          <p:cNvSpPr/>
          <p:nvPr/>
        </p:nvSpPr>
        <p:spPr>
          <a:xfrm>
            <a:off x="37507915" y="28487480"/>
            <a:ext cx="1532226" cy="497554"/>
          </a:xfrm>
          <a:prstGeom prst="roundRect">
            <a:avLst>
              <a:gd name="adj" fmla="val 50000"/>
            </a:avLst>
          </a:prstGeom>
          <a:solidFill>
            <a:srgbClr val="F6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600" b="1">
                <a:solidFill>
                  <a:srgbClr val="8F2437"/>
                </a:solidFill>
                <a:latin typeface="Cambria"/>
              </a:rPr>
              <a:t>Paper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0071838" y="28487480"/>
            <a:ext cx="1381501" cy="497554"/>
          </a:xfrm>
          <a:prstGeom prst="roundRect">
            <a:avLst>
              <a:gd name="adj" fmla="val 50000"/>
            </a:avLst>
          </a:prstGeom>
          <a:solidFill>
            <a:srgbClr val="F6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600" b="1">
                <a:solidFill>
                  <a:srgbClr val="8F2437"/>
                </a:solidFill>
                <a:latin typeface="Cambria"/>
              </a:rPr>
              <a:t>Code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3638227" y="9003430"/>
            <a:ext cx="2356213" cy="478956"/>
          </a:xfrm>
          <a:prstGeom prst="rect">
            <a:avLst/>
          </a:prstGeom>
          <a:solidFill>
            <a:srgbClr val="F8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3638227" y="9472859"/>
            <a:ext cx="2356213" cy="12385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5994440" y="9003430"/>
            <a:ext cx="3572260" cy="478956"/>
          </a:xfrm>
          <a:prstGeom prst="rect">
            <a:avLst/>
          </a:prstGeom>
          <a:solidFill>
            <a:srgbClr val="F8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5994440" y="9472859"/>
            <a:ext cx="3572260" cy="12385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9566700" y="9003430"/>
            <a:ext cx="2249682" cy="478956"/>
          </a:xfrm>
          <a:prstGeom prst="rect">
            <a:avLst/>
          </a:prstGeom>
          <a:solidFill>
            <a:srgbClr val="F8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9566700" y="9472859"/>
            <a:ext cx="2249682" cy="12385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3638227" y="9482386"/>
            <a:ext cx="2356213" cy="6420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3638227" y="10114887"/>
            <a:ext cx="2356213" cy="12385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5994440" y="9482386"/>
            <a:ext cx="3572260" cy="6420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5994440" y="10114887"/>
            <a:ext cx="3572260" cy="12385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9566700" y="9482386"/>
            <a:ext cx="2249682" cy="6420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9566700" y="10114887"/>
            <a:ext cx="2249682" cy="12385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3638227" y="10124414"/>
            <a:ext cx="2356213" cy="64202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3638227" y="10756916"/>
            <a:ext cx="2356213" cy="12385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5994440" y="10124414"/>
            <a:ext cx="3572260" cy="64202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5994440" y="10756916"/>
            <a:ext cx="3572260" cy="12385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9566700" y="10124414"/>
            <a:ext cx="2249682" cy="64202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9566700" y="10756916"/>
            <a:ext cx="2249682" cy="12385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3638227" y="10766443"/>
            <a:ext cx="2356213" cy="64203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3638227" y="11398946"/>
            <a:ext cx="2356213" cy="12385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5994440" y="10766443"/>
            <a:ext cx="3572260" cy="64203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5994440" y="11398946"/>
            <a:ext cx="3572260" cy="12385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9566700" y="10766443"/>
            <a:ext cx="2249682" cy="64203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9566700" y="11398946"/>
            <a:ext cx="2249682" cy="12385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206078" y="952107"/>
            <a:ext cx="9964907" cy="69218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904"/>
              </a:lnSpc>
              <a:spcBef>
                <a:spcPts val="0"/>
              </a:spcBef>
              <a:spcAft>
                <a:spcPts val="0"/>
              </a:spcAft>
            </a:pPr>
            <a:r>
              <a:rPr sz="6401" b="1" spc="64">
                <a:solidFill>
                  <a:srgbClr val="8F2437"/>
                </a:solidFill>
                <a:latin typeface="Cambria"/>
              </a:rPr>
              <a:t>Preprint 2026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1388560" y="952107"/>
            <a:ext cx="20473933" cy="40470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8256"/>
              </a:lnSpc>
              <a:spcBef>
                <a:spcPts val="0"/>
              </a:spcBef>
              <a:spcAft>
                <a:spcPts val="0"/>
              </a:spcAft>
            </a:pPr>
            <a:r>
              <a:rPr sz="7505" b="1" spc="-84">
                <a:solidFill>
                  <a:srgbClr val="8F2437"/>
                </a:solidFill>
                <a:latin typeface="Cambria"/>
              </a:rPr>
              <a:t>Quantifying Trust: Financial Risk</a:t>
            </a:r>
          </a:p>
          <a:p>
            <a:pPr algn="ctr">
              <a:lnSpc>
                <a:spcPts val="8256"/>
              </a:lnSpc>
              <a:spcBef>
                <a:spcPts val="0"/>
              </a:spcBef>
              <a:spcAft>
                <a:spcPts val="0"/>
              </a:spcAft>
            </a:pPr>
            <a:r>
              <a:rPr sz="7505" b="1" spc="-84">
                <a:solidFill>
                  <a:srgbClr val="8F2437"/>
                </a:solidFill>
                <a:latin typeface="Cambria"/>
              </a:rPr>
              <a:t>Management for Trustworthy AI</a:t>
            </a:r>
          </a:p>
          <a:p>
            <a:pPr algn="ctr">
              <a:lnSpc>
                <a:spcPts val="8256"/>
              </a:lnSpc>
              <a:spcBef>
                <a:spcPts val="0"/>
              </a:spcBef>
              <a:spcAft>
                <a:spcPts val="0"/>
              </a:spcAft>
            </a:pPr>
            <a:r>
              <a:rPr sz="7505" b="1" spc="-84">
                <a:solidFill>
                  <a:srgbClr val="8F2437"/>
                </a:solidFill>
                <a:latin typeface="Cambria"/>
              </a:rPr>
              <a:t>Agents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388560" y="4684504"/>
            <a:ext cx="20473933" cy="15180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52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>
                <a:solidFill>
                  <a:srgbClr val="1B2331"/>
                </a:solidFill>
                <a:latin typeface="Cambria"/>
              </a:rPr>
              <a:t>Wenyue Hua</a:t>
            </a:r>
            <a:r>
              <a:rPr sz="5600" b="0" baseline="30000">
                <a:solidFill>
                  <a:srgbClr val="1B2331"/>
                </a:solidFill>
                <a:latin typeface="Cambria"/>
              </a:rPr>
              <a:t>1</a:t>
            </a:r>
            <a:r>
              <a:rPr sz="4000" b="0">
                <a:solidFill>
                  <a:srgbClr val="1B2331"/>
                </a:solidFill>
                <a:latin typeface="Cambria"/>
              </a:rPr>
              <a:t>, Tianyi Peng</a:t>
            </a:r>
            <a:r>
              <a:rPr sz="5600" b="0" baseline="30000">
                <a:solidFill>
                  <a:srgbClr val="1B2331"/>
                </a:solidFill>
                <a:latin typeface="Cambria"/>
              </a:rPr>
              <a:t>2</a:t>
            </a:r>
            <a:r>
              <a:rPr sz="4000" b="0">
                <a:solidFill>
                  <a:srgbClr val="1B2331"/>
                </a:solidFill>
                <a:latin typeface="Cambria"/>
              </a:rPr>
              <a:t>, Chi Wang</a:t>
            </a:r>
            <a:r>
              <a:rPr sz="5600" b="0" baseline="30000">
                <a:solidFill>
                  <a:srgbClr val="1B2331"/>
                </a:solidFill>
                <a:latin typeface="Cambria"/>
              </a:rPr>
              <a:t>3</a:t>
            </a:r>
            <a:r>
              <a:rPr sz="4000" b="0">
                <a:solidFill>
                  <a:srgbClr val="1B2331"/>
                </a:solidFill>
                <a:latin typeface="Cambria"/>
              </a:rPr>
              <a:t>, Jiaxin Pei</a:t>
            </a:r>
            <a:r>
              <a:rPr sz="5600" b="0" baseline="30000">
                <a:solidFill>
                  <a:srgbClr val="1B2331"/>
                </a:solidFill>
                <a:latin typeface="Cambria"/>
              </a:rPr>
              <a:t>4</a:t>
            </a:r>
            <a:r>
              <a:rPr sz="4000" b="0">
                <a:solidFill>
                  <a:srgbClr val="1B2331"/>
                </a:solidFill>
                <a:latin typeface="Cambria"/>
              </a:rPr>
              <a:t>, Ian Kaufman</a:t>
            </a:r>
            <a:r>
              <a:rPr sz="5600" b="0" baseline="30000">
                <a:solidFill>
                  <a:srgbClr val="1B2331"/>
                </a:solidFill>
                <a:latin typeface="Cambria"/>
              </a:rPr>
              <a:t>5</a:t>
            </a:r>
            <a:r>
              <a:rPr sz="4000" b="0">
                <a:solidFill>
                  <a:srgbClr val="1B2331"/>
                </a:solidFill>
                <a:latin typeface="Cambria"/>
              </a:rPr>
              <a:t>, Bryan Lim</a:t>
            </a:r>
            <a:r>
              <a:rPr sz="5600" b="0" baseline="30000">
                <a:solidFill>
                  <a:srgbClr val="1B2331"/>
                </a:solidFill>
                <a:latin typeface="Cambria"/>
              </a:rPr>
              <a:t>6</a:t>
            </a:r>
            <a:r>
              <a:rPr sz="4000" b="0">
                <a:solidFill>
                  <a:srgbClr val="1B2331"/>
                </a:solidFill>
                <a:latin typeface="Cambria"/>
              </a:rPr>
              <a:t>, Chandler Fang</a:t>
            </a:r>
            <a:r>
              <a:rPr sz="5600" b="0" baseline="30000">
                <a:solidFill>
                  <a:srgbClr val="1B2331"/>
                </a:solidFill>
                <a:latin typeface="Cambria"/>
              </a:rPr>
              <a:t>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1388560" y="6061406"/>
            <a:ext cx="20473933" cy="104615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584"/>
              </a:lnSpc>
              <a:spcBef>
                <a:spcPts val="0"/>
              </a:spcBef>
              <a:spcAft>
                <a:spcPts val="0"/>
              </a:spcAft>
            </a:pPr>
            <a:r>
              <a:rPr sz="2430" b="0" spc="56" baseline="30000">
                <a:solidFill>
                  <a:srgbClr val="55617A"/>
                </a:solidFill>
                <a:latin typeface="Cambria"/>
              </a:rPr>
              <a:t>1</a:t>
            </a:r>
            <a:r>
              <a:rPr sz="2800" b="0" spc="56">
                <a:solidFill>
                  <a:srgbClr val="55617A"/>
                </a:solidFill>
                <a:latin typeface="Cambria"/>
              </a:rPr>
              <a:t>Microsoft Research   </a:t>
            </a:r>
            <a:r>
              <a:rPr sz="3920" b="0" spc="56" baseline="30000">
                <a:solidFill>
                  <a:srgbClr val="55617A"/>
                </a:solidFill>
                <a:latin typeface="Cambria"/>
              </a:rPr>
              <a:t>2</a:t>
            </a:r>
            <a:r>
              <a:rPr sz="2800" b="0" spc="56">
                <a:solidFill>
                  <a:srgbClr val="55617A"/>
                </a:solidFill>
                <a:latin typeface="Cambria"/>
              </a:rPr>
              <a:t>Columbia University   </a:t>
            </a:r>
            <a:r>
              <a:rPr sz="3920" b="0" spc="56" baseline="30000">
                <a:solidFill>
                  <a:srgbClr val="55617A"/>
                </a:solidFill>
                <a:latin typeface="Cambria"/>
              </a:rPr>
              <a:t>3</a:t>
            </a:r>
            <a:r>
              <a:rPr sz="2800" b="0" spc="56">
                <a:solidFill>
                  <a:srgbClr val="55617A"/>
                </a:solidFill>
                <a:latin typeface="Cambria"/>
              </a:rPr>
              <a:t>Google DeepMind   </a:t>
            </a:r>
            <a:r>
              <a:rPr sz="3920" b="0" spc="56" baseline="30000">
                <a:solidFill>
                  <a:srgbClr val="55617A"/>
                </a:solidFill>
                <a:latin typeface="Cambria"/>
              </a:rPr>
              <a:t>4</a:t>
            </a:r>
            <a:r>
              <a:rPr sz="2800" b="0" spc="56">
                <a:solidFill>
                  <a:srgbClr val="55617A"/>
                </a:solidFill>
                <a:latin typeface="Cambria"/>
              </a:rPr>
              <a:t>Stanford University   </a:t>
            </a:r>
            <a:r>
              <a:rPr sz="3920" b="0" spc="56" baseline="30000">
                <a:solidFill>
                  <a:srgbClr val="55617A"/>
                </a:solidFill>
                <a:latin typeface="Cambria"/>
              </a:rPr>
              <a:t>5</a:t>
            </a:r>
            <a:r>
              <a:rPr sz="2800" b="0" spc="56">
                <a:solidFill>
                  <a:srgbClr val="55617A"/>
                </a:solidFill>
                <a:latin typeface="Cambria"/>
              </a:rPr>
              <a:t>t54.ai   </a:t>
            </a:r>
            <a:r>
              <a:rPr sz="3920" b="0" spc="56" baseline="30000">
                <a:solidFill>
                  <a:srgbClr val="55617A"/>
                </a:solidFill>
                <a:latin typeface="Cambria"/>
              </a:rPr>
              <a:t>6</a:t>
            </a:r>
            <a:r>
              <a:rPr sz="2800" b="0" spc="56">
                <a:solidFill>
                  <a:srgbClr val="55617A"/>
                </a:solidFill>
                <a:latin typeface="Cambria"/>
              </a:rPr>
              <a:t>Virtuals ACP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77539" y="8139109"/>
            <a:ext cx="8423345" cy="725329"/>
          </a:xfrm>
          <a:prstGeom prst="rect">
            <a:avLst/>
          </a:prstGeom>
          <a:noFill/>
        </p:spPr>
        <p:txBody>
          <a:bodyPr wrap="square" lIns="0" rIns="3213669" tIns="0" bIns="0">
            <a:spAutoFit/>
          </a:bodyPr>
          <a:lstStyle/>
          <a:p>
            <a:pPr algn="l">
              <a:lnSpc>
                <a:spcPts val="4968"/>
              </a:lnSpc>
              <a:spcBef>
                <a:spcPts val="0"/>
              </a:spcBef>
              <a:spcAft>
                <a:spcPts val="0"/>
              </a:spcAft>
            </a:pPr>
            <a:r>
              <a:rPr sz="4600" b="1" spc="46">
                <a:solidFill>
                  <a:srgbClr val="111111"/>
                </a:solidFill>
                <a:latin typeface="Cambria"/>
              </a:rPr>
              <a:t>PROBLEM 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374418" y="8139109"/>
            <a:ext cx="10725498" cy="725329"/>
          </a:xfrm>
          <a:prstGeom prst="rect">
            <a:avLst/>
          </a:prstGeom>
          <a:noFill/>
        </p:spPr>
        <p:txBody>
          <a:bodyPr wrap="none" lIns="0" rIns="3213669" tIns="0" bIns="0">
            <a:spAutoFit/>
          </a:bodyPr>
          <a:lstStyle/>
          <a:p>
            <a:pPr algn="l">
              <a:lnSpc>
                <a:spcPts val="4968"/>
              </a:lnSpc>
              <a:spcBef>
                <a:spcPts val="0"/>
              </a:spcBef>
              <a:spcAft>
                <a:spcPts val="0"/>
              </a:spcAft>
            </a:pPr>
            <a:r>
              <a:rPr sz="4600" b="1" spc="46">
                <a:solidFill>
                  <a:srgbClr val="111111"/>
                </a:solidFill>
                <a:latin typeface="Cambria"/>
              </a:rPr>
              <a:t>METHOD 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3638227" y="8139109"/>
            <a:ext cx="8423499" cy="725329"/>
          </a:xfrm>
          <a:prstGeom prst="rect">
            <a:avLst/>
          </a:prstGeom>
          <a:noFill/>
        </p:spPr>
        <p:txBody>
          <a:bodyPr wrap="square" lIns="0" rIns="3213669" tIns="0" bIns="0">
            <a:spAutoFit/>
          </a:bodyPr>
          <a:lstStyle/>
          <a:p>
            <a:pPr algn="l">
              <a:lnSpc>
                <a:spcPts val="4968"/>
              </a:lnSpc>
              <a:spcBef>
                <a:spcPts val="0"/>
              </a:spcBef>
              <a:spcAft>
                <a:spcPts val="0"/>
              </a:spcAft>
            </a:pPr>
            <a:r>
              <a:rPr sz="4600" b="1" spc="46">
                <a:solidFill>
                  <a:srgbClr val="111111"/>
                </a:solidFill>
                <a:latin typeface="Cambria"/>
              </a:rPr>
              <a:t>KEY RESULTS 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7539" y="9003430"/>
            <a:ext cx="8423345" cy="34197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904"/>
              </a:lnSpc>
              <a:spcBef>
                <a:spcPts val="0"/>
              </a:spcBef>
              <a:spcAft>
                <a:spcPts val="0"/>
              </a:spcAft>
            </a:pPr>
            <a:r>
              <a:rPr sz="3050" b="0">
                <a:solidFill>
                  <a:srgbClr val="1C1C1C"/>
                </a:solidFill>
                <a:latin typeface="Cambria"/>
              </a:rPr>
              <a:t>Agent behavior is inherently </a:t>
            </a:r>
            <a:r>
              <a:rPr sz="3050" b="1">
                <a:solidFill>
                  <a:srgbClr val="111111"/>
                </a:solidFill>
                <a:latin typeface="Cambria"/>
              </a:rPr>
              <a:t>stochastic</a:t>
            </a:r>
            <a:r>
              <a:rPr sz="3050" b="0">
                <a:solidFill>
                  <a:srgbClr val="1C1C1C"/>
                </a:solidFill>
                <a:latin typeface="Cambria"/>
              </a:rPr>
              <a:t>, so product-level harms — execution failure, misalignment, unintended outcomes — </a:t>
            </a:r>
            <a:r>
              <a:rPr sz="3050" b="1">
                <a:solidFill>
                  <a:srgbClr val="111111"/>
                </a:solidFill>
                <a:latin typeface="Cambria"/>
              </a:rPr>
              <a:t>cannot be eliminated</a:t>
            </a:r>
            <a:r>
              <a:rPr sz="3050" b="0">
                <a:solidFill>
                  <a:srgbClr val="1C1C1C"/>
                </a:solidFill>
                <a:latin typeface="Cambria"/>
              </a:rPr>
              <a:t> by model-internal safeguards like robustness or interpretability alone.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2006398" y="9283007"/>
            <a:ext cx="9545303" cy="25963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904"/>
              </a:lnSpc>
              <a:spcBef>
                <a:spcPts val="0"/>
              </a:spcBef>
              <a:spcAft>
                <a:spcPts val="0"/>
              </a:spcAft>
            </a:pPr>
            <a:r>
              <a:rPr sz="3050" b="0">
                <a:solidFill>
                  <a:srgbClr val="1C1C1C"/>
                </a:solidFill>
                <a:latin typeface="Cambria"/>
              </a:rPr>
              <a:t>For principal </a:t>
            </a:r>
            <a:r>
              <a:rPr sz="3050" b="0">
                <a:solidFill>
                  <a:srgbClr val="1C1C1C"/>
                </a:solidFill>
                <a:latin typeface="Cambria"/>
              </a:rPr>
              <a:t>    </a:t>
            </a:r>
            <a:r>
              <a:rPr sz="3050" b="0">
                <a:solidFill>
                  <a:srgbClr val="1C1C1C"/>
                </a:solidFill>
                <a:latin typeface="Cambria"/>
              </a:rPr>
              <a:t>, a noisy estimate </a:t>
            </a:r>
            <a:r>
              <a:rPr sz="3050" b="0">
                <a:solidFill>
                  <a:srgbClr val="1C1C1C"/>
                </a:solidFill>
                <a:latin typeface="Cambria"/>
              </a:rPr>
              <a:t>                                                                           </a:t>
            </a:r>
            <a:r>
              <a:rPr sz="3050" b="0">
                <a:solidFill>
                  <a:srgbClr val="1C1C1C"/>
                </a:solidFill>
                <a:latin typeface="Cambria"/>
              </a:rPr>
              <a:t> drives a </a:t>
            </a:r>
            <a:r>
              <a:rPr sz="3050" b="1">
                <a:solidFill>
                  <a:srgbClr val="111111"/>
                </a:solidFill>
                <a:latin typeface="Cambria"/>
              </a:rPr>
              <a:t>sigmoid collateral</a:t>
            </a:r>
            <a:r>
              <a:rPr sz="3050" b="0">
                <a:solidFill>
                  <a:srgbClr val="1C1C1C"/>
                </a:solidFill>
                <a:latin typeface="Cambria"/>
              </a:rPr>
              <a:t> </a:t>
            </a:r>
            <a:r>
              <a:rPr sz="3050" b="0">
                <a:solidFill>
                  <a:srgbClr val="1C1C1C"/>
                </a:solidFill>
                <a:latin typeface="Cambria"/>
              </a:rPr>
              <a:t>                                                                                </a:t>
            </a:r>
            <a:r>
              <a:rPr sz="3050" b="0">
                <a:solidFill>
                  <a:srgbClr val="1C1C1C"/>
                </a:solidFill>
                <a:latin typeface="Cambria"/>
              </a:rPr>
              <a:t> and an actuarially-fair premium with loading </a:t>
            </a:r>
            <a:r>
              <a:rPr sz="3050" b="0">
                <a:solidFill>
                  <a:srgbClr val="1C1C1C"/>
                </a:solidFill>
                <a:latin typeface="Cambria"/>
              </a:rPr>
              <a:t>  </a:t>
            </a:r>
            <a:r>
              <a:rPr sz="3050" b="0">
                <a:solidFill>
                  <a:srgbClr val="1C1C1C"/>
                </a:solidFill>
                <a:latin typeface="Cambria"/>
              </a:rPr>
              <a:t>: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3638227" y="11413234"/>
            <a:ext cx="8423499" cy="1915387"/>
          </a:xfrm>
          <a:prstGeom prst="rect">
            <a:avLst/>
          </a:prstGeom>
          <a:noFill/>
        </p:spPr>
        <p:txBody>
          <a:bodyPr wrap="square" lIns="0" rIns="0" tIns="160393" bIns="0">
            <a:spAutoFit/>
          </a:bodyPr>
          <a:lstStyle/>
          <a:p>
            <a:pPr algn="l">
              <a:lnSpc>
                <a:spcPts val="3929"/>
              </a:lnSpc>
              <a:spcBef>
                <a:spcPts val="0"/>
              </a:spcBef>
              <a:spcAft>
                <a:spcPts val="0"/>
              </a:spcAft>
            </a:pPr>
            <a:r>
              <a:rPr sz="2189" b="1" spc="131">
                <a:solidFill>
                  <a:srgbClr val="111111"/>
                </a:solidFill>
                <a:latin typeface="Cambria"/>
              </a:rPr>
              <a:t>SO WHAT → </a:t>
            </a:r>
            <a:r>
              <a:rPr sz="2806" b="0" i="1">
                <a:solidFill>
                  <a:srgbClr val="1C1C1C"/>
                </a:solidFill>
                <a:latin typeface="Cambria"/>
              </a:rPr>
              <a:t>Loss reduction stays </a:t>
            </a:r>
            <a:r>
              <a:rPr sz="2806" b="1" i="1">
                <a:solidFill>
                  <a:srgbClr val="111111"/>
                </a:solidFill>
                <a:latin typeface="Cambria"/>
              </a:rPr>
              <a:t>positive across the whole sweep</a:t>
            </a:r>
            <a:r>
              <a:rPr sz="2806" b="0" i="1">
                <a:solidFill>
                  <a:srgbClr val="1C1C1C"/>
                </a:solidFill>
                <a:latin typeface="Cambria"/>
              </a:rPr>
              <a:t>; collateral deters risky jobs before execution.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77539" y="12170723"/>
            <a:ext cx="8423345" cy="2564574"/>
          </a:xfrm>
          <a:prstGeom prst="rect">
            <a:avLst/>
          </a:prstGeom>
          <a:noFill/>
        </p:spPr>
        <p:txBody>
          <a:bodyPr wrap="square" lIns="251822" rIns="251822" tIns="108478" bIns="108478">
            <a:spAutoFit/>
          </a:bodyPr>
          <a:lstStyle/>
          <a:p>
            <a:pPr algn="l">
              <a:lnSpc>
                <a:spcPts val="3965"/>
              </a:lnSpc>
              <a:spcBef>
                <a:spcPts val="0"/>
              </a:spcBef>
              <a:spcAft>
                <a:spcPts val="0"/>
              </a:spcAft>
            </a:pPr>
            <a:r>
              <a:rPr sz="3050" b="0">
                <a:solidFill>
                  <a:srgbClr val="8F2437"/>
                </a:solidFill>
                <a:latin typeface="Cambria"/>
              </a:rPr>
              <a:t>The operational meaning of trust shifts to </a:t>
            </a:r>
            <a:r>
              <a:rPr sz="3050" b="1">
                <a:solidFill>
                  <a:srgbClr val="111111"/>
                </a:solidFill>
                <a:latin typeface="Cambria"/>
              </a:rPr>
              <a:t>end-to-end outcomes</a:t>
            </a:r>
            <a:r>
              <a:rPr sz="3050" b="0">
                <a:solidFill>
                  <a:srgbClr val="8F2437"/>
                </a:solidFill>
                <a:latin typeface="Cambria"/>
              </a:rPr>
              <a:t> that technical safeguards cannot guarantee.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4599183" y="12640156"/>
            <a:ext cx="5384052" cy="273773"/>
          </a:xfrm>
          <a:prstGeom prst="rect">
            <a:avLst/>
          </a:prstGeom>
          <a:noFill/>
        </p:spPr>
        <p:txBody>
          <a:bodyPr wrap="square" lIns="292888" rIns="292888" tIns="50210" bIns="50210">
            <a:spAutoFit/>
          </a:bodyPr>
          <a:lstStyle/>
          <a:p>
            <a:pPr algn="ctr">
              <a:lnSpc>
                <a:spcPts val="2108"/>
              </a:lnSpc>
              <a:spcBef>
                <a:spcPts val="0"/>
              </a:spcBef>
              <a:spcAft>
                <a:spcPts val="0"/>
              </a:spcAft>
            </a:pPr>
            <a:r>
              <a:rPr sz="3294" b="0">
                <a:solidFill>
                  <a:srgbClr val="1C1C1C"/>
                </a:solidFill>
                <a:latin typeface="Cambria Math"/>
              </a:rPr>
              <a:t>                                                                  </a:t>
            </a:r>
            <a:r>
              <a:rPr sz="1647" b="0" i="1">
                <a:solidFill>
                  <a:srgbClr val="555555"/>
                </a:solidFill>
                <a:latin typeface="Cambria Math"/>
              </a:rPr>
              <a:t>residual exposure after collateral, scaled by the loading factor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2006398" y="13128931"/>
            <a:ext cx="10475696" cy="185139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904"/>
              </a:lnSpc>
              <a:spcBef>
                <a:spcPts val="0"/>
              </a:spcBef>
              <a:spcAft>
                <a:spcPts val="0"/>
              </a:spcAft>
            </a:pPr>
            <a:r>
              <a:rPr sz="3050" b="0">
                <a:solidFill>
                  <a:srgbClr val="1C1C1C"/>
                </a:solidFill>
                <a:latin typeface="Cambria"/>
              </a:rPr>
              <a:t>Midpoint </a:t>
            </a:r>
            <a:r>
              <a:rPr sz="3050" b="0">
                <a:solidFill>
                  <a:srgbClr val="1C1C1C"/>
                </a:solidFill>
                <a:latin typeface="Cambria"/>
              </a:rPr>
              <a:t>   </a:t>
            </a:r>
            <a:r>
              <a:rPr sz="3050" b="0">
                <a:solidFill>
                  <a:srgbClr val="1C1C1C"/>
                </a:solidFill>
                <a:latin typeface="Cambria"/>
              </a:rPr>
              <a:t> sets where collateral reaches </a:t>
            </a:r>
            <a:r>
              <a:rPr sz="3050" b="0">
                <a:solidFill>
                  <a:srgbClr val="1C1C1C"/>
                </a:solidFill>
                <a:latin typeface="Cambria"/>
              </a:rPr>
              <a:t>         </a:t>
            </a:r>
            <a:r>
              <a:rPr sz="3050" b="0">
                <a:solidFill>
                  <a:srgbClr val="1C1C1C"/>
                </a:solidFill>
                <a:latin typeface="Cambria"/>
              </a:rPr>
              <a:t>; steepness </a:t>
            </a:r>
            <a:r>
              <a:rPr sz="3050" b="0">
                <a:solidFill>
                  <a:srgbClr val="1C1C1C"/>
                </a:solidFill>
                <a:latin typeface="Cambria"/>
              </a:rPr>
              <a:t>  </a:t>
            </a:r>
            <a:r>
              <a:rPr sz="3050" b="0">
                <a:solidFill>
                  <a:srgbClr val="1C1C1C"/>
                </a:solidFill>
                <a:latin typeface="Cambria"/>
              </a:rPr>
              <a:t> controls how sharply low- and high-risk jobs separate.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3638227" y="14230274"/>
            <a:ext cx="8423499" cy="7253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968"/>
              </a:lnSpc>
              <a:spcBef>
                <a:spcPts val="0"/>
              </a:spcBef>
              <a:spcAft>
                <a:spcPts val="0"/>
              </a:spcAft>
            </a:pPr>
            <a:r>
              <a:rPr sz="4600" b="1" spc="46">
                <a:solidFill>
                  <a:srgbClr val="111111"/>
                </a:solidFill>
                <a:latin typeface="Cambria"/>
              </a:rPr>
              <a:t>HEADLINE NUMBERS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7539" y="15518051"/>
            <a:ext cx="8423345" cy="725330"/>
          </a:xfrm>
          <a:prstGeom prst="rect">
            <a:avLst/>
          </a:prstGeom>
          <a:noFill/>
        </p:spPr>
        <p:txBody>
          <a:bodyPr wrap="square" lIns="0" rIns="3213669" tIns="0" bIns="0">
            <a:spAutoFit/>
          </a:bodyPr>
          <a:lstStyle/>
          <a:p>
            <a:pPr algn="l">
              <a:lnSpc>
                <a:spcPts val="4968"/>
              </a:lnSpc>
              <a:spcBef>
                <a:spcPts val="0"/>
              </a:spcBef>
              <a:spcAft>
                <a:spcPts val="0"/>
              </a:spcAft>
            </a:pPr>
            <a:r>
              <a:rPr sz="4600" b="1" spc="46">
                <a:solidFill>
                  <a:srgbClr val="111111"/>
                </a:solidFill>
                <a:latin typeface="Cambria"/>
              </a:rPr>
              <a:t>MOTIVATION 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77539" y="16382372"/>
            <a:ext cx="8423345" cy="1843352"/>
          </a:xfrm>
          <a:prstGeom prst="rect">
            <a:avLst/>
          </a:prstGeom>
          <a:noFill/>
        </p:spPr>
        <p:txBody>
          <a:bodyPr wrap="square" lIns="271193" rIns="271193" tIns="46490" bIns="46490">
            <a:spAutoFit/>
          </a:bodyPr>
          <a:lstStyle/>
          <a:p>
            <a:pPr algn="l">
              <a:lnSpc>
                <a:spcPts val="3965"/>
              </a:lnSpc>
              <a:spcBef>
                <a:spcPts val="0"/>
              </a:spcBef>
              <a:spcAft>
                <a:spcPts val="0"/>
              </a:spcAft>
            </a:pPr>
            <a:r>
              <a:rPr sz="3050" b="0" i="1">
                <a:solidFill>
                  <a:srgbClr val="1C1C1C"/>
                </a:solidFill>
                <a:latin typeface="Cambria"/>
              </a:rPr>
              <a:t>High-stakes industries never rely on trust alone — they use insurance and underwriting to price and absorb risk.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3657271" y="20106883"/>
            <a:ext cx="8403884" cy="725330"/>
          </a:xfrm>
          <a:prstGeom prst="rect">
            <a:avLst/>
          </a:prstGeom>
          <a:noFill/>
        </p:spPr>
        <p:txBody>
          <a:bodyPr wrap="square" lIns="0" rIns="3213669" tIns="0" bIns="0">
            <a:spAutoFit/>
          </a:bodyPr>
          <a:lstStyle/>
          <a:p>
            <a:pPr algn="l">
              <a:lnSpc>
                <a:spcPts val="4968"/>
              </a:lnSpc>
              <a:spcBef>
                <a:spcPts val="0"/>
              </a:spcBef>
              <a:spcAft>
                <a:spcPts val="0"/>
              </a:spcAft>
            </a:pPr>
            <a:r>
              <a:rPr sz="4600" b="1" spc="46">
                <a:solidFill>
                  <a:srgbClr val="111111"/>
                </a:solidFill>
                <a:latin typeface="Cambria"/>
              </a:rPr>
              <a:t>TAKEAWAY 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3657271" y="20971205"/>
            <a:ext cx="8403884" cy="2279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904"/>
              </a:lnSpc>
              <a:spcBef>
                <a:spcPts val="0"/>
              </a:spcBef>
              <a:spcAft>
                <a:spcPts val="0"/>
              </a:spcAft>
            </a:pPr>
            <a:r>
              <a:rPr sz="3050" b="0">
                <a:solidFill>
                  <a:srgbClr val="1C1C1C"/>
                </a:solidFill>
                <a:latin typeface="Cambria"/>
              </a:rPr>
              <a:t>Treating agent reliability as an </a:t>
            </a:r>
            <a:r>
              <a:rPr sz="3050" b="1">
                <a:solidFill>
                  <a:srgbClr val="111111"/>
                </a:solidFill>
                <a:latin typeface="Cambria"/>
              </a:rPr>
              <a:t>underwritable financial risk</a:t>
            </a:r>
            <a:r>
              <a:rPr sz="3050" b="0">
                <a:solidFill>
                  <a:srgbClr val="1C1C1C"/>
                </a:solidFill>
                <a:latin typeface="Cambria"/>
              </a:rPr>
              <a:t> — not a model property — gives enforceable, priced protection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2006398" y="23004421"/>
            <a:ext cx="10725342" cy="2564573"/>
          </a:xfrm>
          <a:prstGeom prst="rect">
            <a:avLst/>
          </a:prstGeom>
          <a:noFill/>
        </p:spPr>
        <p:txBody>
          <a:bodyPr wrap="square" lIns="251822" rIns="251822" tIns="108478" bIns="108478">
            <a:spAutoFit/>
          </a:bodyPr>
          <a:lstStyle/>
          <a:p>
            <a:pPr algn="l">
              <a:lnSpc>
                <a:spcPts val="3965"/>
              </a:lnSpc>
              <a:spcBef>
                <a:spcPts val="0"/>
              </a:spcBef>
              <a:spcAft>
                <a:spcPts val="0"/>
              </a:spcAft>
            </a:pPr>
            <a:r>
              <a:rPr sz="3050" b="0">
                <a:solidFill>
                  <a:srgbClr val="8F2437"/>
                </a:solidFill>
                <a:latin typeface="Cambria"/>
              </a:rPr>
              <a:t>Two complementary protections: </a:t>
            </a:r>
            <a:r>
              <a:rPr sz="3050" b="1">
                <a:solidFill>
                  <a:srgbClr val="111111"/>
                </a:solidFill>
                <a:latin typeface="Cambria"/>
              </a:rPr>
              <a:t>contingent reimbursement</a:t>
            </a:r>
            <a:r>
              <a:rPr sz="3050" b="0">
                <a:solidFill>
                  <a:srgbClr val="8F2437"/>
                </a:solidFill>
                <a:latin typeface="Cambria"/>
              </a:rPr>
              <a:t> for covered failures plus an </a:t>
            </a:r>
            <a:r>
              <a:rPr sz="3050" b="1">
                <a:solidFill>
                  <a:srgbClr val="111111"/>
                </a:solidFill>
                <a:latin typeface="Cambria"/>
              </a:rPr>
              <a:t>ex-ante collateral buffer</a:t>
            </a:r>
            <a:r>
              <a:rPr sz="3050" b="0">
                <a:solidFill>
                  <a:srgbClr val="8F2437"/>
                </a:solidFill>
                <a:latin typeface="Cambria"/>
              </a:rPr>
              <a:t> that shifts downside to the business agent.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2006398" y="25234485"/>
            <a:ext cx="10725342" cy="3989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904"/>
              </a:lnSpc>
              <a:spcBef>
                <a:spcPts val="0"/>
              </a:spcBef>
              <a:spcAft>
                <a:spcPts val="0"/>
              </a:spcAft>
            </a:pPr>
            <a:r>
              <a:rPr sz="3050" b="0">
                <a:solidFill>
                  <a:srgbClr val="1C1C1C"/>
                </a:solidFill>
                <a:latin typeface="Cambria"/>
              </a:rPr>
              <a:t>The premium is </a:t>
            </a:r>
            <a:r>
              <a:rPr sz="3050" b="1">
                <a:solidFill>
                  <a:srgbClr val="111111"/>
                </a:solidFill>
                <a:latin typeface="Cambria"/>
              </a:rPr>
              <a:t>actuarially consistent</a:t>
            </a:r>
            <a:r>
              <a:rPr sz="3050" b="0">
                <a:solidFill>
                  <a:srgbClr val="1C1C1C"/>
                </a:solidFill>
                <a:latin typeface="Cambria"/>
              </a:rPr>
              <a:t> with collateral: as collateral nears full principal, residual exposure and premium both vanish, while risky uncollateralized jobs pay more. On resolution, collateral is </a:t>
            </a:r>
            <a:r>
              <a:rPr sz="3050" b="1">
                <a:solidFill>
                  <a:srgbClr val="111111"/>
                </a:solidFill>
                <a:latin typeface="Cambria"/>
              </a:rPr>
              <a:t>returned</a:t>
            </a:r>
            <a:r>
              <a:rPr sz="3050" b="0">
                <a:solidFill>
                  <a:srgbClr val="1C1C1C"/>
                </a:solidFill>
                <a:latin typeface="Cambria"/>
              </a:rPr>
              <a:t> when no failure occurs; on failure it is forfeited up to realized loss and the underwriter reimburses the rest.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374418" y="26510804"/>
            <a:ext cx="10725498" cy="17098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904"/>
              </a:lnSpc>
              <a:spcBef>
                <a:spcPts val="0"/>
              </a:spcBef>
              <a:spcAft>
                <a:spcPts val="0"/>
              </a:spcAft>
            </a:pPr>
            <a:r>
              <a:rPr sz="3050" b="0">
                <a:solidFill>
                  <a:srgbClr val="1C1C1C"/>
                </a:solidFill>
                <a:latin typeface="Cambria"/>
              </a:rPr>
              <a:t>ARS targets </a:t>
            </a:r>
            <a:r>
              <a:rPr sz="3050" b="1">
                <a:solidFill>
                  <a:srgbClr val="111111"/>
                </a:solidFill>
                <a:latin typeface="Cambria"/>
              </a:rPr>
              <a:t>pre-verification fund exposure</a:t>
            </a:r>
            <a:r>
              <a:rPr sz="3050" b="0">
                <a:solidFill>
                  <a:srgbClr val="1C1C1C"/>
                </a:solidFill>
                <a:latin typeface="Cambria"/>
              </a:rPr>
              <a:t>, where principal releases before verification, so fee escrow alone cannot protect the buyer.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374418" y="28191239"/>
            <a:ext cx="10725498" cy="1264490"/>
          </a:xfrm>
          <a:prstGeom prst="rect">
            <a:avLst/>
          </a:prstGeom>
          <a:noFill/>
        </p:spPr>
        <p:txBody>
          <a:bodyPr wrap="square" lIns="271193" rIns="271193" tIns="46490" bIns="46490">
            <a:spAutoFit/>
          </a:bodyPr>
          <a:lstStyle/>
          <a:p>
            <a:pPr algn="l">
              <a:lnSpc>
                <a:spcPts val="3965"/>
              </a:lnSpc>
              <a:spcBef>
                <a:spcPts val="0"/>
              </a:spcBef>
              <a:spcAft>
                <a:spcPts val="0"/>
              </a:spcAft>
            </a:pPr>
            <a:r>
              <a:rPr sz="3050" b="0" i="1">
                <a:solidFill>
                  <a:srgbClr val="1C1C1C"/>
                </a:solidFill>
                <a:latin typeface="Cambria"/>
              </a:rPr>
              <a:t>Every action stays attributable to a standard role and bound to the signed agreement.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2656900" y="8139109"/>
            <a:ext cx="7697238" cy="10752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683"/>
              </a:lnSpc>
              <a:spcBef>
                <a:spcPts val="0"/>
              </a:spcBef>
              <a:spcAft>
                <a:spcPts val="0"/>
              </a:spcAft>
            </a:pPr>
            <a:r>
              <a:rPr sz="3203" b="1">
                <a:solidFill>
                  <a:srgbClr val="8F2437"/>
                </a:solidFill>
                <a:latin typeface="Cambria"/>
              </a:rPr>
              <a:t>Underwriting: Collateral &amp;</a:t>
            </a:r>
          </a:p>
          <a:p>
            <a:pPr algn="l">
              <a:lnSpc>
                <a:spcPts val="3683"/>
              </a:lnSpc>
              <a:spcBef>
                <a:spcPts val="0"/>
              </a:spcBef>
              <a:spcAft>
                <a:spcPts val="0"/>
              </a:spcAft>
            </a:pPr>
            <a:r>
              <a:rPr sz="3203" b="1">
                <a:solidFill>
                  <a:srgbClr val="8F2437"/>
                </a:solidFill>
                <a:latin typeface="Cambria"/>
              </a:rPr>
              <a:t>Premium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0292573" y="8316765"/>
            <a:ext cx="2190582" cy="66663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283"/>
              </a:lnSpc>
              <a:spcBef>
                <a:spcPts val="0"/>
              </a:spcBef>
              <a:spcAft>
                <a:spcPts val="0"/>
              </a:spcAft>
            </a:pPr>
            <a:r>
              <a:rPr sz="1985" b="1" i="1">
                <a:solidFill>
                  <a:srgbClr val="555555"/>
                </a:solidFill>
                <a:latin typeface="Cambria"/>
              </a:rPr>
              <a:t>actuarial pricing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2656900" y="16069169"/>
            <a:ext cx="5990469" cy="10752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683"/>
              </a:lnSpc>
              <a:spcBef>
                <a:spcPts val="0"/>
              </a:spcBef>
              <a:spcAft>
                <a:spcPts val="0"/>
              </a:spcAft>
            </a:pPr>
            <a:r>
              <a:rPr sz="3203" b="1">
                <a:solidFill>
                  <a:srgbClr val="8F2437"/>
                </a:solidFill>
                <a:latin typeface="Cambria"/>
              </a:rPr>
              <a:t>Three-Stage Friction</a:t>
            </a:r>
          </a:p>
          <a:p>
            <a:pPr algn="l">
              <a:lnSpc>
                <a:spcPts val="3683"/>
              </a:lnSpc>
              <a:spcBef>
                <a:spcPts val="0"/>
              </a:spcBef>
              <a:spcAft>
                <a:spcPts val="0"/>
              </a:spcAft>
            </a:pPr>
            <a:r>
              <a:rPr sz="3203" b="1">
                <a:solidFill>
                  <a:srgbClr val="8F2437"/>
                </a:solidFill>
                <a:latin typeface="Cambria"/>
              </a:rPr>
              <a:t>Gate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8635516" y="16246825"/>
            <a:ext cx="3897351" cy="66663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283"/>
              </a:lnSpc>
              <a:spcBef>
                <a:spcPts val="0"/>
              </a:spcBef>
              <a:spcAft>
                <a:spcPts val="0"/>
              </a:spcAft>
            </a:pPr>
            <a:r>
              <a:rPr sz="1985" b="1" i="1">
                <a:solidFill>
                  <a:srgbClr val="555555"/>
                </a:solidFill>
                <a:latin typeface="Cambria"/>
              </a:rPr>
              <a:t>protection vs. participation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814684" y="16270929"/>
            <a:ext cx="9818244" cy="78744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2696"/>
              </a:lnSpc>
              <a:spcBef>
                <a:spcPts val="0"/>
              </a:spcBef>
              <a:spcAft>
                <a:spcPts val="0"/>
              </a:spcAft>
            </a:pPr>
            <a:r>
              <a:rPr sz="2074" b="0" i="1">
                <a:solidFill>
                  <a:srgbClr val="555555"/>
                </a:solidFill>
                <a:latin typeface="Cambria"/>
              </a:rPr>
              <a:t>ARS job lifecycle: Request → Negotiation → binding Agreement anchored by a signed agreement_hash.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2006069" y="17146409"/>
            <a:ext cx="10725681" cy="22798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426160" indent="-426160">
              <a:lnSpc>
                <a:spcPts val="390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050" b="1">
                <a:solidFill>
                  <a:srgbClr val="111111"/>
                </a:solidFill>
                <a:latin typeface="Cambria"/>
              </a:rPr>
              <a:t>Sigmoid sizing</a:t>
            </a:r>
            <a:r>
              <a:rPr sz="3050" b="0">
                <a:solidFill>
                  <a:srgbClr val="1C1C1C"/>
                </a:solidFill>
                <a:latin typeface="Cambria"/>
              </a:rPr>
              <a:t> sharply separates low- vs. high-risk jobs while staying continuous — near-zero collateral for safe jobs, approaching full principal as risk rises.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7211" y="17985287"/>
            <a:ext cx="8423682" cy="28498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426160" indent="-426160">
              <a:lnSpc>
                <a:spcPts val="390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3050" b="0">
                <a:solidFill>
                  <a:srgbClr val="1C1C1C"/>
                </a:solidFill>
                <a:latin typeface="Cambria"/>
              </a:rPr>
              <a:t>Prior trustworthy-AI work treats safety as a </a:t>
            </a:r>
            <a:r>
              <a:rPr sz="3050" b="0" i="1">
                <a:solidFill>
                  <a:srgbClr val="1C1C1C"/>
                </a:solidFill>
                <a:latin typeface="Cambria"/>
              </a:rPr>
              <a:t>model property</a:t>
            </a:r>
            <a:r>
              <a:rPr sz="3050" b="0">
                <a:solidFill>
                  <a:srgbClr val="1C1C1C"/>
                </a:solidFill>
                <a:latin typeface="Cambria"/>
              </a:rPr>
              <a:t>; none give users </a:t>
            </a:r>
            <a:r>
              <a:rPr sz="3050" b="1">
                <a:solidFill>
                  <a:srgbClr val="111111"/>
                </a:solidFill>
                <a:latin typeface="Cambria"/>
              </a:rPr>
              <a:t>predefined, contractually enforceable recourse</a:t>
            </a:r>
            <a:r>
              <a:rPr sz="3050" b="0">
                <a:solidFill>
                  <a:srgbClr val="1C1C1C"/>
                </a:solidFill>
                <a:latin typeface="Cambria"/>
              </a:rPr>
              <a:t> when a transaction fails.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1024921" y="18074264"/>
            <a:ext cx="7474102" cy="10752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683"/>
              </a:lnSpc>
              <a:spcBef>
                <a:spcPts val="0"/>
              </a:spcBef>
              <a:spcAft>
                <a:spcPts val="0"/>
              </a:spcAft>
            </a:pPr>
            <a:r>
              <a:rPr sz="3203" b="1">
                <a:solidFill>
                  <a:srgbClr val="8F2437"/>
                </a:solidFill>
                <a:latin typeface="Cambria"/>
              </a:rPr>
              <a:t>Standard-Mediated Job</a:t>
            </a:r>
          </a:p>
          <a:p>
            <a:pPr algn="l">
              <a:lnSpc>
                <a:spcPts val="3683"/>
              </a:lnSpc>
              <a:spcBef>
                <a:spcPts val="0"/>
              </a:spcBef>
              <a:spcAft>
                <a:spcPts val="0"/>
              </a:spcAft>
            </a:pPr>
            <a:r>
              <a:rPr sz="3203" b="1">
                <a:solidFill>
                  <a:srgbClr val="8F2437"/>
                </a:solidFill>
                <a:latin typeface="Cambria"/>
              </a:rPr>
              <a:t>Lifecycle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8443957" y="18251919"/>
            <a:ext cx="2413872" cy="6666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283"/>
              </a:lnSpc>
              <a:spcBef>
                <a:spcPts val="0"/>
              </a:spcBef>
              <a:spcAft>
                <a:spcPts val="0"/>
              </a:spcAft>
            </a:pPr>
            <a:r>
              <a:rPr sz="1985" b="1" i="1">
                <a:solidFill>
                  <a:srgbClr val="555555"/>
                </a:solidFill>
                <a:latin typeface="Cambria"/>
              </a:rPr>
              <a:t>transaction layer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374090" y="19151503"/>
            <a:ext cx="10725835" cy="1709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426160" indent="-426160">
              <a:lnSpc>
                <a:spcPts val="390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3050" b="0">
                <a:solidFill>
                  <a:srgbClr val="1C1C1C"/>
                </a:solidFill>
                <a:latin typeface="Cambria"/>
              </a:rPr>
              <a:t>A </a:t>
            </a:r>
            <a:r>
              <a:rPr sz="3050" b="1">
                <a:solidFill>
                  <a:srgbClr val="111111"/>
                </a:solidFill>
                <a:latin typeface="Cambria"/>
              </a:rPr>
              <a:t>transaction-layer settlement standard</a:t>
            </a:r>
            <a:r>
              <a:rPr sz="3050" b="0">
                <a:solidFill>
                  <a:srgbClr val="1C1C1C"/>
                </a:solidFill>
                <a:latin typeface="Cambria"/>
              </a:rPr>
              <a:t> uniting risk assessment, underwriting, escrow, and compensation.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2006069" y="19264286"/>
            <a:ext cx="10725681" cy="17098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426160" indent="-426160">
              <a:lnSpc>
                <a:spcPts val="390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050" b="1">
                <a:solidFill>
                  <a:srgbClr val="111111"/>
                </a:solidFill>
                <a:latin typeface="Cambria"/>
              </a:rPr>
              <a:t>Merchant posting</a:t>
            </a:r>
            <a:r>
              <a:rPr sz="3050" b="0">
                <a:solidFill>
                  <a:srgbClr val="1C1C1C"/>
                </a:solidFill>
                <a:latin typeface="Cambria"/>
              </a:rPr>
              <a:t>: willingness to post collateral falls linearly from 0.90 at zero collateral to 0.10 at full collateral, capturing real participation friction.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77211" y="20598783"/>
            <a:ext cx="8423682" cy="17098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426160" indent="-426160">
              <a:lnSpc>
                <a:spcPts val="390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3050" b="0">
                <a:solidFill>
                  <a:srgbClr val="1C1C1C"/>
                </a:solidFill>
                <a:latin typeface="Cambria"/>
              </a:rPr>
              <a:t>ARS borrows </a:t>
            </a:r>
            <a:r>
              <a:rPr sz="3050" b="1">
                <a:solidFill>
                  <a:srgbClr val="111111"/>
                </a:solidFill>
                <a:latin typeface="Cambria"/>
              </a:rPr>
              <a:t>financial underwriting</a:t>
            </a:r>
            <a:r>
              <a:rPr sz="3050" b="0">
                <a:solidFill>
                  <a:srgbClr val="1C1C1C"/>
                </a:solidFill>
                <a:latin typeface="Cambria"/>
              </a:rPr>
              <a:t> to make agentic-transaction risk bearable and priced.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374090" y="20773761"/>
            <a:ext cx="10725835" cy="23140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426160" indent="-426160">
              <a:lnSpc>
                <a:spcPts val="390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3050" b="0">
                <a:solidFill>
                  <a:srgbClr val="1C1C1C"/>
                </a:solidFill>
                <a:latin typeface="Cambria"/>
              </a:rPr>
              <a:t>A </a:t>
            </a:r>
            <a:r>
              <a:rPr sz="3050" b="1">
                <a:solidFill>
                  <a:srgbClr val="111111"/>
                </a:solidFill>
                <a:latin typeface="Cambria"/>
              </a:rPr>
              <a:t>requestor</a:t>
            </a:r>
            <a:r>
              <a:rPr sz="3050" b="0">
                <a:solidFill>
                  <a:srgbClr val="1C1C1C"/>
                </a:solidFill>
                <a:latin typeface="Cambria"/>
              </a:rPr>
              <a:t>, </a:t>
            </a:r>
            <a:r>
              <a:rPr sz="3050" b="1">
                <a:solidFill>
                  <a:srgbClr val="111111"/>
                </a:solidFill>
                <a:latin typeface="Cambria"/>
              </a:rPr>
              <a:t>business agent</a:t>
            </a:r>
            <a:r>
              <a:rPr sz="3050" b="0">
                <a:solidFill>
                  <a:srgbClr val="1C1C1C"/>
                </a:solidFill>
                <a:latin typeface="Cambria"/>
              </a:rPr>
              <a:t>, and </a:t>
            </a:r>
            <a:r>
              <a:rPr sz="3050" b="1">
                <a:solidFill>
                  <a:srgbClr val="111111"/>
                </a:solidFill>
                <a:latin typeface="Cambria"/>
              </a:rPr>
              <a:t>underwriter</a:t>
            </a:r>
            <a:r>
              <a:rPr sz="3050" b="0">
                <a:solidFill>
                  <a:srgbClr val="1C1C1C"/>
                </a:solidFill>
                <a:latin typeface="Cambria"/>
              </a:rPr>
              <a:t> interact through a typed action vocabulary, each one bound to a signed </a:t>
            </a:r>
            <a:r>
              <a:rPr sz="3233" b="1">
                <a:solidFill>
                  <a:srgbClr val="111111"/>
                </a:solidFill>
                <a:latin typeface="Cambria"/>
              </a:rPr>
              <a:t>agreement_hash</a:t>
            </a:r>
            <a:r>
              <a:rPr sz="3050" b="0">
                <a:solidFill>
                  <a:srgbClr val="1C1C1C"/>
                </a:solidFill>
                <a:latin typeface="Cambria"/>
              </a:rPr>
              <a:t> for audit.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2006069" y="20886543"/>
            <a:ext cx="10725681" cy="2279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426160" indent="-426160">
              <a:lnSpc>
                <a:spcPts val="390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050" b="1">
                <a:solidFill>
                  <a:srgbClr val="111111"/>
                </a:solidFill>
                <a:latin typeface="Cambria"/>
              </a:rPr>
              <a:t>Human override</a:t>
            </a:r>
            <a:r>
              <a:rPr sz="3050" b="0">
                <a:solidFill>
                  <a:srgbClr val="1C1C1C"/>
                </a:solidFill>
                <a:latin typeface="Cambria"/>
              </a:rPr>
              <a:t> proceeds without coverage (probability 0.50) — no premium is collected and the buyer bears the full loss on failure, so the gate balances protection against participation.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374418" y="23008438"/>
            <a:ext cx="554619" cy="10410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7131"/>
              </a:lnSpc>
              <a:spcBef>
                <a:spcPts val="0"/>
              </a:spcBef>
              <a:spcAft>
                <a:spcPts val="0"/>
              </a:spcAft>
            </a:pPr>
            <a:r>
              <a:rPr sz="6094" b="1">
                <a:solidFill>
                  <a:srgbClr val="8F2437"/>
                </a:solidFill>
                <a:latin typeface="Cambria"/>
              </a:rPr>
              <a:t>3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1129519" y="23056051"/>
            <a:ext cx="9267610" cy="470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980"/>
              </a:lnSpc>
              <a:spcBef>
                <a:spcPts val="0"/>
              </a:spcBef>
              <a:spcAft>
                <a:spcPts val="0"/>
              </a:spcAft>
            </a:pPr>
            <a:r>
              <a:rPr sz="2745" b="0">
                <a:solidFill>
                  <a:srgbClr val="555555"/>
                </a:solidFill>
                <a:latin typeface="Cambria"/>
              </a:rPr>
              <a:t>standard roles, one auditable transaction interface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4023440" y="23846421"/>
            <a:ext cx="7747658" cy="11399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904"/>
              </a:lnSpc>
              <a:spcBef>
                <a:spcPts val="0"/>
              </a:spcBef>
              <a:spcAft>
                <a:spcPts val="0"/>
              </a:spcAft>
            </a:pPr>
            <a:r>
              <a:rPr sz="3050" b="0">
                <a:solidFill>
                  <a:srgbClr val="1C1C1C"/>
                </a:solidFill>
                <a:latin typeface="Cambria"/>
              </a:rPr>
              <a:t>Trust becomes a priced, enforceable guarantee.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1024921" y="25120066"/>
            <a:ext cx="6815731" cy="5376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683"/>
              </a:lnSpc>
              <a:spcBef>
                <a:spcPts val="0"/>
              </a:spcBef>
              <a:spcAft>
                <a:spcPts val="0"/>
              </a:spcAft>
            </a:pPr>
            <a:r>
              <a:rPr sz="3203" b="1">
                <a:solidFill>
                  <a:srgbClr val="8F2437"/>
                </a:solidFill>
                <a:latin typeface="Cambria"/>
              </a:rPr>
              <a:t>End-to-End Transaction Flow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9624147" y="25208893"/>
            <a:ext cx="1198277" cy="33331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283"/>
              </a:lnSpc>
              <a:spcBef>
                <a:spcPts val="0"/>
              </a:spcBef>
              <a:spcAft>
                <a:spcPts val="0"/>
              </a:spcAft>
            </a:pPr>
            <a:r>
              <a:rPr sz="1985" b="1" i="1">
                <a:solidFill>
                  <a:srgbClr val="555555"/>
                </a:solidFill>
                <a:latin typeface="Cambria"/>
              </a:rPr>
              <a:t>5 stages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2081915" y="25955075"/>
            <a:ext cx="334241" cy="56996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904"/>
              </a:lnSpc>
              <a:spcBef>
                <a:spcPts val="0"/>
              </a:spcBef>
              <a:spcAft>
                <a:spcPts val="0"/>
              </a:spcAft>
            </a:pPr>
            <a:r>
              <a:rPr sz="3050" b="1">
                <a:solidFill>
                  <a:srgbClr val="8F2437"/>
                </a:solidFill>
                <a:latin typeface="Cambria"/>
              </a:rPr>
              <a:t>→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4203934" y="25955075"/>
            <a:ext cx="334243" cy="56996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904"/>
              </a:lnSpc>
              <a:spcBef>
                <a:spcPts val="0"/>
              </a:spcBef>
              <a:spcAft>
                <a:spcPts val="0"/>
              </a:spcAft>
            </a:pPr>
            <a:r>
              <a:rPr sz="3050" b="1">
                <a:solidFill>
                  <a:srgbClr val="8F2437"/>
                </a:solidFill>
                <a:latin typeface="Cambria"/>
              </a:rPr>
              <a:t>→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6659389" y="25955075"/>
            <a:ext cx="334243" cy="56996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904"/>
              </a:lnSpc>
              <a:spcBef>
                <a:spcPts val="0"/>
              </a:spcBef>
              <a:spcAft>
                <a:spcPts val="0"/>
              </a:spcAft>
            </a:pPr>
            <a:r>
              <a:rPr sz="3050" b="1">
                <a:solidFill>
                  <a:srgbClr val="8F2437"/>
                </a:solidFill>
                <a:latin typeface="Cambria"/>
              </a:rPr>
              <a:t>→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8781558" y="25955075"/>
            <a:ext cx="334243" cy="56996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904"/>
              </a:lnSpc>
              <a:spcBef>
                <a:spcPts val="0"/>
              </a:spcBef>
              <a:spcAft>
                <a:spcPts val="0"/>
              </a:spcAft>
            </a:pPr>
            <a:r>
              <a:rPr sz="3050" b="1">
                <a:solidFill>
                  <a:srgbClr val="8F2437"/>
                </a:solidFill>
                <a:latin typeface="Cambria"/>
              </a:rPr>
              <a:t>→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304725" y="27080372"/>
            <a:ext cx="7749341" cy="15748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2696"/>
              </a:lnSpc>
              <a:spcBef>
                <a:spcPts val="0"/>
              </a:spcBef>
              <a:spcAft>
                <a:spcPts val="0"/>
              </a:spcAft>
            </a:pPr>
            <a:r>
              <a:rPr sz="2074" b="0" i="1">
                <a:solidFill>
                  <a:srgbClr val="555555"/>
                </a:solidFill>
                <a:latin typeface="Cambria"/>
              </a:rPr>
              <a:t>Without ARS, users prepay agents and absorb every downstream harm; with ARS, fees lock in escrow and release only on verified success, with optional underwriting for fund-moving jobs.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3901583" y="16143863"/>
            <a:ext cx="3974744" cy="94024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6441"/>
              </a:lnSpc>
              <a:spcBef>
                <a:spcPts val="0"/>
              </a:spcBef>
              <a:spcAft>
                <a:spcPts val="0"/>
              </a:spcAft>
            </a:pPr>
            <a:r>
              <a:rPr sz="7001" b="1" spc="-140">
                <a:solidFill>
                  <a:srgbClr val="8F2437"/>
                </a:solidFill>
                <a:latin typeface="Cambria"/>
              </a:rPr>
              <a:t>61%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3901583" y="16968307"/>
            <a:ext cx="3974744" cy="82782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C1C1C"/>
                </a:solidFill>
                <a:latin typeface="Cambria"/>
              </a:rPr>
              <a:t>Peak reduction in mean user loss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3901583" y="17688153"/>
            <a:ext cx="3974744" cy="6745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31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1">
                <a:solidFill>
                  <a:srgbClr val="555555"/>
                </a:solidFill>
                <a:latin typeface="Cambria"/>
              </a:rPr>
              <a:t>vs. no underwriting (zero loading)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3638227" y="25926059"/>
            <a:ext cx="3297217" cy="12261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spc="40">
                <a:solidFill>
                  <a:srgbClr val="8F2437"/>
                </a:solidFill>
                <a:latin typeface="Cambria"/>
              </a:rPr>
              <a:t>SCAN TO</a:t>
            </a:r>
          </a:p>
          <a:p>
            <a:pPr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spc="40">
                <a:solidFill>
                  <a:srgbClr val="8F2437"/>
                </a:solidFill>
                <a:latin typeface="Cambria"/>
              </a:rPr>
              <a:t>READ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3638227" y="27144650"/>
            <a:ext cx="3297217" cy="24631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75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555555"/>
                </a:solidFill>
                <a:latin typeface="Cambria"/>
              </a:rPr>
              <a:t>wenyuehua@microsoft.com</a:t>
            </a:r>
            <a:r>
              <a:rPr/>
              <a:t> </a:t>
            </a:r>
            <a:r>
              <a:rPr sz="2500" b="0">
                <a:solidFill>
                  <a:srgbClr val="555555"/>
                </a:solidFill>
                <a:latin typeface="Cambria"/>
              </a:rPr>
              <a:t>github.com/t54-labs/AgenticRiskStandard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3638227" y="9003430"/>
            <a:ext cx="2426899" cy="550799"/>
          </a:xfrm>
          <a:prstGeom prst="rect">
            <a:avLst/>
          </a:prstGeom>
          <a:noFill/>
        </p:spPr>
        <p:txBody>
          <a:bodyPr wrap="square" lIns="138018" rIns="138018" tIns="60728" bIns="60728">
            <a:spAutoFit/>
          </a:bodyPr>
          <a:lstStyle/>
          <a:p>
            <a:pPr algn="l">
              <a:lnSpc>
                <a:spcPts val="2782"/>
              </a:lnSpc>
              <a:spcBef>
                <a:spcPts val="0"/>
              </a:spcBef>
              <a:spcAft>
                <a:spcPts val="0"/>
              </a:spcAft>
            </a:pPr>
            <a:r>
              <a:rPr sz="2173" b="1" spc="108">
                <a:solidFill>
                  <a:srgbClr val="555555"/>
                </a:solidFill>
                <a:latin typeface="Cambria"/>
              </a:rPr>
              <a:t>LOADING Λ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5994440" y="9003430"/>
            <a:ext cx="3679427" cy="550799"/>
          </a:xfrm>
          <a:prstGeom prst="rect">
            <a:avLst/>
          </a:prstGeom>
          <a:noFill/>
        </p:spPr>
        <p:txBody>
          <a:bodyPr wrap="square" lIns="138018" rIns="138018" tIns="60728" bIns="60728">
            <a:spAutoFit/>
          </a:bodyPr>
          <a:lstStyle/>
          <a:p>
            <a:pPr algn="l">
              <a:lnSpc>
                <a:spcPts val="2782"/>
              </a:lnSpc>
              <a:spcBef>
                <a:spcPts val="0"/>
              </a:spcBef>
              <a:spcAft>
                <a:spcPts val="0"/>
              </a:spcAft>
            </a:pPr>
            <a:r>
              <a:rPr sz="2173" b="1" spc="108">
                <a:solidFill>
                  <a:srgbClr val="555555"/>
                </a:solidFill>
                <a:latin typeface="Cambria"/>
              </a:rPr>
              <a:t>LOSS REDUCTION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9566700" y="9003430"/>
            <a:ext cx="2317172" cy="550799"/>
          </a:xfrm>
          <a:prstGeom prst="rect">
            <a:avLst/>
          </a:prstGeom>
          <a:noFill/>
        </p:spPr>
        <p:txBody>
          <a:bodyPr wrap="square" lIns="138018" rIns="138018" tIns="60728" bIns="60728">
            <a:spAutoFit/>
          </a:bodyPr>
          <a:lstStyle/>
          <a:p>
            <a:pPr algn="l">
              <a:lnSpc>
                <a:spcPts val="2782"/>
              </a:lnSpc>
              <a:spcBef>
                <a:spcPts val="0"/>
              </a:spcBef>
              <a:spcAft>
                <a:spcPts val="0"/>
              </a:spcAft>
            </a:pPr>
            <a:r>
              <a:rPr sz="2173" b="1" spc="108">
                <a:solidFill>
                  <a:srgbClr val="555555"/>
                </a:solidFill>
                <a:latin typeface="Cambria"/>
              </a:rPr>
              <a:t>ADOPTION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3638227" y="9482386"/>
            <a:ext cx="2426899" cy="738332"/>
          </a:xfrm>
          <a:prstGeom prst="rect">
            <a:avLst/>
          </a:prstGeom>
          <a:noFill/>
        </p:spPr>
        <p:txBody>
          <a:bodyPr wrap="none" lIns="184024" rIns="184024" tIns="80971" bIns="80971">
            <a:spAutoFit/>
          </a:bodyPr>
          <a:lstStyle/>
          <a:p>
            <a:pPr algn="l">
              <a:lnSpc>
                <a:spcPts val="3709"/>
              </a:lnSpc>
              <a:spcBef>
                <a:spcPts val="0"/>
              </a:spcBef>
              <a:spcAft>
                <a:spcPts val="0"/>
              </a:spcAft>
            </a:pPr>
            <a:r>
              <a:rPr sz="2898" b="1">
                <a:solidFill>
                  <a:srgbClr val="1C1C1C"/>
                </a:solidFill>
                <a:latin typeface="Cambria"/>
              </a:rPr>
              <a:t>0.0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5994440" y="9482386"/>
            <a:ext cx="3679427" cy="738332"/>
          </a:xfrm>
          <a:prstGeom prst="rect">
            <a:avLst/>
          </a:prstGeom>
          <a:noFill/>
        </p:spPr>
        <p:txBody>
          <a:bodyPr wrap="none" lIns="184024" rIns="184024" tIns="80971" bIns="80971">
            <a:spAutoFit/>
          </a:bodyPr>
          <a:lstStyle/>
          <a:p>
            <a:pPr algn="l">
              <a:lnSpc>
                <a:spcPts val="3709"/>
              </a:lnSpc>
              <a:spcBef>
                <a:spcPts val="0"/>
              </a:spcBef>
              <a:spcAft>
                <a:spcPts val="0"/>
              </a:spcAft>
            </a:pPr>
            <a:r>
              <a:rPr sz="2898" b="1">
                <a:solidFill>
                  <a:srgbClr val="1C1C1C"/>
                </a:solidFill>
                <a:latin typeface="Cambria"/>
              </a:rPr>
              <a:t>61%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9566700" y="9482386"/>
            <a:ext cx="2317172" cy="738332"/>
          </a:xfrm>
          <a:prstGeom prst="rect">
            <a:avLst/>
          </a:prstGeom>
          <a:noFill/>
        </p:spPr>
        <p:txBody>
          <a:bodyPr wrap="none" lIns="184024" rIns="184024" tIns="80971" bIns="80971">
            <a:spAutoFit/>
          </a:bodyPr>
          <a:lstStyle/>
          <a:p>
            <a:pPr algn="l">
              <a:lnSpc>
                <a:spcPts val="3709"/>
              </a:lnSpc>
              <a:spcBef>
                <a:spcPts val="0"/>
              </a:spcBef>
              <a:spcAft>
                <a:spcPts val="0"/>
              </a:spcAft>
            </a:pPr>
            <a:r>
              <a:rPr sz="2898" b="1">
                <a:solidFill>
                  <a:srgbClr val="1C1C1C"/>
                </a:solidFill>
                <a:latin typeface="Cambria"/>
              </a:rPr>
              <a:t>0.446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3638227" y="10124414"/>
            <a:ext cx="2426899" cy="738333"/>
          </a:xfrm>
          <a:prstGeom prst="rect">
            <a:avLst/>
          </a:prstGeom>
          <a:noFill/>
        </p:spPr>
        <p:txBody>
          <a:bodyPr wrap="none" lIns="184024" rIns="184024" tIns="80971" bIns="80971">
            <a:spAutoFit/>
          </a:bodyPr>
          <a:lstStyle/>
          <a:p>
            <a:pPr algn="l">
              <a:lnSpc>
                <a:spcPts val="3709"/>
              </a:lnSpc>
              <a:spcBef>
                <a:spcPts val="0"/>
              </a:spcBef>
              <a:spcAft>
                <a:spcPts val="0"/>
              </a:spcAft>
            </a:pPr>
            <a:r>
              <a:rPr sz="2898" b="0">
                <a:solidFill>
                  <a:srgbClr val="1C1C1C"/>
                </a:solidFill>
                <a:latin typeface="Cambria"/>
              </a:rPr>
              <a:t>0.5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5994440" y="10124414"/>
            <a:ext cx="3679427" cy="738333"/>
          </a:xfrm>
          <a:prstGeom prst="rect">
            <a:avLst/>
          </a:prstGeom>
          <a:noFill/>
        </p:spPr>
        <p:txBody>
          <a:bodyPr wrap="none" lIns="184024" rIns="184024" tIns="80971" bIns="80971">
            <a:spAutoFit/>
          </a:bodyPr>
          <a:lstStyle/>
          <a:p>
            <a:pPr algn="l">
              <a:lnSpc>
                <a:spcPts val="3709"/>
              </a:lnSpc>
              <a:spcBef>
                <a:spcPts val="0"/>
              </a:spcBef>
              <a:spcAft>
                <a:spcPts val="0"/>
              </a:spcAft>
            </a:pPr>
            <a:r>
              <a:rPr sz="2898" b="0">
                <a:solidFill>
                  <a:srgbClr val="1C1C1C"/>
                </a:solidFill>
                <a:latin typeface="Cambria"/>
              </a:rPr>
              <a:t>~42%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9566700" y="10124414"/>
            <a:ext cx="2317172" cy="738333"/>
          </a:xfrm>
          <a:prstGeom prst="rect">
            <a:avLst/>
          </a:prstGeom>
          <a:noFill/>
        </p:spPr>
        <p:txBody>
          <a:bodyPr wrap="none" lIns="184024" rIns="184024" tIns="80971" bIns="80971">
            <a:spAutoFit/>
          </a:bodyPr>
          <a:lstStyle/>
          <a:p>
            <a:pPr algn="l">
              <a:lnSpc>
                <a:spcPts val="3709"/>
              </a:lnSpc>
              <a:spcBef>
                <a:spcPts val="0"/>
              </a:spcBef>
              <a:spcAft>
                <a:spcPts val="0"/>
              </a:spcAft>
            </a:pPr>
            <a:r>
              <a:rPr sz="2898" b="0">
                <a:solidFill>
                  <a:srgbClr val="1C1C1C"/>
                </a:solidFill>
                <a:latin typeface="Cambria"/>
              </a:rPr>
              <a:t>0.30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3638227" y="10766443"/>
            <a:ext cx="2426899" cy="738334"/>
          </a:xfrm>
          <a:prstGeom prst="rect">
            <a:avLst/>
          </a:prstGeom>
          <a:noFill/>
        </p:spPr>
        <p:txBody>
          <a:bodyPr wrap="none" lIns="184024" rIns="184024" tIns="80971" bIns="80971">
            <a:spAutoFit/>
          </a:bodyPr>
          <a:lstStyle/>
          <a:p>
            <a:pPr algn="l">
              <a:lnSpc>
                <a:spcPts val="3709"/>
              </a:lnSpc>
              <a:spcBef>
                <a:spcPts val="0"/>
              </a:spcBef>
              <a:spcAft>
                <a:spcPts val="0"/>
              </a:spcAft>
            </a:pPr>
            <a:r>
              <a:rPr sz="2898" b="0">
                <a:solidFill>
                  <a:srgbClr val="1C1C1C"/>
                </a:solidFill>
                <a:latin typeface="Cambria"/>
              </a:rPr>
              <a:t>1.0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5994440" y="10766443"/>
            <a:ext cx="3679427" cy="738334"/>
          </a:xfrm>
          <a:prstGeom prst="rect">
            <a:avLst/>
          </a:prstGeom>
          <a:noFill/>
        </p:spPr>
        <p:txBody>
          <a:bodyPr wrap="none" lIns="184024" rIns="184024" tIns="80971" bIns="80971">
            <a:spAutoFit/>
          </a:bodyPr>
          <a:lstStyle/>
          <a:p>
            <a:pPr algn="l">
              <a:lnSpc>
                <a:spcPts val="3709"/>
              </a:lnSpc>
              <a:spcBef>
                <a:spcPts val="0"/>
              </a:spcBef>
              <a:spcAft>
                <a:spcPts val="0"/>
              </a:spcAft>
            </a:pPr>
            <a:r>
              <a:rPr sz="2898" b="0">
                <a:solidFill>
                  <a:srgbClr val="1C1C1C"/>
                </a:solidFill>
                <a:latin typeface="Cambria"/>
              </a:rPr>
              <a:t>24%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39566700" y="10766443"/>
            <a:ext cx="2317172" cy="738334"/>
          </a:xfrm>
          <a:prstGeom prst="rect">
            <a:avLst/>
          </a:prstGeom>
          <a:noFill/>
        </p:spPr>
        <p:txBody>
          <a:bodyPr wrap="none" lIns="184024" rIns="184024" tIns="80971" bIns="80971">
            <a:spAutoFit/>
          </a:bodyPr>
          <a:lstStyle/>
          <a:p>
            <a:pPr algn="l">
              <a:lnSpc>
                <a:spcPts val="3709"/>
              </a:lnSpc>
              <a:spcBef>
                <a:spcPts val="0"/>
              </a:spcBef>
              <a:spcAft>
                <a:spcPts val="0"/>
              </a:spcAft>
            </a:pPr>
            <a:r>
              <a:rPr sz="2898" b="0">
                <a:solidFill>
                  <a:srgbClr val="1C1C1C"/>
                </a:solidFill>
                <a:latin typeface="Cambria"/>
              </a:rPr>
              <a:t>0.126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8544376" y="15332659"/>
            <a:ext cx="1390609" cy="1343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spc="-46">
                <a:solidFill>
                  <a:srgbClr val="AE2622"/>
                </a:solidFill>
                <a:latin typeface="Cambria"/>
              </a:rPr>
              <a:t>15–20%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40029880" y="15561201"/>
            <a:ext cx="1568839" cy="1156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55555"/>
                </a:solidFill>
                <a:latin typeface="Cambria"/>
              </a:rPr>
              <a:t>failure events deterred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8544376" y="16760002"/>
            <a:ext cx="1853583" cy="671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spc="-46">
                <a:solidFill>
                  <a:srgbClr val="AE2622"/>
                </a:solidFill>
                <a:latin typeface="Cambria"/>
              </a:rPr>
              <a:t>5,000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0479370" y="16988543"/>
            <a:ext cx="1527308" cy="770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55555"/>
                </a:solidFill>
                <a:latin typeface="Cambria"/>
              </a:rPr>
              <a:t>simulation episodes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8544376" y="17852269"/>
            <a:ext cx="1957794" cy="6716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spc="-46">
                <a:solidFill>
                  <a:srgbClr val="AE2622"/>
                </a:solidFill>
                <a:latin typeface="Cambria"/>
              </a:rPr>
              <a:t>$9.4K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40580544" y="18080810"/>
            <a:ext cx="1761477" cy="1156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55555"/>
                </a:solidFill>
                <a:latin typeface="Cambria"/>
              </a:rPr>
              <a:t>peak underwriter wallet</a:t>
            </a:r>
          </a:p>
        </p:txBody>
      </p:sp>
      <p:pic>
        <p:nvPicPr>
          <p:cNvPr id="150" name="Picture 149" descr="eq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667331" y="9225872"/>
            <a:ext cx="508110" cy="542785"/>
          </a:xfrm>
          <a:prstGeom prst="rect">
            <a:avLst/>
          </a:prstGeom>
        </p:spPr>
      </p:pic>
      <p:pic>
        <p:nvPicPr>
          <p:cNvPr id="151" name="Picture 150" descr="eq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006398" y="9225872"/>
            <a:ext cx="9257167" cy="1143004"/>
          </a:xfrm>
          <a:prstGeom prst="rect">
            <a:avLst/>
          </a:prstGeom>
        </p:spPr>
      </p:pic>
      <p:pic>
        <p:nvPicPr>
          <p:cNvPr id="152" name="Picture 151" descr="eq2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006398" y="9826090"/>
            <a:ext cx="9888774" cy="1143004"/>
          </a:xfrm>
          <a:prstGeom prst="rect">
            <a:avLst/>
          </a:prstGeom>
        </p:spPr>
      </p:pic>
      <p:pic>
        <p:nvPicPr>
          <p:cNvPr id="153" name="Picture 152" descr="eq3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586085" y="11026527"/>
            <a:ext cx="276151" cy="542787"/>
          </a:xfrm>
          <a:prstGeom prst="rect">
            <a:avLst/>
          </a:prstGeom>
        </p:spPr>
      </p:pic>
      <p:pic>
        <p:nvPicPr>
          <p:cNvPr id="154" name="Picture 153" descr="eq4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3778915" y="11974916"/>
            <a:ext cx="6867774" cy="590399"/>
          </a:xfrm>
          <a:prstGeom prst="rect">
            <a:avLst/>
          </a:prstGeom>
        </p:spPr>
      </p:pic>
      <p:pic>
        <p:nvPicPr>
          <p:cNvPr id="155" name="Picture 154" descr="eq5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3907170" y="13071794"/>
            <a:ext cx="409466" cy="542787"/>
          </a:xfrm>
          <a:prstGeom prst="rect">
            <a:avLst/>
          </a:prstGeom>
        </p:spPr>
      </p:pic>
      <p:pic>
        <p:nvPicPr>
          <p:cNvPr id="156" name="Picture 155" descr="eq6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0329770" y="13071794"/>
            <a:ext cx="1117549" cy="542787"/>
          </a:xfrm>
          <a:prstGeom prst="rect">
            <a:avLst/>
          </a:prstGeom>
        </p:spPr>
      </p:pic>
      <p:pic>
        <p:nvPicPr>
          <p:cNvPr id="157" name="Picture 156" descr="eq7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4065630" y="13672014"/>
            <a:ext cx="219016" cy="54278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