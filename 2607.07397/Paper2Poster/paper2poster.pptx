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793920" cy="302666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98263" y="698271"/>
            <a:ext cx="41397394" cy="4649538"/>
          </a:xfrm>
          <a:prstGeom prst="roundRect">
            <a:avLst>
              <a:gd name="adj" fmla="val 3278"/>
            </a:avLst>
          </a:prstGeom>
          <a:solidFill>
            <a:srgbClr val="EEEFF1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98263" y="5906367"/>
            <a:ext cx="7824633" cy="8743495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79974" y="5906367"/>
            <a:ext cx="9780903" cy="7971275"/>
          </a:xfrm>
          <a:prstGeom prst="roundRect">
            <a:avLst>
              <a:gd name="adj" fmla="val 1593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9217954" y="5906367"/>
            <a:ext cx="9781051" cy="7038510"/>
          </a:xfrm>
          <a:prstGeom prst="roundRect">
            <a:avLst>
              <a:gd name="adj" fmla="val 1804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9456084" y="5906367"/>
            <a:ext cx="12639572" cy="5556265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456084" y="11818091"/>
            <a:ext cx="12639572" cy="4927775"/>
          </a:xfrm>
          <a:prstGeom prst="roundRect">
            <a:avLst>
              <a:gd name="adj" fmla="val 2577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9217954" y="13300336"/>
            <a:ext cx="9781051" cy="16264086"/>
          </a:xfrm>
          <a:prstGeom prst="roundRect">
            <a:avLst>
              <a:gd name="adj" fmla="val 1298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979974" y="14233101"/>
            <a:ext cx="9780903" cy="7022589"/>
          </a:xfrm>
          <a:prstGeom prst="roundRect">
            <a:avLst>
              <a:gd name="adj" fmla="val 1808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98263" y="15005322"/>
            <a:ext cx="7824633" cy="14559100"/>
          </a:xfrm>
          <a:prstGeom prst="roundRect">
            <a:avLst>
              <a:gd name="adj" fmla="val 1623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456084" y="17101326"/>
            <a:ext cx="12639572" cy="7333412"/>
          </a:xfrm>
          <a:prstGeom prst="roundRect">
            <a:avLst>
              <a:gd name="adj" fmla="val 1732"/>
            </a:avLst>
          </a:prstGeom>
          <a:solidFill>
            <a:srgbClr val="F2F2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456084" y="17101326"/>
            <a:ext cx="12639572" cy="38107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057550" y="17101326"/>
            <a:ext cx="38106" cy="7333412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456084" y="24396631"/>
            <a:ext cx="12639572" cy="38107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456084" y="17101326"/>
            <a:ext cx="57160" cy="7333412"/>
          </a:xfrm>
          <a:prstGeom prst="rect">
            <a:avLst/>
          </a:prstGeom>
          <a:solidFill>
            <a:srgbClr val="34373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79974" y="21611150"/>
            <a:ext cx="9780903" cy="7953272"/>
          </a:xfrm>
          <a:prstGeom prst="roundRect">
            <a:avLst>
              <a:gd name="adj" fmla="val 1597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9456084" y="24790198"/>
            <a:ext cx="12639572" cy="4774224"/>
          </a:xfrm>
          <a:prstGeom prst="roundRect">
            <a:avLst>
              <a:gd name="adj" fmla="val 2660"/>
            </a:avLst>
          </a:prstGeom>
          <a:solidFill>
            <a:srgbClr val="FFFFFF"/>
          </a:solidFill>
          <a:ln w="38106">
            <a:solidFill>
              <a:srgbClr val="3437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olumbia-univer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5248" y="1504160"/>
            <a:ext cx="2329431" cy="3037611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3086763" y="5525464"/>
            <a:ext cx="3047484" cy="7933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488255" y="5525464"/>
            <a:ext cx="2764191" cy="7933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705033" y="5525464"/>
            <a:ext cx="4141526" cy="7933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900366" y="6636182"/>
            <a:ext cx="11751010" cy="45571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900366" y="6636182"/>
            <a:ext cx="11751010" cy="12385"/>
          </a:xfrm>
          <a:prstGeom prst="rect">
            <a:avLst/>
          </a:prstGeom>
          <a:solidFill>
            <a:srgbClr val="B8B9B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735231" y="11437189"/>
            <a:ext cx="6081130" cy="79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9900366" y="12547905"/>
            <a:ext cx="11751010" cy="4126245"/>
          </a:xfrm>
          <a:prstGeom prst="roundRect">
            <a:avLst>
              <a:gd name="adj" fmla="val 1847"/>
            </a:avLst>
          </a:prstGeom>
          <a:gradFill rotWithShape="1" flip="none">
            <a:gsLst>
              <a:gs pos="0">
                <a:srgbClr val="E7E7E7"/>
              </a:gs>
              <a:gs pos="100000">
                <a:srgbClr val="F3F3F3"/>
              </a:gs>
            </a:gsLst>
            <a:lin ang="5400000" scaled="0"/>
          </a:gradFill>
          <a:ln w="9526">
            <a:solidFill>
              <a:srgbClr val="CCCDC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69844" y="14624418"/>
            <a:ext cx="3681323" cy="79334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055280" y="16720423"/>
            <a:ext cx="3460224" cy="7933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9662236" y="6452278"/>
            <a:ext cx="703770" cy="703776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24256" y="6915461"/>
            <a:ext cx="8892338" cy="6164815"/>
          </a:xfrm>
          <a:prstGeom prst="roundRect">
            <a:avLst>
              <a:gd name="adj" fmla="val 618"/>
            </a:avLst>
          </a:prstGeom>
          <a:solidFill>
            <a:srgbClr val="FFFFFF"/>
          </a:solidFill>
          <a:ln w="9526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igur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4256" y="6918387"/>
            <a:ext cx="8892338" cy="6158962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36449435" y="12785970"/>
            <a:ext cx="4938585" cy="37010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449435" y="12785970"/>
            <a:ext cx="12385" cy="3701002"/>
          </a:xfrm>
          <a:prstGeom prst="rect">
            <a:avLst/>
          </a:prstGeom>
          <a:solidFill>
            <a:srgbClr val="CCCDC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9662236" y="13846247"/>
            <a:ext cx="703770" cy="703777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24256" y="14779011"/>
            <a:ext cx="703770" cy="703778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424256" y="22157061"/>
            <a:ext cx="703770" cy="703776"/>
          </a:xfrm>
          <a:prstGeom prst="roundRect">
            <a:avLst>
              <a:gd name="adj" fmla="val 50000"/>
            </a:avLst>
          </a:prstGeom>
          <a:solidFill>
            <a:srgbClr val="3437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696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2282" y="25336107"/>
            <a:ext cx="3070101" cy="3070134"/>
          </a:xfrm>
          <a:prstGeom prst="roundRect">
            <a:avLst>
              <a:gd name="adj" fmla="val 5378"/>
            </a:avLst>
          </a:prstGeom>
          <a:solidFill>
            <a:srgbClr val="FFFFFF"/>
          </a:solidFill>
          <a:ln w="9526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29305" y="25463131"/>
            <a:ext cx="2816056" cy="281608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39264660" y="28558600"/>
            <a:ext cx="1345343" cy="561535"/>
          </a:xfrm>
          <a:prstGeom prst="roundRect">
            <a:avLst>
              <a:gd name="adj" fmla="val 50000"/>
            </a:avLst>
          </a:prstGeom>
          <a:solidFill>
            <a:srgbClr val="EEEF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500" b="1">
                <a:solidFill>
                  <a:srgbClr val="34373B"/>
                </a:solidFill>
                <a:latin typeface="Arial"/>
              </a:rPr>
              <a:t>Paper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861396" y="1053730"/>
            <a:ext cx="9913566" cy="452941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6401" b="1" spc="64">
                <a:solidFill>
                  <a:srgbClr val="34373B"/>
                </a:solidFill>
                <a:latin typeface="Arial"/>
              </a:rPr>
              <a:t>IEEE Data Engineering Bulletin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40190" y="1053730"/>
            <a:ext cx="20370672" cy="13490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241"/>
              </a:lnSpc>
              <a:spcBef>
                <a:spcPts val="0"/>
              </a:spcBef>
              <a:spcAft>
                <a:spcPts val="0"/>
              </a:spcAft>
            </a:pPr>
            <a:r>
              <a:rPr sz="8401" b="1" spc="-84">
                <a:solidFill>
                  <a:srgbClr val="34373B"/>
                </a:solidFill>
                <a:latin typeface="Arial"/>
              </a:rPr>
              <a:t>Agentic Data Environments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40190" y="2440007"/>
            <a:ext cx="20370672" cy="227711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B2331"/>
                </a:solidFill>
                <a:latin typeface="Arial"/>
              </a:rPr>
              <a:t>Elaine Ang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Chenxi Huang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Georgios Liargkovas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Jerry Liu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Jinhui Liu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Nikos</a:t>
            </a:r>
          </a:p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B2331"/>
                </a:solidFill>
                <a:latin typeface="Arial"/>
              </a:rPr>
              <a:t>Pagonas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Charlie Summers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Haonan Wang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Jiakai Xu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Tianle Zhou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Yusen Zhang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</a:t>
            </a:r>
          </a:p>
          <a:p>
            <a:pPr algn="ctr">
              <a:lnSpc>
                <a:spcPts val="5200"/>
              </a:lnSpc>
              <a:spcBef>
                <a:spcPts val="0"/>
              </a:spcBef>
              <a:spcAft>
                <a:spcPts val="0"/>
              </a:spcAft>
            </a:pPr>
            <a:r>
              <a:rPr sz="4000" b="0">
                <a:solidFill>
                  <a:srgbClr val="1B2331"/>
                </a:solidFill>
                <a:latin typeface="Arial"/>
              </a:rPr>
              <a:t>Zhou Yu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Zhuo Zhang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Tianyi Peng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Kostis Kaffes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000" b="0">
                <a:solidFill>
                  <a:srgbClr val="1B2331"/>
                </a:solidFill>
                <a:latin typeface="Arial"/>
              </a:rPr>
              <a:t>, Eugene Wu</a:t>
            </a:r>
            <a:r>
              <a:rPr sz="5600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40190" y="4476941"/>
            <a:ext cx="20370672" cy="592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Columbia University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086763" y="5525464"/>
            <a:ext cx="3138908" cy="912351"/>
          </a:xfrm>
          <a:prstGeom prst="rect">
            <a:avLst/>
          </a:prstGeom>
          <a:noFill/>
        </p:spPr>
        <p:txBody>
          <a:bodyPr wrap="square" lIns="254045" rIns="254045" tIns="63512" bIns="63512">
            <a:sp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C1C1C"/>
                </a:solidFill>
                <a:latin typeface="Arial"/>
              </a:rPr>
              <a:t>Problem 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88255" y="5525464"/>
            <a:ext cx="2847116" cy="912351"/>
          </a:xfrm>
          <a:prstGeom prst="rect">
            <a:avLst/>
          </a:prstGeom>
          <a:noFill/>
        </p:spPr>
        <p:txBody>
          <a:bodyPr wrap="none" lIns="254045" rIns="254045" tIns="63512" bIns="63512">
            <a:sp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C1C1C"/>
                </a:solidFill>
                <a:latin typeface="Arial"/>
              </a:rPr>
              <a:t>Method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05033" y="5525464"/>
            <a:ext cx="4265771" cy="912351"/>
          </a:xfrm>
          <a:prstGeom prst="rect">
            <a:avLst/>
          </a:prstGeom>
          <a:noFill/>
        </p:spPr>
        <p:txBody>
          <a:bodyPr wrap="square" lIns="254045" rIns="254045" tIns="63512" bIns="63512">
            <a:sp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C1C1C"/>
                </a:solidFill>
                <a:latin typeface="Arial"/>
              </a:rPr>
              <a:t>Key Results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2546" y="6636182"/>
            <a:ext cx="7144150" cy="8383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Today's data agents are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read-only copilots</a:t>
            </a:r>
            <a:r>
              <a:rPr sz="4400" b="0">
                <a:solidFill>
                  <a:srgbClr val="1C1C1C"/>
                </a:solidFill>
                <a:latin typeface="Arial"/>
              </a:rPr>
              <a:t>.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Agentic automation </a:t>
            </a:r>
            <a:r>
              <a:rPr sz="4400" b="0" i="1">
                <a:solidFill>
                  <a:srgbClr val="1C1C1C"/>
                </a:solidFill>
                <a:latin typeface="Arial"/>
              </a:rPr>
              <a:t>mutates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the environment — each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step is both a data write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and a legal act, so errors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become </a:t>
            </a:r>
            <a:r>
              <a:rPr sz="4400" b="1">
                <a:solidFill>
                  <a:srgbClr val="111111"/>
                </a:solidFill>
                <a:latin typeface="Arial"/>
              </a:rPr>
              <a:t>regulatory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penalties</a:t>
            </a:r>
            <a:r>
              <a:rPr sz="4400" b="0">
                <a:solidFill>
                  <a:srgbClr val="1C1C1C"/>
                </a:solidFill>
                <a:latin typeface="Arial"/>
              </a:rPr>
              <a:t>, not merely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wrong answers.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9900366" y="6636182"/>
            <a:ext cx="12103540" cy="5240711"/>
          </a:xfrm>
          <a:prstGeom prst="rect">
            <a:avLst/>
          </a:prstGeom>
          <a:noFill/>
        </p:spPr>
        <p:txBody>
          <a:bodyPr wrap="square" lIns="0" rIns="0" tIns="231386" bIns="0">
            <a:spAutoFit/>
          </a:bodyPr>
          <a:lstStyle/>
          <a:p>
            <a:pPr algn="l">
              <a:lnSpc>
                <a:spcPts val="5668"/>
              </a:lnSpc>
              <a:spcBef>
                <a:spcPts val="0"/>
              </a:spcBef>
              <a:spcAft>
                <a:spcPts val="0"/>
              </a:spcAft>
            </a:pPr>
            <a:r>
              <a:rPr sz="3158" b="1" spc="189">
                <a:solidFill>
                  <a:srgbClr val="111111"/>
                </a:solidFill>
                <a:latin typeface="Arial"/>
              </a:rPr>
              <a:t>SO WHAT → </a:t>
            </a:r>
            <a:r>
              <a:rPr sz="4048" b="1" i="1">
                <a:solidFill>
                  <a:srgbClr val="111111"/>
                </a:solidFill>
                <a:latin typeface="Arial"/>
              </a:rPr>
              <a:t>AIM</a:t>
            </a:r>
            <a:r>
              <a:rPr sz="4048" b="0" i="1">
                <a:solidFill>
                  <a:srgbClr val="1C1C1C"/>
                </a:solidFill>
                <a:latin typeface="Arial"/>
              </a:rPr>
              <a:t> +49.8% over Mem0 / +15.82% over Octen on LoCoMo (4.18× faster than GAM). </a:t>
            </a:r>
            <a:r>
              <a:rPr sz="4048" b="1" i="1">
                <a:solidFill>
                  <a:srgbClr val="111111"/>
                </a:solidFill>
                <a:latin typeface="Arial"/>
              </a:rPr>
              <a:t>LakeQA</a:t>
            </a:r>
            <a:r>
              <a:rPr sz="4048" b="0" i="1">
                <a:solidFill>
                  <a:srgbClr val="1C1C1C"/>
                </a:solidFill>
                <a:latin typeface="Arial"/>
              </a:rPr>
              <a:t>: &amp;x2264;23% accuracy; discovery is the failure. </a:t>
            </a:r>
            <a:r>
              <a:rPr sz="4048" b="1" i="1">
                <a:solidFill>
                  <a:srgbClr val="111111"/>
                </a:solidFill>
                <a:latin typeface="Arial"/>
              </a:rPr>
              <a:t>BranchBench</a:t>
            </a:r>
            <a:r>
              <a:rPr sz="4048" b="0" i="1">
                <a:solidFill>
                  <a:srgbClr val="1C1C1C"/>
                </a:solidFill>
                <a:latin typeface="Arial"/>
              </a:rPr>
              <a:t>: no branchable DBMS supports agentic loads. </a:t>
            </a:r>
            <a:r>
              <a:rPr sz="4048" b="1" i="1">
                <a:solidFill>
                  <a:srgbClr val="111111"/>
                </a:solidFill>
                <a:latin typeface="Arial"/>
              </a:rPr>
              <a:t>DFC</a:t>
            </a:r>
            <a:r>
              <a:rPr sz="4048" b="0" i="1">
                <a:solidFill>
                  <a:srgbClr val="1C1C1C"/>
                </a:solidFill>
                <a:latin typeface="Arial"/>
              </a:rPr>
              <a:t>: ~0 overhead on TPC-H. </a:t>
            </a:r>
            <a:r>
              <a:rPr sz="4048" b="1" i="1">
                <a:solidFill>
                  <a:srgbClr val="111111"/>
                </a:solidFill>
                <a:latin typeface="Arial"/>
              </a:rPr>
              <a:t>Chkpt</a:t>
            </a:r>
            <a:r>
              <a:rPr sz="4048" b="0" i="1">
                <a:solidFill>
                  <a:srgbClr val="1C1C1C"/>
                </a:solidFill>
                <a:latin typeface="Arial"/>
              </a:rPr>
              <a:t>: 66 ms for 2 GB FS.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9662236" y="7361236"/>
            <a:ext cx="9159261" cy="558908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Materialize </a:t>
            </a:r>
            <a:r>
              <a:rPr sz="4400" b="1">
                <a:solidFill>
                  <a:srgbClr val="111111"/>
                </a:solidFill>
                <a:latin typeface="Arial"/>
              </a:rPr>
              <a:t>latent signals</a:t>
            </a:r>
            <a:r>
              <a:rPr sz="4400" b="0">
                <a:solidFill>
                  <a:srgbClr val="1C1C1C"/>
                </a:solidFill>
                <a:latin typeface="Arial"/>
              </a:rPr>
              <a:t> —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schema structure, workload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regimes, knob sensitivity, tribal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knowledge — into reusable objects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via observation + controlled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experimentation.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735231" y="11437189"/>
            <a:ext cx="6263563" cy="912350"/>
          </a:xfrm>
          <a:prstGeom prst="rect">
            <a:avLst/>
          </a:prstGeom>
          <a:noFill/>
        </p:spPr>
        <p:txBody>
          <a:bodyPr wrap="square" lIns="254045" rIns="254045" tIns="63512" bIns="63512">
            <a:sp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C1C1C"/>
                </a:solidFill>
                <a:latin typeface="Arial"/>
              </a:rPr>
              <a:t>Headline Numbers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69844" y="14624418"/>
            <a:ext cx="3791762" cy="912351"/>
          </a:xfrm>
          <a:prstGeom prst="rect">
            <a:avLst/>
          </a:prstGeom>
          <a:noFill/>
        </p:spPr>
        <p:txBody>
          <a:bodyPr wrap="square" lIns="254045" rIns="254045" tIns="63512" bIns="63512">
            <a:sp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C1C1C"/>
                </a:solidFill>
                <a:latin typeface="Arial"/>
              </a:rPr>
              <a:t>Motivation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055280" y="16720423"/>
            <a:ext cx="3564030" cy="912350"/>
          </a:xfrm>
          <a:prstGeom prst="rect">
            <a:avLst/>
          </a:prstGeom>
          <a:noFill/>
        </p:spPr>
        <p:txBody>
          <a:bodyPr wrap="square" lIns="254045" rIns="254045" tIns="63512" bIns="63512">
            <a:spAutoFit/>
          </a:bodyPr>
          <a:lstStyle/>
          <a:p>
            <a:pPr algn="ctr">
              <a:lnSpc>
                <a:spcPts val="5250"/>
              </a:lnSpc>
              <a:spcBef>
                <a:spcPts val="0"/>
              </a:spcBef>
              <a:spcAft>
                <a:spcPts val="0"/>
              </a:spcAft>
            </a:pPr>
            <a:r>
              <a:rPr sz="5000" b="1">
                <a:solidFill>
                  <a:srgbClr val="1C1C1C"/>
                </a:solidFill>
                <a:latin typeface="Arial"/>
              </a:rPr>
              <a:t>Takeaway 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9919410" y="17831141"/>
            <a:ext cx="12083924" cy="745211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Agentic automation is a systems problem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about the data environment — not an agent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design problem.</a:t>
            </a:r>
            <a:r>
              <a:rPr sz="4400" b="0">
                <a:solidFill>
                  <a:srgbClr val="1C1C1C"/>
                </a:solidFill>
                <a:latin typeface="Arial"/>
              </a:rPr>
              <a:t> </a:t>
            </a:r>
            <a:r>
              <a:rPr sz="4400" b="0" i="1">
                <a:solidFill>
                  <a:srgbClr val="1C1C1C"/>
                </a:solidFill>
                <a:latin typeface="Arial"/>
              </a:rPr>
              <a:t>Amplify</a:t>
            </a:r>
            <a:r>
              <a:rPr sz="4400" b="0">
                <a:solidFill>
                  <a:srgbClr val="1C1C1C"/>
                </a:solidFill>
                <a:latin typeface="Arial"/>
              </a:rPr>
              <a:t> (AIM/AIR/ADE) +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 i="1">
                <a:solidFill>
                  <a:srgbClr val="1C1C1C"/>
                </a:solidFill>
                <a:latin typeface="Arial"/>
              </a:rPr>
              <a:t>Bound</a:t>
            </a:r>
            <a:r>
              <a:rPr sz="4400" b="0">
                <a:solidFill>
                  <a:srgbClr val="1C1C1C"/>
                </a:solidFill>
                <a:latin typeface="Arial"/>
              </a:rPr>
              <a:t> (Branching + DFC), or worst-case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outcomes pin adoption. Each task then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produces reusable artifacts (schemas, indexes,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policies) that make future tasks faster — a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virtuous flywheel.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24256" y="23543932"/>
            <a:ext cx="9159108" cy="652060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Exploratory QA</a:t>
            </a:r>
            <a:r>
              <a:rPr sz="4400" b="0">
                <a:solidFill>
                  <a:srgbClr val="1C1C1C"/>
                </a:solidFill>
                <a:latin typeface="Arial"/>
              </a:rPr>
              <a:t> over a </a:t>
            </a:r>
            <a:r>
              <a:rPr sz="4400" b="1">
                <a:solidFill>
                  <a:srgbClr val="111111"/>
                </a:solidFill>
                <a:latin typeface="Arial"/>
              </a:rPr>
              <a:t>9.5 TB /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11111"/>
                </a:solidFill>
                <a:latin typeface="Arial"/>
              </a:rPr>
              <a:t>~40M-doc</a:t>
            </a:r>
            <a:r>
              <a:rPr sz="4400" b="0">
                <a:solidFill>
                  <a:srgbClr val="1C1C1C"/>
                </a:solidFill>
                <a:latin typeface="Arial"/>
              </a:rPr>
              <a:t> data lake. </a:t>
            </a:r>
            <a:r>
              <a:rPr sz="4400" b="1">
                <a:solidFill>
                  <a:srgbClr val="111111"/>
                </a:solidFill>
                <a:latin typeface="Arial"/>
              </a:rPr>
              <a:t>LakeQA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pushes search + reasoning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intensity (mean 7.67 sources/task).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End-to-end accuracy </a:t>
            </a:r>
            <a:r>
              <a:rPr sz="4400" b="1">
                <a:solidFill>
                  <a:srgbClr val="111111"/>
                </a:solidFill>
                <a:latin typeface="Arial"/>
              </a:rPr>
              <a:t>&amp;x2264;23%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across 7 frontier models; dominant</a:t>
            </a:r>
          </a:p>
          <a:p>
            <a:pPr algn="l">
              <a:lnSpc>
                <a:spcPts val="6381"/>
              </a:lnSpc>
              <a:spcBef>
                <a:spcPts val="0"/>
              </a:spcBef>
              <a:spcAft>
                <a:spcPts val="0"/>
              </a:spcAft>
            </a:pPr>
            <a:r>
              <a:rPr sz="4400" b="0">
                <a:solidFill>
                  <a:srgbClr val="1C1C1C"/>
                </a:solidFill>
                <a:latin typeface="Arial"/>
              </a:rPr>
              <a:t>failure is dataset discovery.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0600497" y="6466859"/>
            <a:ext cx="1275669" cy="7756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34373B"/>
                </a:solidFill>
                <a:latin typeface="Arial"/>
              </a:rPr>
              <a:t>ADE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6527034" y="6595116"/>
            <a:ext cx="2088519" cy="480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Arial"/>
              </a:rPr>
              <a:t>03 / Amplify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424256" y="13240523"/>
            <a:ext cx="9159108" cy="13695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691"/>
              </a:lnSpc>
              <a:spcBef>
                <a:spcPts val="0"/>
              </a:spcBef>
              <a:spcAft>
                <a:spcPts val="0"/>
              </a:spcAft>
            </a:pPr>
            <a:r>
              <a:rPr sz="3608" b="0" i="1">
                <a:solidFill>
                  <a:srgbClr val="555555"/>
                </a:solidFill>
                <a:latin typeface="Arial"/>
              </a:rPr>
              <a:t>AIM: Learn → Schema → Load → Refine</a:t>
            </a:r>
          </a:p>
          <a:p>
            <a:pPr algn="ctr">
              <a:lnSpc>
                <a:spcPts val="4691"/>
              </a:lnSpc>
              <a:spcBef>
                <a:spcPts val="0"/>
              </a:spcBef>
              <a:spcAft>
                <a:spcPts val="0"/>
              </a:spcAft>
            </a:pPr>
            <a:r>
              <a:rPr sz="3608" b="0" i="1">
                <a:solidFill>
                  <a:srgbClr val="555555"/>
                </a:solidFill>
                <a:latin typeface="Arial"/>
              </a:rPr>
              <a:t>→ Skill.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600497" y="13860829"/>
            <a:ext cx="4917857" cy="7756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34373B"/>
                </a:solidFill>
                <a:latin typeface="Arial"/>
              </a:rPr>
              <a:t>Branching + DFC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695910" y="13989086"/>
            <a:ext cx="1914577" cy="480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Arial"/>
              </a:rPr>
              <a:t>04 / Bound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9661944" y="14755205"/>
            <a:ext cx="9159562" cy="5589087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Chkpt:</a:t>
            </a:r>
            <a:r>
              <a:rPr sz="4400" b="0">
                <a:solidFill>
                  <a:srgbClr val="1C1C1C"/>
                </a:solidFill>
                <a:latin typeface="Arial"/>
              </a:rPr>
              <a:t> </a:t>
            </a:r>
            <a:r>
              <a:rPr sz="4400" b="1">
                <a:solidFill>
                  <a:srgbClr val="111111"/>
                </a:solidFill>
                <a:latin typeface="Arial"/>
              </a:rPr>
              <a:t>BranchBench</a:t>
            </a:r>
            <a:r>
              <a:rPr sz="4400" b="0">
                <a:solidFill>
                  <a:srgbClr val="1C1C1C"/>
                </a:solidFill>
                <a:latin typeface="Arial"/>
              </a:rPr>
              <a:t> shows no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branchable DBMS supports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agentic loads (read latency </a:t>
            </a:r>
            <a:r>
              <a:rPr sz="4400" b="1">
                <a:solidFill>
                  <a:srgbClr val="111111"/>
                </a:solidFill>
                <a:latin typeface="Arial"/>
              </a:rPr>
              <a:t>5–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latin typeface="Arial"/>
              </a:rPr>
              <a:t>4000×</a:t>
            </a:r>
            <a:r>
              <a:rPr sz="4400" b="0">
                <a:solidFill>
                  <a:srgbClr val="1C1C1C"/>
                </a:solidFill>
                <a:latin typeface="Arial"/>
              </a:rPr>
              <a:t>, Neon </a:t>
            </a:r>
            <a:r>
              <a:rPr sz="4400" b="1">
                <a:solidFill>
                  <a:srgbClr val="111111"/>
                </a:solidFill>
                <a:latin typeface="Arial"/>
              </a:rPr>
              <a:t>3%</a:t>
            </a:r>
            <a:r>
              <a:rPr sz="4400" b="0">
                <a:solidFill>
                  <a:srgbClr val="1C1C1C"/>
                </a:solidFill>
                <a:latin typeface="Arial"/>
              </a:rPr>
              <a:t> of a 1000-step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MCTS). </a:t>
            </a:r>
            <a:r>
              <a:rPr sz="4400" b="1">
                <a:solidFill>
                  <a:srgbClr val="111111"/>
                </a:solidFill>
                <a:latin typeface="Arial"/>
              </a:rPr>
              <a:t>Chkpt</a:t>
            </a:r>
            <a:r>
              <a:rPr sz="4400" b="0">
                <a:solidFill>
                  <a:srgbClr val="1C1C1C"/>
                </a:solidFill>
                <a:latin typeface="Arial"/>
              </a:rPr>
              <a:t>: 66 ms for 2 GB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FS vs 11.21 s containers.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362516" y="14793594"/>
            <a:ext cx="1107551" cy="775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34373B"/>
                </a:solidFill>
                <a:latin typeface="Arial"/>
              </a:rPr>
              <a:t>AIM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6288906" y="14921849"/>
            <a:ext cx="2088518" cy="480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Arial"/>
              </a:rPr>
              <a:t>01 / Amplify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423963" y="15687969"/>
            <a:ext cx="9159409" cy="1863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Learn:</a:t>
            </a:r>
            <a:r>
              <a:rPr sz="4400" b="0">
                <a:solidFill>
                  <a:srgbClr val="1C1C1C"/>
                </a:solidFill>
                <a:latin typeface="Arial"/>
              </a:rPr>
              <a:t> hypothesize data models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for target tasks.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42252" y="15735136"/>
            <a:ext cx="7144451" cy="838363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400" b="0">
                <a:solidFill>
                  <a:srgbClr val="1C1C1C"/>
                </a:solidFill>
                <a:latin typeface="Arial"/>
              </a:rPr>
              <a:t>A </a:t>
            </a:r>
            <a:r>
              <a:rPr sz="4400" b="1">
                <a:solidFill>
                  <a:srgbClr val="111111"/>
                </a:solidFill>
                <a:latin typeface="Arial"/>
              </a:rPr>
              <a:t>single salient failure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suppresses adoption out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of proportion to its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likelihood — prospect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theory weights losses far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more than gains (Replit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DB deletion, AWS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outages, prompt-injection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leaks).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423963" y="17503505"/>
            <a:ext cx="9159409" cy="1863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Schema:</a:t>
            </a:r>
            <a:r>
              <a:rPr sz="4400" b="0">
                <a:solidFill>
                  <a:srgbClr val="1C1C1C"/>
                </a:solidFill>
                <a:latin typeface="Arial"/>
              </a:rPr>
              <a:t> instantiate in a chosen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store.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23963" y="19319040"/>
            <a:ext cx="9159409" cy="186302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Load + Refine:</a:t>
            </a:r>
            <a:r>
              <a:rPr sz="4400" b="0">
                <a:solidFill>
                  <a:srgbClr val="1C1C1C"/>
                </a:solidFill>
                <a:latin typeface="Arial"/>
              </a:rPr>
              <a:t> ETL →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views/indexes → Skill.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9661944" y="19810792"/>
            <a:ext cx="9159562" cy="37260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Data Flow Control: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source→sink provenance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policies; </a:t>
            </a:r>
            <a:r>
              <a:rPr sz="4400" b="1">
                <a:solidFill>
                  <a:srgbClr val="111111"/>
                </a:solidFill>
                <a:latin typeface="Arial"/>
              </a:rPr>
              <a:t>~0 overhead</a:t>
            </a:r>
            <a:r>
              <a:rPr sz="4400" b="0">
                <a:solidFill>
                  <a:srgbClr val="1C1C1C"/>
                </a:solidFill>
                <a:latin typeface="Arial"/>
              </a:rPr>
              <a:t> on TPC-H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(5 engines).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62516" y="22171642"/>
            <a:ext cx="1040581" cy="77563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313"/>
              </a:lnSpc>
              <a:spcBef>
                <a:spcPts val="0"/>
              </a:spcBef>
              <a:spcAft>
                <a:spcPts val="0"/>
              </a:spcAft>
            </a:pPr>
            <a:r>
              <a:rPr sz="4620" b="1">
                <a:solidFill>
                  <a:srgbClr val="34373B"/>
                </a:solidFill>
                <a:latin typeface="Arial"/>
              </a:rPr>
              <a:t>AIR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288906" y="22299898"/>
            <a:ext cx="2088518" cy="48081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94"/>
              </a:lnSpc>
              <a:spcBef>
                <a:spcPts val="0"/>
              </a:spcBef>
              <a:spcAft>
                <a:spcPts val="0"/>
              </a:spcAft>
            </a:pPr>
            <a:r>
              <a:rPr sz="2864" b="1" i="1">
                <a:solidFill>
                  <a:srgbClr val="555555"/>
                </a:solidFill>
                <a:latin typeface="Arial"/>
              </a:rPr>
              <a:t>02 / Amplify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42252" y="23220760"/>
            <a:ext cx="7144451" cy="55890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“Best-effort” safety is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latin typeface="Arial"/>
              </a:rPr>
              <a:t>not enough.</a:t>
            </a:r>
            <a:r>
              <a:rPr sz="4400" b="0">
                <a:solidFill>
                  <a:srgbClr val="1C1C1C"/>
                </a:solidFill>
                <a:latin typeface="Arial"/>
              </a:rPr>
              <a:t> </a:t>
            </a:r>
            <a:r>
              <a:rPr sz="4400" b="1">
                <a:solidFill>
                  <a:srgbClr val="111111"/>
                </a:solidFill>
                <a:latin typeface="Arial"/>
              </a:rPr>
              <a:t>Value =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1">
                <a:solidFill>
                  <a:srgbClr val="111111"/>
                </a:solidFill>
                <a:latin typeface="Arial"/>
              </a:rPr>
              <a:t>Benefits − Costs</a:t>
            </a:r>
            <a:r>
              <a:rPr sz="4400" b="0">
                <a:solidFill>
                  <a:srgbClr val="1C1C1C"/>
                </a:solidFill>
                <a:latin typeface="Arial"/>
              </a:rPr>
              <a:t>; we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need both higher benefits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and bounded failure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consequences.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9661944" y="23246352"/>
            <a:ext cx="9159562" cy="2794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614789" indent="-614789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Font typeface="Arial" panose="020B0604020202020204" pitchFamily="34" charset="0"/>
              <a:buChar char="•"/>
            </a:pPr>
            <a:r>
              <a:rPr sz="4400" b="1">
                <a:solidFill>
                  <a:srgbClr val="111111"/>
                </a:solidFill>
                <a:latin typeface="Arial"/>
              </a:rPr>
              <a:t>Representation invariance: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track info across</a:t>
            </a:r>
          </a:p>
          <a:p>
            <a:pPr algn="l" marL="614789" indent="0">
              <a:lnSpc>
                <a:spcPts val="63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400" b="0">
                <a:solidFill>
                  <a:srgbClr val="1C1C1C"/>
                </a:solidFill>
                <a:latin typeface="Arial"/>
              </a:rPr>
              <a:t>SQL/Python/files/prompts.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0163720" y="13122532"/>
            <a:ext cx="5841356" cy="16645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1402"/>
              </a:lnSpc>
              <a:spcBef>
                <a:spcPts val="0"/>
              </a:spcBef>
              <a:spcAft>
                <a:spcPts val="0"/>
              </a:spcAft>
            </a:pPr>
            <a:r>
              <a:rPr sz="12002" b="1" spc="-240">
                <a:solidFill>
                  <a:srgbClr val="34373B"/>
                </a:solidFill>
                <a:latin typeface="Arial"/>
              </a:rPr>
              <a:t>+49.8%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0163720" y="14595257"/>
            <a:ext cx="5841356" cy="128468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Arial"/>
              </a:rPr>
              <a:t>AIM vs Mem0 on</a:t>
            </a:r>
          </a:p>
          <a:p>
            <a:pPr algn="l">
              <a:lnSpc>
                <a:spcPts val="44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C1C1C"/>
                </a:solidFill>
                <a:latin typeface="Arial"/>
              </a:rPr>
              <a:t>LoCoMo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163720" y="15712371"/>
            <a:ext cx="5841356" cy="50374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45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1">
                <a:solidFill>
                  <a:srgbClr val="555555"/>
                </a:solidFill>
                <a:latin typeface="Arial"/>
              </a:rPr>
              <a:t>+15.82% vs Octen RAG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2008994" y="26796631"/>
            <a:ext cx="3836512" cy="758864"/>
          </a:xfrm>
          <a:prstGeom prst="rect">
            <a:avLst/>
          </a:prstGeom>
          <a:noFill/>
        </p:spPr>
        <p:txBody>
          <a:bodyPr wrap="square" lIns="254045" rIns="254045" tIns="63512" bIns="63512">
            <a:spAutoFit/>
          </a:bodyPr>
          <a:lstStyle/>
          <a:p>
            <a:pPr algn="ctr">
              <a:lnSpc>
                <a:spcPts val="42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34373B"/>
                </a:solidFill>
                <a:latin typeface="Arial"/>
              </a:rPr>
              <a:t>Scan to Read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6961714" y="12785970"/>
            <a:ext cx="3451236" cy="6716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Arial"/>
              </a:rPr>
              <a:t>&amp;x2264;23%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0507936" y="12919285"/>
            <a:ext cx="1569912" cy="1051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Arial"/>
              </a:rPr>
              <a:t>LakeQA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Arial"/>
              </a:rPr>
              <a:t>accuracy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6961714" y="14112730"/>
            <a:ext cx="673849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Arial"/>
              </a:rPr>
              <a:t>~0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811443" y="14246046"/>
            <a:ext cx="3683874" cy="105128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Arial"/>
              </a:rPr>
              <a:t>DFC TPC-H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Arial"/>
              </a:rPr>
              <a:t>overhead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6961714" y="15439490"/>
            <a:ext cx="1675658" cy="67160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6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spc="-46">
                <a:solidFill>
                  <a:srgbClr val="AE2622"/>
                </a:solidFill>
                <a:latin typeface="Arial"/>
              </a:rPr>
              <a:t>66 ms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8784073" y="15572806"/>
            <a:ext cx="2682065" cy="10512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Arial"/>
              </a:rPr>
              <a:t>Chkpt FS</a:t>
            </a:r>
          </a:p>
          <a:p>
            <a:pPr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>
                <a:solidFill>
                  <a:srgbClr val="555555"/>
                </a:solidFill>
                <a:latin typeface="Arial"/>
              </a:rPr>
              <a:t>checkpoint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