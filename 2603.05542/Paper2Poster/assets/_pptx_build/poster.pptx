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8263" y="698271"/>
            <a:ext cx="41397394" cy="6097414"/>
          </a:xfrm>
          <a:prstGeom prst="roundRect">
            <a:avLst>
              <a:gd name="adj" fmla="val 2499"/>
            </a:avLst>
          </a:prstGeom>
          <a:solidFill>
            <a:srgbClr val="EE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8263" y="7176587"/>
            <a:ext cx="10130555" cy="9650965"/>
          </a:xfrm>
          <a:prstGeom prst="roundRect">
            <a:avLst>
              <a:gd name="adj" fmla="val 921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35011" y="7176587"/>
            <a:ext cx="9958853" cy="7560763"/>
          </a:xfrm>
          <a:prstGeom prst="roundRect">
            <a:avLst>
              <a:gd name="adj" fmla="val 1176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600055" y="7176587"/>
            <a:ext cx="9958705" cy="5352125"/>
          </a:xfrm>
          <a:prstGeom prst="roundRect">
            <a:avLst>
              <a:gd name="adj" fmla="val 1661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964952" y="7176587"/>
            <a:ext cx="10130704" cy="9616892"/>
          </a:xfrm>
          <a:prstGeom prst="roundRect">
            <a:avLst>
              <a:gd name="adj" fmla="val 924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600055" y="12884172"/>
            <a:ext cx="9958705" cy="9230930"/>
          </a:xfrm>
          <a:prstGeom prst="roundRect">
            <a:avLst>
              <a:gd name="adj" fmla="val 963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235011" y="15092810"/>
            <a:ext cx="9958853" cy="6023167"/>
          </a:xfrm>
          <a:prstGeom prst="roundRect">
            <a:avLst>
              <a:gd name="adj" fmla="val 1476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964952" y="17148939"/>
            <a:ext cx="10130704" cy="7387868"/>
          </a:xfrm>
          <a:prstGeom prst="roundRect">
            <a:avLst>
              <a:gd name="adj" fmla="val 1203"/>
            </a:avLst>
          </a:prstGeom>
          <a:solidFill>
            <a:srgbClr val="F2F2F3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64952" y="17148939"/>
            <a:ext cx="57160" cy="7387868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8263" y="17183012"/>
            <a:ext cx="10130555" cy="12381410"/>
          </a:xfrm>
          <a:prstGeom prst="roundRect">
            <a:avLst>
              <a:gd name="adj" fmla="val 877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35011" y="21471436"/>
            <a:ext cx="9958853" cy="8092986"/>
          </a:xfrm>
          <a:prstGeom prst="roundRect">
            <a:avLst>
              <a:gd name="adj" fmla="val 1098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600055" y="22470562"/>
            <a:ext cx="9958705" cy="7093860"/>
          </a:xfrm>
          <a:prstGeom prst="roundRect">
            <a:avLst>
              <a:gd name="adj" fmla="val 1253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964952" y="24892267"/>
            <a:ext cx="10130704" cy="4672155"/>
          </a:xfrm>
          <a:prstGeom prst="roundRect">
            <a:avLst>
              <a:gd name="adj" fmla="val 1903"/>
            </a:avLst>
          </a:prstGeom>
          <a:solidFill>
            <a:srgbClr val="F1F1F1"/>
          </a:solidFill>
          <a:ln w="9526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511162" y="8328668"/>
            <a:ext cx="9406551" cy="3686867"/>
          </a:xfrm>
          <a:prstGeom prst="roundRect">
            <a:avLst>
              <a:gd name="adj" fmla="val 3858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11162" y="8328668"/>
            <a:ext cx="95267" cy="368686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4415" y="11895610"/>
            <a:ext cx="9578252" cy="22101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4415" y="11895610"/>
            <a:ext cx="95267" cy="2210127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241105" y="12837599"/>
            <a:ext cx="9578403" cy="2050030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241105" y="15106499"/>
            <a:ext cx="9578403" cy="12239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241105" y="15106499"/>
            <a:ext cx="9578403" cy="12384"/>
          </a:xfrm>
          <a:prstGeom prst="rect">
            <a:avLst/>
          </a:prstGeom>
          <a:solidFill>
            <a:srgbClr val="B8B9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876209" y="19620637"/>
            <a:ext cx="9406400" cy="1669574"/>
          </a:xfrm>
          <a:prstGeom prst="roundRect">
            <a:avLst>
              <a:gd name="adj" fmla="val 9738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511162" y="19678070"/>
            <a:ext cx="9406551" cy="1161753"/>
          </a:xfrm>
          <a:prstGeom prst="roundRect">
            <a:avLst>
              <a:gd name="adj" fmla="val 13995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511162" y="22408666"/>
            <a:ext cx="9406551" cy="1669571"/>
          </a:xfrm>
          <a:prstGeom prst="roundRect">
            <a:avLst>
              <a:gd name="adj" fmla="val 9738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876209" y="23622642"/>
            <a:ext cx="9406400" cy="5116740"/>
          </a:xfrm>
          <a:prstGeom prst="roundRect">
            <a:avLst>
              <a:gd name="adj" fmla="val 1489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9526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rtheastern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5916" y="1688617"/>
            <a:ext cx="4552924" cy="1456951"/>
          </a:xfrm>
          <a:prstGeom prst="rect">
            <a:avLst/>
          </a:prstGeom>
        </p:spPr>
      </p:pic>
      <p:pic>
        <p:nvPicPr>
          <p:cNvPr id="27" name="Picture 26" descr="columbia-un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2674" y="1688623"/>
            <a:ext cx="1117845" cy="1456940"/>
          </a:xfrm>
          <a:prstGeom prst="rect">
            <a:avLst/>
          </a:prstGeom>
        </p:spPr>
      </p:pic>
      <p:pic>
        <p:nvPicPr>
          <p:cNvPr id="28" name="Picture 27" descr="ohio-state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1839" y="3323224"/>
            <a:ext cx="9712906" cy="1456951"/>
          </a:xfrm>
          <a:prstGeom prst="rect">
            <a:avLst/>
          </a:prstGeom>
        </p:spPr>
      </p:pic>
      <p:pic>
        <p:nvPicPr>
          <p:cNvPr id="29" name="Picture 28" descr="xi-an-jiaotong-liverpool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8445" y="4957843"/>
            <a:ext cx="8019694" cy="145692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1876209" y="7452741"/>
            <a:ext cx="511832" cy="511838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88" b="1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90721" y="8450527"/>
            <a:ext cx="1681904" cy="477467"/>
          </a:xfrm>
          <a:prstGeom prst="roundRect">
            <a:avLst>
              <a:gd name="adj" fmla="val 14898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40" b="1">
                <a:solidFill>
                  <a:srgbClr val="FFFFFF"/>
                </a:solidFill>
                <a:latin typeface="Verdana"/>
              </a:rPr>
              <a:t>REFRAME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876209" y="13394967"/>
            <a:ext cx="511832" cy="511838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88" b="1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511162" y="15368964"/>
            <a:ext cx="511832" cy="51183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88" b="1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511162" y="21747590"/>
            <a:ext cx="511832" cy="511838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88" b="1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288716" y="21867962"/>
            <a:ext cx="2128865" cy="61450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34373B"/>
                </a:solidFill>
                <a:latin typeface="Verdana"/>
              </a:rPr>
              <a:t>Databases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39439" y="21867962"/>
            <a:ext cx="3631181" cy="61450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34373B"/>
                </a:solidFill>
                <a:latin typeface="Verdana"/>
              </a:rPr>
              <a:t>Foundation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292476" y="21867962"/>
            <a:ext cx="1537134" cy="61450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34373B"/>
                </a:solidFill>
                <a:latin typeface="Verdana"/>
              </a:rPr>
              <a:t>InfoVis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951466" y="21867962"/>
            <a:ext cx="981408" cy="61450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AE2622"/>
                </a:solidFill>
                <a:latin typeface="Verdana"/>
              </a:rPr>
              <a:t>HCI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288716" y="22604323"/>
            <a:ext cx="3055964" cy="61450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AE2622"/>
                </a:solidFill>
                <a:latin typeface="Verdana"/>
              </a:rPr>
              <a:t>Comp. Graphics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466539" y="22604323"/>
            <a:ext cx="3376009" cy="61450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AE2622"/>
                </a:solidFill>
                <a:latin typeface="Verdana"/>
              </a:rPr>
              <a:t>Cognitive Science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4415" y="23665047"/>
            <a:ext cx="4383752" cy="2149719"/>
          </a:xfrm>
          <a:prstGeom prst="roundRect">
            <a:avLst>
              <a:gd name="adj" fmla="val 7563"/>
            </a:avLst>
          </a:prstGeom>
          <a:solidFill>
            <a:srgbClr val="FAFAFA"/>
          </a:solidFill>
          <a:ln w="9526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68766" y="23665047"/>
            <a:ext cx="4383901" cy="2710358"/>
          </a:xfrm>
          <a:prstGeom prst="roundRect">
            <a:avLst>
              <a:gd name="adj" fmla="val 5998"/>
            </a:avLst>
          </a:prstGeom>
          <a:solidFill>
            <a:srgbClr val="F3F3F3"/>
          </a:solidFill>
          <a:ln w="952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112219" y="23860707"/>
            <a:ext cx="3907034" cy="46914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112219" y="23860707"/>
            <a:ext cx="12385" cy="4691497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8391421" y="25168421"/>
            <a:ext cx="3428087" cy="3428121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8444" y="25295444"/>
            <a:ext cx="3174040" cy="3174075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39417017" y="28748904"/>
            <a:ext cx="1376743" cy="539364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00" b="1">
                <a:solidFill>
                  <a:srgbClr val="34373B"/>
                </a:solidFill>
                <a:latin typeface="Verdana"/>
              </a:rPr>
              <a:t>Paper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241105" y="8479690"/>
            <a:ext cx="2540412" cy="5100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241105" y="8980215"/>
            <a:ext cx="254041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781517" y="8479690"/>
            <a:ext cx="2869682" cy="5100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81517" y="8980215"/>
            <a:ext cx="286968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651199" y="8479690"/>
            <a:ext cx="4168309" cy="5100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7651199" y="8980215"/>
            <a:ext cx="416830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241105" y="8989742"/>
            <a:ext cx="2540412" cy="11668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241105" y="10147026"/>
            <a:ext cx="254041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781517" y="8989742"/>
            <a:ext cx="2869682" cy="11668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781517" y="10147026"/>
            <a:ext cx="286968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651199" y="8989742"/>
            <a:ext cx="4168309" cy="11668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651199" y="10147026"/>
            <a:ext cx="416830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241105" y="10156553"/>
            <a:ext cx="2540412" cy="11668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241105" y="11313837"/>
            <a:ext cx="254041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781517" y="10156553"/>
            <a:ext cx="2869682" cy="11668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4781517" y="11313837"/>
            <a:ext cx="286968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7651199" y="10156553"/>
            <a:ext cx="4168309" cy="11668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7651199" y="11313837"/>
            <a:ext cx="416830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241105" y="11323364"/>
            <a:ext cx="2540412" cy="6453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241105" y="11959139"/>
            <a:ext cx="254041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781517" y="11323364"/>
            <a:ext cx="2869682" cy="6453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781517" y="11959139"/>
            <a:ext cx="286968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651199" y="11323364"/>
            <a:ext cx="4168309" cy="6453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651199" y="11959139"/>
            <a:ext cx="416830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241105" y="11968666"/>
            <a:ext cx="2540412" cy="6453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241105" y="12604442"/>
            <a:ext cx="254041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781517" y="11968666"/>
            <a:ext cx="2869682" cy="6453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781517" y="12604442"/>
            <a:ext cx="286968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651199" y="11968666"/>
            <a:ext cx="4168309" cy="6453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651199" y="12604442"/>
            <a:ext cx="416830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409174" y="1079173"/>
            <a:ext cx="30059774" cy="27750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446"/>
              </a:lnSpc>
              <a:spcBef>
                <a:spcPts val="0"/>
              </a:spcBef>
              <a:spcAft>
                <a:spcPts val="0"/>
              </a:spcAft>
            </a:pPr>
            <a:r>
              <a:rPr sz="7820" b="1" spc="-88">
                <a:solidFill>
                  <a:srgbClr val="34373B"/>
                </a:solidFill>
                <a:latin typeface="Verdana"/>
              </a:rPr>
              <a:t>Human-Data Interaction, Exploration &amp; Visualization in</a:t>
            </a:r>
          </a:p>
          <a:p>
            <a:pPr algn="l">
              <a:lnSpc>
                <a:spcPts val="8446"/>
              </a:lnSpc>
              <a:spcBef>
                <a:spcPts val="0"/>
              </a:spcBef>
              <a:spcAft>
                <a:spcPts val="0"/>
              </a:spcAft>
            </a:pPr>
            <a:r>
              <a:rPr sz="7820" b="1" spc="-88">
                <a:solidFill>
                  <a:srgbClr val="34373B"/>
                </a:solidFill>
                <a:latin typeface="Verdana"/>
              </a:rPr>
              <a:t>the AI Era: Challenges &amp; Opportunities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09174" y="3738050"/>
            <a:ext cx="30059774" cy="1594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1B2331"/>
                </a:solidFill>
                <a:latin typeface="Verdana"/>
              </a:rPr>
              <a:t>Jean-Daniel Fekete¹ · Yifan Hu² · Dominik Moritz³ · Arnab Nandi⁴ · Senjuti Basu Roy⁵ · Eugene Wu⁶ · Nikos</a:t>
            </a:r>
          </a:p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1B2331"/>
                </a:solidFill>
                <a:latin typeface="Verdana"/>
              </a:rPr>
              <a:t>Bikakis⁷ · George Papastefanatos⁸ · Panos K. Chrysanthis⁹ · Guoliang Li¹⁰ · Lingyun Yu¹¹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09174" y="5181313"/>
            <a:ext cx="30059774" cy="11279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800" b="0" spc="56">
                <a:solidFill>
                  <a:srgbClr val="55617A"/>
                </a:solidFill>
                <a:latin typeface="Verdana"/>
              </a:rPr>
              <a:t>¹Univ. Paris-Saclay &amp; Inria · ²Northeastern · ³CMU &amp; Apple · ⁴Ohio State · ⁵NJIT · ⁶Columbia · ⁷Hellenic Med. Univ. &amp; Archimedes/Athena RC · ⁸Athena RC ·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800" b="0" spc="56">
                <a:solidFill>
                  <a:srgbClr val="55617A"/>
                </a:solidFill>
                <a:latin typeface="Verdana"/>
              </a:rPr>
              <a:t>⁹Pittsburgh · ¹⁰Tsinghua · ¹¹XJTLU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4415" y="7452741"/>
            <a:ext cx="9865599" cy="738676"/>
          </a:xfrm>
          <a:prstGeom prst="rect">
            <a:avLst/>
          </a:prstGeom>
          <a:noFill/>
        </p:spPr>
        <p:txBody>
          <a:bodyPr wrap="square" lIns="0" rIns="3213669" tIns="0" bIns="0">
            <a:spAutoFit/>
          </a:bodyPr>
          <a:lstStyle/>
          <a:p>
            <a:pPr algn="l">
              <a:lnSpc>
                <a:spcPts val="506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34373B"/>
                </a:solidFill>
                <a:latin typeface="Verdana"/>
              </a:rPr>
              <a:t>Problem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511162" y="7452741"/>
            <a:ext cx="9688747" cy="738676"/>
          </a:xfrm>
          <a:prstGeom prst="rect">
            <a:avLst/>
          </a:prstGeom>
          <a:noFill/>
        </p:spPr>
        <p:txBody>
          <a:bodyPr wrap="none" lIns="0" rIns="3213669" tIns="0" bIns="0">
            <a:spAutoFit/>
          </a:bodyPr>
          <a:lstStyle/>
          <a:p>
            <a:pPr algn="l">
              <a:lnSpc>
                <a:spcPts val="506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34373B"/>
                </a:solidFill>
                <a:latin typeface="Verdana"/>
              </a:rPr>
              <a:t>Method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241105" y="7452741"/>
            <a:ext cx="9865755" cy="738676"/>
          </a:xfrm>
          <a:prstGeom prst="rect">
            <a:avLst/>
          </a:prstGeom>
          <a:noFill/>
        </p:spPr>
        <p:txBody>
          <a:bodyPr wrap="square" lIns="0" rIns="3213669" tIns="0" bIns="0">
            <a:spAutoFit/>
          </a:bodyPr>
          <a:lstStyle/>
          <a:p>
            <a:pPr algn="l">
              <a:lnSpc>
                <a:spcPts val="506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34373B"/>
                </a:solidFill>
                <a:latin typeface="Verdana"/>
              </a:rPr>
              <a:t>Key Results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4415" y="8328668"/>
            <a:ext cx="9865599" cy="3868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AI-era data analysis now spans </a:t>
            </a:r>
            <a:r>
              <a:rPr sz="3200" b="1">
                <a:solidFill>
                  <a:srgbClr val="111111"/>
                </a:solidFill>
                <a:latin typeface="Verdana"/>
              </a:rPr>
              <a:t>large-scale,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heterogeneous, multimodal, and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predominantly unstructured</a:t>
            </a:r>
            <a:r>
              <a:rPr sz="3200" b="0">
                <a:solidFill>
                  <a:srgbClr val="1C1C1C"/>
                </a:solidFill>
                <a:latin typeface="Verdana"/>
              </a:rPr>
              <a:t> data — text,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images, audio, video, and visually rich documents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— while foundation models (LLMs, VLMs) inject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uncertainty</a:t>
            </a:r>
            <a:r>
              <a:rPr sz="3200" b="0">
                <a:solidFill>
                  <a:srgbClr val="1C1C1C"/>
                </a:solidFill>
                <a:latin typeface="Verdana"/>
              </a:rPr>
              <a:t> into every step.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876209" y="9246256"/>
            <a:ext cx="9688592" cy="32236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Progressive visual analytics and approximate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query processing help, and stacks like Mosaic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abstract low-level optimizations — but a single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consensual measure of “scalable visualization”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is still missing.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4415" y="11895610"/>
            <a:ext cx="9865599" cy="2541646"/>
          </a:xfrm>
          <a:prstGeom prst="rect">
            <a:avLst/>
          </a:prstGeom>
          <a:noFill/>
        </p:spPr>
        <p:txBody>
          <a:bodyPr wrap="none" lIns="284530" rIns="284530" tIns="48777" bIns="48777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1">
                <a:solidFill>
                  <a:srgbClr val="1C1C1C"/>
                </a:solidFill>
                <a:latin typeface="Verdana"/>
              </a:rPr>
              <a:t>This breaks the schema-driven</a:t>
            </a:r>
          </a:p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1">
                <a:solidFill>
                  <a:srgbClr val="1C1C1C"/>
                </a:solidFill>
                <a:latin typeface="Verdana"/>
              </a:rPr>
              <a:t>query‑then‑explore</a:t>
            </a:r>
            <a:r>
              <a:rPr sz="3200" b="0" i="1">
                <a:solidFill>
                  <a:srgbClr val="1C1C1C"/>
                </a:solidFill>
                <a:latin typeface="Verdana"/>
              </a:rPr>
              <a:t> workflows systems were</a:t>
            </a:r>
          </a:p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1">
                <a:solidFill>
                  <a:srgbClr val="1C1C1C"/>
                </a:solidFill>
                <a:latin typeface="Verdana"/>
              </a:rPr>
              <a:t>built on: data is weakly indexed and costly to</a:t>
            </a:r>
          </a:p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1">
                <a:solidFill>
                  <a:srgbClr val="1C1C1C"/>
                </a:solidFill>
                <a:latin typeface="Verdana"/>
              </a:rPr>
              <a:t>inspect.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511162" y="12015535"/>
            <a:ext cx="9688747" cy="25789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Four coupled perspectives trace the loop: how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interfaces shape systems, millisecond querying,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scalable analytics, and AI-guided exploration with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generative visualization.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241105" y="12837599"/>
            <a:ext cx="9865755" cy="2357534"/>
          </a:xfrm>
          <a:prstGeom prst="rect">
            <a:avLst/>
          </a:prstGeom>
          <a:noFill/>
        </p:spPr>
        <p:txBody>
          <a:bodyPr wrap="none" lIns="378426" rIns="378426" tIns="219090" bIns="219090">
            <a:spAutoFit/>
          </a:bodyPr>
          <a:lstStyle/>
          <a:p>
            <a:pPr algn="ctr">
              <a:lnSpc>
                <a:spcPts val="4234"/>
              </a:lnSpc>
              <a:spcBef>
                <a:spcPts val="0"/>
              </a:spcBef>
              <a:spcAft>
                <a:spcPts val="0"/>
              </a:spcAft>
            </a:pPr>
            <a:r>
              <a:rPr sz="3136" b="1">
                <a:solidFill>
                  <a:srgbClr val="34373B"/>
                </a:solidFill>
                <a:latin typeface="Verdana"/>
              </a:rPr>
              <a:t>Only ~2% of IEEE VIS papers engage</a:t>
            </a:r>
          </a:p>
          <a:p>
            <a:pPr algn="ctr">
              <a:lnSpc>
                <a:spcPts val="4234"/>
              </a:lnSpc>
              <a:spcBef>
                <a:spcPts val="0"/>
              </a:spcBef>
              <a:spcAft>
                <a:spcPts val="0"/>
              </a:spcAft>
            </a:pPr>
            <a:r>
              <a:rPr sz="3136" b="1">
                <a:solidFill>
                  <a:srgbClr val="34373B"/>
                </a:solidFill>
                <a:latin typeface="Verdana"/>
              </a:rPr>
              <a:t>scalability — a fundamental barrier vs.</a:t>
            </a:r>
          </a:p>
          <a:p>
            <a:pPr algn="ctr">
              <a:lnSpc>
                <a:spcPts val="4234"/>
              </a:lnSpc>
              <a:spcBef>
                <a:spcPts val="0"/>
              </a:spcBef>
              <a:spcAft>
                <a:spcPts val="0"/>
              </a:spcAft>
            </a:pPr>
            <a:r>
              <a:rPr sz="3136" b="1">
                <a:solidFill>
                  <a:srgbClr val="34373B"/>
                </a:solidFill>
                <a:latin typeface="Verdana"/>
              </a:rPr>
              <a:t>sibling data-science domains.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4415" y="14105737"/>
            <a:ext cx="9865599" cy="25789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Users must iteratively explore, reformulate, and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verify results under uncertainty — often without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knowing what the data contains or which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questions can be meaningfully asked.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241105" y="15106499"/>
            <a:ext cx="9865755" cy="1407537"/>
          </a:xfrm>
          <a:prstGeom prst="rect">
            <a:avLst/>
          </a:prstGeom>
          <a:noFill/>
        </p:spPr>
        <p:txBody>
          <a:bodyPr wrap="square" lIns="0" rIns="0" tIns="168281" bIns="0">
            <a:spAutoFit/>
          </a:bodyPr>
          <a:lstStyle/>
          <a:p>
            <a:pPr algn="l">
              <a:lnSpc>
                <a:spcPts val="4122"/>
              </a:lnSpc>
              <a:spcBef>
                <a:spcPts val="0"/>
              </a:spcBef>
              <a:spcAft>
                <a:spcPts val="0"/>
              </a:spcAft>
            </a:pPr>
            <a:r>
              <a:rPr sz="2296" b="1" spc="137">
                <a:solidFill>
                  <a:srgbClr val="111111"/>
                </a:solidFill>
                <a:latin typeface="Verdana"/>
              </a:rPr>
              <a:t>SO WHAT → </a:t>
            </a:r>
            <a:r>
              <a:rPr sz="2944" b="0" i="1">
                <a:solidFill>
                  <a:srgbClr val="1C1C1C"/>
                </a:solidFill>
                <a:latin typeface="Verdana"/>
              </a:rPr>
              <a:t>Deep learning even reshapes visualization itself: GNN/GAN models learn layout from data.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288716" y="17425093"/>
            <a:ext cx="9816715" cy="738674"/>
          </a:xfrm>
          <a:prstGeom prst="rect">
            <a:avLst/>
          </a:prstGeom>
          <a:noFill/>
        </p:spPr>
        <p:txBody>
          <a:bodyPr wrap="square" lIns="0" rIns="3213669" tIns="0" bIns="0">
            <a:spAutoFit/>
          </a:bodyPr>
          <a:lstStyle/>
          <a:p>
            <a:pPr algn="l">
              <a:lnSpc>
                <a:spcPts val="506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34373B"/>
                </a:solidFill>
                <a:latin typeface="Verdana"/>
              </a:rPr>
              <a:t>Takeaway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4415" y="17459166"/>
            <a:ext cx="9865599" cy="738674"/>
          </a:xfrm>
          <a:prstGeom prst="rect">
            <a:avLst/>
          </a:prstGeom>
          <a:noFill/>
        </p:spPr>
        <p:txBody>
          <a:bodyPr wrap="square" lIns="0" rIns="3213669" tIns="0" bIns="0">
            <a:spAutoFit/>
          </a:bodyPr>
          <a:lstStyle/>
          <a:p>
            <a:pPr algn="l">
              <a:lnSpc>
                <a:spcPts val="506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34373B"/>
                </a:solidFill>
                <a:latin typeface="Verdana"/>
              </a:rPr>
              <a:t>Motivation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288716" y="18301020"/>
            <a:ext cx="9816715" cy="38684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AI-driven ecosystems are an </a:t>
            </a:r>
            <a:r>
              <a:rPr sz="3200" b="1">
                <a:solidFill>
                  <a:srgbClr val="111111"/>
                </a:solidFill>
                <a:latin typeface="Verdana"/>
              </a:rPr>
              <a:t>inflection point</a:t>
            </a:r>
            <a:r>
              <a:rPr sz="3200" b="0">
                <a:solidFill>
                  <a:srgbClr val="1C1C1C"/>
                </a:solidFill>
                <a:latin typeface="Verdana"/>
              </a:rPr>
              <a:t>: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interactive systems can no longer be built by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independently optimizing data management, AI,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and interaction — they must be </a:t>
            </a:r>
            <a:r>
              <a:rPr sz="3200" b="1">
                <a:solidFill>
                  <a:srgbClr val="111111"/>
                </a:solidFill>
                <a:latin typeface="Verdana"/>
              </a:rPr>
              <a:t>co-designed end-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to-end</a:t>
            </a:r>
            <a:r>
              <a:rPr sz="3200" b="0">
                <a:solidFill>
                  <a:srgbClr val="1C1C1C"/>
                </a:solidFill>
                <a:latin typeface="Verdana"/>
              </a:rPr>
              <a:t>, with visualization shifting from passive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display to an active, human-guided role.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876209" y="19620637"/>
            <a:ext cx="9688592" cy="1920010"/>
          </a:xfrm>
          <a:prstGeom prst="rect">
            <a:avLst/>
          </a:prstGeom>
          <a:noFill/>
        </p:spPr>
        <p:txBody>
          <a:bodyPr wrap="none" lIns="264206" rIns="264206" tIns="73165" bIns="7316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34373B"/>
                </a:solidFill>
                <a:latin typeface="Verdana"/>
              </a:rPr>
              <a:t>This opens a path to modeling </a:t>
            </a:r>
            <a:r>
              <a:rPr sz="3200" b="1">
                <a:solidFill>
                  <a:srgbClr val="111111"/>
                </a:solidFill>
                <a:latin typeface="Verdana"/>
              </a:rPr>
              <a:t>human</a:t>
            </a:r>
          </a:p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aesthetic preference</a:t>
            </a:r>
            <a:r>
              <a:rPr sz="3200" b="0">
                <a:solidFill>
                  <a:srgbClr val="34373B"/>
                </a:solidFill>
                <a:latin typeface="Verdana"/>
              </a:rPr>
              <a:t> directly — visualization</a:t>
            </a:r>
          </a:p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34373B"/>
                </a:solidFill>
                <a:latin typeface="Verdana"/>
              </a:rPr>
              <a:t>as an active, narrative, adaptive component.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511162" y="19678070"/>
            <a:ext cx="9688747" cy="1336015"/>
          </a:xfrm>
          <a:prstGeom prst="rect">
            <a:avLst/>
          </a:prstGeom>
          <a:noFill/>
        </p:spPr>
        <p:txBody>
          <a:bodyPr wrap="none" lIns="264206" rIns="264206" tIns="73165" bIns="7316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34373B"/>
                </a:solidFill>
                <a:latin typeface="Verdana"/>
              </a:rPr>
              <a:t>System design can also </a:t>
            </a:r>
            <a:r>
              <a:rPr sz="3200" b="1">
                <a:solidFill>
                  <a:srgbClr val="111111"/>
                </a:solidFill>
                <a:latin typeface="Verdana"/>
              </a:rPr>
              <a:t>inspire</a:t>
            </a:r>
            <a:r>
              <a:rPr sz="3200" b="0">
                <a:solidFill>
                  <a:srgbClr val="34373B"/>
                </a:solidFill>
                <a:latin typeface="Verdana"/>
              </a:rPr>
              <a:t> new interfaces,</a:t>
            </a:r>
          </a:p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34373B"/>
                </a:solidFill>
                <a:latin typeface="Verdana"/>
              </a:rPr>
              <a:t>not merely react.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511162" y="22408666"/>
            <a:ext cx="9688747" cy="1920006"/>
          </a:xfrm>
          <a:prstGeom prst="rect">
            <a:avLst/>
          </a:prstGeom>
          <a:noFill/>
        </p:spPr>
        <p:txBody>
          <a:bodyPr wrap="none" lIns="264206" rIns="264206" tIns="73165" bIns="7316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34373B"/>
                </a:solidFill>
                <a:latin typeface="Verdana"/>
              </a:rPr>
              <a:t>ML shifted from model-centric to </a:t>
            </a:r>
            <a:r>
              <a:rPr sz="3200" b="1">
                <a:solidFill>
                  <a:srgbClr val="111111"/>
                </a:solidFill>
                <a:latin typeface="Verdana"/>
              </a:rPr>
              <a:t>data-centric</a:t>
            </a:r>
          </a:p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34373B"/>
                </a:solidFill>
                <a:latin typeface="Verdana"/>
              </a:rPr>
              <a:t>— the bottleneck is now understanding data,</a:t>
            </a:r>
          </a:p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34373B"/>
                </a:solidFill>
                <a:latin typeface="Verdana"/>
              </a:rPr>
              <a:t>not tweaking models.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876209" y="22746716"/>
            <a:ext cx="9688592" cy="73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6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34373B"/>
                </a:solidFill>
                <a:latin typeface="Verdana"/>
              </a:rPr>
              <a:t>Headline Numbers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511162" y="24078237"/>
            <a:ext cx="9688747" cy="45131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Engineers slice and dice millions of records to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grasp subtle patterns, and visualization allocates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scarce attention — but only if response times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match human cognition. Data systems tuned for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order-of-second responses distort exploration;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approximation, indexing, and prefetching buy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interactivity at a cost in complexity.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4415" y="26375405"/>
            <a:ext cx="9865599" cy="25789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Meeting these demands requires interface-,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perception-, and context-aware systems, with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explicit support for oversight, provenance, and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trust calibration.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558551" y="7463306"/>
            <a:ext cx="5316466" cy="564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4373B"/>
                </a:solidFill>
                <a:latin typeface="Verdana"/>
              </a:rPr>
              <a:t>Scalable Visual Analytics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522597" y="7556597"/>
            <a:ext cx="782812" cy="349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Verdana"/>
              </a:rPr>
              <a:t>Sec. 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842895" y="8195650"/>
            <a:ext cx="7586588" cy="6132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76"/>
              </a:lnSpc>
              <a:spcBef>
                <a:spcPts val="0"/>
              </a:spcBef>
              <a:spcAft>
                <a:spcPts val="0"/>
              </a:spcAft>
            </a:pPr>
            <a:r>
              <a:rPr sz="2880" b="0">
                <a:solidFill>
                  <a:srgbClr val="555555"/>
                </a:solidFill>
                <a:latin typeface="Verdana"/>
              </a:rPr>
              <a:t>of IEEE VIS papers use a scalability keyword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876209" y="8205172"/>
            <a:ext cx="1791669" cy="10921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481"/>
              </a:lnSpc>
              <a:spcBef>
                <a:spcPts val="0"/>
              </a:spcBef>
              <a:spcAft>
                <a:spcPts val="0"/>
              </a:spcAft>
            </a:pPr>
            <a:r>
              <a:rPr sz="6394" b="1">
                <a:solidFill>
                  <a:srgbClr val="34373B"/>
                </a:solidFill>
                <a:latin typeface="Verdana"/>
              </a:rPr>
              <a:t>~2%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890721" y="9090473"/>
            <a:ext cx="9004935" cy="32236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Stop optimizing data management, AI,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interfaces, and visualization in isolation — </a:t>
            </a:r>
            <a:r>
              <a:rPr sz="3200" b="1">
                <a:solidFill>
                  <a:srgbClr val="111111"/>
                </a:solidFill>
                <a:latin typeface="Verdana"/>
              </a:rPr>
              <a:t>co-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design them as one end‑to‑end,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human‑centered pipeline</a:t>
            </a:r>
            <a:r>
              <a:rPr sz="3200" b="0">
                <a:solidFill>
                  <a:srgbClr val="1C1C1C"/>
                </a:solidFill>
                <a:latin typeface="Verdana"/>
              </a:rPr>
              <a:t> for iterative,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guidance-driven, mixed-initiative exploration.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558551" y="13160326"/>
            <a:ext cx="7790873" cy="1128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4373B"/>
                </a:solidFill>
                <a:latin typeface="Verdana"/>
              </a:rPr>
              <a:t>AI-Guided Exploration &amp; Generative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4373B"/>
                </a:solidFill>
                <a:latin typeface="Verdana"/>
              </a:rPr>
              <a:t>Vis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293017" y="13346759"/>
            <a:ext cx="1019279" cy="6994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Verdana"/>
              </a:rPr>
              <a:t>Sec. 5–</a:t>
            </a:r>
          </a:p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Verdana"/>
              </a:rP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875900" y="14290683"/>
            <a:ext cx="9688910" cy="25789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47119" indent="-447119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200" b="0">
                <a:solidFill>
                  <a:srgbClr val="1C1C1C"/>
                </a:solidFill>
                <a:latin typeface="Verdana"/>
              </a:rPr>
              <a:t>Unstructured, metadata-poor data demands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11111"/>
                </a:solidFill>
                <a:latin typeface="Verdana"/>
              </a:rPr>
              <a:t>ad-hoc, continuous query reformulation</a:t>
            </a:r>
            <a:r>
              <a:rPr sz="3200" b="0">
                <a:solidFill>
                  <a:srgbClr val="1C1C1C"/>
                </a:solidFill>
                <a:latin typeface="Verdana"/>
              </a:rPr>
              <a:t>;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LLMs extract structure but add non-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determinism, cost, and bias.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193506" y="15379528"/>
            <a:ext cx="6049010" cy="564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4373B"/>
                </a:solidFill>
                <a:latin typeface="Verdana"/>
              </a:rPr>
              <a:t>Interface–System Co-Design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157701" y="15472820"/>
            <a:ext cx="782812" cy="349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Verdana"/>
              </a:rPr>
              <a:t>Sec. 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510854" y="16030038"/>
            <a:ext cx="9689064" cy="1934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47119" indent="-447119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200" b="0">
                <a:solidFill>
                  <a:srgbClr val="1C1C1C"/>
                </a:solidFill>
                <a:latin typeface="Verdana"/>
              </a:rPr>
              <a:t>Treat visualization as a </a:t>
            </a:r>
            <a:r>
              <a:rPr sz="3200" b="1">
                <a:solidFill>
                  <a:srgbClr val="111111"/>
                </a:solidFill>
                <a:latin typeface="Verdana"/>
              </a:rPr>
              <a:t>SQL-workload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11111"/>
                </a:solidFill>
                <a:latin typeface="Verdana"/>
              </a:rPr>
              <a:t>generator</a:t>
            </a:r>
            <a:r>
              <a:rPr sz="3200" b="0">
                <a:solidFill>
                  <a:srgbClr val="1C1C1C"/>
                </a:solidFill>
                <a:latin typeface="Verdana"/>
              </a:rPr>
              <a:t>: interactions become queries, so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faster execution improves responsiveness.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875900" y="16675340"/>
            <a:ext cx="9688910" cy="32236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47119" indent="-447119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200" b="0">
                <a:solidFill>
                  <a:srgbClr val="1C1C1C"/>
                </a:solidFill>
                <a:latin typeface="Verdana"/>
              </a:rPr>
              <a:t>A trained </a:t>
            </a:r>
            <a:r>
              <a:rPr sz="3200" b="1">
                <a:solidFill>
                  <a:srgbClr val="111111"/>
                </a:solidFill>
                <a:latin typeface="Verdana"/>
              </a:rPr>
              <a:t>GNN</a:t>
            </a:r>
            <a:r>
              <a:rPr sz="3200" b="0">
                <a:solidFill>
                  <a:srgbClr val="1C1C1C"/>
                </a:solidFill>
                <a:latin typeface="Verdana"/>
              </a:rPr>
              <a:t> optimizes arbitrary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differentiable layout objectives on unseen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graphs; a </a:t>
            </a:r>
            <a:r>
              <a:rPr sz="3200" b="1">
                <a:solidFill>
                  <a:srgbClr val="111111"/>
                </a:solidFill>
                <a:latin typeface="Verdana"/>
              </a:rPr>
              <a:t>GAN</a:t>
            </a:r>
            <a:r>
              <a:rPr sz="3200" b="0">
                <a:solidFill>
                  <a:srgbClr val="1C1C1C"/>
                </a:solidFill>
                <a:latin typeface="Verdana"/>
              </a:rPr>
              <a:t> optimizes non-smooth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objectives from only pairwise “which is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better” comparisons.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510854" y="17854054"/>
            <a:ext cx="9689064" cy="19342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47119" indent="-447119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200" b="0">
                <a:solidFill>
                  <a:srgbClr val="1C1C1C"/>
                </a:solidFill>
                <a:latin typeface="Verdana"/>
              </a:rPr>
              <a:t>But P95 latency and throughput don't equal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fluid UX — the interface's </a:t>
            </a:r>
            <a:r>
              <a:rPr sz="3200" b="0" i="1">
                <a:solidFill>
                  <a:srgbClr val="1C1C1C"/>
                </a:solidFill>
                <a:latin typeface="Verdana"/>
              </a:rPr>
              <a:t>own</a:t>
            </a:r>
            <a:r>
              <a:rPr sz="3200" b="0">
                <a:solidFill>
                  <a:srgbClr val="1C1C1C"/>
                </a:solidFill>
                <a:latin typeface="Verdana"/>
              </a:rPr>
              <a:t> constraints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motivate new data-management problems.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74107" y="18335093"/>
            <a:ext cx="9865916" cy="25789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47119" indent="-447119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200" b="1">
                <a:solidFill>
                  <a:srgbClr val="111111"/>
                </a:solidFill>
                <a:latin typeface="Verdana"/>
              </a:rPr>
              <a:t>Perceptual latency is a hard constraint.</a:t>
            </a:r>
            <a:r>
              <a:rPr sz="3200" b="0">
                <a:solidFill>
                  <a:srgbClr val="1C1C1C"/>
                </a:solidFill>
                <a:latin typeface="Verdana"/>
              </a:rPr>
              <a:t> Delays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of even a few seconds disrupt reasoning, bias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exploration, and reduce the effectiveness of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human–AI collaboration.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74107" y="20719750"/>
            <a:ext cx="9865916" cy="32236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47119" indent="-447119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200" b="1">
                <a:solidFill>
                  <a:srgbClr val="111111"/>
                </a:solidFill>
                <a:latin typeface="Verdana"/>
              </a:rPr>
              <a:t>Foundation models are double-edged.</a:t>
            </a:r>
            <a:r>
              <a:rPr sz="3200" b="0">
                <a:solidFill>
                  <a:srgbClr val="1C1C1C"/>
                </a:solidFill>
                <a:latin typeface="Verdana"/>
              </a:rPr>
              <a:t> LLMs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and VLMs add non-determinism, error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propagation, bias, and verification cost —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reinforcing the need to keep humans</a:t>
            </a:r>
          </a:p>
          <a:p>
            <a:pPr algn="l" marL="447119" indent="0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1C1C1C"/>
                </a:solidFill>
                <a:latin typeface="Verdana"/>
              </a:rPr>
              <a:t>meaningfully in the loop.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93506" y="21758154"/>
            <a:ext cx="6954117" cy="5641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4373B"/>
                </a:solidFill>
                <a:latin typeface="Verdana"/>
              </a:rPr>
              <a:t>Queries at the Speed of Thought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157701" y="21851445"/>
            <a:ext cx="782812" cy="349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Verdana"/>
              </a:rPr>
              <a:t>Sec. 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59641" y="23665047"/>
            <a:ext cx="625880" cy="644737"/>
          </a:xfrm>
          <a:prstGeom prst="rect">
            <a:avLst/>
          </a:prstGeom>
          <a:noFill/>
        </p:spPr>
        <p:txBody>
          <a:bodyPr wrap="none" lIns="20323" rIns="20323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4373B"/>
                </a:solidFill>
                <a:latin typeface="Verdana"/>
              </a:rPr>
              <a:t>vs.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66649" y="23837048"/>
            <a:ext cx="4119261" cy="4835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120">
                <a:solidFill>
                  <a:srgbClr val="555555"/>
                </a:solidFill>
                <a:latin typeface="Verdana"/>
              </a:rPr>
              <a:t>DATA SYSTEMS TODAY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61001" y="23837048"/>
            <a:ext cx="4119414" cy="4835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120">
                <a:solidFill>
                  <a:srgbClr val="555555"/>
                </a:solidFill>
                <a:latin typeface="Verdana"/>
              </a:rPr>
              <a:t>HUMAN COGNITION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66649" y="24318384"/>
            <a:ext cx="4119261" cy="1289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Tuned for </a:t>
            </a:r>
            <a:r>
              <a:rPr sz="3200" b="1">
                <a:solidFill>
                  <a:srgbClr val="111111"/>
                </a:solidFill>
                <a:latin typeface="Verdana"/>
              </a:rPr>
              <a:t>order-of-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second</a:t>
            </a:r>
            <a:r>
              <a:rPr sz="3200" b="0">
                <a:solidFill>
                  <a:srgbClr val="1C1C1C"/>
                </a:solidFill>
                <a:latin typeface="Verdana"/>
              </a:rPr>
              <a:t> responses.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61001" y="24318384"/>
            <a:ext cx="4119414" cy="1934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Needs </a:t>
            </a:r>
            <a:r>
              <a:rPr sz="3200" b="1">
                <a:solidFill>
                  <a:srgbClr val="111111"/>
                </a:solidFill>
                <a:latin typeface="Verdana"/>
              </a:rPr>
              <a:t>order-of-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Verdana"/>
              </a:rPr>
              <a:t>millisecond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Verdana"/>
              </a:rPr>
              <a:t>feedback.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139563" y="24718333"/>
            <a:ext cx="4661621" cy="16645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402"/>
              </a:lnSpc>
              <a:spcBef>
                <a:spcPts val="0"/>
              </a:spcBef>
              <a:spcAft>
                <a:spcPts val="0"/>
              </a:spcAft>
            </a:pPr>
            <a:r>
              <a:rPr sz="12002" b="1" spc="-240">
                <a:solidFill>
                  <a:srgbClr val="34373B"/>
                </a:solidFill>
                <a:latin typeface="Verdana"/>
              </a:rPr>
              <a:t>~2%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139563" y="26184806"/>
            <a:ext cx="4661621" cy="9636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Verdana"/>
              </a:rPr>
              <a:t>of IEEE VIS papers use a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Verdana"/>
              </a:rPr>
              <a:t>scalability keyword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241105" y="26860165"/>
            <a:ext cx="5942499" cy="6130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34373B"/>
                </a:solidFill>
                <a:latin typeface="Verdana"/>
              </a:rPr>
              <a:t>Scan to Read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139563" y="27022790"/>
            <a:ext cx="4661621" cy="772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555555"/>
                </a:solidFill>
                <a:latin typeface="Verdana"/>
              </a:rPr>
              <a:t>far below sibling data-science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555555"/>
                </a:solidFill>
                <a:latin typeface="Verdana"/>
              </a:rPr>
              <a:t>domains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241105" y="8479690"/>
            <a:ext cx="2616624" cy="58655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spc="111">
                <a:solidFill>
                  <a:srgbClr val="34373B"/>
                </a:solidFill>
                <a:latin typeface="Verdana"/>
              </a:rPr>
              <a:t>DIMENSION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781517" y="8479690"/>
            <a:ext cx="2955772" cy="58655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spc="111">
                <a:solidFill>
                  <a:srgbClr val="34373B"/>
                </a:solidFill>
                <a:latin typeface="Verdana"/>
              </a:rPr>
              <a:t>LEGACY VIEW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7651199" y="8479690"/>
            <a:ext cx="4293358" cy="58655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spc="111">
                <a:solidFill>
                  <a:srgbClr val="34373B"/>
                </a:solidFill>
                <a:latin typeface="Verdana"/>
              </a:rPr>
              <a:t>AI-ERA DEMAND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241105" y="8989742"/>
            <a:ext cx="2616624" cy="1341832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1">
                <a:solidFill>
                  <a:srgbClr val="1C1C1C"/>
                </a:solidFill>
                <a:latin typeface="Verdana"/>
              </a:rPr>
              <a:t>Latency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4781517" y="8989742"/>
            <a:ext cx="2955772" cy="1341832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order-of-</a:t>
            </a:r>
          </a:p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second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7651199" y="8989742"/>
            <a:ext cx="4293358" cy="1341832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order-of-millisecond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241105" y="10156553"/>
            <a:ext cx="2616624" cy="1341832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1">
                <a:solidFill>
                  <a:srgbClr val="1C1C1C"/>
                </a:solidFill>
                <a:latin typeface="Verdana"/>
              </a:rPr>
              <a:t>Data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781517" y="10156553"/>
            <a:ext cx="2955772" cy="1341832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structured</a:t>
            </a:r>
          </a:p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tables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651199" y="10156553"/>
            <a:ext cx="4293358" cy="1341832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multimodal,</a:t>
            </a:r>
          </a:p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unstructured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241105" y="11323364"/>
            <a:ext cx="2616624" cy="74209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1">
                <a:solidFill>
                  <a:srgbClr val="1C1C1C"/>
                </a:solidFill>
                <a:latin typeface="Verdana"/>
              </a:rPr>
              <a:t>Visualization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781517" y="11323364"/>
            <a:ext cx="2955772" cy="74209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static output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651199" y="11323364"/>
            <a:ext cx="4293358" cy="74209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active, generative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241105" y="11968666"/>
            <a:ext cx="2616624" cy="74209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1">
                <a:solidFill>
                  <a:srgbClr val="1C1C1C"/>
                </a:solidFill>
                <a:latin typeface="Verdana"/>
              </a:rPr>
              <a:t>Human role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781517" y="11968666"/>
            <a:ext cx="2955772" cy="74209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operator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7651199" y="11968666"/>
            <a:ext cx="4293358" cy="74209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Verdana"/>
              </a:rPr>
              <a:t>in-the-loop overseer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487314" y="23860707"/>
            <a:ext cx="865723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Verdana"/>
              </a:rPr>
              <a:t>ms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469913" y="24127339"/>
            <a:ext cx="2625820" cy="11560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latency target vs.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order-of-second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systems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487314" y="25335661"/>
            <a:ext cx="697758" cy="671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Verdana"/>
              </a:rP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8306843" y="25602292"/>
            <a:ext cx="2793782" cy="7706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authors across 10+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institutions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487314" y="26475541"/>
            <a:ext cx="348956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Verdana"/>
              </a:rP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968198" y="26742173"/>
            <a:ext cx="3142586" cy="7706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coordinated section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perspectives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487314" y="27615422"/>
            <a:ext cx="348956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Verdana"/>
              </a:rP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7968198" y="27882053"/>
            <a:ext cx="3142586" cy="7706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surveyed research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Verdana"/>
              </a:rPr>
              <a:t>literatures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