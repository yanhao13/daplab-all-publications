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914767"/>
          </a:xfrm>
          <a:prstGeom prst="roundRect">
            <a:avLst>
              <a:gd name="adj" fmla="val 2404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7088108"/>
            <a:ext cx="12772151" cy="968357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50758" y="7088108"/>
            <a:ext cx="13855621" cy="829964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133099" y="7088108"/>
            <a:ext cx="12219166" cy="635523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778985" y="7088108"/>
            <a:ext cx="9775389" cy="447805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778985" y="11898014"/>
            <a:ext cx="9775389" cy="569529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133099" y="13775193"/>
            <a:ext cx="12219166" cy="1629675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850758" y="15719603"/>
            <a:ext cx="13855621" cy="769915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7103526"/>
            <a:ext cx="12772151" cy="1296842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778985" y="17925157"/>
            <a:ext cx="9775389" cy="11814948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78985" y="17925157"/>
            <a:ext cx="9775389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18814" y="17925157"/>
            <a:ext cx="35560" cy="118149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778985" y="29704545"/>
            <a:ext cx="9775389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778985" y="17925157"/>
            <a:ext cx="53340" cy="1181494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50758" y="23750607"/>
            <a:ext cx="13855621" cy="632134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318" y="1582314"/>
            <a:ext cx="3108722" cy="405377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66661" y="8753316"/>
            <a:ext cx="11942603" cy="4184828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661" y="8753316"/>
            <a:ext cx="124460" cy="418482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93759" y="13415148"/>
            <a:ext cx="8945841" cy="3852149"/>
          </a:xfrm>
          <a:prstGeom prst="roundRect">
            <a:avLst>
              <a:gd name="adj" fmla="val 1846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211539" y="19698712"/>
            <a:ext cx="8928061" cy="3702823"/>
          </a:xfrm>
          <a:prstGeom prst="roundRect">
            <a:avLst>
              <a:gd name="adj" fmla="val 5634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6661" y="22797015"/>
            <a:ext cx="11942603" cy="2325986"/>
          </a:xfrm>
          <a:prstGeom prst="roundRect">
            <a:avLst>
              <a:gd name="adj" fmla="val 896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211539" y="23657956"/>
            <a:ext cx="8928061" cy="2325986"/>
          </a:xfrm>
          <a:prstGeom prst="roundRect">
            <a:avLst>
              <a:gd name="adj" fmla="val 896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547873" y="25780722"/>
            <a:ext cx="11389618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547873" y="25780722"/>
            <a:ext cx="124460" cy="148101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547873" y="7502882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65532" y="8893333"/>
            <a:ext cx="13026073" cy="4877971"/>
          </a:xfrm>
          <a:prstGeom prst="roundRect">
            <a:avLst>
              <a:gd name="adj" fmla="val 72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5532" y="8898865"/>
            <a:ext cx="13026073" cy="486690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556166" y="8909724"/>
            <a:ext cx="117417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3965" y="13637398"/>
            <a:ext cx="3719770" cy="34551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3965" y="13637398"/>
            <a:ext cx="11557" cy="345515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547873" y="14189967"/>
            <a:ext cx="657027" cy="65702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265532" y="16134377"/>
            <a:ext cx="657027" cy="65702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65532" y="24165381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918836" y="25468322"/>
            <a:ext cx="1709936" cy="2134433"/>
          </a:xfrm>
          <a:prstGeom prst="roundRect">
            <a:avLst>
              <a:gd name="adj" fmla="val 8753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265532" y="25778360"/>
            <a:ext cx="1994416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094358" y="25778360"/>
            <a:ext cx="1923435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852203" y="25778360"/>
            <a:ext cx="2232223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463182" y="25778360"/>
            <a:ext cx="1828423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66661" y="27682626"/>
            <a:ext cx="3201372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28760" y="27682626"/>
            <a:ext cx="1905655" cy="1994833"/>
          </a:xfrm>
          <a:prstGeom prst="roundRect">
            <a:avLst>
              <a:gd name="adj" fmla="val 13684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95142" y="27682626"/>
            <a:ext cx="2828687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84556" y="27682626"/>
            <a:ext cx="3224708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547873" y="838688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93759" y="9323387"/>
            <a:ext cx="8945841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8547873" y="1030851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547873" y="1149990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93759" y="8616910"/>
            <a:ext cx="4394716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93759" y="9314497"/>
            <a:ext cx="43947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588475" y="8616910"/>
            <a:ext cx="2290009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88475" y="9314497"/>
            <a:ext cx="2290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878484" y="8616910"/>
            <a:ext cx="2261116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878484" y="9314497"/>
            <a:ext cx="22611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93759" y="9323387"/>
            <a:ext cx="43947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93759" y="10259615"/>
            <a:ext cx="43947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588475" y="9323387"/>
            <a:ext cx="229000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588475" y="10259615"/>
            <a:ext cx="2290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878484" y="9323387"/>
            <a:ext cx="22611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878484" y="10259615"/>
            <a:ext cx="22611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93759" y="10268505"/>
            <a:ext cx="43947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93759" y="11204733"/>
            <a:ext cx="43947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588475" y="10268505"/>
            <a:ext cx="229000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588475" y="11204733"/>
            <a:ext cx="2290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878484" y="10268505"/>
            <a:ext cx="22611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878484" y="11204733"/>
            <a:ext cx="22611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0847" y="983734"/>
            <a:ext cx="12104012" cy="60387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7D2860"/>
                </a:solidFill>
                <a:latin typeface="Arial"/>
              </a:rPr>
              <a:t>arXiv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46402" y="983734"/>
            <a:ext cx="24740176" cy="3778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73"/>
              </a:lnSpc>
              <a:spcBef>
                <a:spcPts val="0"/>
              </a:spcBef>
              <a:spcAft>
                <a:spcPts val="0"/>
              </a:spcAft>
            </a:pPr>
            <a:r>
              <a:rPr sz="7066" b="1" spc="-78">
                <a:solidFill>
                  <a:srgbClr val="7D2860"/>
                </a:solidFill>
                <a:latin typeface="Arial"/>
              </a:rPr>
              <a:t>The Next Challenge for Agentic Cybersecurity: A</a:t>
            </a:r>
          </a:p>
          <a:p>
            <a:pPr algn="ctr">
              <a:lnSpc>
                <a:spcPts val="7773"/>
              </a:lnSpc>
              <a:spcBef>
                <a:spcPts val="0"/>
              </a:spcBef>
              <a:spcAft>
                <a:spcPts val="0"/>
              </a:spcAft>
            </a:pPr>
            <a:r>
              <a:rPr sz="7066" b="1" spc="-78">
                <a:solidFill>
                  <a:srgbClr val="7D2860"/>
                </a:solidFill>
                <a:latin typeface="Arial"/>
              </a:rPr>
              <a:t>Realistic, Contamination-Free Reverse Engineering</a:t>
            </a:r>
          </a:p>
          <a:p>
            <a:pPr algn="ctr">
              <a:lnSpc>
                <a:spcPts val="7773"/>
              </a:lnSpc>
              <a:spcBef>
                <a:spcPts val="0"/>
              </a:spcBef>
              <a:spcAft>
                <a:spcPts val="0"/>
              </a:spcAft>
            </a:pPr>
            <a:r>
              <a:rPr sz="7066" b="1" spc="-78">
                <a:solidFill>
                  <a:srgbClr val="7D2860"/>
                </a:solidFill>
                <a:latin typeface="Arial"/>
              </a:rPr>
              <a:t>Benchmark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446402" y="4468197"/>
            <a:ext cx="24740176" cy="1417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Jeremy Spence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Nicholas Assaderaghi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Jinhao Zhu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Nikil Ravi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Raluca Ada Popa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Guannan Wei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733" b="0">
                <a:solidFill>
                  <a:srgbClr val="1B2331"/>
                </a:solidFill>
                <a:latin typeface="Arial"/>
              </a:rPr>
              <a:t>, Yangruibo Ding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5</a:t>
            </a:r>
            <a:r>
              <a:rPr sz="3733" b="0">
                <a:solidFill>
                  <a:srgbClr val="1B2331"/>
                </a:solidFill>
                <a:latin typeface="Arial"/>
              </a:rPr>
              <a:t>, Zhuo Zhang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446402" y="5753635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Columbia University  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UC Berkeley  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Vals AI  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Tufts University  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UCLA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661" y="7502882"/>
            <a:ext cx="12300881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265532" y="7502882"/>
            <a:ext cx="13416855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93759" y="7502882"/>
            <a:ext cx="921421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93759" y="12312788"/>
            <a:ext cx="921421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6661" y="13086218"/>
            <a:ext cx="12300881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Most consequential software ships only as binaries: 46% of exploited vulns come from vendors that release no source; 48% of 2025 zero-days hit proprietary software.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6661" y="17518300"/>
            <a:ext cx="12300881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211539" y="18339931"/>
            <a:ext cx="919590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211539" y="19698712"/>
            <a:ext cx="9195902" cy="42582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Source-code security skill does not yet transfer to binary RE — the strongest model recovers under a third, and protection halves that.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6661" y="22797015"/>
            <a:ext cx="12300881" cy="2674883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Both camps are already saturated: a 1.1K-LoC clean-room compressor and a gzip variant are each fully solved for under </a:t>
            </a:r>
            <a:r>
              <a:rPr sz="4106" b="0">
                <a:solidFill>
                  <a:srgbClr val="7D2860"/>
                </a:solidFill>
                <a:latin typeface="Arial"/>
              </a:rPr>
              <a:t>$2 in 10 minutes.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211539" y="23657956"/>
            <a:ext cx="9195902" cy="2674883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SRE-Bench: the new testbed. Contamination-free, real-world scale, 17× gap.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6661" y="25138141"/>
            <a:ext cx="1230088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Both axes are load-bearing: RevCompress (clean-room + real scale) is the only target that separates the models at 10–30× the cost.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47873" y="25780722"/>
            <a:ext cx="11731306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Protection is the one classical obstacle that transfers to agents.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211539" y="26240362"/>
            <a:ext cx="9195902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Symbol stripping &amp; protection dominate; agents lean on lexical anchors, not instruction-level reasoning.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547873" y="27352446"/>
            <a:ext cx="11731306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Optimization &amp; static linking barely register; symbol stripping dominates — costing GPT-5.6-sol 0.48 points and halving GPT-5.5.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423816" y="7516495"/>
            <a:ext cx="2852312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Evaluation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729701" y="7636232"/>
            <a:ext cx="1244023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Stage 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510016" y="8386881"/>
            <a:ext cx="10740299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Agent receives the </a:t>
            </a:r>
            <a:r>
              <a:rPr sz="4106" b="1">
                <a:solidFill>
                  <a:srgbClr val="111111"/>
                </a:solidFill>
                <a:latin typeface="Arial"/>
              </a:rPr>
              <a:t>binary</a:t>
            </a:r>
            <a:r>
              <a:rPr sz="4106" b="0">
                <a:solidFill>
                  <a:srgbClr val="1C1C1C"/>
                </a:solidFill>
                <a:latin typeface="Arial"/>
              </a:rPr>
              <a:t> + domain-specific auxiliary material.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56166" y="9756913"/>
            <a:ext cx="11420694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 binaries must be unseen in training data yet match real software's scale and anti-analysis protections — no existing RE benchmark satisfies both.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510016" y="10308510"/>
            <a:ext cx="10740299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Agent submits a </a:t>
            </a:r>
            <a:r>
              <a:rPr sz="4106" b="1">
                <a:solidFill>
                  <a:srgbClr val="111111"/>
                </a:solidFill>
                <a:latin typeface="Arial"/>
              </a:rPr>
              <a:t>solution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510016" y="11499909"/>
            <a:ext cx="10740299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Deterministic grader</a:t>
            </a:r>
            <a:r>
              <a:rPr sz="4106" b="0">
                <a:solidFill>
                  <a:srgbClr val="1C1C1C"/>
                </a:solidFill>
                <a:latin typeface="Arial"/>
              </a:rPr>
              <a:t> scores 6 tasks per instance — no LLM judge.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786570" y="13920906"/>
            <a:ext cx="12343374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SRE-Bench pipeline: 19 programs → 8 build variants × 8 protection presets → 262 binaries.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423816" y="14203580"/>
            <a:ext cx="4262443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Protection suite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824310" y="14323317"/>
            <a:ext cx="2176576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Anti-analysis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547855" y="15129252"/>
            <a:ext cx="11731325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44 in-house primitives</a:t>
            </a:r>
            <a:r>
              <a:rPr sz="4106" b="0">
                <a:solidFill>
                  <a:srgbClr val="1C1C1C"/>
                </a:solidFill>
                <a:latin typeface="Arial"/>
              </a:rPr>
              <a:t> (27K LoC); over half have no public implementation — a real anti-analysis moat.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141475" y="16147990"/>
            <a:ext cx="3541925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Development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083815" y="16267727"/>
            <a:ext cx="1244023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Stage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265514" y="17001291"/>
            <a:ext cx="1341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 experts (avg 6 yrs) author 19 programs from a private spec + matching deterministic graders.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547855" y="17580391"/>
            <a:ext cx="1173132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9 technique families:</a:t>
            </a:r>
            <a:r>
              <a:rPr sz="4106" b="0">
                <a:solidFill>
                  <a:srgbClr val="1C1C1C"/>
                </a:solidFill>
                <a:latin typeface="Arial"/>
              </a:rPr>
              <a:t> per-page authenticated encryption, measurement-keyed anti-debugging, loader-logic virtualization, anti-re-hosting.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6642" y="18635801"/>
            <a:ext cx="12300900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CTF-derived</a:t>
            </a:r>
            <a:r>
              <a:rPr sz="4106" b="0">
                <a:solidFill>
                  <a:srgbClr val="1C1C1C"/>
                </a:solidFill>
                <a:latin typeface="Arial"/>
              </a:rPr>
              <a:t> — NYU CTF, Cybench, CTF-Dojo: public solutions → contamination, entry-level.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265514" y="18696225"/>
            <a:ext cx="13416873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4 languages — C, C++, Rust, Go.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265514" y="19634954"/>
            <a:ext cx="1341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Private reference solutions score 6/6, proving every program is solvable.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6642" y="20330735"/>
            <a:ext cx="12300900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Clean-room toys</a:t>
            </a:r>
            <a:r>
              <a:rPr sz="4106" b="0">
                <a:solidFill>
                  <a:srgbClr val="1C1C1C"/>
                </a:solidFill>
                <a:latin typeface="Arial"/>
              </a:rPr>
              <a:t> — CREBench, AgentRE-Bench, CrackMeBench: 36–526 LoC, textbook protections.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547855" y="20787737"/>
            <a:ext cx="11731325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8 graded presets:</a:t>
            </a:r>
            <a:r>
              <a:rPr sz="4106" b="0">
                <a:solidFill>
                  <a:srgbClr val="1C1C1C"/>
                </a:solidFill>
                <a:latin typeface="Arial"/>
              </a:rPr>
              <a:t> harder presets collapse every model; GLM-5.2 lands at exactly 0.00 on all 8.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265514" y="21329888"/>
            <a:ext cx="1341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5 real-world domains: network protocol, game, file format, malware, firmware.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547855" y="23238876"/>
            <a:ext cx="1173132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Adversarial audit</a:t>
            </a:r>
            <a:r>
              <a:rPr sz="4106" b="0">
                <a:solidFill>
                  <a:srgbClr val="1C1C1C"/>
                </a:solidFill>
                <a:latin typeface="Arial"/>
              </a:rPr>
              <a:t> with Opus 4.8 patches every reward-hacking shortcut that earns credit without genuine RE.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141475" y="24178994"/>
            <a:ext cx="1409988" cy="7241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7D2860"/>
                </a:solidFill>
                <a:latin typeface="Arial"/>
              </a:rPr>
              <a:t>Build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083815" y="24298731"/>
            <a:ext cx="1244023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Stage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918836" y="25468322"/>
            <a:ext cx="1761234" cy="2454597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8 harden presets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265532" y="25778360"/>
            <a:ext cx="205424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Optimize O0/O3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094358" y="25778360"/>
            <a:ext cx="198113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Strip symbols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852203" y="25778360"/>
            <a:ext cx="2299189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Static/dyn link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463182" y="25778360"/>
            <a:ext cx="1883275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7D2860"/>
                </a:solidFill>
                <a:latin typeface="Arial"/>
              </a:rPr>
              <a:t>→ 262 binaries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416357" y="26157435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174202" y="26157435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240835" y="26157435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785181" y="26157435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265532" y="27978913"/>
            <a:ext cx="2688923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7D2860"/>
                </a:solidFill>
                <a:latin typeface="Arial"/>
              </a:rPr>
              <a:t>262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084635" y="28805683"/>
            <a:ext cx="3493710" cy="782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binary instances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439623" y="14007861"/>
            <a:ext cx="4285478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61.4%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439623" y="15382755"/>
            <a:ext cx="4285478" cy="599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strongest model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439623" y="15904210"/>
            <a:ext cx="4285478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only 31.5% fully solved · 17× gap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37258" y="27839035"/>
            <a:ext cx="1533318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&lt;</a:t>
            </a:r>
            <a:r>
              <a:rPr sz="6570" b="1">
                <a:solidFill>
                  <a:srgbClr val="7D2860"/>
                </a:solidFill>
                <a:latin typeface="Arial"/>
              </a:rPr>
              <a:t>$2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75159" y="28228944"/>
            <a:ext cx="2867907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36–526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03640" y="28228944"/>
            <a:ext cx="2484040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10min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93054" y="28228944"/>
            <a:ext cx="289194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10–30×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37258" y="28741231"/>
            <a:ext cx="1533318" cy="896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saturation cost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75159" y="29131140"/>
            <a:ext cx="2867907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toy LoC range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03640" y="29131140"/>
            <a:ext cx="2484040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saturation time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93054" y="29131140"/>
            <a:ext cx="289194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cost to separate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193759" y="8616910"/>
            <a:ext cx="452655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MODEL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588475" y="8616910"/>
            <a:ext cx="235870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MEAN /6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878484" y="8616910"/>
            <a:ext cx="2328949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SOLVED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1193759" y="9323387"/>
            <a:ext cx="452655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GPT-5.6-sol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588475" y="9323387"/>
            <a:ext cx="235870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3.69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878484" y="9323387"/>
            <a:ext cx="232894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31.5%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193759" y="10268505"/>
            <a:ext cx="452655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Claude-Opus-5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588475" y="10268505"/>
            <a:ext cx="235870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1.91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878484" y="10268505"/>
            <a:ext cx="232894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12.5%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652219" y="13637398"/>
            <a:ext cx="132013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320K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116430" y="13761858"/>
            <a:ext cx="1830624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lines of code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652219" y="14876025"/>
            <a:ext cx="137736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1,572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8171992" y="15000485"/>
            <a:ext cx="1773395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graded tasks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652219" y="16114652"/>
            <a:ext cx="613498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430372" y="16239112"/>
            <a:ext cx="2537263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protection primitives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