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203442"/>
          </a:xfrm>
          <a:prstGeom prst="roundRect">
            <a:avLst>
              <a:gd name="adj" fmla="val 3383"/>
            </a:avLst>
          </a:prstGeom>
          <a:solidFill>
            <a:srgbClr val="E2EFF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5376783"/>
            <a:ext cx="10804961" cy="7323137"/>
          </a:xfrm>
          <a:prstGeom prst="roundRect">
            <a:avLst>
              <a:gd name="adj" fmla="val 1133"/>
            </a:avLst>
          </a:prstGeom>
          <a:solidFill>
            <a:srgbClr val="EEF4F5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3568" y="5376783"/>
            <a:ext cx="13506133" cy="8188801"/>
          </a:xfrm>
          <a:prstGeom prst="roundRect">
            <a:avLst>
              <a:gd name="adj" fmla="val 1013"/>
            </a:avLst>
          </a:prstGeom>
          <a:solidFill>
            <a:srgbClr val="EEF4F5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816421" y="5376783"/>
            <a:ext cx="13506271" cy="5979219"/>
          </a:xfrm>
          <a:prstGeom prst="roundRect">
            <a:avLst>
              <a:gd name="adj" fmla="val 1387"/>
            </a:avLst>
          </a:prstGeom>
          <a:solidFill>
            <a:srgbClr val="EEF4F5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749412" y="5376783"/>
            <a:ext cx="10804962" cy="7815560"/>
          </a:xfrm>
          <a:prstGeom prst="roundRect">
            <a:avLst>
              <a:gd name="adj" fmla="val 1061"/>
            </a:avLst>
          </a:prstGeom>
          <a:solidFill>
            <a:srgbClr val="EEF4F5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816421" y="11687849"/>
            <a:ext cx="13506271" cy="18384103"/>
          </a:xfrm>
          <a:prstGeom prst="roundRect">
            <a:avLst>
              <a:gd name="adj" fmla="val 614"/>
            </a:avLst>
          </a:prstGeom>
          <a:solidFill>
            <a:srgbClr val="EEF4F5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1887" y="13031767"/>
            <a:ext cx="10804961" cy="17040185"/>
          </a:xfrm>
          <a:prstGeom prst="roundRect">
            <a:avLst>
              <a:gd name="adj" fmla="val 767"/>
            </a:avLst>
          </a:prstGeom>
          <a:solidFill>
            <a:srgbClr val="EEF4F5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749412" y="13524190"/>
            <a:ext cx="10804962" cy="5125502"/>
          </a:xfrm>
          <a:prstGeom prst="roundRect">
            <a:avLst>
              <a:gd name="adj" fmla="val 1618"/>
            </a:avLst>
          </a:prstGeom>
          <a:solidFill>
            <a:srgbClr val="EEF4F5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883568" y="13897431"/>
            <a:ext cx="13506133" cy="6634718"/>
          </a:xfrm>
          <a:prstGeom prst="roundRect">
            <a:avLst>
              <a:gd name="adj" fmla="val 1250"/>
            </a:avLst>
          </a:prstGeom>
          <a:solidFill>
            <a:srgbClr val="EEF4F5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749412" y="18981539"/>
            <a:ext cx="10804962" cy="6267727"/>
          </a:xfrm>
          <a:prstGeom prst="roundRect">
            <a:avLst>
              <a:gd name="adj" fmla="val 1323"/>
            </a:avLst>
          </a:prstGeom>
          <a:solidFill>
            <a:srgbClr val="E9F2F3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749412" y="18981539"/>
            <a:ext cx="53340" cy="6267727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883568" y="20863996"/>
            <a:ext cx="13506133" cy="9207956"/>
          </a:xfrm>
          <a:prstGeom prst="roundRect">
            <a:avLst>
              <a:gd name="adj" fmla="val 901"/>
            </a:avLst>
          </a:prstGeom>
          <a:solidFill>
            <a:srgbClr val="EEF4F5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749412" y="25581113"/>
            <a:ext cx="10804962" cy="4490839"/>
          </a:xfrm>
          <a:prstGeom prst="roundRect">
            <a:avLst>
              <a:gd name="adj" fmla="val 1847"/>
            </a:avLst>
          </a:prstGeom>
          <a:solidFill>
            <a:srgbClr val="EEF4F5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olumbia-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3298" y="1388967"/>
            <a:ext cx="2092901" cy="272914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039991" y="6867247"/>
            <a:ext cx="10028753" cy="21590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9991" y="6867247"/>
            <a:ext cx="124460" cy="2159020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204525" y="8527315"/>
            <a:ext cx="12730063" cy="2299871"/>
          </a:xfrm>
          <a:prstGeom prst="roundRect">
            <a:avLst>
              <a:gd name="adj" fmla="val 9796"/>
            </a:avLst>
          </a:prstGeom>
          <a:solidFill>
            <a:srgbClr val="F1F5F6"/>
          </a:solidFill>
          <a:ln w="8890">
            <a:solidFill>
              <a:srgbClr val="B2C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0137516" y="11205289"/>
            <a:ext cx="10028754" cy="1942187"/>
          </a:xfrm>
          <a:prstGeom prst="roundRect">
            <a:avLst>
              <a:gd name="adj" fmla="val 50000"/>
            </a:avLst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0137516" y="15014654"/>
            <a:ext cx="10028754" cy="3632676"/>
          </a:xfrm>
          <a:prstGeom prst="roundRect">
            <a:avLst>
              <a:gd name="adj" fmla="val 1957"/>
            </a:avLst>
          </a:prstGeom>
          <a:gradFill rotWithShape="1" flip="none">
            <a:gsLst>
              <a:gs pos="0">
                <a:srgbClr val="E2ECEE"/>
              </a:gs>
              <a:gs pos="100000">
                <a:srgbClr val="F1F5F6"/>
              </a:gs>
            </a:gsLst>
            <a:lin ang="5400000" scaled="0"/>
          </a:gradFill>
          <a:ln w="8890">
            <a:solidFill>
              <a:srgbClr val="C3D7DB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0181966" y="20472003"/>
            <a:ext cx="9984304" cy="2346821"/>
          </a:xfrm>
          <a:prstGeom prst="roundRect">
            <a:avLst>
              <a:gd name="adj" fmla="val 8889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39991" y="25839201"/>
            <a:ext cx="10028753" cy="1647984"/>
          </a:xfrm>
          <a:prstGeom prst="roundRect">
            <a:avLst>
              <a:gd name="adj" fmla="val 12659"/>
            </a:avLst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6204525" y="5764887"/>
            <a:ext cx="657026" cy="657026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49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271672" y="7127974"/>
            <a:ext cx="12729925" cy="5344140"/>
          </a:xfrm>
          <a:prstGeom prst="roundRect">
            <a:avLst>
              <a:gd name="adj" fmla="val 665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igur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1672" y="7133083"/>
            <a:ext cx="12729925" cy="5333921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26204525" y="12075953"/>
            <a:ext cx="657026" cy="657027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49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271672" y="14285535"/>
            <a:ext cx="657027" cy="657027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49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4187" y="15236904"/>
            <a:ext cx="4196218" cy="323568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4187" y="15236904"/>
            <a:ext cx="11557" cy="3235682"/>
          </a:xfrm>
          <a:prstGeom prst="rect">
            <a:avLst/>
          </a:prstGeom>
          <a:solidFill>
            <a:srgbClr val="C3D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2271672" y="21252100"/>
            <a:ext cx="657027" cy="657027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49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271672" y="22309177"/>
            <a:ext cx="1818144" cy="1514356"/>
          </a:xfrm>
          <a:prstGeom prst="roundRect">
            <a:avLst>
              <a:gd name="adj" fmla="val 9884"/>
            </a:avLst>
          </a:prstGeom>
          <a:solidFill>
            <a:srgbClr val="FFFFFF"/>
          </a:solidFill>
          <a:ln w="8890">
            <a:solidFill>
              <a:srgbClr val="A4C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4903668" y="22309177"/>
            <a:ext cx="1818144" cy="1514356"/>
          </a:xfrm>
          <a:prstGeom prst="roundRect">
            <a:avLst>
              <a:gd name="adj" fmla="val 9884"/>
            </a:avLst>
          </a:prstGeom>
          <a:solidFill>
            <a:srgbClr val="FFFFFF"/>
          </a:solidFill>
          <a:ln w="8890">
            <a:solidFill>
              <a:srgbClr val="A4C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7535663" y="22309177"/>
            <a:ext cx="1818144" cy="1514356"/>
          </a:xfrm>
          <a:prstGeom prst="roundRect">
            <a:avLst>
              <a:gd name="adj" fmla="val 9884"/>
            </a:avLst>
          </a:prstGeom>
          <a:solidFill>
            <a:srgbClr val="FFFFFF"/>
          </a:solidFill>
          <a:ln w="8890">
            <a:solidFill>
              <a:srgbClr val="A4C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0167659" y="22309177"/>
            <a:ext cx="2201942" cy="1514356"/>
          </a:xfrm>
          <a:prstGeom prst="roundRect">
            <a:avLst>
              <a:gd name="adj" fmla="val 9884"/>
            </a:avLst>
          </a:prstGeom>
          <a:solidFill>
            <a:srgbClr val="FFFFFF"/>
          </a:solidFill>
          <a:ln w="8890">
            <a:solidFill>
              <a:srgbClr val="A4C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3183453" y="22309177"/>
            <a:ext cx="1818144" cy="1514356"/>
          </a:xfrm>
          <a:prstGeom prst="roundRect">
            <a:avLst>
              <a:gd name="adj" fmla="val 9884"/>
            </a:avLst>
          </a:prstGeom>
          <a:solidFill>
            <a:srgbClr val="FFFFFF"/>
          </a:solidFill>
          <a:ln w="8890">
            <a:solidFill>
              <a:srgbClr val="A4C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6204525" y="25180230"/>
            <a:ext cx="3530858" cy="819825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Calibri"/>
              </a:rPr>
              <a:t>Disaggregation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9891791" y="25180230"/>
            <a:ext cx="3035935" cy="819825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Calibri"/>
              </a:rPr>
              <a:t>K-anonymity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084135" y="25180230"/>
            <a:ext cx="3967440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Calibri"/>
              </a:rPr>
              <a:t>Business process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204525" y="26156463"/>
            <a:ext cx="3736717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Calibri"/>
              </a:rPr>
              <a:t>Prompt injection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2845355" y="18523981"/>
            <a:ext cx="12156242" cy="1437541"/>
          </a:xfrm>
          <a:prstGeom prst="roundRect">
            <a:avLst>
              <a:gd name="adj" fmla="val 15673"/>
            </a:avLst>
          </a:prstGeom>
          <a:solidFill>
            <a:srgbClr val="F1F5F6"/>
          </a:solidFill>
          <a:ln w="8890">
            <a:solidFill>
              <a:srgbClr val="B2C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6893638" y="25969217"/>
            <a:ext cx="3107889" cy="3107889"/>
          </a:xfrm>
          <a:prstGeom prst="roundRect">
            <a:avLst>
              <a:gd name="adj" fmla="val 4958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pap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12171" y="26087751"/>
            <a:ext cx="2870823" cy="2870822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47802919" y="29219346"/>
            <a:ext cx="1289327" cy="464502"/>
          </a:xfrm>
          <a:prstGeom prst="roundRect">
            <a:avLst>
              <a:gd name="adj" fmla="val 50000"/>
            </a:avLst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0F6070"/>
                </a:solidFill>
                <a:latin typeface="Calibri"/>
              </a:rPr>
              <a:t>Paper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137516" y="7061160"/>
            <a:ext cx="5057160" cy="814407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0137516" y="7866677"/>
            <a:ext cx="505716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194676" y="7061160"/>
            <a:ext cx="4971594" cy="814407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194676" y="7866677"/>
            <a:ext cx="497159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0137516" y="7875567"/>
            <a:ext cx="5057160" cy="152213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137516" y="9388812"/>
            <a:ext cx="505716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194676" y="7875567"/>
            <a:ext cx="4971594" cy="152213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194676" y="9388812"/>
            <a:ext cx="497159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0137516" y="9397702"/>
            <a:ext cx="5057160" cy="1522135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0137516" y="10910947"/>
            <a:ext cx="505716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194676" y="9397702"/>
            <a:ext cx="4971594" cy="1522135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194676" y="10910947"/>
            <a:ext cx="497159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20847" y="983734"/>
            <a:ext cx="12104012" cy="4070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5973" b="1" spc="59">
                <a:solidFill>
                  <a:srgbClr val="0F6070"/>
                </a:solidFill>
                <a:latin typeface="Calibri"/>
              </a:rPr>
              <a:t>CIDR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446402" y="983734"/>
            <a:ext cx="24740176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66"/>
              </a:lnSpc>
              <a:spcBef>
                <a:spcPts val="0"/>
              </a:spcBef>
              <a:spcAft>
                <a:spcPts val="0"/>
              </a:spcAft>
            </a:pPr>
            <a:r>
              <a:rPr sz="5969" b="1" spc="-78">
                <a:solidFill>
                  <a:srgbClr val="0F6070"/>
                </a:solidFill>
                <a:latin typeface="Calibri"/>
              </a:rPr>
              <a:t>Please Don't Kill My Vibe: Empowering Agents with</a:t>
            </a:r>
          </a:p>
          <a:p>
            <a:pPr algn="ctr">
              <a:lnSpc>
                <a:spcPts val="6566"/>
              </a:lnSpc>
              <a:spcBef>
                <a:spcPts val="0"/>
              </a:spcBef>
              <a:spcAft>
                <a:spcPts val="0"/>
              </a:spcAft>
            </a:pPr>
            <a:r>
              <a:rPr sz="5969" b="1" spc="-78">
                <a:solidFill>
                  <a:srgbClr val="0F6070"/>
                </a:solidFill>
                <a:latin typeface="Calibri"/>
              </a:rPr>
              <a:t>Data Flow Control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446402" y="3373060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Calibri"/>
              </a:rPr>
              <a:t>Charlie Summers  ·  Haneen Mohammed  ·  Eugene Wu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446402" y="4042310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613" b="0" spc="52">
                <a:solidFill>
                  <a:srgbClr val="55617A"/>
                </a:solidFill>
                <a:latin typeface="Calibri"/>
              </a:rPr>
              <a:t>Columbia University, New York, NY, USA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9991" y="5764887"/>
            <a:ext cx="10329615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Calibri"/>
              </a:rPr>
              <a:t>Problem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271672" y="5764887"/>
            <a:ext cx="13111822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Calibri"/>
              </a:rPr>
              <a:t>Method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137516" y="5764887"/>
            <a:ext cx="10329616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Calibri"/>
              </a:rPr>
              <a:t>Key Results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204525" y="6613465"/>
            <a:ext cx="13111964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Calibri"/>
              </a:rPr>
              <a:t>Model the prompt as a template over query results, then forbid unsanitized values from flowing in: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9991" y="6867247"/>
            <a:ext cx="10329615" cy="2482873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Calibri"/>
              </a:rPr>
              <a:t>The tension between giving agents powerful tools and limiting them for safety is "Killing Our Vibes."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9991" y="9026267"/>
            <a:ext cx="10329615" cy="34785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Calibri"/>
              </a:rPr>
              <a:t>LLM agents risk policy violations, process corruption, and prompt injection — no system tracks the data flows an agent's actions produce.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0147379" y="10386853"/>
            <a:ext cx="4989685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      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no unsanitized value may reach the prompt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137516" y="11205289"/>
            <a:ext cx="10329616" cy="2233515"/>
          </a:xfrm>
          <a:prstGeom prst="rect">
            <a:avLst/>
          </a:prstGeom>
          <a:noFill/>
        </p:spPr>
        <p:txBody>
          <a:bodyPr wrap="squar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0F6070"/>
                </a:solidFill>
                <a:latin typeface="Calibri"/>
              </a:rPr>
              <a:t>≥10× less overhead than provenance capture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9991" y="13419871"/>
            <a:ext cx="10329615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Calibri"/>
              </a:rPr>
              <a:t>Motivation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137516" y="13912294"/>
            <a:ext cx="10329616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Calibri"/>
              </a:rPr>
              <a:t>Headline Numbers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181966" y="19369643"/>
            <a:ext cx="1028383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Calibri"/>
              </a:rPr>
              <a:t>Takeaway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181966" y="20472003"/>
            <a:ext cx="10283833" cy="2698844"/>
          </a:xfrm>
          <a:prstGeom prst="rect">
            <a:avLst/>
          </a:prstGeom>
          <a:noFill/>
        </p:spPr>
        <p:txBody>
          <a:bodyPr wrap="squar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Calibri"/>
              </a:rPr>
              <a:t>Safe agents need safe systems — enforce data flow policies natively, and the vibes will flow.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181966" y="22818824"/>
            <a:ext cx="10283833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Calibri"/>
              </a:rPr>
              <a:t>Data Flow Control decouples policy from agents, mitigating violations, corruption, and injection.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271672" y="23823533"/>
            <a:ext cx="13111822" cy="60874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Calibri"/>
              </a:rPr>
              <a:t>FlowGuard rewrites the query rather than capturing provenance: it inlines the </a:t>
            </a:r>
            <a:r>
              <a:rPr sz="4106" b="1">
                <a:solidFill>
                  <a:srgbClr val="111111"/>
                </a:solidFill>
                <a:latin typeface="Calibri"/>
              </a:rPr>
              <a:t>AGG</a:t>
            </a:r>
            <a:r>
              <a:rPr sz="4106" b="0">
                <a:solidFill>
                  <a:srgbClr val="1C1C1C"/>
                </a:solidFill>
                <a:latin typeface="Calibri"/>
              </a:rPr>
              <a:t> clause into the aggregation, then appends a final projection that </a:t>
            </a:r>
            <a:r>
              <a:rPr sz="4106" b="1">
                <a:solidFill>
                  <a:srgbClr val="111111"/>
                </a:solidFill>
                <a:latin typeface="Calibri"/>
              </a:rPr>
              <a:t>KILL</a:t>
            </a:r>
            <a:r>
              <a:rPr sz="4106" b="0">
                <a:solidFill>
                  <a:srgbClr val="1C1C1C"/>
                </a:solidFill>
                <a:latin typeface="Calibri"/>
              </a:rPr>
              <a:t>s the query or the violating rows. The rewrite is optimizer-agnostic — the policy is enforced by the standard form, not by a custom operator, so it composes with any existing query engine.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39991" y="25839201"/>
            <a:ext cx="10329615" cy="1895181"/>
          </a:xfrm>
          <a:prstGeom prst="rect">
            <a:avLst/>
          </a:prstGeom>
          <a:noFill/>
        </p:spPr>
        <p:txBody>
          <a:bodyPr wrap="squar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0F6070"/>
                </a:solidFill>
                <a:latin typeface="Calibri"/>
              </a:rPr>
              <a:t>A better model is never a guarantee — the missing layer is system-level enforcement.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080467" y="5778500"/>
            <a:ext cx="4365170" cy="7241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958"/>
              </a:lnSpc>
              <a:spcBef>
                <a:spcPts val="0"/>
              </a:spcBef>
              <a:spcAft>
                <a:spcPts val="0"/>
              </a:spcAft>
            </a:pPr>
            <a:r>
              <a:rPr sz="4312" b="1">
                <a:solidFill>
                  <a:srgbClr val="0F6070"/>
                </a:solidFill>
                <a:latin typeface="Calibri"/>
              </a:rPr>
              <a:t>Prompt injection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5830172" y="5898237"/>
            <a:ext cx="3197548" cy="448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074"/>
              </a:lnSpc>
              <a:spcBef>
                <a:spcPts val="0"/>
              </a:spcBef>
              <a:spcAft>
                <a:spcPts val="0"/>
              </a:spcAft>
            </a:pPr>
            <a:r>
              <a:rPr sz="2673" b="1" i="1">
                <a:solidFill>
                  <a:srgbClr val="555555"/>
                </a:solidFill>
                <a:latin typeface="Calibri"/>
              </a:rPr>
              <a:t>a data-flow problem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080467" y="12089566"/>
            <a:ext cx="5035040" cy="7241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958"/>
              </a:lnSpc>
              <a:spcBef>
                <a:spcPts val="0"/>
              </a:spcBef>
              <a:spcAft>
                <a:spcPts val="0"/>
              </a:spcAft>
            </a:pPr>
            <a:r>
              <a:rPr sz="4312" b="1">
                <a:solidFill>
                  <a:srgbClr val="0F6070"/>
                </a:solidFill>
                <a:latin typeface="Calibri"/>
              </a:rPr>
              <a:t>Four policy classes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846966" y="12209303"/>
            <a:ext cx="2150250" cy="4488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074"/>
              </a:lnSpc>
              <a:spcBef>
                <a:spcPts val="0"/>
              </a:spcBef>
              <a:spcAft>
                <a:spcPts val="0"/>
              </a:spcAft>
            </a:pPr>
            <a:r>
              <a:rPr sz="2673" b="1" i="1">
                <a:solidFill>
                  <a:srgbClr val="555555"/>
                </a:solidFill>
                <a:latin typeface="Calibri"/>
              </a:rPr>
              <a:t>one language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4827547" y="12621716"/>
            <a:ext cx="7846577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Calibri"/>
              </a:rPr>
              <a:t>The FlowGuard policy evaluation pipeline.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6204506" y="12924532"/>
            <a:ext cx="13111984" cy="2608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Calibri"/>
              </a:rPr>
              <a:t>Disaggregation</a:t>
            </a:r>
            <a:r>
              <a:rPr sz="4106" b="0">
                <a:solidFill>
                  <a:srgbClr val="1C1C1C"/>
                </a:solidFill>
                <a:latin typeface="Calibri"/>
              </a:rPr>
              <a:t> — split aggregate outputs along protected attributes so the released result never hides a too-small group.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3147615" y="14299148"/>
            <a:ext cx="6127978" cy="7241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958"/>
              </a:lnSpc>
              <a:spcBef>
                <a:spcPts val="0"/>
              </a:spcBef>
              <a:spcAft>
                <a:spcPts val="0"/>
              </a:spcAft>
            </a:pPr>
            <a:r>
              <a:rPr sz="4312" b="1">
                <a:solidFill>
                  <a:srgbClr val="0F6070"/>
                </a:solidFill>
                <a:latin typeface="Calibri"/>
              </a:rPr>
              <a:t>Policy over provenance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899403" y="14418885"/>
            <a:ext cx="3195259" cy="4488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074"/>
              </a:lnSpc>
              <a:spcBef>
                <a:spcPts val="0"/>
              </a:spcBef>
              <a:spcAft>
                <a:spcPts val="0"/>
              </a:spcAft>
            </a:pPr>
            <a:r>
              <a:rPr sz="2673" b="1" i="1">
                <a:solidFill>
                  <a:srgbClr val="555555"/>
                </a:solidFill>
                <a:latin typeface="Calibri"/>
              </a:rPr>
              <a:t>the data-flow model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39972" y="14522231"/>
            <a:ext cx="10329635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Calibri"/>
              </a:rPr>
              <a:t>The dominant safety approach is </a:t>
            </a:r>
            <a:r>
              <a:rPr sz="4106" b="1">
                <a:solidFill>
                  <a:srgbClr val="111111"/>
                </a:solidFill>
                <a:latin typeface="Calibri"/>
              </a:rPr>
              <a:t>model-centric</a:t>
            </a:r>
            <a:r>
              <a:rPr sz="4106" b="0">
                <a:solidFill>
                  <a:srgbClr val="1C1C1C"/>
                </a:solidFill>
                <a:latin typeface="Calibri"/>
              </a:rPr>
              <a:t> — data curation, fine-tuning, RL — and it will never be perfect.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271654" y="15134113"/>
            <a:ext cx="13111841" cy="17392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Calibri"/>
              </a:rPr>
              <a:t>Each output tuple </a:t>
            </a:r>
            <a:r>
              <a:rPr sz="4106" b="0" i="1">
                <a:solidFill>
                  <a:srgbClr val="1C1C1C"/>
                </a:solidFill>
                <a:latin typeface="Calibri"/>
              </a:rPr>
              <a:t>o</a:t>
            </a:r>
            <a:r>
              <a:rPr sz="4106" b="0">
                <a:solidFill>
                  <a:srgbClr val="1C1C1C"/>
                </a:solidFill>
                <a:latin typeface="Calibri"/>
              </a:rPr>
              <a:t> carries a polynomial: </a:t>
            </a:r>
            <a:r>
              <a:rPr sz="4106" b="1">
                <a:solidFill>
                  <a:srgbClr val="111111"/>
                </a:solidFill>
                <a:latin typeface="Calibri"/>
              </a:rPr>
              <a:t>+</a:t>
            </a:r>
            <a:r>
              <a:rPr sz="4106" b="0">
                <a:solidFill>
                  <a:srgbClr val="1C1C1C"/>
                </a:solidFill>
                <a:latin typeface="Calibri"/>
              </a:rPr>
              <a:t> = aggregation, </a:t>
            </a:r>
            <a:r>
              <a:rPr sz="4106" b="1">
                <a:solidFill>
                  <a:srgbClr val="111111"/>
                </a:solidFill>
                <a:latin typeface="Calibri"/>
              </a:rPr>
              <a:t>×</a:t>
            </a:r>
            <a:r>
              <a:rPr sz="4106" b="0">
                <a:solidFill>
                  <a:srgbClr val="1C1C1C"/>
                </a:solidFill>
                <a:latin typeface="Calibri"/>
              </a:rPr>
              <a:t> = join.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6204506" y="15375671"/>
            <a:ext cx="13111984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Calibri"/>
              </a:rPr>
              <a:t>K-anonymity</a:t>
            </a:r>
            <a:r>
              <a:rPr sz="4106" b="0">
                <a:solidFill>
                  <a:srgbClr val="1C1C1C"/>
                </a:solidFill>
                <a:latin typeface="Calibri"/>
              </a:rPr>
              <a:t> — require ≥ k constituent rows in every public output; drop the result when the threshold is not met.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271654" y="16829047"/>
            <a:ext cx="13111841" cy="17392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Calibri"/>
              </a:rPr>
              <a:t>Standard form (expanded monomials) keeps the policy's meaning optimizer-independent.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39972" y="16973371"/>
            <a:ext cx="10329635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Calibri"/>
              </a:rPr>
              <a:t>Data flow control should be enforced </a:t>
            </a:r>
            <a:r>
              <a:rPr sz="4106" b="1">
                <a:solidFill>
                  <a:srgbClr val="111111"/>
                </a:solidFill>
                <a:latin typeface="Calibri"/>
              </a:rPr>
              <a:t>natively by the system</a:t>
            </a:r>
            <a:r>
              <a:rPr sz="4106" b="0">
                <a:solidFill>
                  <a:srgbClr val="1C1C1C"/>
                </a:solidFill>
                <a:latin typeface="Calibri"/>
              </a:rPr>
              <a:t>, just as validation and access control moved into the DBMS.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6204506" y="17826811"/>
            <a:ext cx="13111984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Calibri"/>
              </a:rPr>
              <a:t>Business process</a:t>
            </a:r>
            <a:r>
              <a:rPr sz="4106" b="0">
                <a:solidFill>
                  <a:srgbClr val="1C1C1C"/>
                </a:solidFill>
                <a:latin typeface="Calibri"/>
              </a:rPr>
              <a:t> — model valid update sequences as an acyclic FSM (Created → Verified → Settled); kill any disallowed transition.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39972" y="19424511"/>
            <a:ext cx="10329635" cy="4348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Calibri"/>
              </a:rPr>
              <a:t>Errors become visible once you track the data flow an action produces: policy violations, process corruption, prompt injection — three risks no agent system can fully eliminate.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6204506" y="20277951"/>
            <a:ext cx="13111984" cy="2608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Calibri"/>
              </a:rPr>
              <a:t>Prompt injection</a:t>
            </a:r>
            <a:r>
              <a:rPr sz="4106" b="0">
                <a:solidFill>
                  <a:srgbClr val="1C1C1C"/>
                </a:solidFill>
                <a:latin typeface="Calibri"/>
              </a:rPr>
              <a:t> (card 3) — bind the LLM prompt to the policy; unsanitized values are forbidden from flowing in.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147615" y="21265713"/>
            <a:ext cx="5316180" cy="7241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958"/>
              </a:lnSpc>
              <a:spcBef>
                <a:spcPts val="0"/>
              </a:spcBef>
              <a:spcAft>
                <a:spcPts val="0"/>
              </a:spcAft>
            </a:pPr>
            <a:r>
              <a:rPr sz="4312" b="1">
                <a:solidFill>
                  <a:srgbClr val="0F6070"/>
                </a:solidFill>
                <a:latin typeface="Calibri"/>
              </a:rPr>
              <a:t>Enforce by rewriting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434901" y="21385450"/>
            <a:ext cx="3673696" cy="4488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074"/>
              </a:lnSpc>
              <a:spcBef>
                <a:spcPts val="0"/>
              </a:spcBef>
              <a:spcAft>
                <a:spcPts val="0"/>
              </a:spcAft>
            </a:pPr>
            <a:r>
              <a:rPr sz="2673" b="1" i="1">
                <a:solidFill>
                  <a:srgbClr val="555555"/>
                </a:solidFill>
                <a:latin typeface="Calibri"/>
              </a:rPr>
              <a:t>no provenance capture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271672" y="22309177"/>
            <a:ext cx="1872688" cy="1741509"/>
          </a:xfrm>
          <a:prstGeom prst="rect">
            <a:avLst/>
          </a:prstGeom>
          <a:noFill/>
        </p:spPr>
        <p:txBody>
          <a:bodyPr wrap="square" lIns="85533" rIns="85533" tIns="128300" bIns="128300">
            <a:spAutoFit/>
          </a:bodyPr>
          <a:lstStyle/>
          <a:p>
            <a:pPr algn="ctr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1">
                <a:solidFill>
                  <a:srgbClr val="0F6070"/>
                </a:solidFill>
                <a:latin typeface="Calibri"/>
              </a:rPr>
              <a:t>Parse policy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903668" y="22309177"/>
            <a:ext cx="1872688" cy="1741509"/>
          </a:xfrm>
          <a:prstGeom prst="rect">
            <a:avLst/>
          </a:prstGeom>
          <a:noFill/>
        </p:spPr>
        <p:txBody>
          <a:bodyPr wrap="square" lIns="85533" rIns="85533" tIns="128300" bIns="128300">
            <a:spAutoFit/>
          </a:bodyPr>
          <a:lstStyle/>
          <a:p>
            <a:pPr algn="ctr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1">
                <a:solidFill>
                  <a:srgbClr val="0F6070"/>
                </a:solidFill>
                <a:latin typeface="Calibri"/>
              </a:rPr>
              <a:t>Rewrite query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7535663" y="22309177"/>
            <a:ext cx="1872688" cy="1741509"/>
          </a:xfrm>
          <a:prstGeom prst="rect">
            <a:avLst/>
          </a:prstGeom>
          <a:noFill/>
        </p:spPr>
        <p:txBody>
          <a:bodyPr wrap="square" lIns="85533" rIns="85533" tIns="128300" bIns="128300">
            <a:spAutoFit/>
          </a:bodyPr>
          <a:lstStyle/>
          <a:p>
            <a:pPr algn="ctr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1">
                <a:solidFill>
                  <a:srgbClr val="0F6070"/>
                </a:solidFill>
                <a:latin typeface="Calibri"/>
              </a:rPr>
              <a:t>Inline AGG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0167659" y="22309177"/>
            <a:ext cx="2268000" cy="1741509"/>
          </a:xfrm>
          <a:prstGeom prst="rect">
            <a:avLst/>
          </a:prstGeom>
          <a:noFill/>
        </p:spPr>
        <p:txBody>
          <a:bodyPr wrap="square" lIns="85533" rIns="85533" tIns="128300" bIns="128300">
            <a:spAutoFit/>
          </a:bodyPr>
          <a:lstStyle/>
          <a:p>
            <a:pPr algn="ctr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1">
                <a:solidFill>
                  <a:srgbClr val="0F6070"/>
                </a:solidFill>
                <a:latin typeface="Calibri"/>
              </a:rPr>
              <a:t>Check constraint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3183453" y="22309177"/>
            <a:ext cx="1872688" cy="1741509"/>
          </a:xfrm>
          <a:prstGeom prst="rect">
            <a:avLst/>
          </a:prstGeom>
          <a:noFill/>
        </p:spPr>
        <p:txBody>
          <a:bodyPr wrap="square" lIns="85533" rIns="85533" tIns="128300" bIns="128300">
            <a:spAutoFit/>
          </a:bodyPr>
          <a:lstStyle/>
          <a:p>
            <a:pPr algn="ctr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1">
                <a:solidFill>
                  <a:srgbClr val="0F6070"/>
                </a:solidFill>
                <a:latin typeface="Calibri"/>
              </a:rPr>
              <a:t>KILL on fail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4246225" y="22688252"/>
            <a:ext cx="516065" cy="8696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0F6070"/>
                </a:solidFill>
                <a:latin typeface="Calibri"/>
              </a:rPr>
              <a:t>→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6878220" y="22688252"/>
            <a:ext cx="516066" cy="8696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0F6070"/>
                </a:solidFill>
                <a:latin typeface="Calibri"/>
              </a:rPr>
              <a:t>→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9510216" y="22688252"/>
            <a:ext cx="516066" cy="8696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0F6070"/>
                </a:solidFill>
                <a:latin typeface="Calibri"/>
              </a:rPr>
              <a:t>→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2526009" y="22688252"/>
            <a:ext cx="516066" cy="8696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0F6070"/>
                </a:solidFill>
                <a:latin typeface="Calibri"/>
              </a:rPr>
              <a:t>→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6204506" y="22729090"/>
            <a:ext cx="13111984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Calibri"/>
              </a:rPr>
              <a:t>Provenance-free</a:t>
            </a:r>
            <a:r>
              <a:rPr sz="4106" b="0">
                <a:solidFill>
                  <a:srgbClr val="1C1C1C"/>
                </a:solidFill>
                <a:latin typeface="Calibri"/>
              </a:rPr>
              <a:t> — FlowGuard enforces via query rewrite, no runtime lineage capture, so it adds ~0 overhead on TPC-H.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39972" y="23388062"/>
            <a:ext cx="10329635" cy="2608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Calibri"/>
              </a:rPr>
              <a:t>The gap is not a better model but a missing layer: </a:t>
            </a:r>
            <a:r>
              <a:rPr sz="4106" b="1">
                <a:solidFill>
                  <a:srgbClr val="111111"/>
                </a:solidFill>
                <a:latin typeface="Calibri"/>
              </a:rPr>
              <a:t>data-flow control</a:t>
            </a:r>
            <a:r>
              <a:rPr sz="4106" b="0">
                <a:solidFill>
                  <a:srgbClr val="1C1C1C"/>
                </a:solidFill>
                <a:latin typeface="Calibri"/>
              </a:rPr>
              <a:t> as a systems primitive.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39991" y="27617479"/>
            <a:ext cx="1065467" cy="17993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2320"/>
              </a:lnSpc>
              <a:spcBef>
                <a:spcPts val="0"/>
              </a:spcBef>
              <a:spcAft>
                <a:spcPts val="0"/>
              </a:spcAft>
            </a:pPr>
            <a:r>
              <a:rPr sz="12320" b="1">
                <a:solidFill>
                  <a:srgbClr val="0F6070"/>
                </a:solidFill>
                <a:latin typeface="Calibri"/>
              </a:rPr>
              <a:t>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282924" y="28470919"/>
            <a:ext cx="7440676" cy="7825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359"/>
              </a:lnSpc>
              <a:spcBef>
                <a:spcPts val="0"/>
              </a:spcBef>
              <a:spcAft>
                <a:spcPts val="0"/>
              </a:spcAft>
            </a:pPr>
            <a:r>
              <a:rPr sz="3696" b="0">
                <a:solidFill>
                  <a:srgbClr val="555555"/>
                </a:solidFill>
                <a:latin typeface="Calibri"/>
              </a:rPr>
              <a:t>risk types any agent system can leak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0383380" y="15236904"/>
            <a:ext cx="4910137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0F6070"/>
                </a:solidFill>
                <a:latin typeface="Calibri"/>
              </a:rPr>
              <a:t>≈0%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0383380" y="16611798"/>
            <a:ext cx="4910137" cy="119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Calibri"/>
              </a:rPr>
              <a:t>overhead on most queries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0383380" y="17654706"/>
            <a:ext cx="4910137" cy="9405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Calibri"/>
              </a:rPr>
              <a:t>sometimes faster than no policy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7790556" y="19521189"/>
            <a:ext cx="2333814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join, then aggregate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0137516" y="27577613"/>
            <a:ext cx="6422852" cy="572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0F6070"/>
                </a:solidFill>
                <a:latin typeface="Calibri"/>
              </a:rPr>
              <a:t>Scan to Read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0137516" y="7061160"/>
            <a:ext cx="5208874" cy="936568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Calibri"/>
              </a:rPr>
              <a:t>Method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5194676" y="7061160"/>
            <a:ext cx="5120741" cy="936568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Calibri"/>
              </a:rPr>
              <a:t>Metric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0137516" y="7875567"/>
            <a:ext cx="5208874" cy="1750455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Calibri"/>
              </a:rPr>
              <a:t>GProM / SmokedDuck (capture)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5194676" y="7875567"/>
            <a:ext cx="5120741" cy="1750455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Calibri"/>
              </a:rPr>
              <a:t>orders-of-magnitude overhead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0137516" y="9397702"/>
            <a:ext cx="5208874" cy="1750455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Calibri"/>
              </a:rPr>
              <a:t>FlowGuard (rewrite)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194676" y="9397702"/>
            <a:ext cx="5120741" cy="1750455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Calibri"/>
              </a:rPr>
              <a:t>≈0 overhead, sometimes faster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202441" y="15236904"/>
            <a:ext cx="360115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Calibri"/>
              </a:rPr>
              <a:t>4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6734591" y="15361364"/>
            <a:ext cx="3281388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Calibri"/>
              </a:rPr>
              <a:t>policy classes in one language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6202441" y="16985039"/>
            <a:ext cx="1440033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Calibri"/>
              </a:rPr>
              <a:t>≥10×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7783055" y="17109499"/>
            <a:ext cx="2201470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Calibri"/>
              </a:rPr>
              <a:t>less overhead vs capture</a:t>
            </a:r>
          </a:p>
        </p:txBody>
      </p:sp>
      <p:pic>
        <p:nvPicPr>
          <p:cNvPr id="121" name="Picture 120" descr="e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76013" y="18609270"/>
            <a:ext cx="8294926" cy="800100"/>
          </a:xfrm>
          <a:prstGeom prst="rect">
            <a:avLst/>
          </a:prstGeom>
        </p:spPr>
      </p:pic>
      <p:pic>
        <p:nvPicPr>
          <p:cNvPr id="122" name="Picture 121" descr="eq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13981" y="8612604"/>
            <a:ext cx="10311011" cy="16624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