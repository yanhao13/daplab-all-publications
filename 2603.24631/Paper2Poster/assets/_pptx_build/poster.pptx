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2793920" cy="302666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5904" y="545910"/>
            <a:ext cx="41702113" cy="5361499"/>
          </a:xfrm>
          <a:prstGeom prst="roundRect">
            <a:avLst>
              <a:gd name="adj" fmla="val 2843"/>
            </a:avLst>
          </a:prstGeom>
          <a:solidFill>
            <a:srgbClr val="E9ECF3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5904" y="6313605"/>
            <a:ext cx="9714096" cy="6959355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717078" y="6313605"/>
            <a:ext cx="10663366" cy="6937333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837523" y="6313605"/>
            <a:ext cx="10663366" cy="5728266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957966" y="6313605"/>
            <a:ext cx="9290052" cy="9145824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837523" y="12397330"/>
            <a:ext cx="10663366" cy="11474536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17078" y="13606398"/>
            <a:ext cx="10663366" cy="5558794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904" y="13628419"/>
            <a:ext cx="9714096" cy="6707451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57966" y="15814888"/>
            <a:ext cx="9290052" cy="9927862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717078" y="19520650"/>
            <a:ext cx="10663366" cy="10196133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5904" y="20691330"/>
            <a:ext cx="9714096" cy="9025453"/>
          </a:xfrm>
          <a:prstGeom prst="rect">
            <a:avLst/>
          </a:prstGeom>
          <a:solidFill>
            <a:srgbClr val="EEF0F4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5904" y="20691330"/>
            <a:ext cx="9714096" cy="38107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221893" y="20691330"/>
            <a:ext cx="38107" cy="9025453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5904" y="29678676"/>
            <a:ext cx="9714096" cy="38107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5904" y="20691330"/>
            <a:ext cx="57160" cy="9025453"/>
          </a:xfrm>
          <a:prstGeom prst="rect">
            <a:avLst/>
          </a:prstGeom>
          <a:solidFill>
            <a:srgbClr val="3341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837523" y="24227326"/>
            <a:ext cx="10663366" cy="5489457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007" y="10340904"/>
            <a:ext cx="8977891" cy="2595789"/>
          </a:xfrm>
          <a:prstGeom prst="roundRect">
            <a:avLst>
              <a:gd name="adj" fmla="val 5480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007" y="10340904"/>
            <a:ext cx="95267" cy="2595789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205624" y="10390004"/>
            <a:ext cx="9927162" cy="1283761"/>
          </a:xfrm>
          <a:prstGeom prst="roundRect">
            <a:avLst>
              <a:gd name="adj" fmla="val 12665"/>
            </a:avLst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3326070" y="11425881"/>
            <a:ext cx="8553845" cy="1512599"/>
          </a:xfrm>
          <a:prstGeom prst="roundRect">
            <a:avLst>
              <a:gd name="adj" fmla="val 50000"/>
            </a:avLst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326070" y="13157350"/>
            <a:ext cx="8553845" cy="174709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326070" y="13157350"/>
            <a:ext cx="8553845" cy="12384"/>
          </a:xfrm>
          <a:prstGeom prst="rect">
            <a:avLst/>
          </a:prstGeom>
          <a:solidFill>
            <a:srgbClr val="B8BD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085181" y="17223631"/>
            <a:ext cx="9927161" cy="1543994"/>
          </a:xfrm>
          <a:prstGeom prst="roundRect">
            <a:avLst>
              <a:gd name="adj" fmla="val 11372"/>
            </a:avLst>
          </a:prstGeom>
          <a:solidFill>
            <a:srgbClr val="F3F4F5"/>
          </a:solidFill>
          <a:ln w="9526">
            <a:solidFill>
              <a:srgbClr val="BD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3326070" y="17363792"/>
            <a:ext cx="8553845" cy="8010853"/>
          </a:xfrm>
          <a:prstGeom prst="roundRect">
            <a:avLst>
              <a:gd name="adj" fmla="val 951"/>
            </a:avLst>
          </a:prstGeom>
          <a:gradFill rotWithShape="1" flip="none">
            <a:gsLst>
              <a:gs pos="0">
                <a:srgbClr val="E7E8EC"/>
              </a:gs>
              <a:gs pos="100000">
                <a:srgbClr val="F3F4F5"/>
              </a:gs>
            </a:gsLst>
            <a:lin ang="5400000" scaled="0"/>
          </a:gradFill>
          <a:ln w="9526">
            <a:solidFill>
              <a:srgbClr val="CCCFD7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007" y="18316345"/>
            <a:ext cx="8977891" cy="168192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007" y="18316345"/>
            <a:ext cx="95267" cy="1681922"/>
          </a:xfrm>
          <a:prstGeom prst="rect">
            <a:avLst/>
          </a:prstGeom>
          <a:solidFill>
            <a:srgbClr val="3341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205624" y="22326829"/>
            <a:ext cx="9927162" cy="11537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205624" y="22326829"/>
            <a:ext cx="95267" cy="1153718"/>
          </a:xfrm>
          <a:prstGeom prst="rect">
            <a:avLst/>
          </a:prstGeom>
          <a:solidFill>
            <a:srgbClr val="3341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33052" y="27562750"/>
            <a:ext cx="8958846" cy="1828331"/>
          </a:xfrm>
          <a:prstGeom prst="roundRect">
            <a:avLst>
              <a:gd name="adj" fmla="val 8892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ws-ai-la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9968" y="1366677"/>
            <a:ext cx="2950178" cy="1771113"/>
          </a:xfrm>
          <a:prstGeom prst="rect">
            <a:avLst/>
          </a:prstGeom>
        </p:spPr>
      </p:pic>
      <p:pic>
        <p:nvPicPr>
          <p:cNvPr id="32" name="Picture 31" descr="monash-univer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93158" y="3315487"/>
            <a:ext cx="5943949" cy="1771196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22205624" y="6681712"/>
            <a:ext cx="511834" cy="511837"/>
          </a:xfrm>
          <a:prstGeom prst="roundRect">
            <a:avLst>
              <a:gd name="adj" fmla="val 50000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88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15562" y="8065608"/>
            <a:ext cx="10266398" cy="3052724"/>
          </a:xfrm>
          <a:prstGeom prst="roundRect">
            <a:avLst>
              <a:gd name="adj" fmla="val 124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page2_figur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5717" y="8065608"/>
            <a:ext cx="10266088" cy="3052724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1293566" y="10462763"/>
            <a:ext cx="872197" cy="483121"/>
          </a:xfrm>
          <a:prstGeom prst="roundRect">
            <a:avLst>
              <a:gd name="adj" fmla="val 14723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240" b="1">
                <a:solidFill>
                  <a:srgbClr val="FFFFFF"/>
                </a:solidFill>
                <a:latin typeface="Trebuchet MS"/>
              </a:rPr>
              <a:t>GAP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205624" y="12765437"/>
            <a:ext cx="511834" cy="511837"/>
          </a:xfrm>
          <a:prstGeom prst="roundRect">
            <a:avLst>
              <a:gd name="adj" fmla="val 50000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88" b="1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085181" y="13974504"/>
            <a:ext cx="511832" cy="511837"/>
          </a:xfrm>
          <a:prstGeom prst="roundRect">
            <a:avLst>
              <a:gd name="adj" fmla="val 50000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88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2205624" y="15336081"/>
            <a:ext cx="3718521" cy="621496"/>
          </a:xfrm>
          <a:prstGeom prst="roundRect">
            <a:avLst>
              <a:gd name="adj" fmla="val 50000"/>
            </a:avLst>
          </a:prstGeom>
          <a:solidFill>
            <a:srgbClr val="EA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720" b="1">
                <a:solidFill>
                  <a:srgbClr val="33415E"/>
                </a:solidFill>
                <a:latin typeface="Trebuchet MS"/>
              </a:rPr>
              <a:t>Coherence Collapse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046001" y="15336081"/>
            <a:ext cx="3768513" cy="621496"/>
          </a:xfrm>
          <a:prstGeom prst="roundRect">
            <a:avLst>
              <a:gd name="adj" fmla="val 50000"/>
            </a:avLst>
          </a:prstGeom>
          <a:solidFill>
            <a:srgbClr val="EA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720" b="1">
                <a:solidFill>
                  <a:srgbClr val="33415E"/>
                </a:solidFill>
                <a:latin typeface="Trebuchet MS"/>
              </a:rPr>
              <a:t>Confused Thrashing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205624" y="16079436"/>
            <a:ext cx="4384646" cy="621495"/>
          </a:xfrm>
          <a:prstGeom prst="roundRect">
            <a:avLst>
              <a:gd name="adj" fmla="val 50000"/>
            </a:avLst>
          </a:prstGeom>
          <a:solidFill>
            <a:srgbClr val="EA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720" b="1">
                <a:solidFill>
                  <a:srgbClr val="33415E"/>
                </a:solidFill>
                <a:latin typeface="Trebuchet MS"/>
              </a:rPr>
              <a:t>Near-Correct Corrupted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712128" y="16079436"/>
            <a:ext cx="2940058" cy="62149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720" b="1">
                <a:solidFill>
                  <a:srgbClr val="AE2622"/>
                </a:solidFill>
                <a:latin typeface="Trebuchet MS"/>
              </a:rPr>
              <a:t>Semantic Error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2205624" y="16822791"/>
            <a:ext cx="3754379" cy="621496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720" b="1">
                <a:solidFill>
                  <a:srgbClr val="AE2622"/>
                </a:solidFill>
                <a:latin typeface="Trebuchet MS"/>
              </a:rPr>
              <a:t>Wrong Branch Point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081861" y="16822791"/>
            <a:ext cx="3057005" cy="621496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720" b="1">
                <a:solidFill>
                  <a:srgbClr val="555555"/>
                </a:solidFill>
                <a:latin typeface="Trebuchet MS"/>
              </a:rPr>
              <a:t>Mis-localization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2205624" y="17566146"/>
            <a:ext cx="4101650" cy="621495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720" b="1">
                <a:solidFill>
                  <a:srgbClr val="555555"/>
                </a:solidFill>
                <a:latin typeface="Trebuchet MS"/>
              </a:rPr>
              <a:t>Scope / Completeness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429132" y="17566146"/>
            <a:ext cx="2802728" cy="621495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720" b="1">
                <a:solidFill>
                  <a:srgbClr val="555555"/>
                </a:solidFill>
                <a:latin typeface="Trebuchet MS"/>
              </a:rPr>
              <a:t>Execution Gap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084620" y="17601856"/>
            <a:ext cx="3531938" cy="758561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8084620" y="17601856"/>
            <a:ext cx="12384" cy="7585611"/>
          </a:xfrm>
          <a:prstGeom prst="rect">
            <a:avLst/>
          </a:prstGeom>
          <a:solidFill>
            <a:srgbClr val="CCCF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1085181" y="19888757"/>
            <a:ext cx="511832" cy="511838"/>
          </a:xfrm>
          <a:prstGeom prst="roundRect">
            <a:avLst>
              <a:gd name="adj" fmla="val 50000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88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085181" y="21263577"/>
            <a:ext cx="1465416" cy="685030"/>
          </a:xfrm>
          <a:prstGeom prst="roundRect">
            <a:avLst>
              <a:gd name="adj" fmla="val 17029"/>
            </a:avLst>
          </a:prstGeom>
          <a:solidFill>
            <a:srgbClr val="FFFFFF"/>
          </a:solidFill>
          <a:ln w="9526">
            <a:solidFill>
              <a:srgbClr val="B1B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24" b="1">
                <a:solidFill>
                  <a:srgbClr val="33415E"/>
                </a:solidFill>
                <a:latin typeface="Trebuchet MS"/>
              </a:rPr>
              <a:t>Trace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3200505" y="21263577"/>
            <a:ext cx="1465566" cy="685030"/>
          </a:xfrm>
          <a:prstGeom prst="roundRect">
            <a:avLst>
              <a:gd name="adj" fmla="val 17029"/>
            </a:avLst>
          </a:prstGeom>
          <a:solidFill>
            <a:srgbClr val="FFFFFF"/>
          </a:solidFill>
          <a:ln w="9526">
            <a:solidFill>
              <a:srgbClr val="B1B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24" b="1">
                <a:solidFill>
                  <a:srgbClr val="33415E"/>
                </a:solidFill>
                <a:latin typeface="Trebuchet MS"/>
              </a:rPr>
              <a:t>Search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5315979" y="21263577"/>
            <a:ext cx="1465417" cy="685030"/>
          </a:xfrm>
          <a:prstGeom prst="roundRect">
            <a:avLst>
              <a:gd name="adj" fmla="val 17029"/>
            </a:avLst>
          </a:prstGeom>
          <a:solidFill>
            <a:srgbClr val="FFFFFF"/>
          </a:solidFill>
          <a:ln w="9526">
            <a:solidFill>
              <a:srgbClr val="B1B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24" b="1">
                <a:solidFill>
                  <a:srgbClr val="33415E"/>
                </a:solidFill>
                <a:latin typeface="Trebuchet MS"/>
              </a:rPr>
              <a:t>Read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7431304" y="21263577"/>
            <a:ext cx="1465565" cy="685030"/>
          </a:xfrm>
          <a:prstGeom prst="roundRect">
            <a:avLst>
              <a:gd name="adj" fmla="val 17029"/>
            </a:avLst>
          </a:prstGeom>
          <a:solidFill>
            <a:srgbClr val="FFFFFF"/>
          </a:solidFill>
          <a:ln w="9526">
            <a:solidFill>
              <a:srgbClr val="B1B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24" b="1">
                <a:solidFill>
                  <a:srgbClr val="33415E"/>
                </a:solidFill>
                <a:latin typeface="Trebuchet MS"/>
              </a:rPr>
              <a:t>Edit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9546776" y="21263577"/>
            <a:ext cx="1465566" cy="685030"/>
          </a:xfrm>
          <a:prstGeom prst="roundRect">
            <a:avLst>
              <a:gd name="adj" fmla="val 17029"/>
            </a:avLst>
          </a:prstGeom>
          <a:solidFill>
            <a:srgbClr val="FFFFFF"/>
          </a:solidFill>
          <a:ln w="9526">
            <a:solidFill>
              <a:srgbClr val="B1B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24" b="1">
                <a:solidFill>
                  <a:srgbClr val="33415E"/>
                </a:solidFill>
                <a:latin typeface="Trebuchet MS"/>
              </a:rPr>
              <a:t>P / 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3326070" y="10020261"/>
            <a:ext cx="8553845" cy="1181988"/>
          </a:xfrm>
          <a:prstGeom prst="rect">
            <a:avLst/>
          </a:prstGeom>
          <a:solidFill>
            <a:srgbClr val="EA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2205624" y="18725072"/>
            <a:ext cx="9927162" cy="719398"/>
          </a:xfrm>
          <a:prstGeom prst="rect">
            <a:avLst/>
          </a:prstGeom>
          <a:solidFill>
            <a:srgbClr val="EA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3326070" y="8851516"/>
            <a:ext cx="6898572" cy="515855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3326070" y="9357844"/>
            <a:ext cx="6898572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0224642" y="8851516"/>
            <a:ext cx="1655273" cy="515855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0224642" y="9357844"/>
            <a:ext cx="1655273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3326070" y="9367371"/>
            <a:ext cx="6898572" cy="65289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3326070" y="10010735"/>
            <a:ext cx="6898572" cy="12384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0224642" y="9367371"/>
            <a:ext cx="1655273" cy="65289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0224642" y="10010735"/>
            <a:ext cx="1655273" cy="12384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3326070" y="10020261"/>
            <a:ext cx="6898572" cy="1181988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3326070" y="11192722"/>
            <a:ext cx="6898572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0224642" y="10020261"/>
            <a:ext cx="1655273" cy="1181988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0224642" y="11192722"/>
            <a:ext cx="1655273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205624" y="18187641"/>
            <a:ext cx="6541631" cy="537431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2205624" y="18715545"/>
            <a:ext cx="6541631" cy="12385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8747255" y="18187641"/>
            <a:ext cx="1598880" cy="537431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8747255" y="18715545"/>
            <a:ext cx="1598880" cy="12385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0346135" y="18187641"/>
            <a:ext cx="1786651" cy="537431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0346135" y="18715545"/>
            <a:ext cx="1786651" cy="12385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2205624" y="18725072"/>
            <a:ext cx="6541631" cy="71939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2205624" y="19434944"/>
            <a:ext cx="6541631" cy="12384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8747255" y="18725072"/>
            <a:ext cx="1598880" cy="71939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8747255" y="19434944"/>
            <a:ext cx="1598880" cy="12384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0346135" y="18725072"/>
            <a:ext cx="1786651" cy="71939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0346135" y="19434944"/>
            <a:ext cx="1786651" cy="12384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2205624" y="19444470"/>
            <a:ext cx="6541631" cy="7193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2205624" y="20154343"/>
            <a:ext cx="6541631" cy="12384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8747255" y="19444470"/>
            <a:ext cx="1598880" cy="7193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8747255" y="20154343"/>
            <a:ext cx="1598880" cy="12384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0346135" y="19444470"/>
            <a:ext cx="1786651" cy="7193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0346135" y="20154343"/>
            <a:ext cx="1786651" cy="12384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2205624" y="20163869"/>
            <a:ext cx="6541631" cy="71940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2205624" y="20873744"/>
            <a:ext cx="6541631" cy="12385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8747255" y="20163869"/>
            <a:ext cx="1598880" cy="71940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8747255" y="20873744"/>
            <a:ext cx="1598880" cy="12385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0346135" y="20163869"/>
            <a:ext cx="1786651" cy="71940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0346135" y="20873744"/>
            <a:ext cx="1786651" cy="12385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2205624" y="20883271"/>
            <a:ext cx="6541631" cy="7193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22205624" y="21593143"/>
            <a:ext cx="6541631" cy="12385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28747255" y="20883271"/>
            <a:ext cx="1598880" cy="7193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8747255" y="21593143"/>
            <a:ext cx="1598880" cy="12385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0346135" y="20883271"/>
            <a:ext cx="1786651" cy="7193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0346135" y="21593143"/>
            <a:ext cx="1786651" cy="12385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22205624" y="21602670"/>
            <a:ext cx="6541631" cy="71939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22205624" y="22312542"/>
            <a:ext cx="6541631" cy="12384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28747255" y="21602670"/>
            <a:ext cx="1598880" cy="71939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28747255" y="22312542"/>
            <a:ext cx="1598880" cy="12384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0346135" y="21602670"/>
            <a:ext cx="1786651" cy="71939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30346135" y="22312542"/>
            <a:ext cx="1786651" cy="12384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25518695" y="25331644"/>
            <a:ext cx="3301019" cy="3301054"/>
          </a:xfrm>
          <a:prstGeom prst="roundRect">
            <a:avLst>
              <a:gd name="adj" fmla="val 5002"/>
            </a:avLst>
          </a:prstGeom>
          <a:solidFill>
            <a:srgbClr val="FFFFFF"/>
          </a:solidFill>
          <a:ln w="9526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6" name="Picture 105" descr="pap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45718" y="25458667"/>
            <a:ext cx="3046974" cy="3047007"/>
          </a:xfrm>
          <a:prstGeom prst="rect">
            <a:avLst/>
          </a:prstGeom>
        </p:spPr>
      </p:pic>
      <p:sp>
        <p:nvSpPr>
          <p:cNvPr id="107" name="Rounded Rectangle 106"/>
          <p:cNvSpPr/>
          <p:nvPr/>
        </p:nvSpPr>
        <p:spPr>
          <a:xfrm>
            <a:off x="26461866" y="28785059"/>
            <a:ext cx="1414382" cy="563617"/>
          </a:xfrm>
          <a:prstGeom prst="roundRect">
            <a:avLst>
              <a:gd name="adj" fmla="val 50000"/>
            </a:avLst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00" b="1">
                <a:solidFill>
                  <a:srgbClr val="33415E"/>
                </a:solidFill>
                <a:latin typeface="Trebuchet MS"/>
              </a:rPr>
              <a:t>Paper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256815" y="926812"/>
            <a:ext cx="34133450" cy="27750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8893"/>
              </a:lnSpc>
              <a:spcBef>
                <a:spcPts val="0"/>
              </a:spcBef>
              <a:spcAft>
                <a:spcPts val="0"/>
              </a:spcAft>
            </a:pPr>
            <a:r>
              <a:rPr sz="8234" b="1" spc="-88">
                <a:solidFill>
                  <a:srgbClr val="33415E"/>
                </a:solidFill>
                <a:latin typeface="Trebuchet MS"/>
              </a:rPr>
              <a:t>Coherence Collapse: Diagnosing Why Code Agents Fail After</a:t>
            </a:r>
          </a:p>
          <a:p>
            <a:pPr algn="l">
              <a:lnSpc>
                <a:spcPts val="8893"/>
              </a:lnSpc>
              <a:spcBef>
                <a:spcPts val="0"/>
              </a:spcBef>
              <a:spcAft>
                <a:spcPts val="0"/>
              </a:spcAft>
            </a:pPr>
            <a:r>
              <a:rPr sz="8234" b="1" spc="-88">
                <a:solidFill>
                  <a:srgbClr val="33415E"/>
                </a:solidFill>
                <a:latin typeface="Trebuchet MS"/>
              </a:rPr>
              <a:t>Reaching the Right Code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256815" y="3585689"/>
            <a:ext cx="34133450" cy="1594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46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1B2331"/>
                </a:solidFill>
                <a:latin typeface="Trebuchet MS"/>
              </a:rPr>
              <a:t>Myeongsoo Kim</a:t>
            </a:r>
            <a:r>
              <a:rPr sz="5881" b="0" baseline="30000">
                <a:solidFill>
                  <a:srgbClr val="1B2331"/>
                </a:solidFill>
                <a:latin typeface="Trebuchet MS"/>
              </a:rPr>
              <a:t>1</a:t>
            </a:r>
            <a:r>
              <a:rPr sz="4200" b="0">
                <a:solidFill>
                  <a:srgbClr val="1B2331"/>
                </a:solidFill>
                <a:latin typeface="Trebuchet MS"/>
              </a:rPr>
              <a:t>, Dingmin Wang</a:t>
            </a:r>
            <a:r>
              <a:rPr sz="5881" b="0" baseline="30000">
                <a:solidFill>
                  <a:srgbClr val="1B2331"/>
                </a:solidFill>
                <a:latin typeface="Trebuchet MS"/>
              </a:rPr>
              <a:t>1</a:t>
            </a:r>
            <a:r>
              <a:rPr sz="4200" b="0">
                <a:solidFill>
                  <a:srgbClr val="1B2331"/>
                </a:solidFill>
                <a:latin typeface="Trebuchet MS"/>
              </a:rPr>
              <a:t>, Siwei Cui</a:t>
            </a:r>
            <a:r>
              <a:rPr sz="5881" b="0" baseline="30000">
                <a:solidFill>
                  <a:srgbClr val="1B2331"/>
                </a:solidFill>
                <a:latin typeface="Trebuchet MS"/>
              </a:rPr>
              <a:t>1</a:t>
            </a:r>
            <a:r>
              <a:rPr sz="4200" b="0">
                <a:solidFill>
                  <a:srgbClr val="1B2331"/>
                </a:solidFill>
                <a:latin typeface="Trebuchet MS"/>
              </a:rPr>
              <a:t>, Farima Farmahinifarahani</a:t>
            </a:r>
            <a:r>
              <a:rPr sz="5881" b="0" baseline="30000">
                <a:solidFill>
                  <a:srgbClr val="1B2331"/>
                </a:solidFill>
                <a:latin typeface="Trebuchet MS"/>
              </a:rPr>
              <a:t>1</a:t>
            </a:r>
            <a:r>
              <a:rPr sz="4200" b="0">
                <a:solidFill>
                  <a:srgbClr val="1B2331"/>
                </a:solidFill>
                <a:latin typeface="Trebuchet MS"/>
              </a:rPr>
              <a:t>, Terry Yue Zhuo</a:t>
            </a:r>
            <a:r>
              <a:rPr sz="5881" b="0" baseline="30000">
                <a:solidFill>
                  <a:srgbClr val="1B2331"/>
                </a:solidFill>
                <a:latin typeface="Trebuchet MS"/>
              </a:rPr>
              <a:t>2</a:t>
            </a:r>
            <a:r>
              <a:rPr sz="4200" b="0">
                <a:solidFill>
                  <a:srgbClr val="1B2331"/>
                </a:solidFill>
                <a:latin typeface="Trebuchet MS"/>
              </a:rPr>
              <a:t>, Shweta Garg</a:t>
            </a:r>
            <a:r>
              <a:rPr sz="5881" b="0" baseline="30000">
                <a:solidFill>
                  <a:srgbClr val="1B2331"/>
                </a:solidFill>
                <a:latin typeface="Trebuchet MS"/>
              </a:rPr>
              <a:t>1</a:t>
            </a:r>
            <a:r>
              <a:rPr sz="4200" b="0">
                <a:solidFill>
                  <a:srgbClr val="1B2331"/>
                </a:solidFill>
                <a:latin typeface="Trebuchet MS"/>
              </a:rPr>
              <a:t>, Baishakhi Ray</a:t>
            </a:r>
            <a:r>
              <a:rPr sz="5881" b="0" baseline="30000">
                <a:solidFill>
                  <a:srgbClr val="1B2331"/>
                </a:solidFill>
                <a:latin typeface="Trebuchet MS"/>
              </a:rPr>
              <a:t>1</a:t>
            </a:r>
            <a:r>
              <a:rPr sz="4200" b="0">
                <a:solidFill>
                  <a:srgbClr val="1B2331"/>
                </a:solidFill>
                <a:latin typeface="Trebuchet MS"/>
              </a:rPr>
              <a:t>, Rajdeep Mukherjee</a:t>
            </a:r>
            <a:r>
              <a:rPr sz="5881" b="0" baseline="30000">
                <a:solidFill>
                  <a:srgbClr val="1B2331"/>
                </a:solidFill>
                <a:latin typeface="Trebuchet MS"/>
              </a:rPr>
              <a:t>1</a:t>
            </a:r>
            <a:r>
              <a:rPr sz="4200" b="0">
                <a:solidFill>
                  <a:srgbClr val="1B2331"/>
                </a:solidFill>
                <a:latin typeface="Trebuchet MS"/>
              </a:rPr>
              <a:t>, Varun Kumar</a:t>
            </a:r>
            <a:r>
              <a:rPr sz="5881" b="0" baseline="30000">
                <a:solidFill>
                  <a:srgbClr val="1B2331"/>
                </a:solidFill>
                <a:latin typeface="Trebuchet MS"/>
              </a:rP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256815" y="5028953"/>
            <a:ext cx="34133450" cy="5721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2430" b="0" spc="56" baseline="30000">
                <a:solidFill>
                  <a:srgbClr val="55617A"/>
                </a:solidFill>
                <a:latin typeface="Trebuchet MS"/>
              </a:rPr>
              <a:t>1</a:t>
            </a:r>
            <a:r>
              <a:rPr sz="2800" b="0" spc="56">
                <a:solidFill>
                  <a:srgbClr val="55617A"/>
                </a:solidFill>
                <a:latin typeface="Trebuchet MS"/>
              </a:rPr>
              <a:t>AWS AI Labs    </a:t>
            </a:r>
            <a:r>
              <a:rPr sz="3920" b="0" spc="56" baseline="30000">
                <a:solidFill>
                  <a:srgbClr val="55617A"/>
                </a:solidFill>
                <a:latin typeface="Trebuchet MS"/>
              </a:rPr>
              <a:t>2</a:t>
            </a:r>
            <a:r>
              <a:rPr sz="2800" b="0" spc="56">
                <a:solidFill>
                  <a:srgbClr val="55617A"/>
                </a:solidFill>
                <a:latin typeface="Trebuchet MS"/>
              </a:rPr>
              <a:t>Monash University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14007" y="6681712"/>
            <a:ext cx="9247227" cy="963682"/>
          </a:xfrm>
          <a:prstGeom prst="rect">
            <a:avLst/>
          </a:prstGeom>
          <a:noFill/>
        </p:spPr>
        <p:txBody>
          <a:bodyPr wrap="square" lIns="0" rIns="4191746" tIns="0" bIns="0">
            <a:spAutoFit/>
          </a:bodyPr>
          <a:lstStyle/>
          <a:p>
            <a:pPr algn="l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 spc="60">
                <a:solidFill>
                  <a:srgbClr val="111111"/>
                </a:solidFill>
                <a:latin typeface="Trebuchet MS"/>
              </a:rPr>
              <a:t>PROBLEM 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882085" y="6681712"/>
            <a:ext cx="10643353" cy="963682"/>
          </a:xfrm>
          <a:prstGeom prst="rect">
            <a:avLst/>
          </a:prstGeom>
          <a:noFill/>
        </p:spPr>
        <p:txBody>
          <a:bodyPr wrap="none" lIns="0" rIns="4191746" tIns="0" bIns="0">
            <a:spAutoFit/>
          </a:bodyPr>
          <a:lstStyle/>
          <a:p>
            <a:pPr algn="l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 spc="60">
                <a:solidFill>
                  <a:srgbClr val="111111"/>
                </a:solidFill>
                <a:latin typeface="Trebuchet MS"/>
              </a:rPr>
              <a:t>METHOD 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3326070" y="6681712"/>
            <a:ext cx="8810460" cy="1927365"/>
          </a:xfrm>
          <a:prstGeom prst="rect">
            <a:avLst/>
          </a:prstGeom>
          <a:noFill/>
        </p:spPr>
        <p:txBody>
          <a:bodyPr wrap="square" lIns="0" rIns="4191746" tIns="0" bIns="0">
            <a:spAutoFit/>
          </a:bodyPr>
          <a:lstStyle/>
          <a:p>
            <a:pPr algn="l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 spc="60">
                <a:solidFill>
                  <a:srgbClr val="111111"/>
                </a:solidFill>
                <a:latin typeface="Trebuchet MS"/>
              </a:rPr>
              <a:t>KEY RESULTS 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2205624" y="7342786"/>
            <a:ext cx="10224976" cy="32707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Trebuchet MS"/>
              </a:rPr>
              <a:t>The Edit-Quality bucket — </a:t>
            </a:r>
            <a:r>
              <a:rPr sz="3200" b="1">
                <a:solidFill>
                  <a:srgbClr val="111111"/>
                </a:solidFill>
                <a:latin typeface="Trebuchet MS"/>
              </a:rPr>
              <a:t>56.9%</a:t>
            </a:r>
            <a:r>
              <a:rPr sz="3200" b="0">
                <a:solidFill>
                  <a:srgbClr val="1C1C1C"/>
                </a:solidFill>
                <a:latin typeface="Trebuchet MS"/>
              </a:rPr>
              <a:t> of all SWE-Agent failures — is the dominant residual for every capable model, yet stage-level precision and recall alone cannot decompose it into the actionable, mutually-exclusive failure types below.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14007" y="7862509"/>
            <a:ext cx="9247227" cy="2616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Trebuchet MS"/>
              </a:rPr>
              <a:t>Code agents resolve </a:t>
            </a:r>
            <a:r>
              <a:rPr sz="3200" b="1">
                <a:solidFill>
                  <a:srgbClr val="111111"/>
                </a:solidFill>
                <a:latin typeface="Trebuchet MS"/>
              </a:rPr>
              <a:t>65–70%</a:t>
            </a:r>
            <a:r>
              <a:rPr sz="3200" b="0">
                <a:solidFill>
                  <a:srgbClr val="1C1C1C"/>
                </a:solidFill>
                <a:latin typeface="Trebuchet MS"/>
              </a:rPr>
              <a:t> of SWE-bench issues, but </a:t>
            </a:r>
            <a:r>
              <a:rPr sz="3200" b="1">
                <a:solidFill>
                  <a:srgbClr val="111111"/>
                </a:solidFill>
                <a:latin typeface="Trebuchet MS"/>
              </a:rPr>
              <a:t>Pass@1</a:t>
            </a:r>
            <a:r>
              <a:rPr sz="3200" b="0">
                <a:solidFill>
                  <a:srgbClr val="1C1C1C"/>
                </a:solidFill>
                <a:latin typeface="Trebuchet MS"/>
              </a:rPr>
              <a:t> cannot tell us </a:t>
            </a:r>
            <a:r>
              <a:rPr sz="3200" b="0" i="1">
                <a:solidFill>
                  <a:srgbClr val="1C1C1C"/>
                </a:solidFill>
                <a:latin typeface="Trebuchet MS"/>
              </a:rPr>
              <a:t>why</a:t>
            </a:r>
            <a:r>
              <a:rPr sz="3200" b="0">
                <a:solidFill>
                  <a:srgbClr val="1C1C1C"/>
                </a:solidFill>
                <a:latin typeface="Trebuchet MS"/>
              </a:rPr>
              <a:t> the rest fail — and capable-model failures are misdiagnosed without trajectory data.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2205624" y="10390004"/>
            <a:ext cx="10224976" cy="1476325"/>
          </a:xfrm>
          <a:prstGeom prst="rect">
            <a:avLst/>
          </a:prstGeom>
          <a:noFill/>
        </p:spPr>
        <p:txBody>
          <a:bodyPr wrap="square" lIns="264206" rIns="264206" tIns="113813" bIns="113813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33415E"/>
                </a:solidFill>
                <a:latin typeface="Trebuchet MS"/>
              </a:rPr>
              <a:t>Right location, wrong code: the failure lives inside the edit itself, not the search.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3326070" y="11425881"/>
            <a:ext cx="8810460" cy="1739488"/>
          </a:xfrm>
          <a:prstGeom prst="rect">
            <a:avLst/>
          </a:prstGeom>
          <a:noFill/>
        </p:spPr>
        <p:txBody>
          <a:bodyPr wrap="square" lIns="378426" rIns="378426" tIns="219090" bIns="219090">
            <a:spAutoFit/>
          </a:bodyPr>
          <a:lstStyle/>
          <a:p>
            <a:pPr algn="ctr">
              <a:lnSpc>
                <a:spcPts val="4234"/>
              </a:lnSpc>
              <a:spcBef>
                <a:spcPts val="0"/>
              </a:spcBef>
              <a:spcAft>
                <a:spcPts val="0"/>
              </a:spcAft>
            </a:pPr>
            <a:r>
              <a:rPr sz="3136" b="1">
                <a:solidFill>
                  <a:srgbClr val="33415E"/>
                </a:solidFill>
                <a:latin typeface="Trebuchet MS"/>
              </a:rPr>
              <a:t>Coherence Collapse = 39.7% of Edit-Quality failures — the largest theme.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3326070" y="13157350"/>
            <a:ext cx="8810460" cy="2009154"/>
          </a:xfrm>
          <a:prstGeom prst="rect">
            <a:avLst/>
          </a:prstGeom>
          <a:noFill/>
        </p:spPr>
        <p:txBody>
          <a:bodyPr wrap="square" lIns="0" rIns="0" tIns="168281" bIns="0">
            <a:spAutoFit/>
          </a:bodyPr>
          <a:lstStyle/>
          <a:p>
            <a:pPr algn="l">
              <a:lnSpc>
                <a:spcPts val="4122"/>
              </a:lnSpc>
              <a:spcBef>
                <a:spcPts val="0"/>
              </a:spcBef>
              <a:spcAft>
                <a:spcPts val="0"/>
              </a:spcAft>
            </a:pPr>
            <a:r>
              <a:rPr sz="2296" b="1" spc="137">
                <a:solidFill>
                  <a:srgbClr val="111111"/>
                </a:solidFill>
                <a:latin typeface="Trebuchet MS"/>
              </a:rPr>
              <a:t>SO WHAT → </a:t>
            </a:r>
            <a:r>
              <a:rPr sz="2944" b="0" i="1">
                <a:solidFill>
                  <a:srgbClr val="1C1C1C"/>
                </a:solidFill>
                <a:latin typeface="Trebuchet MS"/>
              </a:rPr>
              <a:t>Most failures </a:t>
            </a:r>
            <a:r>
              <a:rPr sz="2944" b="1" i="1">
                <a:solidFill>
                  <a:srgbClr val="111111"/>
                </a:solidFill>
                <a:latin typeface="Trebuchet MS"/>
              </a:rPr>
              <a:t>reach and edit the correct functions</a:t>
            </a:r>
            <a:r>
              <a:rPr sz="2944" b="0" i="1">
                <a:solidFill>
                  <a:srgbClr val="1C1C1C"/>
                </a:solidFill>
                <a:latin typeface="Trebuchet MS"/>
              </a:rPr>
              <a:t> yet emit a wrong patch — replicating on PolyBench (32.3%).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2205624" y="13426511"/>
            <a:ext cx="10224976" cy="196244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Trebuchet MS"/>
              </a:rPr>
              <a:t>All 914 Edit-Quality failures are classified by a cascading-precedence rule over three trajectory signals into these themes: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14007" y="13996525"/>
            <a:ext cx="9247227" cy="963682"/>
          </a:xfrm>
          <a:prstGeom prst="rect">
            <a:avLst/>
          </a:prstGeom>
          <a:noFill/>
        </p:spPr>
        <p:txBody>
          <a:bodyPr wrap="square" lIns="0" rIns="4191746" tIns="0" bIns="0">
            <a:spAutoFit/>
          </a:bodyPr>
          <a:lstStyle/>
          <a:p>
            <a:pPr algn="l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 spc="60">
                <a:solidFill>
                  <a:srgbClr val="111111"/>
                </a:solidFill>
                <a:latin typeface="Trebuchet MS"/>
              </a:rPr>
              <a:t>MOTIVATION 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1085181" y="14635578"/>
            <a:ext cx="10224975" cy="2616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Trebuchet MS"/>
              </a:rPr>
              <a:t>Each trace is split into </a:t>
            </a:r>
            <a:r>
              <a:rPr sz="3200" b="1">
                <a:solidFill>
                  <a:srgbClr val="111111"/>
                </a:solidFill>
                <a:latin typeface="Trebuchet MS"/>
              </a:rPr>
              <a:t>Search</a:t>
            </a:r>
            <a:r>
              <a:rPr sz="3200" b="0">
                <a:solidFill>
                  <a:srgbClr val="1C1C1C"/>
                </a:solidFill>
                <a:latin typeface="Trebuchet MS"/>
              </a:rPr>
              <a:t> (file-level), </a:t>
            </a:r>
            <a:r>
              <a:rPr sz="3200" b="1">
                <a:solidFill>
                  <a:srgbClr val="111111"/>
                </a:solidFill>
                <a:latin typeface="Trebuchet MS"/>
              </a:rPr>
              <a:t>Read</a:t>
            </a:r>
            <a:r>
              <a:rPr sz="3200" b="0">
                <a:solidFill>
                  <a:srgbClr val="1C1C1C"/>
                </a:solidFill>
                <a:latin typeface="Trebuchet MS"/>
              </a:rPr>
              <a:t> (function-level inspection), and </a:t>
            </a:r>
            <a:r>
              <a:rPr sz="3200" b="1">
                <a:solidFill>
                  <a:srgbClr val="111111"/>
                </a:solidFill>
                <a:latin typeface="Trebuchet MS"/>
              </a:rPr>
              <a:t>Edit</a:t>
            </a:r>
            <a:r>
              <a:rPr sz="3200" b="0">
                <a:solidFill>
                  <a:srgbClr val="1C1C1C"/>
                </a:solidFill>
                <a:latin typeface="Trebuchet MS"/>
              </a:rPr>
              <a:t> (function-level modification), each compared against the gold reference set of files and functions.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3326070" y="16182994"/>
            <a:ext cx="8810460" cy="9636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 spc="60">
                <a:solidFill>
                  <a:srgbClr val="111111"/>
                </a:solidFill>
                <a:latin typeface="Trebuchet MS"/>
              </a:rPr>
              <a:t>HEADLINE NUMBERS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14007" y="18316345"/>
            <a:ext cx="9247227" cy="1934210"/>
          </a:xfrm>
          <a:prstGeom prst="rect">
            <a:avLst/>
          </a:prstGeom>
          <a:noFill/>
        </p:spPr>
        <p:txBody>
          <a:bodyPr wrap="square" lIns="284530" rIns="284530" tIns="48777" bIns="48777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1">
                <a:solidFill>
                  <a:srgbClr val="1C1C1C"/>
                </a:solidFill>
                <a:latin typeface="Trebuchet MS"/>
              </a:rPr>
              <a:t>Without trajectory data, a failure that reached the right code looks identical to one that never found it.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2285755" y="18426896"/>
            <a:ext cx="7751794" cy="284725"/>
          </a:xfrm>
          <a:prstGeom prst="rect">
            <a:avLst/>
          </a:prstGeom>
          <a:noFill/>
        </p:spPr>
        <p:txBody>
          <a:bodyPr wrap="square" lIns="307293" rIns="307293" tIns="52679" bIns="52679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</a:pPr>
            <a:r>
              <a:rPr sz="3456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       </a:t>
            </a:r>
            <a:r>
              <a:rPr sz="1728" b="0" i="1">
                <a:solidFill>
                  <a:srgbClr val="555555"/>
                </a:solidFill>
                <a:latin typeface="Cambria Math"/>
              </a:rPr>
              <a:t>precision &amp; recall per stage </a:t>
            </a:r>
            <a:r>
              <a:rPr sz="1728" b="0" i="1">
                <a:solidFill>
                  <a:srgbClr val="555555"/>
                </a:solidFill>
                <a:latin typeface="Cambria Math"/>
              </a:rPr>
              <a:t>                                         </a:t>
            </a:r>
            <a:r>
              <a:rPr sz="1728" b="0" i="1">
                <a:solidFill>
                  <a:srgbClr val="555555"/>
                </a:solidFill>
                <a:latin typeface="Cambria Math"/>
              </a:rPr>
              <a:t>; </a:t>
            </a:r>
            <a:r>
              <a:rPr sz="1728" b="0" i="1">
                <a:solidFill>
                  <a:srgbClr val="555555"/>
                </a:solidFill>
                <a:latin typeface="Cambria Math"/>
              </a:rPr>
              <a:t>     </a:t>
            </a:r>
            <a:r>
              <a:rPr sz="1728" b="0" i="1">
                <a:solidFill>
                  <a:srgbClr val="555555"/>
                </a:solidFill>
                <a:latin typeface="Cambria Math"/>
              </a:rPr>
              <a:t> = agent set, </a:t>
            </a:r>
            <a:r>
              <a:rPr sz="1728" b="0" i="1">
                <a:solidFill>
                  <a:srgbClr val="555555"/>
                </a:solidFill>
                <a:latin typeface="Cambria Math"/>
              </a:rPr>
              <a:t>     </a:t>
            </a:r>
            <a:r>
              <a:rPr sz="1728" b="0" i="1">
                <a:solidFill>
                  <a:srgbClr val="555555"/>
                </a:solidFill>
                <a:latin typeface="Cambria Math"/>
              </a:rPr>
              <a:t> = gold set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33052" y="21059437"/>
            <a:ext cx="9227611" cy="963683"/>
          </a:xfrm>
          <a:prstGeom prst="rect">
            <a:avLst/>
          </a:prstGeom>
          <a:noFill/>
        </p:spPr>
        <p:txBody>
          <a:bodyPr wrap="square" lIns="0" rIns="4191746" tIns="0" bIns="0">
            <a:spAutoFit/>
          </a:bodyPr>
          <a:lstStyle/>
          <a:p>
            <a:pPr algn="l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 spc="60">
                <a:solidFill>
                  <a:srgbClr val="111111"/>
                </a:solidFill>
                <a:latin typeface="Trebuchet MS"/>
              </a:rPr>
              <a:t>TAKEAWAY 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33052" y="22240235"/>
            <a:ext cx="9227611" cy="58873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Trebuchet MS"/>
              </a:rPr>
              <a:t>For capable code agents the frontier bottleneck is no longer </a:t>
            </a:r>
            <a:r>
              <a:rPr sz="3200" b="0" i="1">
                <a:solidFill>
                  <a:srgbClr val="1C1C1C"/>
                </a:solidFill>
                <a:latin typeface="Trebuchet MS"/>
              </a:rPr>
              <a:t>finding</a:t>
            </a:r>
            <a:r>
              <a:rPr sz="3200" b="0">
                <a:solidFill>
                  <a:srgbClr val="1C1C1C"/>
                </a:solidFill>
                <a:latin typeface="Trebuchet MS"/>
              </a:rPr>
              <a:t> the right code — it is </a:t>
            </a:r>
            <a:r>
              <a:rPr sz="3200" b="1">
                <a:solidFill>
                  <a:srgbClr val="111111"/>
                </a:solidFill>
                <a:latin typeface="Trebuchet MS"/>
              </a:rPr>
              <a:t>not destroying the fix once found</a:t>
            </a:r>
            <a:r>
              <a:rPr sz="3200" b="0">
                <a:solidFill>
                  <a:srgbClr val="1C1C1C"/>
                </a:solidFill>
                <a:latin typeface="Trebuchet MS"/>
              </a:rPr>
              <a:t>. In 5 EXACT cases the agent produced a patch </a:t>
            </a:r>
            <a:r>
              <a:rPr sz="3200" b="1">
                <a:solidFill>
                  <a:srgbClr val="111111"/>
                </a:solidFill>
                <a:latin typeface="Trebuchet MS"/>
              </a:rPr>
              <a:t>bit-identical to the gold reference</a:t>
            </a:r>
            <a:r>
              <a:rPr sz="3200" b="0">
                <a:solidFill>
                  <a:srgbClr val="1C1C1C"/>
                </a:solidFill>
                <a:latin typeface="Trebuchet MS"/>
              </a:rPr>
              <a:t> mid-trajectory, then overwrote it — an edit-commit checkpoint recovers all 5. A reference-free consensus variant even lifts GPT-5 Pass@1 by a directional </a:t>
            </a:r>
            <a:r>
              <a:rPr sz="3200" b="1">
                <a:solidFill>
                  <a:srgbClr val="111111"/>
                </a:solidFill>
                <a:latin typeface="Trebuchet MS"/>
              </a:rPr>
              <a:t>+3.0 points</a:t>
            </a:r>
            <a:r>
              <a:rPr sz="3200" b="0">
                <a:solidFill>
                  <a:srgbClr val="1C1C1C"/>
                </a:solidFill>
                <a:latin typeface="Trebuchet MS"/>
              </a:rPr>
              <a:t> without any reference patch.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2205624" y="22326829"/>
            <a:ext cx="10224976" cy="1326775"/>
          </a:xfrm>
          <a:prstGeom prst="rect">
            <a:avLst/>
          </a:prstGeom>
          <a:noFill/>
        </p:spPr>
        <p:txBody>
          <a:bodyPr wrap="square" lIns="284530" rIns="284530" tIns="48777" bIns="48777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1">
                <a:solidFill>
                  <a:srgbClr val="1C1C1C"/>
                </a:solidFill>
                <a:latin typeface="Trebuchet MS"/>
              </a:rPr>
              <a:t>Second-author agreement on the 3-class split is substantial (κ=0.80, 90% raw).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1085181" y="22499873"/>
            <a:ext cx="10224975" cy="58873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Trebuchet MS"/>
              </a:rPr>
              <a:t>Each stage yields </a:t>
            </a:r>
            <a:r>
              <a:rPr sz="3200" b="1">
                <a:solidFill>
                  <a:srgbClr val="111111"/>
                </a:solidFill>
                <a:latin typeface="Trebuchet MS"/>
              </a:rPr>
              <a:t>precision</a:t>
            </a:r>
            <a:r>
              <a:rPr sz="3200" b="0">
                <a:solidFill>
                  <a:srgbClr val="1C1C1C"/>
                </a:solidFill>
                <a:latin typeface="Trebuchet MS"/>
              </a:rPr>
              <a:t> and </a:t>
            </a:r>
            <a:r>
              <a:rPr sz="3200" b="1">
                <a:solidFill>
                  <a:srgbClr val="111111"/>
                </a:solidFill>
                <a:latin typeface="Trebuchet MS"/>
              </a:rPr>
              <a:t>recall</a:t>
            </a:r>
            <a:r>
              <a:rPr sz="3200" b="0">
                <a:solidFill>
                  <a:srgbClr val="1C1C1C"/>
                </a:solidFill>
                <a:latin typeface="Trebuchet MS"/>
              </a:rPr>
              <a:t> vs. the reference patch — turning one binary Pass@1 into a six-number profile that pinpoints </a:t>
            </a:r>
            <a:r>
              <a:rPr sz="3200" b="0" i="1">
                <a:solidFill>
                  <a:srgbClr val="1C1C1C"/>
                </a:solidFill>
                <a:latin typeface="Trebuchet MS"/>
              </a:rPr>
              <a:t>which</a:t>
            </a:r>
            <a:r>
              <a:rPr sz="3200" b="0">
                <a:solidFill>
                  <a:srgbClr val="1C1C1C"/>
                </a:solidFill>
                <a:latin typeface="Trebuchet MS"/>
              </a:rPr>
              <a:t> stage broke. Applied across </a:t>
            </a:r>
            <a:r>
              <a:rPr sz="3200" b="1">
                <a:solidFill>
                  <a:srgbClr val="111111"/>
                </a:solidFill>
                <a:latin typeface="Trebuchet MS"/>
              </a:rPr>
              <a:t>3 architectures</a:t>
            </a:r>
            <a:r>
              <a:rPr sz="3200" b="0">
                <a:solidFill>
                  <a:srgbClr val="1C1C1C"/>
                </a:solidFill>
                <a:latin typeface="Trebuchet MS"/>
              </a:rPr>
              <a:t> (SWE-Agent, OpenHands, bash-only LiveSWEAgent) and </a:t>
            </a:r>
            <a:r>
              <a:rPr sz="3200" b="1">
                <a:solidFill>
                  <a:srgbClr val="111111"/>
                </a:solidFill>
                <a:latin typeface="Trebuchet MS"/>
              </a:rPr>
              <a:t>7 models</a:t>
            </a:r>
            <a:r>
              <a:rPr sz="3200" b="0">
                <a:solidFill>
                  <a:srgbClr val="1C1C1C"/>
                </a:solidFill>
                <a:latin typeface="Trebuchet MS"/>
              </a:rPr>
              <a:t> from GPT-5 to the Qwen3 family. High </a:t>
            </a:r>
            <a:r>
              <a:rPr sz="3200" b="1">
                <a:solidFill>
                  <a:srgbClr val="111111"/>
                </a:solidFill>
                <a:latin typeface="Trebuchet MS"/>
              </a:rPr>
              <a:t>recall</a:t>
            </a:r>
            <a:r>
              <a:rPr sz="3200" b="0">
                <a:solidFill>
                  <a:srgbClr val="1C1C1C"/>
                </a:solidFill>
                <a:latin typeface="Trebuchet MS"/>
              </a:rPr>
              <a:t> with low </a:t>
            </a:r>
            <a:r>
              <a:rPr sz="3200" b="1">
                <a:solidFill>
                  <a:srgbClr val="111111"/>
                </a:solidFill>
                <a:latin typeface="Trebuchet MS"/>
              </a:rPr>
              <a:t>precision</a:t>
            </a:r>
            <a:r>
              <a:rPr sz="3200" b="0">
                <a:solidFill>
                  <a:srgbClr val="1C1C1C"/>
                </a:solidFill>
                <a:latin typeface="Trebuchet MS"/>
              </a:rPr>
              <a:t> flags an agent that found the target but thrashed around it; the reverse flags an agent that never reached it.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33052" y="27562750"/>
            <a:ext cx="9227611" cy="2102580"/>
          </a:xfrm>
          <a:prstGeom prst="rect">
            <a:avLst/>
          </a:prstGeom>
          <a:noFill/>
        </p:spPr>
        <p:txBody>
          <a:bodyPr wrap="square" lIns="284530" rIns="284530" tIns="121943" bIns="121943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Trebuchet MS"/>
              </a:rPr>
              <a:t>Coherence Collapse is a distinct, recoverable failure mode — trajectory-level analysis is what makes it visible.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2887969" y="6692276"/>
            <a:ext cx="7371422" cy="564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3360" b="1">
                <a:solidFill>
                  <a:srgbClr val="33415E"/>
                </a:solidFill>
                <a:latin typeface="Trebuchet MS"/>
              </a:rPr>
              <a:t>Isolating the Edit-Quality Residual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0770331" y="6785567"/>
            <a:ext cx="1403328" cy="3497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396"/>
              </a:lnSpc>
              <a:spcBef>
                <a:spcPts val="0"/>
              </a:spcBef>
              <a:spcAft>
                <a:spcPts val="0"/>
              </a:spcAft>
            </a:pPr>
            <a:r>
              <a:rPr sz="2083" b="1" i="1">
                <a:solidFill>
                  <a:srgbClr val="555555"/>
                </a:solidFill>
                <a:latin typeface="Trebuchet MS"/>
              </a:rPr>
              <a:t>the culprit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293566" y="11108362"/>
            <a:ext cx="8563416" cy="19624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C1C"/>
                </a:solidFill>
                <a:latin typeface="Trebuchet MS"/>
              </a:rPr>
              <a:t>Outcome-only metrics collapse a trajectory into one bit — hiding the real cause of failure.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1326218" y="11234834"/>
            <a:ext cx="9728439" cy="19917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411"/>
              </a:lnSpc>
              <a:spcBef>
                <a:spcPts val="0"/>
              </a:spcBef>
              <a:spcAft>
                <a:spcPts val="0"/>
              </a:spcAft>
            </a:pPr>
            <a:r>
              <a:rPr sz="2624" b="0" i="1">
                <a:solidFill>
                  <a:srgbClr val="555555"/>
                </a:solidFill>
                <a:latin typeface="Trebuchet MS"/>
              </a:rPr>
              <a:t>TrajEval decomposes each agent execution trace into reference-patch-aligned Search (file), Read (function), and Edit (function) stages, then scores stage-wise precision and recall against the gold patch.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2887969" y="12776001"/>
            <a:ext cx="3834978" cy="564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3360" b="1">
                <a:solidFill>
                  <a:srgbClr val="33415E"/>
                </a:solidFill>
                <a:latin typeface="Trebuchet MS"/>
              </a:rPr>
              <a:t>Failure Taxonomy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9225611" y="12869292"/>
            <a:ext cx="2994390" cy="3497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396"/>
              </a:lnSpc>
              <a:spcBef>
                <a:spcPts val="0"/>
              </a:spcBef>
              <a:spcAft>
                <a:spcPts val="0"/>
              </a:spcAft>
            </a:pPr>
            <a:r>
              <a:rPr sz="2083" b="1" i="1">
                <a:solidFill>
                  <a:srgbClr val="555555"/>
                </a:solidFill>
                <a:latin typeface="Trebuchet MS"/>
              </a:rPr>
              <a:t>5 themes / 9 sub-types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1767524" y="13985068"/>
            <a:ext cx="5980354" cy="564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3360" b="1">
                <a:solidFill>
                  <a:srgbClr val="33415E"/>
                </a:solidFill>
                <a:latin typeface="Trebuchet MS"/>
              </a:rPr>
              <a:t>Three-Stage Decomposition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9364511" y="14078359"/>
            <a:ext cx="1697265" cy="3497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396"/>
              </a:lnSpc>
              <a:spcBef>
                <a:spcPts val="0"/>
              </a:spcBef>
              <a:spcAft>
                <a:spcPts val="0"/>
              </a:spcAft>
            </a:pPr>
            <a:r>
              <a:rPr sz="2083" b="1" i="1">
                <a:solidFill>
                  <a:srgbClr val="555555"/>
                </a:solidFill>
                <a:latin typeface="Trebuchet MS"/>
              </a:rPr>
              <a:t>training-free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13699" y="15182679"/>
            <a:ext cx="9247544" cy="13082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447119" indent="-447119">
              <a:lnSpc>
                <a:spcPts val="448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200" b="1">
                <a:solidFill>
                  <a:srgbClr val="111111"/>
                </a:solidFill>
                <a:latin typeface="Trebuchet MS"/>
              </a:rPr>
              <a:t>Every task ships a reference patch</a:t>
            </a:r>
            <a:r>
              <a:rPr sz="3200" b="0">
                <a:solidFill>
                  <a:srgbClr val="1C1C1C"/>
                </a:solidFill>
                <a:latin typeface="Trebuchet MS"/>
              </a:rPr>
              <a:t> — the exact files &amp; functions that must change.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13699" y="16462422"/>
            <a:ext cx="9247544" cy="196244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447119" indent="-447119">
              <a:lnSpc>
                <a:spcPts val="448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200" b="0">
                <a:solidFill>
                  <a:srgbClr val="1C1C1C"/>
                </a:solidFill>
                <a:latin typeface="Trebuchet MS"/>
              </a:rPr>
              <a:t>It turns messy tool-use logs into checkable </a:t>
            </a:r>
            <a:r>
              <a:rPr sz="3200" b="1">
                <a:solidFill>
                  <a:srgbClr val="111111"/>
                </a:solidFill>
                <a:latin typeface="Trebuchet MS"/>
              </a:rPr>
              <a:t>localization, comprehension, and modification</a:t>
            </a:r>
            <a:r>
              <a:rPr sz="3200" b="0">
                <a:solidFill>
                  <a:srgbClr val="1C1C1C"/>
                </a:solidFill>
                <a:latin typeface="Trebuchet MS"/>
              </a:rPr>
              <a:t> signals at every stage.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1767524" y="19899322"/>
            <a:ext cx="6319654" cy="564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3360" b="1">
                <a:solidFill>
                  <a:srgbClr val="33415E"/>
                </a:solidFill>
                <a:latin typeface="Trebuchet MS"/>
              </a:rPr>
              <a:t>Stage-Wise Precision &amp; Recall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9853430" y="19992613"/>
            <a:ext cx="1193679" cy="3497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396"/>
              </a:lnSpc>
              <a:spcBef>
                <a:spcPts val="0"/>
              </a:spcBef>
              <a:spcAft>
                <a:spcPts val="0"/>
              </a:spcAft>
            </a:pPr>
            <a:r>
              <a:rPr sz="2083" b="1" i="1">
                <a:solidFill>
                  <a:srgbClr val="555555"/>
                </a:solidFill>
                <a:latin typeface="Trebuchet MS"/>
              </a:rPr>
              <a:t>per trace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2672456" y="21321606"/>
            <a:ext cx="418377" cy="6541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33415E"/>
                </a:solidFill>
                <a:latin typeface="Trebuchet MS"/>
              </a:rPr>
              <a:t>→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4787929" y="21321606"/>
            <a:ext cx="418377" cy="6541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33415E"/>
                </a:solidFill>
                <a:latin typeface="Trebuchet MS"/>
              </a:rPr>
              <a:t>→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6903253" y="21321606"/>
            <a:ext cx="418377" cy="6541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33415E"/>
                </a:solidFill>
                <a:latin typeface="Trebuchet MS"/>
              </a:rPr>
              <a:t>→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9018727" y="21321606"/>
            <a:ext cx="418377" cy="6541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48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33415E"/>
                </a:solidFill>
                <a:latin typeface="Trebuchet MS"/>
              </a:rPr>
              <a:t>→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5325717" y="24595431"/>
            <a:ext cx="3797433" cy="6130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40">
                <a:solidFill>
                  <a:srgbClr val="33415E"/>
                </a:solidFill>
                <a:latin typeface="Trebuchet MS"/>
              </a:rPr>
              <a:t>SCAN TO READ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3970633" y="28455489"/>
            <a:ext cx="6373446" cy="6132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76"/>
              </a:lnSpc>
              <a:spcBef>
                <a:spcPts val="0"/>
              </a:spcBef>
              <a:spcAft>
                <a:spcPts val="0"/>
              </a:spcAft>
            </a:pPr>
            <a:r>
              <a:rPr sz="2880" b="0">
                <a:solidFill>
                  <a:srgbClr val="555555"/>
                </a:solidFill>
                <a:latin typeface="Trebuchet MS"/>
              </a:rPr>
              <a:t>agent trajectories scored end-to-end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1085181" y="28465012"/>
            <a:ext cx="2738001" cy="10921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7481"/>
              </a:lnSpc>
              <a:spcBef>
                <a:spcPts val="0"/>
              </a:spcBef>
              <a:spcAft>
                <a:spcPts val="0"/>
              </a:spcAft>
            </a:pPr>
            <a:r>
              <a:rPr sz="6394" b="1">
                <a:solidFill>
                  <a:srgbClr val="33415E"/>
                </a:solidFill>
                <a:latin typeface="Trebuchet MS"/>
              </a:rPr>
              <a:t>16,758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3589424" y="17601856"/>
            <a:ext cx="4169836" cy="33290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1402"/>
              </a:lnSpc>
              <a:spcBef>
                <a:spcPts val="0"/>
              </a:spcBef>
              <a:spcAft>
                <a:spcPts val="0"/>
              </a:spcAft>
            </a:pPr>
            <a:r>
              <a:rPr sz="12002" b="1" spc="-240">
                <a:solidFill>
                  <a:srgbClr val="33415E"/>
                </a:solidFill>
                <a:latin typeface="Trebuchet MS"/>
              </a:rPr>
              <a:t>60–69%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3589424" y="20522008"/>
            <a:ext cx="4169836" cy="38540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C1C1C"/>
                </a:solidFill>
                <a:latin typeface="Trebuchet MS"/>
              </a:rPr>
              <a:t>of capable-model failures reach &amp; edit the right code — yet ship a wrong patch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3589424" y="23873353"/>
            <a:ext cx="4169836" cy="15112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1">
                <a:solidFill>
                  <a:srgbClr val="555555"/>
                </a:solidFill>
                <a:latin typeface="Trebuchet MS"/>
              </a:rPr>
              <a:t>Failure comes after localization, not before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3326070" y="8851516"/>
            <a:ext cx="7105529" cy="593233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l">
              <a:lnSpc>
                <a:spcPts val="3125"/>
              </a:lnSpc>
              <a:spcBef>
                <a:spcPts val="0"/>
              </a:spcBef>
              <a:spcAft>
                <a:spcPts val="0"/>
              </a:spcAft>
            </a:pPr>
            <a:r>
              <a:rPr sz="2232" b="1" spc="111">
                <a:solidFill>
                  <a:srgbClr val="33415E"/>
                </a:solidFill>
                <a:latin typeface="Trebuchet MS"/>
              </a:rPr>
              <a:t>FAILURE LOCUS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0224642" y="8851516"/>
            <a:ext cx="1704931" cy="593233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ctr">
              <a:lnSpc>
                <a:spcPts val="3125"/>
              </a:lnSpc>
              <a:spcBef>
                <a:spcPts val="0"/>
              </a:spcBef>
              <a:spcAft>
                <a:spcPts val="0"/>
              </a:spcAft>
            </a:pPr>
            <a:r>
              <a:rPr sz="2232" b="1" spc="111">
                <a:solidFill>
                  <a:srgbClr val="33415E"/>
                </a:solidFill>
                <a:latin typeface="Trebuchet MS"/>
              </a:rPr>
              <a:t>SHARE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3326070" y="9367371"/>
            <a:ext cx="7105529" cy="750823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l">
              <a:lnSpc>
                <a:spcPts val="4167"/>
              </a:lnSpc>
              <a:spcBef>
                <a:spcPts val="0"/>
              </a:spcBef>
              <a:spcAft>
                <a:spcPts val="0"/>
              </a:spcAft>
            </a:pPr>
            <a:r>
              <a:rPr sz="2976" b="1">
                <a:solidFill>
                  <a:srgbClr val="1C1C1C"/>
                </a:solidFill>
                <a:latin typeface="Trebuchet MS"/>
              </a:rPr>
              <a:t>Localization (Search + Read)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0224642" y="9367371"/>
            <a:ext cx="1704931" cy="750823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ctr">
              <a:lnSpc>
                <a:spcPts val="4167"/>
              </a:lnSpc>
              <a:spcBef>
                <a:spcPts val="0"/>
              </a:spcBef>
              <a:spcAft>
                <a:spcPts val="0"/>
              </a:spcAft>
            </a:pPr>
            <a:r>
              <a:rPr sz="2976" b="0">
                <a:solidFill>
                  <a:srgbClr val="1C1C1C"/>
                </a:solidFill>
                <a:latin typeface="Trebuchet MS"/>
              </a:rPr>
              <a:t>minority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3326070" y="10020261"/>
            <a:ext cx="7105529" cy="1359286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l">
              <a:lnSpc>
                <a:spcPts val="4167"/>
              </a:lnSpc>
              <a:spcBef>
                <a:spcPts val="0"/>
              </a:spcBef>
              <a:spcAft>
                <a:spcPts val="0"/>
              </a:spcAft>
            </a:pPr>
            <a:r>
              <a:rPr sz="2976" b="1">
                <a:solidFill>
                  <a:srgbClr val="33415E"/>
                </a:solidFill>
                <a:latin typeface="Trebuchet MS"/>
              </a:rPr>
              <a:t>Edit-Quality (right code, wrong patch)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0224642" y="10020261"/>
            <a:ext cx="1704931" cy="1359286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ctr">
              <a:lnSpc>
                <a:spcPts val="4167"/>
              </a:lnSpc>
              <a:spcBef>
                <a:spcPts val="0"/>
              </a:spcBef>
              <a:spcAft>
                <a:spcPts val="0"/>
              </a:spcAft>
            </a:pPr>
            <a:r>
              <a:rPr sz="2976" b="1">
                <a:solidFill>
                  <a:srgbClr val="33415E"/>
                </a:solidFill>
                <a:latin typeface="Trebuchet MS"/>
              </a:rPr>
              <a:t>60–69%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8459715" y="17601856"/>
            <a:ext cx="1933885" cy="6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spc="-46">
                <a:solidFill>
                  <a:srgbClr val="AE2622"/>
                </a:solidFill>
                <a:latin typeface="Trebuchet MS"/>
              </a:rPr>
              <a:t>16,758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0479370" y="17754216"/>
            <a:ext cx="2072271" cy="10512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555555"/>
                </a:solidFill>
                <a:latin typeface="Trebuchet MS"/>
              </a:rPr>
              <a:t>trajectories analyzed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2205624" y="18187641"/>
            <a:ext cx="6737879" cy="618045"/>
          </a:xfrm>
          <a:prstGeom prst="rect">
            <a:avLst/>
          </a:prstGeom>
          <a:noFill/>
        </p:spPr>
        <p:txBody>
          <a:bodyPr wrap="square" lIns="144805" rIns="144805" tIns="63715" bIns="63715">
            <a:spAutoFit/>
          </a:bodyPr>
          <a:lstStyle/>
          <a:p>
            <a:pPr algn="l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280" b="1" spc="114">
                <a:solidFill>
                  <a:srgbClr val="555555"/>
                </a:solidFill>
                <a:latin typeface="Trebuchet MS"/>
              </a:rPr>
              <a:t>EDIT-QUALITY THEME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8747255" y="18187641"/>
            <a:ext cx="1646846" cy="618045"/>
          </a:xfrm>
          <a:prstGeom prst="rect">
            <a:avLst/>
          </a:prstGeom>
          <a:noFill/>
        </p:spPr>
        <p:txBody>
          <a:bodyPr wrap="none" lIns="144805" rIns="144805" tIns="63715" bIns="63715">
            <a:spAutoFit/>
          </a:bodyPr>
          <a:lstStyle/>
          <a:p>
            <a:pPr algn="l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280" b="1" spc="114">
                <a:solidFill>
                  <a:srgbClr val="555555"/>
                </a:solidFill>
                <a:latin typeface="Trebuchet MS"/>
              </a:rPr>
              <a:t>N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0346135" y="18187641"/>
            <a:ext cx="1840250" cy="618045"/>
          </a:xfrm>
          <a:prstGeom prst="rect">
            <a:avLst/>
          </a:prstGeom>
          <a:noFill/>
        </p:spPr>
        <p:txBody>
          <a:bodyPr wrap="none" lIns="144805" rIns="144805" tIns="63715" bIns="63715">
            <a:spAutoFit/>
          </a:bodyPr>
          <a:lstStyle/>
          <a:p>
            <a:pPr algn="l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280" b="1" spc="114">
                <a:solidFill>
                  <a:srgbClr val="555555"/>
                </a:solidFill>
                <a:latin typeface="Trebuchet MS"/>
              </a:rPr>
              <a:t>%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2205624" y="18725072"/>
            <a:ext cx="6737879" cy="827307"/>
          </a:xfrm>
          <a:prstGeom prst="rect">
            <a:avLst/>
          </a:prstGeom>
          <a:noFill/>
        </p:spPr>
        <p:txBody>
          <a:bodyPr wrap="square" lIns="193074" rIns="193074" tIns="84953" bIns="84953">
            <a:spAutoFit/>
          </a:bodyPr>
          <a:lstStyle/>
          <a:p>
            <a:pPr algn="l">
              <a:lnSpc>
                <a:spcPts val="4256"/>
              </a:lnSpc>
              <a:spcBef>
                <a:spcPts val="0"/>
              </a:spcBef>
              <a:spcAft>
                <a:spcPts val="0"/>
              </a:spcAft>
            </a:pPr>
            <a:r>
              <a:rPr sz="3040" b="1">
                <a:solidFill>
                  <a:srgbClr val="1C1C1C"/>
                </a:solidFill>
                <a:latin typeface="Trebuchet MS"/>
              </a:rPr>
              <a:t>Coherence Collapse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8747255" y="18725072"/>
            <a:ext cx="1646846" cy="827307"/>
          </a:xfrm>
          <a:prstGeom prst="rect">
            <a:avLst/>
          </a:prstGeom>
          <a:noFill/>
        </p:spPr>
        <p:txBody>
          <a:bodyPr wrap="none" lIns="193074" rIns="193074" tIns="84953" bIns="84953">
            <a:spAutoFit/>
          </a:bodyPr>
          <a:lstStyle/>
          <a:p>
            <a:pPr algn="l">
              <a:lnSpc>
                <a:spcPts val="4256"/>
              </a:lnSpc>
              <a:spcBef>
                <a:spcPts val="0"/>
              </a:spcBef>
              <a:spcAft>
                <a:spcPts val="0"/>
              </a:spcAft>
            </a:pPr>
            <a:r>
              <a:rPr sz="3040" b="1">
                <a:solidFill>
                  <a:srgbClr val="1C1C1C"/>
                </a:solidFill>
                <a:latin typeface="Trebuchet MS"/>
              </a:rPr>
              <a:t>363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0346135" y="18725072"/>
            <a:ext cx="1840250" cy="827307"/>
          </a:xfrm>
          <a:prstGeom prst="rect">
            <a:avLst/>
          </a:prstGeom>
          <a:noFill/>
        </p:spPr>
        <p:txBody>
          <a:bodyPr wrap="none" lIns="193074" rIns="193074" tIns="84953" bIns="84953">
            <a:spAutoFit/>
          </a:bodyPr>
          <a:lstStyle/>
          <a:p>
            <a:pPr algn="l">
              <a:lnSpc>
                <a:spcPts val="4256"/>
              </a:lnSpc>
              <a:spcBef>
                <a:spcPts val="0"/>
              </a:spcBef>
              <a:spcAft>
                <a:spcPts val="0"/>
              </a:spcAft>
            </a:pPr>
            <a:r>
              <a:rPr sz="3040" b="1">
                <a:solidFill>
                  <a:srgbClr val="1C1C1C"/>
                </a:solidFill>
                <a:latin typeface="Trebuchet MS"/>
              </a:rPr>
              <a:t>39.7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22205624" y="19444470"/>
            <a:ext cx="6737879" cy="827308"/>
          </a:xfrm>
          <a:prstGeom prst="rect">
            <a:avLst/>
          </a:prstGeom>
          <a:noFill/>
        </p:spPr>
        <p:txBody>
          <a:bodyPr wrap="square" lIns="193074" rIns="193074" tIns="84953" bIns="84953">
            <a:spAutoFit/>
          </a:bodyPr>
          <a:lstStyle/>
          <a:p>
            <a:pPr algn="l">
              <a:lnSpc>
                <a:spcPts val="4256"/>
              </a:lnSpc>
              <a:spcBef>
                <a:spcPts val="0"/>
              </a:spcBef>
              <a:spcAft>
                <a:spcPts val="0"/>
              </a:spcAft>
            </a:pPr>
            <a:r>
              <a:rPr sz="3040" b="0">
                <a:solidFill>
                  <a:srgbClr val="1C1C1C"/>
                </a:solidFill>
                <a:latin typeface="Trebuchet MS"/>
              </a:rPr>
              <a:t>Semantic Error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28747255" y="19444470"/>
            <a:ext cx="1646846" cy="827308"/>
          </a:xfrm>
          <a:prstGeom prst="rect">
            <a:avLst/>
          </a:prstGeom>
          <a:noFill/>
        </p:spPr>
        <p:txBody>
          <a:bodyPr wrap="none" lIns="193074" rIns="193074" tIns="84953" bIns="84953">
            <a:spAutoFit/>
          </a:bodyPr>
          <a:lstStyle/>
          <a:p>
            <a:pPr algn="l">
              <a:lnSpc>
                <a:spcPts val="4256"/>
              </a:lnSpc>
              <a:spcBef>
                <a:spcPts val="0"/>
              </a:spcBef>
              <a:spcAft>
                <a:spcPts val="0"/>
              </a:spcAft>
            </a:pPr>
            <a:r>
              <a:rPr sz="3040" b="0">
                <a:solidFill>
                  <a:srgbClr val="1C1C1C"/>
                </a:solidFill>
                <a:latin typeface="Trebuchet MS"/>
              </a:rPr>
              <a:t>302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0346135" y="19444470"/>
            <a:ext cx="1840250" cy="827308"/>
          </a:xfrm>
          <a:prstGeom prst="rect">
            <a:avLst/>
          </a:prstGeom>
          <a:noFill/>
        </p:spPr>
        <p:txBody>
          <a:bodyPr wrap="none" lIns="193074" rIns="193074" tIns="84953" bIns="84953">
            <a:spAutoFit/>
          </a:bodyPr>
          <a:lstStyle/>
          <a:p>
            <a:pPr algn="l">
              <a:lnSpc>
                <a:spcPts val="4256"/>
              </a:lnSpc>
              <a:spcBef>
                <a:spcPts val="0"/>
              </a:spcBef>
              <a:spcAft>
                <a:spcPts val="0"/>
              </a:spcAft>
            </a:pPr>
            <a:r>
              <a:rPr sz="3040" b="0">
                <a:solidFill>
                  <a:srgbClr val="1C1C1C"/>
                </a:solidFill>
                <a:latin typeface="Trebuchet MS"/>
              </a:rPr>
              <a:t>33.0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22205624" y="20163869"/>
            <a:ext cx="6737879" cy="827312"/>
          </a:xfrm>
          <a:prstGeom prst="rect">
            <a:avLst/>
          </a:prstGeom>
          <a:noFill/>
        </p:spPr>
        <p:txBody>
          <a:bodyPr wrap="square" lIns="193074" rIns="193074" tIns="84953" bIns="84953">
            <a:spAutoFit/>
          </a:bodyPr>
          <a:lstStyle/>
          <a:p>
            <a:pPr algn="l">
              <a:lnSpc>
                <a:spcPts val="4256"/>
              </a:lnSpc>
              <a:spcBef>
                <a:spcPts val="0"/>
              </a:spcBef>
              <a:spcAft>
                <a:spcPts val="0"/>
              </a:spcAft>
            </a:pPr>
            <a:r>
              <a:rPr sz="3040" b="0">
                <a:solidFill>
                  <a:srgbClr val="1C1C1C"/>
                </a:solidFill>
                <a:latin typeface="Trebuchet MS"/>
              </a:rPr>
              <a:t>Intra-File Mis-loc.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28747255" y="20163869"/>
            <a:ext cx="1646846" cy="827312"/>
          </a:xfrm>
          <a:prstGeom prst="rect">
            <a:avLst/>
          </a:prstGeom>
          <a:noFill/>
        </p:spPr>
        <p:txBody>
          <a:bodyPr wrap="none" lIns="193074" rIns="193074" tIns="84953" bIns="84953">
            <a:spAutoFit/>
          </a:bodyPr>
          <a:lstStyle/>
          <a:p>
            <a:pPr algn="l">
              <a:lnSpc>
                <a:spcPts val="4256"/>
              </a:lnSpc>
              <a:spcBef>
                <a:spcPts val="0"/>
              </a:spcBef>
              <a:spcAft>
                <a:spcPts val="0"/>
              </a:spcAft>
            </a:pPr>
            <a:r>
              <a:rPr sz="3040" b="0">
                <a:solidFill>
                  <a:srgbClr val="1C1C1C"/>
                </a:solidFill>
                <a:latin typeface="Trebuchet MS"/>
              </a:rPr>
              <a:t>161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0346135" y="20163869"/>
            <a:ext cx="1840250" cy="827312"/>
          </a:xfrm>
          <a:prstGeom prst="rect">
            <a:avLst/>
          </a:prstGeom>
          <a:noFill/>
        </p:spPr>
        <p:txBody>
          <a:bodyPr wrap="none" lIns="193074" rIns="193074" tIns="84953" bIns="84953">
            <a:spAutoFit/>
          </a:bodyPr>
          <a:lstStyle/>
          <a:p>
            <a:pPr algn="l">
              <a:lnSpc>
                <a:spcPts val="4256"/>
              </a:lnSpc>
              <a:spcBef>
                <a:spcPts val="0"/>
              </a:spcBef>
              <a:spcAft>
                <a:spcPts val="0"/>
              </a:spcAft>
            </a:pPr>
            <a:r>
              <a:rPr sz="3040" b="0">
                <a:solidFill>
                  <a:srgbClr val="1C1C1C"/>
                </a:solidFill>
                <a:latin typeface="Trebuchet MS"/>
              </a:rPr>
              <a:t>17.6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38459715" y="20198092"/>
            <a:ext cx="1809447" cy="6716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spc="-46">
                <a:solidFill>
                  <a:srgbClr val="AE2622"/>
                </a:solidFill>
                <a:latin typeface="Trebuchet MS"/>
              </a:rPr>
              <a:t>39.7%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0358551" y="20350454"/>
            <a:ext cx="1956265" cy="15769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555555"/>
                </a:solidFill>
                <a:latin typeface="Trebuchet MS"/>
              </a:rPr>
              <a:t>Coherence Collapse share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2205624" y="20883271"/>
            <a:ext cx="6737879" cy="827308"/>
          </a:xfrm>
          <a:prstGeom prst="rect">
            <a:avLst/>
          </a:prstGeom>
          <a:noFill/>
        </p:spPr>
        <p:txBody>
          <a:bodyPr wrap="square" lIns="193074" rIns="193074" tIns="84953" bIns="84953">
            <a:spAutoFit/>
          </a:bodyPr>
          <a:lstStyle/>
          <a:p>
            <a:pPr algn="l">
              <a:lnSpc>
                <a:spcPts val="4256"/>
              </a:lnSpc>
              <a:spcBef>
                <a:spcPts val="0"/>
              </a:spcBef>
              <a:spcAft>
                <a:spcPts val="0"/>
              </a:spcAft>
            </a:pPr>
            <a:r>
              <a:rPr sz="3040" b="0">
                <a:solidFill>
                  <a:srgbClr val="1C1C1C"/>
                </a:solidFill>
                <a:latin typeface="Trebuchet MS"/>
              </a:rPr>
              <a:t>Scope / Completeness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8747255" y="20883271"/>
            <a:ext cx="1646846" cy="827308"/>
          </a:xfrm>
          <a:prstGeom prst="rect">
            <a:avLst/>
          </a:prstGeom>
          <a:noFill/>
        </p:spPr>
        <p:txBody>
          <a:bodyPr wrap="none" lIns="193074" rIns="193074" tIns="84953" bIns="84953">
            <a:spAutoFit/>
          </a:bodyPr>
          <a:lstStyle/>
          <a:p>
            <a:pPr algn="l">
              <a:lnSpc>
                <a:spcPts val="4256"/>
              </a:lnSpc>
              <a:spcBef>
                <a:spcPts val="0"/>
              </a:spcBef>
              <a:spcAft>
                <a:spcPts val="0"/>
              </a:spcAft>
            </a:pPr>
            <a:r>
              <a:rPr sz="3040" b="0">
                <a:solidFill>
                  <a:srgbClr val="1C1C1C"/>
                </a:solidFill>
                <a:latin typeface="Trebuchet MS"/>
              </a:rPr>
              <a:t>72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0346135" y="20883271"/>
            <a:ext cx="1840250" cy="827308"/>
          </a:xfrm>
          <a:prstGeom prst="rect">
            <a:avLst/>
          </a:prstGeom>
          <a:noFill/>
        </p:spPr>
        <p:txBody>
          <a:bodyPr wrap="none" lIns="193074" rIns="193074" tIns="84953" bIns="84953">
            <a:spAutoFit/>
          </a:bodyPr>
          <a:lstStyle/>
          <a:p>
            <a:pPr algn="l">
              <a:lnSpc>
                <a:spcPts val="4256"/>
              </a:lnSpc>
              <a:spcBef>
                <a:spcPts val="0"/>
              </a:spcBef>
              <a:spcAft>
                <a:spcPts val="0"/>
              </a:spcAft>
            </a:pPr>
            <a:r>
              <a:rPr sz="3040" b="0">
                <a:solidFill>
                  <a:srgbClr val="1C1C1C"/>
                </a:solidFill>
                <a:latin typeface="Trebuchet MS"/>
              </a:rPr>
              <a:t>7.9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22205624" y="21602670"/>
            <a:ext cx="6737879" cy="827307"/>
          </a:xfrm>
          <a:prstGeom prst="rect">
            <a:avLst/>
          </a:prstGeom>
          <a:noFill/>
        </p:spPr>
        <p:txBody>
          <a:bodyPr wrap="square" lIns="193074" rIns="193074" tIns="84953" bIns="84953">
            <a:spAutoFit/>
          </a:bodyPr>
          <a:lstStyle/>
          <a:p>
            <a:pPr algn="l">
              <a:lnSpc>
                <a:spcPts val="4256"/>
              </a:lnSpc>
              <a:spcBef>
                <a:spcPts val="0"/>
              </a:spcBef>
              <a:spcAft>
                <a:spcPts val="0"/>
              </a:spcAft>
            </a:pPr>
            <a:r>
              <a:rPr sz="3040" b="0">
                <a:solidFill>
                  <a:srgbClr val="1C1C1C"/>
                </a:solidFill>
                <a:latin typeface="Trebuchet MS"/>
              </a:rPr>
              <a:t>Execution Gap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28747255" y="21602670"/>
            <a:ext cx="1646846" cy="827307"/>
          </a:xfrm>
          <a:prstGeom prst="rect">
            <a:avLst/>
          </a:prstGeom>
          <a:noFill/>
        </p:spPr>
        <p:txBody>
          <a:bodyPr wrap="none" lIns="193074" rIns="193074" tIns="84953" bIns="84953">
            <a:spAutoFit/>
          </a:bodyPr>
          <a:lstStyle/>
          <a:p>
            <a:pPr algn="l">
              <a:lnSpc>
                <a:spcPts val="4256"/>
              </a:lnSpc>
              <a:spcBef>
                <a:spcPts val="0"/>
              </a:spcBef>
              <a:spcAft>
                <a:spcPts val="0"/>
              </a:spcAft>
            </a:pPr>
            <a:r>
              <a:rPr sz="3040" b="0">
                <a:solidFill>
                  <a:srgbClr val="1C1C1C"/>
                </a:solidFill>
                <a:latin typeface="Trebuchet MS"/>
              </a:rPr>
              <a:t>16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30346135" y="21602670"/>
            <a:ext cx="1840250" cy="827307"/>
          </a:xfrm>
          <a:prstGeom prst="rect">
            <a:avLst/>
          </a:prstGeom>
          <a:noFill/>
        </p:spPr>
        <p:txBody>
          <a:bodyPr wrap="none" lIns="193074" rIns="193074" tIns="84953" bIns="84953">
            <a:spAutoFit/>
          </a:bodyPr>
          <a:lstStyle/>
          <a:p>
            <a:pPr algn="l">
              <a:lnSpc>
                <a:spcPts val="4256"/>
              </a:lnSpc>
              <a:spcBef>
                <a:spcPts val="0"/>
              </a:spcBef>
              <a:spcAft>
                <a:spcPts val="0"/>
              </a:spcAft>
            </a:pPr>
            <a:r>
              <a:rPr sz="3040" b="0">
                <a:solidFill>
                  <a:srgbClr val="1C1C1C"/>
                </a:solidFill>
                <a:latin typeface="Trebuchet MS"/>
              </a:rPr>
              <a:t>1.8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38459715" y="22794329"/>
            <a:ext cx="924569" cy="6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spc="-46">
                <a:solidFill>
                  <a:srgbClr val="AE2622"/>
                </a:solidFill>
                <a:latin typeface="Trebuchet MS"/>
              </a:rPr>
              <a:t>5/5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39499450" y="22946690"/>
            <a:ext cx="2180621" cy="15769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555555"/>
                </a:solidFill>
                <a:latin typeface="Trebuchet MS"/>
              </a:rPr>
              <a:t>gold patches recovered</a:t>
            </a:r>
          </a:p>
        </p:txBody>
      </p:sp>
      <p:pic>
        <p:nvPicPr>
          <p:cNvPr id="182" name="Picture 181" descr="eq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65922" y="17560046"/>
            <a:ext cx="6965677" cy="485650"/>
          </a:xfrm>
          <a:prstGeom prst="rect">
            <a:avLst/>
          </a:prstGeom>
        </p:spPr>
      </p:pic>
      <p:pic>
        <p:nvPicPr>
          <p:cNvPr id="183" name="Picture 182" descr="eq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97302" y="18426896"/>
            <a:ext cx="2248490" cy="247587"/>
          </a:xfrm>
          <a:prstGeom prst="rect">
            <a:avLst/>
          </a:prstGeom>
        </p:spPr>
      </p:pic>
      <p:pic>
        <p:nvPicPr>
          <p:cNvPr id="184" name="Picture 183" descr="eq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73751" y="18426896"/>
            <a:ext cx="265289" cy="247587"/>
          </a:xfrm>
          <a:prstGeom prst="rect">
            <a:avLst/>
          </a:prstGeom>
        </p:spPr>
      </p:pic>
      <p:pic>
        <p:nvPicPr>
          <p:cNvPr id="185" name="Picture 184" descr="eq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592150" y="18426896"/>
            <a:ext cx="273474" cy="2475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