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8959" y="618966"/>
            <a:ext cx="41556003" cy="3486149"/>
          </a:xfrm>
          <a:prstGeom prst="roundRect">
            <a:avLst>
              <a:gd name="adj" fmla="val 3847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8959" y="4596717"/>
            <a:ext cx="8966435" cy="977431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87568" y="4596717"/>
            <a:ext cx="11208231" cy="6394250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97974" y="4596717"/>
            <a:ext cx="11208228" cy="5130279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08377" y="4596717"/>
            <a:ext cx="8966437" cy="10639973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597974" y="10039752"/>
            <a:ext cx="11208228" cy="1960397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87568" y="11303724"/>
            <a:ext cx="11208231" cy="7901195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959" y="14683786"/>
            <a:ext cx="8966435" cy="14959941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08377" y="15549446"/>
            <a:ext cx="8966437" cy="545211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7568" y="19517675"/>
            <a:ext cx="11208231" cy="10126052"/>
          </a:xfrm>
          <a:prstGeom prst="rect">
            <a:avLst/>
          </a:prstGeom>
          <a:solidFill>
            <a:srgbClr val="FFFFFF"/>
          </a:solidFill>
          <a:ln w="38106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08377" y="21314314"/>
            <a:ext cx="8966437" cy="8329413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08377" y="21314314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36708" y="21314314"/>
            <a:ext cx="38106" cy="8329413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208377" y="29605620"/>
            <a:ext cx="8966437" cy="38107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08377" y="21314314"/>
            <a:ext cx="57160" cy="832941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93453" y="5868723"/>
            <a:ext cx="10417270" cy="3470526"/>
          </a:xfrm>
          <a:prstGeom prst="roundRect">
            <a:avLst>
              <a:gd name="adj" fmla="val 5668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03858" y="9754076"/>
            <a:ext cx="8175473" cy="1830414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439" y="11331101"/>
            <a:ext cx="8175476" cy="26740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4439" y="11331101"/>
            <a:ext cx="114320" cy="2674053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603858" y="12021040"/>
            <a:ext cx="8175473" cy="27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03858" y="12021040"/>
            <a:ext cx="8175473" cy="12385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3048" y="12631972"/>
            <a:ext cx="10417270" cy="2181410"/>
          </a:xfrm>
          <a:prstGeom prst="roundRect">
            <a:avLst>
              <a:gd name="adj" fmla="val 9740"/>
            </a:avLst>
          </a:prstGeom>
          <a:solidFill>
            <a:srgbClr val="F7F2F5"/>
          </a:solidFill>
          <a:ln w="9526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603858" y="17053861"/>
            <a:ext cx="8175473" cy="3623930"/>
          </a:xfrm>
          <a:prstGeom prst="roundRect">
            <a:avLst>
              <a:gd name="adj" fmla="val 2103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9526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93453" y="19165638"/>
            <a:ext cx="10417270" cy="2831473"/>
          </a:xfrm>
          <a:prstGeom prst="roundRect">
            <a:avLst>
              <a:gd name="adj" fmla="val 6948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622902" y="23317921"/>
            <a:ext cx="8156429" cy="6046378"/>
          </a:xfrm>
          <a:prstGeom prst="roundRect">
            <a:avLst>
              <a:gd name="adj" fmla="val 3253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lumbia-university-college-of-physicians-and-surge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1560" y="976360"/>
            <a:ext cx="1759573" cy="16188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8181629" y="1339258"/>
            <a:ext cx="1899285" cy="1899304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2231" y="1439861"/>
            <a:ext cx="1698080" cy="169809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1993453" y="4992201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83048" y="6277003"/>
            <a:ext cx="10417270" cy="2156115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ge5_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314" y="6277003"/>
            <a:ext cx="10416738" cy="215611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1993453" y="10435237"/>
            <a:ext cx="619407" cy="619412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83048" y="11699207"/>
            <a:ext cx="619407" cy="619413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93453" y="16537561"/>
            <a:ext cx="4787713" cy="2445810"/>
          </a:xfrm>
          <a:prstGeom prst="roundRect">
            <a:avLst>
              <a:gd name="adj" fmla="val 8043"/>
            </a:avLst>
          </a:prstGeom>
          <a:solidFill>
            <a:srgbClr val="FAFAFA"/>
          </a:solidFill>
          <a:ln w="9526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622863" y="16537561"/>
            <a:ext cx="4787860" cy="2445810"/>
          </a:xfrm>
          <a:prstGeom prst="roundRect">
            <a:avLst>
              <a:gd name="adj" fmla="val 8043"/>
            </a:avLst>
          </a:prstGeom>
          <a:solidFill>
            <a:srgbClr val="F7F2F5"/>
          </a:solidFill>
          <a:ln w="9526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154253" y="17264400"/>
            <a:ext cx="3392227" cy="3247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54253" y="17264400"/>
            <a:ext cx="12385" cy="3247491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383048" y="19913158"/>
            <a:ext cx="619407" cy="619414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25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4439" y="26849303"/>
            <a:ext cx="3694415" cy="2445808"/>
          </a:xfrm>
          <a:prstGeom prst="roundRect">
            <a:avLst>
              <a:gd name="adj" fmla="val 8043"/>
            </a:avLst>
          </a:prstGeom>
          <a:solidFill>
            <a:srgbClr val="FAFAFA"/>
          </a:solidFill>
          <a:ln w="9526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95350" y="26849303"/>
            <a:ext cx="3694565" cy="1733105"/>
          </a:xfrm>
          <a:prstGeom prst="roundRect">
            <a:avLst>
              <a:gd name="adj" fmla="val 11351"/>
            </a:avLst>
          </a:prstGeom>
          <a:solidFill>
            <a:srgbClr val="F7F2F5"/>
          </a:solidFill>
          <a:ln w="9526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603858" y="8526112"/>
            <a:ext cx="8175473" cy="786653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93453" y="15458535"/>
            <a:ext cx="10417270" cy="891997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383048" y="21514288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83048" y="24014108"/>
            <a:ext cx="663892" cy="663899"/>
          </a:xfrm>
          <a:prstGeom prst="roundRect">
            <a:avLst>
              <a:gd name="adj" fmla="val 50000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85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603858" y="7123171"/>
            <a:ext cx="6336448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603858" y="7729933"/>
            <a:ext cx="633644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940306" y="7123171"/>
            <a:ext cx="1839025" cy="61628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940306" y="7729933"/>
            <a:ext cx="183902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603858" y="7739459"/>
            <a:ext cx="6336448" cy="7866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603858" y="8516586"/>
            <a:ext cx="6336448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940306" y="7739459"/>
            <a:ext cx="1839025" cy="7866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9940306" y="8516586"/>
            <a:ext cx="1839025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603858" y="8526112"/>
            <a:ext cx="6336448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3603858" y="9303238"/>
            <a:ext cx="6336448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940306" y="8526112"/>
            <a:ext cx="1839025" cy="786653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940306" y="9303238"/>
            <a:ext cx="183902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993453" y="13900110"/>
            <a:ext cx="5777899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993453" y="14557013"/>
            <a:ext cx="577789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771352" y="13900110"/>
            <a:ext cx="4639371" cy="666430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771352" y="14557013"/>
            <a:ext cx="463937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993453" y="14566540"/>
            <a:ext cx="5777899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993453" y="15449009"/>
            <a:ext cx="577789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771352" y="14566540"/>
            <a:ext cx="4639371" cy="89199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771352" y="15449009"/>
            <a:ext cx="463937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1993453" y="15458535"/>
            <a:ext cx="5777899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993453" y="16341005"/>
            <a:ext cx="5777899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7771352" y="15458535"/>
            <a:ext cx="4639371" cy="8919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771352" y="16341005"/>
            <a:ext cx="4639371" cy="12385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24075" y="17428069"/>
            <a:ext cx="2757462" cy="1454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one-minimal guarantee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53483" y="17428069"/>
            <a:ext cx="4391129" cy="1454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8% cheaper, 96.4% identical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5061" y="27739810"/>
            <a:ext cx="3010176" cy="14547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SWE AGENT patch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25972" y="27739810"/>
            <a:ext cx="2195028" cy="635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human fix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44614" y="1031709"/>
            <a:ext cx="35926051" cy="1324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069"/>
              </a:lnSpc>
              <a:spcBef>
                <a:spcPts val="0"/>
              </a:spcBef>
              <a:spcAft>
                <a:spcPts val="0"/>
              </a:spcAft>
            </a:pPr>
            <a:r>
              <a:rPr sz="8097" b="1" spc="-80">
                <a:solidFill>
                  <a:srgbClr val="7D2860"/>
                </a:solidFill>
                <a:latin typeface="Arial"/>
              </a:rPr>
              <a:t>TRIM: Reducing AI-Generated CodeSlop via Agent Trajectory Minimization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44614" y="2440007"/>
            <a:ext cx="35926051" cy="819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B2331"/>
                </a:solidFill>
                <a:latin typeface="Arial"/>
              </a:rPr>
              <a:t>Alex Mathai, Shobini Iyer, Aleksandr Nogikh, Petros Maniatis, Franjo Ivančić, Junfeng Yang, Baishakhi Ray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44614" y="3206275"/>
            <a:ext cx="35926051" cy="55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402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Columbia University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Google Inc   </a:t>
            </a:r>
            <a:r>
              <a:rPr sz="3696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40" b="0" spc="52">
                <a:solidFill>
                  <a:srgbClr val="55617A"/>
                </a:solidFill>
                <a:latin typeface="Arial"/>
              </a:rPr>
              <a:t>Google DeepMind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439" y="4992201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83048" y="4992201"/>
            <a:ext cx="10729788" cy="848013"/>
          </a:xfrm>
          <a:prstGeom prst="rect">
            <a:avLst/>
          </a:prstGeom>
          <a:noFill/>
        </p:spPr>
        <p:txBody>
          <a:bodyPr wrap="non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603858" y="4992201"/>
            <a:ext cx="8420737" cy="1696026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993453" y="5868723"/>
            <a:ext cx="10729788" cy="3991104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Remove entire edit sequences, then entire files, then individual edit actions — each removal re-validated by re-executing the test suite. Accepted only if tests still pass and the patch shrinks.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4439" y="6063787"/>
            <a:ext cx="8420740" cy="57372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Coding agents accumulate redundant exploratory edits in their final patches, making codebases harder to review. We call this CODESLOP — the removable functional redundancy that survives the agent's search process.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603858" y="9754076"/>
            <a:ext cx="8420737" cy="2104976"/>
          </a:xfrm>
          <a:prstGeom prst="rect">
            <a:avLst/>
          </a:prstGeom>
          <a:noFill/>
        </p:spPr>
        <p:txBody>
          <a:bodyPr wrap="square" lIns="457894" rIns="457894" tIns="265100" bIns="265100">
            <a:spAutoFit/>
          </a:bodyPr>
          <a:lstStyle/>
          <a:p>
            <a:pPr algn="ctr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sz="3795" b="1">
                <a:solidFill>
                  <a:srgbClr val="7D2860"/>
                </a:solidFill>
                <a:latin typeface="Arial"/>
              </a:rPr>
              <a:t>+32.9% cut · 1.9× cheaper vs DD-Hunk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439" y="11331101"/>
            <a:ext cx="8420740" cy="3075160"/>
          </a:xfrm>
          <a:prstGeom prst="rect">
            <a:avLst/>
          </a:prstGeom>
          <a:noFill/>
        </p:spPr>
        <p:txBody>
          <a:bodyPr wrap="square" lIns="344282" rIns="344282" tIns="59020" bIns="59020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 i="1">
                <a:solidFill>
                  <a:srgbClr val="1C1C1C"/>
                </a:solidFill>
                <a:latin typeface="Arial"/>
              </a:rPr>
              <a:t>Slop is behavioral, not stylistic: a clean line is CODESLOP if removing it leaves the repair intact.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603858" y="12021040"/>
            <a:ext cx="8420737" cy="3157807"/>
          </a:xfrm>
          <a:prstGeom prst="rect">
            <a:avLst/>
          </a:prstGeom>
          <a:noFill/>
        </p:spPr>
        <p:txBody>
          <a:bodyPr wrap="square" lIns="0" rIns="0" tIns="203620" bIns="0">
            <a:spAutoFit/>
          </a:bodyPr>
          <a:lstStyle/>
          <a:p>
            <a:pPr algn="l">
              <a:lnSpc>
                <a:spcPts val="4988"/>
              </a:lnSpc>
              <a:spcBef>
                <a:spcPts val="0"/>
              </a:spcBef>
              <a:spcAft>
                <a:spcPts val="0"/>
              </a:spcAft>
            </a:pPr>
            <a:r>
              <a:rPr sz="2779" b="1" spc="166">
                <a:solidFill>
                  <a:srgbClr val="111111"/>
                </a:solidFill>
                <a:latin typeface="Arial"/>
              </a:rPr>
              <a:t>SO WHAT → </a:t>
            </a:r>
            <a:r>
              <a:rPr sz="3562" b="0" i="1">
                <a:solidFill>
                  <a:srgbClr val="1C1C1C"/>
                </a:solidFill>
                <a:latin typeface="Arial"/>
              </a:rPr>
              <a:t>TRIM cuts CODESLOP 17.9–32.9% — 1.6–3.1× more than the best baseline, preserving oracle correctness.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95015" y="14393497"/>
            <a:ext cx="9468984" cy="339478"/>
          </a:xfrm>
          <a:prstGeom prst="rect">
            <a:avLst/>
          </a:prstGeom>
          <a:noFill/>
        </p:spPr>
        <p:txBody>
          <a:bodyPr wrap="square" lIns="371825" rIns="371825" tIns="63742" bIns="63742">
            <a:spAutoFit/>
          </a:bodyPr>
          <a:lstStyle/>
          <a:p>
            <a:pPr algn="ctr">
              <a:lnSpc>
                <a:spcPts val="3032"/>
              </a:lnSpc>
              <a:spcBef>
                <a:spcPts val="0"/>
              </a:spcBef>
              <a:spcAft>
                <a:spcPts val="0"/>
              </a:spcAft>
            </a:pPr>
            <a:r>
              <a:rPr sz="4182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</a:t>
            </a:r>
            <a:r>
              <a:rPr sz="2091" b="0" i="1">
                <a:solidFill>
                  <a:srgbClr val="555555"/>
                </a:solidFill>
                <a:latin typeface="Cambria Math"/>
              </a:rPr>
              <a:t>removable functional redundancy — the gap to the minimal behavior-preserving patch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439" y="15079270"/>
            <a:ext cx="8420740" cy="848013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603858" y="15944930"/>
            <a:ext cx="8420737" cy="84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993453" y="19165638"/>
            <a:ext cx="10729788" cy="3256193"/>
          </a:xfrm>
          <a:prstGeom prst="rect">
            <a:avLst/>
          </a:prstGeom>
          <a:noFill/>
        </p:spPr>
        <p:txBody>
          <a:bodyPr wrap="square" lIns="319690" rIns="319690" tIns="137714" bIns="137714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7D2860"/>
                </a:solidFill>
                <a:latin typeface="Arial"/>
              </a:rPr>
              <a:t>Edits in the same sequence are related; edits passing the same test are interchangeable — the trajectory is a free approximation of edit dependencies.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622902" y="21709797"/>
            <a:ext cx="8401121" cy="848014"/>
          </a:xfrm>
          <a:prstGeom prst="rect">
            <a:avLst/>
          </a:prstGeom>
          <a:noFill/>
        </p:spPr>
        <p:txBody>
          <a:bodyPr wrap="square" lIns="0" rIns="3688736" tIns="0" bIns="0">
            <a:spAutoFit/>
          </a:bodyPr>
          <a:lstStyle/>
          <a:p>
            <a:pPr algn="l">
              <a:lnSpc>
                <a:spcPts val="5809"/>
              </a:lnSpc>
              <a:spcBef>
                <a:spcPts val="0"/>
              </a:spcBef>
              <a:spcAft>
                <a:spcPts val="0"/>
              </a:spcAft>
            </a:pPr>
            <a:r>
              <a:rPr sz="5280" b="1" spc="52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22902" y="23317921"/>
            <a:ext cx="8401121" cy="6953334"/>
          </a:xfrm>
          <a:prstGeom prst="rect">
            <a:avLst/>
          </a:prstGeom>
          <a:noFill/>
        </p:spPr>
        <p:txBody>
          <a:bodyPr wrap="square" lIns="344282" rIns="344282" tIns="147551" bIns="147551">
            <a:spAutoFit/>
          </a:bodyPr>
          <a:lstStyle/>
          <a:p>
            <a:pPr algn="l">
              <a:lnSpc>
                <a:spcPts val="5034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FFFFFF"/>
                </a:solidFill>
                <a:latin typeface="Arial"/>
              </a:rPr>
              <a:t>Patch minimization is a search problem, not a generation problem. TRIM turns the agent's trajectory into a search structure, cutting CODESLOP by up to 32.9% at half the cost of Delta Debugging — a 1.9× speedup and 3.1× quality gap over the best agentic baseline.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83048" y="27020113"/>
            <a:ext cx="10729788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0">
                <a:solidFill>
                  <a:srgbClr val="1C1C1C"/>
                </a:solidFill>
                <a:latin typeface="Arial"/>
              </a:rPr>
              <a:t>TRIM shifts search from the final patch to the repair trajectory, keeping only code edits and feedback requests.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731700" y="3399256"/>
            <a:ext cx="822965" cy="4007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46"/>
              </a:lnSpc>
              <a:spcBef>
                <a:spcPts val="0"/>
              </a:spcBef>
              <a:spcAft>
                <a:spcPts val="0"/>
              </a:spcAft>
            </a:pPr>
            <a:r>
              <a:rPr sz="2112" b="1" spc="84">
                <a:solidFill>
                  <a:srgbClr val="1B2331"/>
                </a:solidFill>
                <a:latin typeface="Arial"/>
              </a:rPr>
              <a:t>Paper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19228" y="5005146"/>
            <a:ext cx="4905750" cy="6825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Hierarchical search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36677" y="5117929"/>
            <a:ext cx="3681267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3 coarse-to-fine phases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99804" y="8574171"/>
            <a:ext cx="9871270" cy="24098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28"/>
              </a:lnSpc>
              <a:spcBef>
                <a:spcPts val="0"/>
              </a:spcBef>
              <a:spcAft>
                <a:spcPts val="0"/>
              </a:spcAft>
            </a:pPr>
            <a:r>
              <a:rPr sz="3175" b="0" i="1">
                <a:solidFill>
                  <a:srgbClr val="555555"/>
                </a:solidFill>
                <a:latin typeface="Arial"/>
              </a:rPr>
              <a:t>TRIM preprocesses the repair trajectory, then coarse-to-fine counterfactual search removes edit sequences, files, then individual edits — accepting a removal only if tests still pass.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819228" y="10448181"/>
            <a:ext cx="3210170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Two variants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423052" y="10560964"/>
            <a:ext cx="3077301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guarantee vs speed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993453" y="11540449"/>
            <a:ext cx="4307302" cy="1696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618"/>
              </a:lnSpc>
              <a:spcBef>
                <a:spcPts val="0"/>
              </a:spcBef>
              <a:spcAft>
                <a:spcPts val="0"/>
              </a:spcAft>
            </a:pPr>
            <a:r>
              <a:rPr sz="11618" b="1">
                <a:solidFill>
                  <a:srgbClr val="7D2860"/>
                </a:solidFill>
                <a:latin typeface="Arial"/>
              </a:rPr>
              <a:t>32.9%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208824" y="11712152"/>
            <a:ext cx="4311745" cy="682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Formal definition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742420" y="11824935"/>
            <a:ext cx="3149634" cy="423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what counts as slop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371849" y="12311776"/>
            <a:ext cx="6220040" cy="1475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53"/>
              </a:lnSpc>
              <a:spcBef>
                <a:spcPts val="0"/>
              </a:spcBef>
              <a:spcAft>
                <a:spcPts val="0"/>
              </a:spcAft>
            </a:pPr>
            <a:r>
              <a:rPr sz="3485" b="0">
                <a:solidFill>
                  <a:srgbClr val="555555"/>
                </a:solidFill>
                <a:latin typeface="Arial"/>
              </a:rPr>
              <a:t>max CODESLOP reduction (edit-level)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82731" y="14946103"/>
            <a:ext cx="10730114" cy="172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CODESLOP(A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P</a:t>
            </a:r>
            <a:r>
              <a:rPr sz="3872" b="1">
                <a:solidFill>
                  <a:srgbClr val="111111"/>
                </a:solidFill>
                <a:latin typeface="Arial"/>
              </a:rPr>
              <a:t>) = len(A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P</a:t>
            </a:r>
            <a:r>
              <a:rPr sz="3872" b="1">
                <a:solidFill>
                  <a:srgbClr val="111111"/>
                </a:solidFill>
                <a:latin typeface="Arial"/>
              </a:rPr>
              <a:t>) − len(A</a:t>
            </a:r>
            <a:r>
              <a:rPr sz="5421" b="1" baseline="-25000">
                <a:solidFill>
                  <a:srgbClr val="111111"/>
                </a:solidFill>
                <a:latin typeface="Arial"/>
              </a:rPr>
              <a:t>P</a:t>
            </a:r>
            <a:r>
              <a:rPr sz="3872" b="1">
                <a:solidFill>
                  <a:srgbClr val="111111"/>
                </a:solidFill>
                <a:latin typeface="Arial"/>
              </a:rPr>
              <a:t>*)</a:t>
            </a:r>
            <a:r>
              <a:rPr sz="3872" b="0">
                <a:solidFill>
                  <a:srgbClr val="1C1C1C"/>
                </a:solidFill>
                <a:latin typeface="Arial"/>
              </a:rPr>
              <a:t> — the removable functional redundancy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904064" y="16537561"/>
            <a:ext cx="613774" cy="819608"/>
          </a:xfrm>
          <a:prstGeom prst="rect">
            <a:avLst/>
          </a:prstGeom>
          <a:noFill/>
        </p:spPr>
        <p:txBody>
          <a:bodyPr wrap="none" lIns="24591" rIns="24591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7D2860"/>
                </a:solidFill>
                <a:latin typeface="Arial"/>
              </a:rPr>
              <a:t>vs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4121" y="16593208"/>
            <a:ext cx="8421067" cy="3278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21 lines → 3 lines:</a:t>
            </a:r>
            <a:r>
              <a:rPr sz="3872" b="0">
                <a:solidFill>
                  <a:srgbClr val="1C1C1C"/>
                </a:solidFill>
                <a:latin typeface="Arial"/>
              </a:rPr>
              <a:t> SWE AGENT touches 5 hunks for a Linux kernel fix; only 3 lines match the human-written fix.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382731" y="16618056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Behavioral, not stylistic:</a:t>
            </a:r>
            <a:r>
              <a:rPr sz="3872" b="0">
                <a:solidFill>
                  <a:srgbClr val="1C1C1C"/>
                </a:solidFill>
                <a:latin typeface="Arial"/>
              </a:rPr>
              <a:t> a clean line is still CODESLOP if removing it keeps the repair intact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4121" y="19616025"/>
            <a:ext cx="8421067" cy="3278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Self-minimization fails:</a:t>
            </a:r>
            <a:r>
              <a:rPr sz="3872" b="0">
                <a:solidFill>
                  <a:srgbClr val="1C1C1C"/>
                </a:solidFill>
                <a:latin typeface="Arial"/>
              </a:rPr>
              <a:t> in 3.8–44.9% of cases, asking an LLM to rewrite its own patch breaks the tests or grows it.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08824" y="19926104"/>
            <a:ext cx="6352297" cy="682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76"/>
              </a:lnSpc>
              <a:spcBef>
                <a:spcPts val="0"/>
              </a:spcBef>
              <a:spcAft>
                <a:spcPts val="0"/>
              </a:spcAft>
            </a:pPr>
            <a:r>
              <a:rPr sz="4066" b="1">
                <a:solidFill>
                  <a:srgbClr val="7D2860"/>
                </a:solidFill>
                <a:latin typeface="Arial"/>
              </a:rPr>
              <a:t>Trajectory preprocessing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203515" y="20038886"/>
            <a:ext cx="2674707" cy="42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spcAft>
                <a:spcPts val="0"/>
              </a:spcAft>
            </a:pPr>
            <a:r>
              <a:rPr sz="2521" b="1" i="1">
                <a:solidFill>
                  <a:srgbClr val="555555"/>
                </a:solidFill>
                <a:latin typeface="Arial"/>
              </a:rPr>
              <a:t>the search space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290397" y="21514288"/>
            <a:ext cx="9795218" cy="253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Preprocess</a:t>
            </a:r>
            <a:r>
              <a:rPr sz="3872" b="0">
                <a:solidFill>
                  <a:srgbClr val="1C1C1C"/>
                </a:solidFill>
                <a:latin typeface="Arial"/>
              </a:rPr>
              <a:t> — keep code edits + feedback requests; group edits between feedback requests into edit sequences.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993136" y="22179380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TRIM-G</a:t>
            </a:r>
            <a:r>
              <a:rPr sz="3872" b="0">
                <a:solidFill>
                  <a:srgbClr val="1C1C1C"/>
                </a:solidFill>
                <a:latin typeface="Arial"/>
              </a:rPr>
              <a:t> — repeats each phase to fixpoint, guaranteeing one-minimality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4121" y="22638844"/>
            <a:ext cx="8421067" cy="40980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The trajectory is the oracle:</a:t>
            </a:r>
            <a:r>
              <a:rPr sz="3872" b="0">
                <a:solidFill>
                  <a:srgbClr val="1C1C1C"/>
                </a:solidFill>
                <a:latin typeface="Arial"/>
              </a:rPr>
              <a:t> temporal ordering already encodes edit dependencies — counterfactual search beats prompted rewriting.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993136" y="23776789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TRIM-NG</a:t>
            </a:r>
            <a:r>
              <a:rPr sz="3872" b="0">
                <a:solidFill>
                  <a:srgbClr val="1C1C1C"/>
                </a:solidFill>
                <a:latin typeface="Arial"/>
              </a:rPr>
              <a:t> — single pass per phase; 96.4% identical patches, 8% cheaper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90397" y="24014108"/>
            <a:ext cx="9795218" cy="253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421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111111"/>
                </a:solidFill>
                <a:latin typeface="Arial"/>
              </a:rPr>
              <a:t>Counterfactual search</a:t>
            </a:r>
            <a:r>
              <a:rPr sz="3872" b="0">
                <a:solidFill>
                  <a:srgbClr val="1C1C1C"/>
                </a:solidFill>
                <a:latin typeface="Arial"/>
              </a:rPr>
              <a:t> — remove edit sequences, files, then edit actions; accept a removal only if tests still pass.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993136" y="25374198"/>
            <a:ext cx="10730114" cy="1639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Worst-case cost:</a:t>
            </a:r>
            <a:r>
              <a:rPr sz="3872" b="0">
                <a:solidFill>
                  <a:srgbClr val="1C1C1C"/>
                </a:solidFill>
                <a:latin typeface="Arial"/>
              </a:rPr>
              <a:t> 16 validations per bug vs 43 for DD-Hunk (2.6k vs 5.2k total)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31754" y="26849303"/>
            <a:ext cx="556917" cy="819607"/>
          </a:xfrm>
          <a:prstGeom prst="rect">
            <a:avLst/>
          </a:prstGeom>
          <a:noFill/>
        </p:spPr>
        <p:txBody>
          <a:bodyPr wrap="none" lIns="24591" rIns="24591" tIns="0" bIns="0">
            <a:spAutoFit/>
          </a:bodyPr>
          <a:lstStyle/>
          <a:p>
            <a:pPr algn="l">
              <a:lnSpc>
                <a:spcPts val="5615"/>
              </a:lnSpc>
              <a:spcBef>
                <a:spcPts val="0"/>
              </a:spcBef>
              <a:spcAft>
                <a:spcPts val="0"/>
              </a:spcAft>
            </a:pPr>
            <a:r>
              <a:rPr sz="3872" b="1">
                <a:solidFill>
                  <a:srgbClr val="7D2860"/>
                </a:solidFill>
                <a:latin typeface="Arial"/>
              </a:rPr>
              <a:t>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993136" y="26971607"/>
            <a:ext cx="10730114" cy="2458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41014" indent="-541014">
              <a:lnSpc>
                <a:spcPts val="561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872" b="1">
                <a:solidFill>
                  <a:srgbClr val="111111"/>
                </a:solidFill>
                <a:latin typeface="Arial"/>
              </a:rPr>
              <a:t>Oracle preservation:</a:t>
            </a:r>
            <a:r>
              <a:rPr sz="3872" b="0">
                <a:solidFill>
                  <a:srgbClr val="1C1C1C"/>
                </a:solidFill>
                <a:latin typeface="Arial"/>
              </a:rPr>
              <a:t> 327/330 SWE-Bench repairs stay correct; 18 match the human fix byte-for-byte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224075" y="16743635"/>
            <a:ext cx="4456263" cy="614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11"/>
              </a:lnSpc>
              <a:spcBef>
                <a:spcPts val="0"/>
              </a:spcBef>
              <a:spcAft>
                <a:spcPts val="0"/>
              </a:spcAft>
            </a:pPr>
            <a:r>
              <a:rPr sz="2904" b="1" spc="145">
                <a:solidFill>
                  <a:srgbClr val="555555"/>
                </a:solidFill>
                <a:latin typeface="Arial"/>
              </a:rPr>
              <a:t>TRIM-G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853483" y="16743635"/>
            <a:ext cx="4456416" cy="61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11"/>
              </a:lnSpc>
              <a:spcBef>
                <a:spcPts val="0"/>
              </a:spcBef>
              <a:spcAft>
                <a:spcPts val="0"/>
              </a:spcAft>
            </a:pPr>
            <a:r>
              <a:rPr sz="2904" b="1" spc="145">
                <a:solidFill>
                  <a:srgbClr val="555555"/>
                </a:solidFill>
                <a:latin typeface="Arial"/>
              </a:rPr>
              <a:t>TRIM-NG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836711" y="17329570"/>
            <a:ext cx="3890149" cy="15418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561"/>
              </a:lnSpc>
              <a:spcBef>
                <a:spcPts val="0"/>
              </a:spcBef>
              <a:spcAft>
                <a:spcPts val="0"/>
              </a:spcAft>
            </a:pPr>
            <a:r>
              <a:rPr sz="10561" b="1" spc="-211">
                <a:solidFill>
                  <a:srgbClr val="7D2860"/>
                </a:solidFill>
                <a:latin typeface="Arial"/>
              </a:rPr>
              <a:t>+32.9%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836711" y="18692635"/>
            <a:ext cx="3890149" cy="11306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872"/>
              </a:lnSpc>
              <a:spcBef>
                <a:spcPts val="0"/>
              </a:spcBef>
              <a:spcAft>
                <a:spcPts val="0"/>
              </a:spcAft>
            </a:pPr>
            <a:r>
              <a:rPr sz="3520" b="1">
                <a:solidFill>
                  <a:srgbClr val="1C1C1C"/>
                </a:solidFill>
                <a:latin typeface="Arial"/>
              </a:rPr>
              <a:t>max CODESLOP cut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836711" y="19675840"/>
            <a:ext cx="3890149" cy="886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640" b="0" i="1">
                <a:solidFill>
                  <a:srgbClr val="555555"/>
                </a:solidFill>
                <a:latin typeface="Arial"/>
              </a:rPr>
              <a:t>CRASHFIXER, Live-kBench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45061" y="27055376"/>
            <a:ext cx="3330166" cy="614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11"/>
              </a:lnSpc>
              <a:spcBef>
                <a:spcPts val="0"/>
              </a:spcBef>
              <a:spcAft>
                <a:spcPts val="0"/>
              </a:spcAft>
            </a:pPr>
            <a:r>
              <a:rPr sz="2904" b="1" spc="145">
                <a:solidFill>
                  <a:srgbClr val="555555"/>
                </a:solidFill>
                <a:latin typeface="Arial"/>
              </a:rPr>
              <a:t>21 LINES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725972" y="27055376"/>
            <a:ext cx="3330319" cy="6147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11"/>
              </a:lnSpc>
              <a:spcBef>
                <a:spcPts val="0"/>
              </a:spcBef>
              <a:spcAft>
                <a:spcPts val="0"/>
              </a:spcAft>
            </a:pPr>
            <a:r>
              <a:rPr sz="2904" b="1" spc="145">
                <a:solidFill>
                  <a:srgbClr val="555555"/>
                </a:solidFill>
                <a:latin typeface="Arial"/>
              </a:rPr>
              <a:t>3 LINES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603858" y="7123171"/>
            <a:ext cx="6526541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METHOD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940306" y="7123171"/>
            <a:ext cx="1894195" cy="708731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3916"/>
              </a:lnSpc>
              <a:spcBef>
                <a:spcPts val="0"/>
              </a:spcBef>
              <a:spcAft>
                <a:spcPts val="0"/>
              </a:spcAft>
            </a:pPr>
            <a:r>
              <a:rPr sz="2701" b="1" spc="135">
                <a:solidFill>
                  <a:srgbClr val="7D2860"/>
                </a:solidFill>
                <a:latin typeface="Arial"/>
              </a:rPr>
              <a:t>METRIC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603858" y="7739459"/>
            <a:ext cx="6526541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1C1C1C"/>
                </a:solidFill>
                <a:latin typeface="Arial"/>
              </a:rPr>
              <a:t>DD-Hunk (Δ-Debugging)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940306" y="7739459"/>
            <a:ext cx="1894195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0">
                <a:solidFill>
                  <a:srgbClr val="1C1C1C"/>
                </a:solidFill>
                <a:latin typeface="Arial"/>
              </a:rPr>
              <a:t>31.5%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603858" y="8526112"/>
            <a:ext cx="6526541" cy="904650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l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TRIM (CRASHFIXER)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9940306" y="8526112"/>
            <a:ext cx="1894195" cy="904650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222"/>
              </a:lnSpc>
              <a:spcBef>
                <a:spcPts val="0"/>
              </a:spcBef>
              <a:spcAft>
                <a:spcPts val="0"/>
              </a:spcAft>
            </a:pPr>
            <a:r>
              <a:rPr sz="3601" b="1">
                <a:solidFill>
                  <a:srgbClr val="7D2860"/>
                </a:solidFill>
                <a:latin typeface="Arial"/>
              </a:rPr>
              <a:t>32.9%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1993453" y="13900110"/>
            <a:ext cx="5951235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GRANULARITY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771352" y="13900110"/>
            <a:ext cx="4778552" cy="766394"/>
          </a:xfrm>
          <a:prstGeom prst="rect">
            <a:avLst/>
          </a:prstGeom>
          <a:noFill/>
        </p:spPr>
        <p:txBody>
          <a:bodyPr wrap="square" lIns="175214" rIns="175214" tIns="77095" bIns="77095">
            <a:sp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2759" b="1" spc="137">
                <a:solidFill>
                  <a:srgbClr val="555555"/>
                </a:solidFill>
                <a:latin typeface="Arial"/>
              </a:rPr>
              <a:t>CODESLOP 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993453" y="14566540"/>
            <a:ext cx="5951235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Sequence-level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771352" y="14566540"/>
            <a:ext cx="4778552" cy="1025794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0">
                <a:solidFill>
                  <a:srgbClr val="1C1C1C"/>
                </a:solidFill>
                <a:latin typeface="Arial"/>
              </a:rPr>
              <a:t>5.6–17.4%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93453" y="15458535"/>
            <a:ext cx="5951235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Edit-level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771352" y="15458535"/>
            <a:ext cx="4778552" cy="1025796"/>
          </a:xfrm>
          <a:prstGeom prst="rect">
            <a:avLst/>
          </a:prstGeom>
          <a:noFill/>
        </p:spPr>
        <p:txBody>
          <a:bodyPr wrap="square" lIns="233620" rIns="233620" tIns="102794" bIns="102794">
            <a:spAutoFit/>
          </a:bodyPr>
          <a:lstStyle/>
          <a:p>
            <a:pPr algn="l">
              <a:lnSpc>
                <a:spcPts val="5334"/>
              </a:lnSpc>
              <a:spcBef>
                <a:spcPts val="0"/>
              </a:spcBef>
              <a:spcAft>
                <a:spcPts val="0"/>
              </a:spcAft>
            </a:pPr>
            <a:r>
              <a:rPr sz="3679" b="1">
                <a:solidFill>
                  <a:srgbClr val="1C1C1C"/>
                </a:solidFill>
                <a:latin typeface="Arial"/>
              </a:rPr>
              <a:t>17.9–32.9%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606122" y="17264400"/>
            <a:ext cx="1023877" cy="591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1.9×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772175" y="17378670"/>
            <a:ext cx="1827534" cy="1387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lower cost vs DD-Hunk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606122" y="18831009"/>
            <a:ext cx="1474591" cy="5910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99.1%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209766" y="18945280"/>
            <a:ext cx="1899862" cy="9250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oracle preservation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606122" y="19995441"/>
            <a:ext cx="1298196" cy="5910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48"/>
              </a:lnSpc>
              <a:spcBef>
                <a:spcPts val="0"/>
              </a:spcBef>
              <a:spcAft>
                <a:spcPts val="0"/>
              </a:spcAft>
            </a:pPr>
            <a:r>
              <a:rPr sz="4048" b="1" spc="-40">
                <a:solidFill>
                  <a:srgbClr val="AE2622"/>
                </a:solidFill>
                <a:latin typeface="Arial"/>
              </a:rPr>
              <a:t>4,544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038509" y="20109711"/>
            <a:ext cx="1688530" cy="4625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640" b="0">
                <a:solidFill>
                  <a:srgbClr val="555555"/>
                </a:solidFill>
                <a:latin typeface="Arial"/>
              </a:rPr>
              <a:t>trajectories</a:t>
            </a:r>
          </a:p>
        </p:txBody>
      </p:sp>
      <p:pic>
        <p:nvPicPr>
          <p:cNvPr id="142" name="Picture 141" descr="e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385" y="12705177"/>
            <a:ext cx="8780448" cy="1570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