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2083" y="618723"/>
            <a:ext cx="41549736" cy="4768952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025979" y="984837"/>
            <a:ext cx="3396834" cy="1211402"/>
          </a:xfrm>
          <a:prstGeom prst="roundRect">
            <a:avLst>
              <a:gd name="adj" fmla="val 83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083" y="5880168"/>
            <a:ext cx="8962414" cy="9945305"/>
          </a:xfrm>
          <a:prstGeom prst="roundRect">
            <a:avLst>
              <a:gd name="adj" fmla="val 1983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90689" y="5880168"/>
            <a:ext cx="11203164" cy="8932054"/>
          </a:xfrm>
          <a:prstGeom prst="roundRect">
            <a:avLst>
              <a:gd name="adj" fmla="val 1979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600045" y="5880168"/>
            <a:ext cx="11203017" cy="3723588"/>
          </a:xfrm>
          <a:prstGeom prst="roundRect">
            <a:avLst>
              <a:gd name="adj" fmla="val 4748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209254" y="5880168"/>
            <a:ext cx="8962564" cy="7320354"/>
          </a:xfrm>
          <a:prstGeom prst="roundRect">
            <a:avLst>
              <a:gd name="adj" fmla="val 2415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00045" y="9919407"/>
            <a:ext cx="11203017" cy="19560754"/>
          </a:xfrm>
          <a:prstGeom prst="roundRect">
            <a:avLst>
              <a:gd name="adj" fmla="val 1587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209254" y="13516173"/>
            <a:ext cx="8962564" cy="6540772"/>
          </a:xfrm>
          <a:prstGeom prst="roundRect">
            <a:avLst>
              <a:gd name="adj" fmla="val 2703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90689" y="15127873"/>
            <a:ext cx="11203164" cy="7139814"/>
          </a:xfrm>
          <a:prstGeom prst="roundRect">
            <a:avLst>
              <a:gd name="adj" fmla="val 2476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083" y="16141124"/>
            <a:ext cx="8962414" cy="13339036"/>
          </a:xfrm>
          <a:prstGeom prst="roundRect">
            <a:avLst>
              <a:gd name="adj" fmla="val 1983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209254" y="20372595"/>
            <a:ext cx="8962564" cy="4238576"/>
          </a:xfrm>
          <a:prstGeom prst="roundRect">
            <a:avLst>
              <a:gd name="adj" fmla="val 4171"/>
            </a:avLst>
          </a:prstGeom>
          <a:solidFill>
            <a:srgbClr val="F2F2F3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09254" y="20372595"/>
            <a:ext cx="57148" cy="4238576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90689" y="22583337"/>
            <a:ext cx="11203164" cy="6896823"/>
          </a:xfrm>
          <a:prstGeom prst="roundRect">
            <a:avLst>
              <a:gd name="adj" fmla="val 2563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09254" y="24926821"/>
            <a:ext cx="8962564" cy="4553339"/>
          </a:xfrm>
          <a:prstGeom prst="roundRect">
            <a:avLst>
              <a:gd name="adj" fmla="val 3883"/>
            </a:avLst>
          </a:prstGeom>
          <a:solidFill>
            <a:srgbClr val="FAFAF7"/>
          </a:solidFill>
          <a:ln w="9526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869" y="5839176"/>
            <a:ext cx="9044842" cy="1110920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49474" y="5839176"/>
            <a:ext cx="11285593" cy="1110920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68040" y="5839176"/>
            <a:ext cx="9044992" cy="1110920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65023" y="7044659"/>
            <a:ext cx="10473062" cy="2196091"/>
          </a:xfrm>
          <a:prstGeom prst="roundRect">
            <a:avLst>
              <a:gd name="adj" fmla="val 8972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574232" y="9322585"/>
            <a:ext cx="8232606" cy="1309960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74232" y="10822114"/>
            <a:ext cx="8232606" cy="257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574232" y="10822114"/>
            <a:ext cx="8232606" cy="12315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061" y="12921423"/>
            <a:ext cx="8232458" cy="25450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061" y="12921423"/>
            <a:ext cx="114295" cy="2545039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168040" y="13475181"/>
            <a:ext cx="9044992" cy="1110921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574232" y="14887251"/>
            <a:ext cx="8232606" cy="5454859"/>
          </a:xfrm>
          <a:prstGeom prst="roundRect">
            <a:avLst>
              <a:gd name="adj" fmla="val 1389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9526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0869" y="16100132"/>
            <a:ext cx="9044842" cy="1110921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55667" y="16409272"/>
            <a:ext cx="10473208" cy="1179290"/>
          </a:xfrm>
          <a:prstGeom prst="roundRect">
            <a:avLst>
              <a:gd name="adj" fmla="val 15873"/>
            </a:avLst>
          </a:prstGeom>
          <a:solidFill>
            <a:srgbClr val="F3F3F3"/>
          </a:solidFill>
          <a:ln w="9526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15651" y="20331603"/>
            <a:ext cx="8997381" cy="1110921"/>
          </a:xfrm>
          <a:prstGeom prst="roundRect">
            <a:avLst>
              <a:gd name="adj" fmla="val 15917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21843" y="21743672"/>
            <a:ext cx="8184995" cy="2896060"/>
          </a:xfrm>
          <a:prstGeom prst="roundRect">
            <a:avLst>
              <a:gd name="adj" fmla="val 4762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061" y="24783720"/>
            <a:ext cx="8232458" cy="4338762"/>
          </a:xfrm>
          <a:prstGeom prst="roundRect">
            <a:avLst>
              <a:gd name="adj" fmla="val 3695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061" y="24783720"/>
            <a:ext cx="114295" cy="4338762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2197" y="3035988"/>
            <a:ext cx="1087941" cy="1411012"/>
          </a:xfrm>
          <a:prstGeom prst="rect">
            <a:avLst/>
          </a:prstGeom>
        </p:spPr>
      </p:pic>
      <p:pic>
        <p:nvPicPr>
          <p:cNvPr id="34" name="Picture 33" descr="university-of-washing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3972" y="3035906"/>
            <a:ext cx="1418841" cy="141117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21965023" y="6243174"/>
            <a:ext cx="623869" cy="620499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7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47737" y="7497491"/>
            <a:ext cx="9889067" cy="4945646"/>
          </a:xfrm>
          <a:prstGeom prst="roundRect">
            <a:avLst>
              <a:gd name="adj" fmla="val 2043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11_figur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737" y="7497494"/>
            <a:ext cx="9889067" cy="494564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1965023" y="10282414"/>
            <a:ext cx="623869" cy="620499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7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52895" y="15098720"/>
            <a:ext cx="3390589" cy="50572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152895" y="15098720"/>
            <a:ext cx="12382" cy="5057225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55667" y="15490879"/>
            <a:ext cx="623869" cy="620500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7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55667" y="22946343"/>
            <a:ext cx="623869" cy="620499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7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23606" y="24921051"/>
            <a:ext cx="2026199" cy="560862"/>
          </a:xfrm>
          <a:prstGeom prst="roundRect">
            <a:avLst>
              <a:gd name="adj" fmla="val 14294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39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574232" y="8505266"/>
            <a:ext cx="8232606" cy="623016"/>
          </a:xfrm>
          <a:prstGeom prst="rect">
            <a:avLst/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355667" y="23794887"/>
            <a:ext cx="668506" cy="664895"/>
          </a:xfrm>
          <a:prstGeom prst="roundRect">
            <a:avLst>
              <a:gd name="adj" fmla="val 4986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51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55667" y="24919275"/>
            <a:ext cx="668506" cy="664895"/>
          </a:xfrm>
          <a:prstGeom prst="roundRect">
            <a:avLst>
              <a:gd name="adj" fmla="val 4986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51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433341" y="25379508"/>
            <a:ext cx="3021743" cy="3005418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637" y="25493185"/>
            <a:ext cx="2793151" cy="277806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38785096" y="25379508"/>
            <a:ext cx="3021742" cy="3005418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99391" y="25493185"/>
            <a:ext cx="2793152" cy="2778064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355667" y="26043660"/>
            <a:ext cx="668506" cy="664895"/>
          </a:xfrm>
          <a:prstGeom prst="roundRect">
            <a:avLst>
              <a:gd name="adj" fmla="val 4986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51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326370" y="28523735"/>
            <a:ext cx="1235685" cy="50359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34373B"/>
                </a:solidFill>
                <a:latin typeface="Arial"/>
              </a:rPr>
              <a:t>Paper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719932" y="28523735"/>
            <a:ext cx="1152069" cy="50359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34373B"/>
                </a:solidFill>
                <a:latin typeface="Arial"/>
              </a:rPr>
              <a:t>Code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574232" y="7389019"/>
            <a:ext cx="6235421" cy="493233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574232" y="7872778"/>
            <a:ext cx="6235421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809653" y="7389019"/>
            <a:ext cx="1997185" cy="493233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809653" y="7872778"/>
            <a:ext cx="1997185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574232" y="7882252"/>
            <a:ext cx="6235421" cy="6230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574232" y="8495793"/>
            <a:ext cx="6235421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809653" y="7882252"/>
            <a:ext cx="1997185" cy="6230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809653" y="8495793"/>
            <a:ext cx="1997185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574232" y="8505266"/>
            <a:ext cx="6235421" cy="623016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574232" y="9118809"/>
            <a:ext cx="6235421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809653" y="8505266"/>
            <a:ext cx="1997185" cy="623016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809653" y="9118809"/>
            <a:ext cx="1997185" cy="1231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65023" y="18695634"/>
            <a:ext cx="5073088" cy="66755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65023" y="19353719"/>
            <a:ext cx="5073088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038111" y="18695634"/>
            <a:ext cx="2864620" cy="66755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038111" y="19353719"/>
            <a:ext cx="2864620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02731" y="18695634"/>
            <a:ext cx="2535354" cy="66755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902731" y="19353719"/>
            <a:ext cx="2535354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965023" y="19363192"/>
            <a:ext cx="5073088" cy="8935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965023" y="20247251"/>
            <a:ext cx="5073088" cy="12316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038111" y="19363192"/>
            <a:ext cx="2864620" cy="8935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038111" y="20247251"/>
            <a:ext cx="2864620" cy="12316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9902731" y="19363192"/>
            <a:ext cx="2535354" cy="8935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9902731" y="20247251"/>
            <a:ext cx="2535354" cy="12316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965023" y="20256725"/>
            <a:ext cx="5073088" cy="8935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965023" y="21140781"/>
            <a:ext cx="5073088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038111" y="20256725"/>
            <a:ext cx="2864620" cy="8935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038111" y="21140781"/>
            <a:ext cx="2864620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902731" y="20256725"/>
            <a:ext cx="2535354" cy="8935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902731" y="21140781"/>
            <a:ext cx="2535354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65023" y="21150254"/>
            <a:ext cx="5073088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965023" y="22034312"/>
            <a:ext cx="5073088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038111" y="21150254"/>
            <a:ext cx="2864620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038111" y="22034312"/>
            <a:ext cx="2864620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902731" y="21150254"/>
            <a:ext cx="2535354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902731" y="22034312"/>
            <a:ext cx="2535354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965023" y="22043785"/>
            <a:ext cx="5073088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965023" y="22927843"/>
            <a:ext cx="5073088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038111" y="22043785"/>
            <a:ext cx="2864620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038111" y="22927843"/>
            <a:ext cx="2864620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9902731" y="22043785"/>
            <a:ext cx="2535354" cy="893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902731" y="22927843"/>
            <a:ext cx="2535354" cy="12315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3574232" y="26645514"/>
            <a:ext cx="1529097" cy="2685034"/>
          </a:xfrm>
          <a:prstGeom prst="roundRect">
            <a:avLst>
              <a:gd name="adj" fmla="val 9966"/>
            </a:avLst>
          </a:prstGeom>
          <a:solidFill>
            <a:srgbClr val="EEEFF1"/>
          </a:solidFill>
          <a:ln w="19053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71084" y="984837"/>
            <a:ext cx="36528078" cy="24152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769"/>
              </a:lnSpc>
              <a:spcBef>
                <a:spcPts val="0"/>
              </a:spcBef>
              <a:spcAft>
                <a:spcPts val="0"/>
              </a:spcAft>
            </a:pPr>
            <a:r>
              <a:rPr sz="7193" b="1" spc="-77">
                <a:solidFill>
                  <a:srgbClr val="34373B"/>
                </a:solidFill>
                <a:latin typeface="Arial"/>
              </a:rPr>
              <a:t>MIND: Empowering Mental Health Clinicians with Multimodal Data Insights</a:t>
            </a:r>
          </a:p>
          <a:p>
            <a:pPr algn="l">
              <a:lnSpc>
                <a:spcPts val="7769"/>
              </a:lnSpc>
              <a:spcBef>
                <a:spcPts val="0"/>
              </a:spcBef>
              <a:spcAft>
                <a:spcPts val="0"/>
              </a:spcAft>
            </a:pPr>
            <a:r>
              <a:rPr sz="7193" b="1" spc="-77">
                <a:solidFill>
                  <a:srgbClr val="34373B"/>
                </a:solidFill>
                <a:latin typeface="Arial"/>
              </a:rPr>
              <a:t>through a Narrative Dashboard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084" y="3298872"/>
            <a:ext cx="36528078" cy="1396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Ruishi Zou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00" b="0">
                <a:solidFill>
                  <a:srgbClr val="1C1C1C"/>
                </a:solidFill>
                <a:latin typeface="Arial"/>
              </a:rPr>
              <a:t>, Shiyu Xu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00" b="0">
                <a:solidFill>
                  <a:srgbClr val="1C1C1C"/>
                </a:solidFill>
                <a:latin typeface="Arial"/>
              </a:rPr>
              <a:t>, Margaret E. Morris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700" b="0">
                <a:solidFill>
                  <a:srgbClr val="1C1C1C"/>
                </a:solidFill>
                <a:latin typeface="Arial"/>
              </a:rPr>
              <a:t>, Jihan Ryu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3</a:t>
            </a:r>
            <a:r>
              <a:rPr sz="3700" b="0">
                <a:solidFill>
                  <a:srgbClr val="1C1C1C"/>
                </a:solidFill>
                <a:latin typeface="Arial"/>
              </a:rPr>
              <a:t>, Timothy D. Becker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4</a:t>
            </a:r>
            <a:r>
              <a:rPr sz="3700" b="0">
                <a:solidFill>
                  <a:srgbClr val="1C1C1C"/>
                </a:solidFill>
                <a:latin typeface="Arial"/>
              </a:rPr>
              <a:t>, Nicholas Allen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5</a:t>
            </a:r>
            <a:r>
              <a:rPr sz="3700" b="0">
                <a:solidFill>
                  <a:srgbClr val="1C1C1C"/>
                </a:solidFill>
                <a:latin typeface="Arial"/>
              </a:rPr>
              <a:t>, Anne Marie Albano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00" b="0">
                <a:solidFill>
                  <a:srgbClr val="1C1C1C"/>
                </a:solidFill>
                <a:latin typeface="Arial"/>
              </a:rPr>
              <a:t>, Randy Auerbach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00" b="0">
                <a:solidFill>
                  <a:srgbClr val="1C1C1C"/>
                </a:solidFill>
                <a:latin typeface="Arial"/>
              </a:rPr>
              <a:t>, Dan Adler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6</a:t>
            </a:r>
            <a:r>
              <a:rPr sz="3700" b="0">
                <a:solidFill>
                  <a:srgbClr val="1C1C1C"/>
                </a:solidFill>
                <a:latin typeface="Arial"/>
              </a:rPr>
              <a:t>, Varun Mishra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7</a:t>
            </a:r>
            <a:r>
              <a:rPr sz="3700" b="0">
                <a:solidFill>
                  <a:srgbClr val="1C1C1C"/>
                </a:solidFill>
                <a:latin typeface="Arial"/>
              </a:rPr>
              <a:t>, Lace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Padilla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7</a:t>
            </a:r>
            <a:r>
              <a:rPr sz="3700" b="0">
                <a:solidFill>
                  <a:srgbClr val="1C1C1C"/>
                </a:solidFill>
                <a:latin typeface="Arial"/>
              </a:rPr>
              <a:t>, Dakuo Wang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7</a:t>
            </a:r>
            <a:r>
              <a:rPr sz="3700" b="0">
                <a:solidFill>
                  <a:srgbClr val="1C1C1C"/>
                </a:solidFill>
                <a:latin typeface="Arial"/>
              </a:rPr>
              <a:t>, Ryan Sultan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00" b="0">
                <a:solidFill>
                  <a:srgbClr val="1C1C1C"/>
                </a:solidFill>
                <a:latin typeface="Arial"/>
              </a:rPr>
              <a:t>, Xuhai “Orson” Xu</a:t>
            </a:r>
            <a:r>
              <a:rPr sz="5180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084" y="4563993"/>
            <a:ext cx="36528078" cy="5262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170" b="0" spc="50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Columbia University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University of Washington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3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Hamilton-Madison House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4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Weill Cornell Medicine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5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University of Oregon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6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Cornell University   </a:t>
            </a:r>
            <a:r>
              <a:rPr sz="3500" b="0" spc="50" baseline="30000">
                <a:solidFill>
                  <a:srgbClr val="555555"/>
                </a:solidFill>
                <a:latin typeface="Arial"/>
              </a:rPr>
              <a:t>7</a:t>
            </a:r>
            <a:r>
              <a:rPr sz="2500" b="0" spc="50">
                <a:solidFill>
                  <a:srgbClr val="555555"/>
                </a:solidFill>
                <a:latin typeface="Arial"/>
              </a:rPr>
              <a:t>Northeastern University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330698" y="1123647"/>
            <a:ext cx="2871019" cy="1073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96"/>
              </a:lnSpc>
              <a:spcBef>
                <a:spcPts val="0"/>
              </a:spcBef>
              <a:spcAft>
                <a:spcPts val="0"/>
              </a:spcAft>
            </a:pPr>
            <a:r>
              <a:rPr sz="5100" b="1" spc="51">
                <a:solidFill>
                  <a:srgbClr val="34373B"/>
                </a:solidFill>
                <a:latin typeface="Arial"/>
              </a:rPr>
              <a:t>CHI 2026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0869" y="5839176"/>
            <a:ext cx="9316187" cy="1277558"/>
          </a:xfrm>
          <a:prstGeom prst="rect">
            <a:avLst/>
          </a:prstGeom>
          <a:noFill/>
        </p:spPr>
        <p:txBody>
          <a:bodyPr wrap="square" lIns="406382" rIns="3701888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49474" y="5839176"/>
            <a:ext cx="11624160" cy="1277558"/>
          </a:xfrm>
          <a:prstGeom prst="rect">
            <a:avLst/>
          </a:prstGeom>
          <a:noFill/>
        </p:spPr>
        <p:txBody>
          <a:bodyPr wrap="none" lIns="406382" rIns="3701888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168040" y="5839176"/>
            <a:ext cx="9316341" cy="1277558"/>
          </a:xfrm>
          <a:prstGeom prst="rect">
            <a:avLst/>
          </a:prstGeom>
          <a:noFill/>
        </p:spPr>
        <p:txBody>
          <a:bodyPr wrap="square" lIns="406382" rIns="3701888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965023" y="7044659"/>
            <a:ext cx="10787253" cy="2525504"/>
          </a:xfrm>
          <a:prstGeom prst="rect">
            <a:avLst/>
          </a:prstGeom>
          <a:noFill/>
        </p:spPr>
        <p:txBody>
          <a:bodyPr wrap="none" lIns="321930" rIns="321930" tIns="137928" bIns="137928">
            <a:spAutoFit/>
          </a:bodyPr>
          <a:lstStyle/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34373B"/>
                </a:solidFill>
                <a:latin typeface="Arial"/>
              </a:rPr>
              <a:t>Distills structured facts into one-sentence</a:t>
            </a:r>
          </a:p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34373B"/>
                </a:solidFill>
                <a:latin typeface="Arial"/>
              </a:rPr>
              <a:t>clinical insights guided by the</a:t>
            </a:r>
          </a:p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34373B"/>
                </a:solidFill>
                <a:latin typeface="Arial"/>
              </a:rPr>
              <a:t>Biopsychosocial model.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7061" y="7255980"/>
            <a:ext cx="8479431" cy="6240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Patient-generated and clinical data are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rich but scattered across four source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types with different formats and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cadences; existing dashboards dump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raw streams with minimal curation,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forcing clinicians to forage and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synthesize insights themselves under</a:t>
            </a:r>
          </a:p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time pressure.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574232" y="9322585"/>
            <a:ext cx="8479584" cy="1506454"/>
          </a:xfrm>
          <a:prstGeom prst="rect">
            <a:avLst/>
          </a:prstGeom>
          <a:noFill/>
        </p:spPr>
        <p:txBody>
          <a:bodyPr wrap="none" lIns="329359" rIns="329359" tIns="189651" bIns="189651">
            <a:spAutoFit/>
          </a:bodyPr>
          <a:lstStyle/>
          <a:p>
            <a:pPr algn="ctr">
              <a:lnSpc>
                <a:spcPts val="3686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34373B"/>
                </a:solidFill>
                <a:latin typeface="Arial"/>
              </a:rPr>
              <a:t>+1.82 pts · p&lt;.001 · all 16 clinicians preferred</a:t>
            </a:r>
          </a:p>
          <a:p>
            <a:pPr algn="ctr">
              <a:lnSpc>
                <a:spcPts val="3686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34373B"/>
                </a:solidFill>
                <a:latin typeface="Arial"/>
              </a:rPr>
              <a:t>MIND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574232" y="10822114"/>
            <a:ext cx="8479584" cy="2964916"/>
          </a:xfrm>
          <a:prstGeom prst="rect">
            <a:avLst/>
          </a:prstGeom>
          <a:noFill/>
        </p:spPr>
        <p:txBody>
          <a:bodyPr wrap="square" lIns="0" rIns="0" tIns="155169" bIns="0">
            <a:spAutoFit/>
          </a:bodyPr>
          <a:lstStyle/>
          <a:p>
            <a:pPr algn="l">
              <a:lnSpc>
                <a:spcPts val="3822"/>
              </a:lnSpc>
              <a:spcBef>
                <a:spcPts val="0"/>
              </a:spcBef>
              <a:spcAft>
                <a:spcPts val="0"/>
              </a:spcAft>
            </a:pPr>
            <a:r>
              <a:rPr sz="2129" b="1" spc="127">
                <a:solidFill>
                  <a:srgbClr val="111111"/>
                </a:solidFill>
                <a:latin typeface="Arial"/>
              </a:rPr>
              <a:t>SO WHAT → </a:t>
            </a:r>
            <a:r>
              <a:rPr sz="2730" b="0" i="1">
                <a:solidFill>
                  <a:srgbClr val="1C1C1C"/>
                </a:solidFill>
                <a:latin typeface="Arial"/>
              </a:rPr>
              <a:t>In a within-subject study (N=16 licensed clinicians), MIND significantly outperformed FACT at revealing hidden, clinically relevant insights (M=5.75 vs 3.93, p&lt;.001) and supporting decision-making (M=5.68 vs 4.62, p=.004).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7061" y="12921423"/>
            <a:ext cx="8479431" cy="2926794"/>
          </a:xfrm>
          <a:prstGeom prst="rect">
            <a:avLst/>
          </a:prstGeom>
          <a:noFill/>
        </p:spPr>
        <p:txBody>
          <a:bodyPr wrap="none" lIns="329359" rIns="329359" tIns="56156" bIns="56156">
            <a:spAutoFit/>
          </a:bodyPr>
          <a:lstStyle/>
          <a:p>
            <a:pPr algn="l">
              <a:lnSpc>
                <a:spcPts val="4817"/>
              </a:lnSpc>
              <a:spcBef>
                <a:spcPts val="0"/>
              </a:spcBef>
              <a:spcAft>
                <a:spcPts val="0"/>
              </a:spcAft>
            </a:pPr>
            <a:r>
              <a:rPr sz="3705" b="0" i="1">
                <a:solidFill>
                  <a:srgbClr val="1C1C1C"/>
                </a:solidFill>
                <a:latin typeface="Arial"/>
              </a:rPr>
              <a:t>Raw multimodal data is not a</a:t>
            </a:r>
          </a:p>
          <a:p>
            <a:pPr algn="l">
              <a:lnSpc>
                <a:spcPts val="4817"/>
              </a:lnSpc>
              <a:spcBef>
                <a:spcPts val="0"/>
              </a:spcBef>
              <a:spcAft>
                <a:spcPts val="0"/>
              </a:spcAft>
            </a:pPr>
            <a:r>
              <a:rPr sz="3705" b="0" i="1">
                <a:solidFill>
                  <a:srgbClr val="1C1C1C"/>
                </a:solidFill>
                <a:latin typeface="Arial"/>
              </a:rPr>
              <a:t>dashboard — curation is the</a:t>
            </a:r>
          </a:p>
          <a:p>
            <a:pPr algn="l">
              <a:lnSpc>
                <a:spcPts val="4817"/>
              </a:lnSpc>
              <a:spcBef>
                <a:spcPts val="0"/>
              </a:spcBef>
              <a:spcAft>
                <a:spcPts val="0"/>
              </a:spcAft>
            </a:pPr>
            <a:r>
              <a:rPr sz="3705" b="0" i="1">
                <a:solidFill>
                  <a:srgbClr val="1C1C1C"/>
                </a:solidFill>
                <a:latin typeface="Arial"/>
              </a:rPr>
              <a:t>missing link between data and in-</a:t>
            </a:r>
          </a:p>
          <a:p>
            <a:pPr algn="l">
              <a:lnSpc>
                <a:spcPts val="4817"/>
              </a:lnSpc>
              <a:spcBef>
                <a:spcPts val="0"/>
              </a:spcBef>
              <a:spcAft>
                <a:spcPts val="0"/>
              </a:spcAft>
            </a:pPr>
            <a:r>
              <a:rPr sz="3705" b="0" i="1">
                <a:solidFill>
                  <a:srgbClr val="1C1C1C"/>
                </a:solidFill>
                <a:latin typeface="Arial"/>
              </a:rPr>
              <a:t>session decisions.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68040" y="13475181"/>
            <a:ext cx="9316341" cy="1277559"/>
          </a:xfrm>
          <a:prstGeom prst="rect">
            <a:avLst/>
          </a:prstGeom>
          <a:noFill/>
        </p:spPr>
        <p:txBody>
          <a:bodyPr wrap="square" lIns="406382" rIns="0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0869" y="16100132"/>
            <a:ext cx="9316187" cy="1277559"/>
          </a:xfrm>
          <a:prstGeom prst="rect">
            <a:avLst/>
          </a:prstGeom>
          <a:noFill/>
        </p:spPr>
        <p:txBody>
          <a:bodyPr wrap="square" lIns="406382" rIns="3701888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763216" y="17221707"/>
            <a:ext cx="3767699" cy="294075"/>
          </a:xfrm>
          <a:prstGeom prst="rect">
            <a:avLst/>
          </a:prstGeom>
          <a:noFill/>
        </p:spPr>
        <p:txBody>
          <a:bodyPr wrap="square" lIns="329359" rIns="329359" tIns="56156" bIns="56156">
            <a:spAutoFit/>
          </a:bodyPr>
          <a:lstStyle/>
          <a:p>
            <a:pPr algn="ctr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TimesNewRomanPS-ItalicMT"/>
              </a:rPr>
              <a:t>                                                                                  </a:t>
            </a:r>
            <a:r>
              <a:rPr sz="1852" b="0" i="1">
                <a:solidFill>
                  <a:srgbClr val="555555"/>
                </a:solidFill>
                <a:latin typeface="TimesNewRomanPS-ItalicMT"/>
              </a:rPr>
              <a:t>a typed, timestamped, verifiable datum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215651" y="20331603"/>
            <a:ext cx="9267302" cy="1277559"/>
          </a:xfrm>
          <a:prstGeom prst="rect">
            <a:avLst/>
          </a:prstGeom>
          <a:noFill/>
        </p:spPr>
        <p:txBody>
          <a:bodyPr wrap="square" lIns="406382" rIns="3701888" tIns="187441" bIns="187441">
            <a:spAutoFit/>
          </a:bodyPr>
          <a:lstStyle/>
          <a:p>
            <a:pPr algn="l">
              <a:lnSpc>
                <a:spcPts val="5831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621843" y="21743672"/>
            <a:ext cx="8430544" cy="3330468"/>
          </a:xfrm>
          <a:prstGeom prst="rect">
            <a:avLst/>
          </a:prstGeom>
          <a:noFill/>
        </p:spPr>
        <p:txBody>
          <a:bodyPr wrap="none" lIns="242686" rIns="242686" tIns="103446" bIns="103446">
            <a:spAutoFit/>
          </a:bodyPr>
          <a:lstStyle/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Curating multimodal patient data into a</a:t>
            </a:r>
          </a:p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clinician-centered narrative — via a hybrid</a:t>
            </a:r>
          </a:p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rule + LLM pipeline — lets mental-health</a:t>
            </a:r>
          </a:p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clinicians see hidden insights at a glance and</a:t>
            </a:r>
          </a:p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act on them, turning raw data into a decision-</a:t>
            </a:r>
          </a:p>
          <a:p>
            <a:pPr algn="l">
              <a:lnSpc>
                <a:spcPts val="354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FFFFFF"/>
                </a:solidFill>
                <a:latin typeface="Arial"/>
              </a:rPr>
              <a:t>support story.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55667" y="26919730"/>
            <a:ext cx="10787404" cy="246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/>
              </a:rPr>
              <a:t>A hybrid rule-based + LLM pipeline, co-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/>
              </a:rPr>
              <a:t>designed with five mental-health experts to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/>
              </a:rPr>
              <a:t>surface clinically meaningful insights.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796749" y="6256049"/>
            <a:ext cx="4255501" cy="683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10"/>
              </a:lnSpc>
              <a:spcBef>
                <a:spcPts val="0"/>
              </a:spcBef>
              <a:spcAft>
                <a:spcPts val="0"/>
              </a:spcAft>
            </a:pPr>
            <a:r>
              <a:rPr sz="4095" b="1">
                <a:solidFill>
                  <a:srgbClr val="34373B"/>
                </a:solidFill>
                <a:latin typeface="Arial"/>
              </a:rPr>
              <a:t>Synthesizer (M2)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948410" y="6368961"/>
            <a:ext cx="2564365" cy="424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</a:pPr>
            <a:r>
              <a:rPr sz="2539" b="1" i="1">
                <a:solidFill>
                  <a:srgbClr val="555555"/>
                </a:solidFill>
                <a:latin typeface="Arial"/>
              </a:rPr>
              <a:t>facts → insights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796749" y="10295288"/>
            <a:ext cx="6368079" cy="683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10"/>
              </a:lnSpc>
              <a:spcBef>
                <a:spcPts val="0"/>
              </a:spcBef>
              <a:spcAft>
                <a:spcPts val="0"/>
              </a:spcAft>
            </a:pPr>
            <a:r>
              <a:rPr sz="4095" b="1">
                <a:solidFill>
                  <a:srgbClr val="34373B"/>
                </a:solidFill>
                <a:latin typeface="Arial"/>
              </a:rPr>
              <a:t>Narrator (M3) &amp; structure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912700" y="10408201"/>
            <a:ext cx="2601146" cy="424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</a:pPr>
            <a:r>
              <a:rPr sz="2539" b="1" i="1">
                <a:solidFill>
                  <a:srgbClr val="555555"/>
                </a:solidFill>
                <a:latin typeface="Arial"/>
              </a:rPr>
              <a:t>insights → story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43366" y="12584462"/>
            <a:ext cx="9370744" cy="2414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158"/>
              </a:lnSpc>
              <a:spcBef>
                <a:spcPts val="0"/>
              </a:spcBef>
              <a:spcAft>
                <a:spcPts val="0"/>
              </a:spcAft>
            </a:pPr>
            <a:r>
              <a:rPr sz="3198" b="0" i="1">
                <a:solidFill>
                  <a:srgbClr val="555555"/>
                </a:solidFill>
                <a:latin typeface="Arial"/>
              </a:rPr>
              <a:t>MIND’s three-module insight pipeline: Analyzer</a:t>
            </a:r>
          </a:p>
          <a:p>
            <a:pPr algn="ctr">
              <a:lnSpc>
                <a:spcPts val="4158"/>
              </a:lnSpc>
              <a:spcBef>
                <a:spcPts val="0"/>
              </a:spcBef>
              <a:spcAft>
                <a:spcPts val="0"/>
              </a:spcAft>
            </a:pPr>
            <a:r>
              <a:rPr sz="3198" b="0" i="1">
                <a:solidFill>
                  <a:srgbClr val="555555"/>
                </a:solidFill>
                <a:latin typeface="Arial"/>
              </a:rPr>
              <a:t>(M1) turns raw data into facts, Synthesizer (M2)</a:t>
            </a:r>
          </a:p>
          <a:p>
            <a:pPr algn="ctr">
              <a:lnSpc>
                <a:spcPts val="4158"/>
              </a:lnSpc>
              <a:spcBef>
                <a:spcPts val="0"/>
              </a:spcBef>
              <a:spcAft>
                <a:spcPts val="0"/>
              </a:spcAft>
            </a:pPr>
            <a:r>
              <a:rPr sz="3198" b="0" i="1">
                <a:solidFill>
                  <a:srgbClr val="555555"/>
                </a:solidFill>
                <a:latin typeface="Arial"/>
              </a:rPr>
              <a:t>distills facts into one-sentence insights, Narrator</a:t>
            </a:r>
          </a:p>
          <a:p>
            <a:pPr algn="ctr">
              <a:lnSpc>
                <a:spcPts val="4158"/>
              </a:lnSpc>
              <a:spcBef>
                <a:spcPts val="0"/>
              </a:spcBef>
              <a:spcAft>
                <a:spcPts val="0"/>
              </a:spcAft>
            </a:pPr>
            <a:r>
              <a:rPr sz="3198" b="0" i="1">
                <a:solidFill>
                  <a:srgbClr val="555555"/>
                </a:solidFill>
                <a:latin typeface="Arial"/>
              </a:rPr>
              <a:t>(M3) threads them into a coherent story.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965023" y="14151027"/>
            <a:ext cx="851008" cy="169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702"/>
              </a:lnSpc>
              <a:spcBef>
                <a:spcPts val="0"/>
              </a:spcBef>
              <a:spcAft>
                <a:spcPts val="0"/>
              </a:spcAft>
            </a:pPr>
            <a:r>
              <a:rPr sz="11702" b="1">
                <a:solidFill>
                  <a:srgbClr val="34373B"/>
                </a:solidFill>
                <a:latin typeface="Arial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989282" y="14937121"/>
            <a:ext cx="6199808" cy="7389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0"/>
              </a:lnSpc>
              <a:spcBef>
                <a:spcPts val="0"/>
              </a:spcBef>
              <a:spcAft>
                <a:spcPts val="0"/>
              </a:spcAft>
            </a:pPr>
            <a:r>
              <a:rPr sz="3510" b="0">
                <a:solidFill>
                  <a:srgbClr val="555555"/>
                </a:solidFill>
                <a:latin typeface="Arial"/>
              </a:rPr>
              <a:t>multimodal source types fused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87393" y="15503754"/>
            <a:ext cx="3481731" cy="683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10"/>
              </a:lnSpc>
              <a:spcBef>
                <a:spcPts val="0"/>
              </a:spcBef>
              <a:spcAft>
                <a:spcPts val="0"/>
              </a:spcAft>
            </a:pPr>
            <a:r>
              <a:rPr sz="4095" b="1">
                <a:solidFill>
                  <a:srgbClr val="34373B"/>
                </a:solidFill>
                <a:latin typeface="Arial"/>
              </a:rPr>
              <a:t>Analyzer (M1)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8267188" y="15616666"/>
            <a:ext cx="2638537" cy="4240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</a:pPr>
            <a:r>
              <a:rPr sz="2539" b="1" i="1">
                <a:solidFill>
                  <a:srgbClr val="555555"/>
                </a:solidFill>
                <a:latin typeface="Arial"/>
              </a:rPr>
              <a:t>raw data → facts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55437" y="17705469"/>
            <a:ext cx="10787641" cy="2340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7565" indent="-517565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705" b="1">
                <a:solidFill>
                  <a:srgbClr val="111111"/>
                </a:solidFill>
                <a:latin typeface="Arial"/>
              </a:rPr>
              <a:t>Rule-based agents</a:t>
            </a:r>
            <a:r>
              <a:rPr sz="3705" b="0">
                <a:solidFill>
                  <a:srgbClr val="1C1C1C"/>
                </a:solidFill>
                <a:latin typeface="Arial"/>
              </a:rPr>
              <a:t> — Mann-Whitney U,</a:t>
            </a:r>
          </a:p>
          <a:p>
            <a:pPr algn="l" marL="517565" indent="0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5" b="0">
                <a:solidFill>
                  <a:srgbClr val="1C1C1C"/>
                </a:solidFill>
                <a:latin typeface="Arial"/>
              </a:rPr>
              <a:t>Mann-Kendall, STL/LOESS + MAD for</a:t>
            </a:r>
          </a:p>
          <a:p>
            <a:pPr algn="l" marL="517565" indent="0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5" b="0">
                <a:solidFill>
                  <a:srgbClr val="1C1C1C"/>
                </a:solidFill>
                <a:latin typeface="Arial"/>
              </a:rPr>
              <a:t>comparison / trend / outlier facts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6867" y="17999662"/>
            <a:ext cx="8479631" cy="30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06669" indent="-506669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27" b="1">
                <a:solidFill>
                  <a:srgbClr val="111111"/>
                </a:solidFill>
                <a:latin typeface="Arial"/>
              </a:rPr>
              <a:t>Multimodal patient data is rich</a:t>
            </a:r>
            <a:r>
              <a:rPr sz="3627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passive sensing, active self-reports,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clinical notes, and transcripts — but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their formats and frequencies clash.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55437" y="19904225"/>
            <a:ext cx="10787641" cy="2340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7565" indent="-517565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705" b="1">
                <a:solidFill>
                  <a:srgbClr val="111111"/>
                </a:solidFill>
                <a:latin typeface="Arial"/>
              </a:rPr>
              <a:t>LLM agents</a:t>
            </a:r>
            <a:r>
              <a:rPr sz="3705" b="0">
                <a:solidFill>
                  <a:srgbClr val="1C1C1C"/>
                </a:solidFill>
                <a:latin typeface="Arial"/>
              </a:rPr>
              <a:t> — extreme-value and difference</a:t>
            </a:r>
          </a:p>
          <a:p>
            <a:pPr algn="l" marL="517565" indent="0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5" b="0">
                <a:solidFill>
                  <a:srgbClr val="1C1C1C"/>
                </a:solidFill>
                <a:latin typeface="Arial"/>
              </a:rPr>
              <a:t>facts, stitched with drill-down panels for</a:t>
            </a:r>
          </a:p>
          <a:p>
            <a:pPr algn="l" marL="517565" indent="0">
              <a:lnSpc>
                <a:spcPts val="5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5" b="0">
                <a:solidFill>
                  <a:srgbClr val="1C1C1C"/>
                </a:solidFill>
                <a:latin typeface="Arial"/>
              </a:rPr>
              <a:t>verifiability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86867" y="20815958"/>
            <a:ext cx="8479631" cy="38180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06669" indent="-506669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27" b="1">
                <a:solidFill>
                  <a:srgbClr val="111111"/>
                </a:solidFill>
                <a:latin typeface="Arial"/>
              </a:rPr>
              <a:t>Existing tools fall short: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detect/predict models barely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generalize across datasets, and data-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collection dashboards (e.g., CardioAI)</a:t>
            </a:r>
          </a:p>
          <a:p>
            <a:pPr algn="l" marL="506669" indent="0">
              <a:lnSpc>
                <a:spcPts val="5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7" b="0">
                <a:solidFill>
                  <a:srgbClr val="1C1C1C"/>
                </a:solidFill>
                <a:latin typeface="Arial"/>
              </a:rPr>
              <a:t>expose everything but curate nothing.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87393" y="22959218"/>
            <a:ext cx="4641389" cy="683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10"/>
              </a:lnSpc>
              <a:spcBef>
                <a:spcPts val="0"/>
              </a:spcBef>
              <a:spcAft>
                <a:spcPts val="0"/>
              </a:spcAft>
            </a:pPr>
            <a:r>
              <a:rPr sz="4095" b="1">
                <a:solidFill>
                  <a:srgbClr val="34373B"/>
                </a:solidFill>
                <a:latin typeface="Arial"/>
              </a:rPr>
              <a:t>The MIND pipeline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625618" y="23072130"/>
            <a:ext cx="2269354" cy="424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</a:pPr>
            <a:r>
              <a:rPr sz="2539" b="1" i="1">
                <a:solidFill>
                  <a:srgbClr val="555555"/>
                </a:solidFill>
                <a:latin typeface="Arial"/>
              </a:rPr>
              <a:t>three modules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269336" y="23794887"/>
            <a:ext cx="9846325" cy="95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/>
              </a:rPr>
              <a:t>Analyzer (M1)</a:t>
            </a:r>
            <a:r>
              <a:rPr sz="3900" b="0">
                <a:solidFill>
                  <a:srgbClr val="1C1C1C"/>
                </a:solidFill>
                <a:latin typeface="Arial"/>
              </a:rPr>
              <a:t> — data → facts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69336" y="24919275"/>
            <a:ext cx="9846325" cy="95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/>
              </a:rPr>
              <a:t>Synthesizer (M2)</a:t>
            </a:r>
            <a:r>
              <a:rPr sz="3900" b="0">
                <a:solidFill>
                  <a:srgbClr val="1C1C1C"/>
                </a:solidFill>
                <a:latin typeface="Arial"/>
              </a:rPr>
              <a:t> — facts → insights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3606" y="25665117"/>
            <a:ext cx="7697846" cy="3818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260"/>
              </a:lnSpc>
              <a:spcBef>
                <a:spcPts val="0"/>
              </a:spcBef>
              <a:spcAft>
                <a:spcPts val="0"/>
              </a:spcAft>
            </a:pPr>
            <a:r>
              <a:rPr sz="3627" b="0">
                <a:solidFill>
                  <a:srgbClr val="1C1C1C"/>
                </a:solidFill>
                <a:latin typeface="Arial"/>
              </a:rPr>
              <a:t>ML predictors barely generalize and</a:t>
            </a:r>
          </a:p>
          <a:p>
            <a:pPr algn="l">
              <a:lnSpc>
                <a:spcPts val="5260"/>
              </a:lnSpc>
              <a:spcBef>
                <a:spcPts val="0"/>
              </a:spcBef>
              <a:spcAft>
                <a:spcPts val="0"/>
              </a:spcAft>
            </a:pPr>
            <a:r>
              <a:rPr sz="3627" b="0">
                <a:solidFill>
                  <a:srgbClr val="1C1C1C"/>
                </a:solidFill>
                <a:latin typeface="Arial"/>
              </a:rPr>
              <a:t>raw-data dashboards curate nothing</a:t>
            </a:r>
          </a:p>
          <a:p>
            <a:pPr algn="l">
              <a:lnSpc>
                <a:spcPts val="5260"/>
              </a:lnSpc>
              <a:spcBef>
                <a:spcPts val="0"/>
              </a:spcBef>
              <a:spcAft>
                <a:spcPts val="0"/>
              </a:spcAft>
            </a:pPr>
            <a:r>
              <a:rPr sz="3627" b="0">
                <a:solidFill>
                  <a:srgbClr val="1C1C1C"/>
                </a:solidFill>
                <a:latin typeface="Arial"/>
              </a:rPr>
              <a:t>— clinicians need text-first narrative</a:t>
            </a:r>
          </a:p>
          <a:p>
            <a:pPr algn="l">
              <a:lnSpc>
                <a:spcPts val="5260"/>
              </a:lnSpc>
              <a:spcBef>
                <a:spcPts val="0"/>
              </a:spcBef>
              <a:spcAft>
                <a:spcPts val="0"/>
              </a:spcAft>
            </a:pPr>
            <a:r>
              <a:rPr sz="3627" b="0">
                <a:solidFill>
                  <a:srgbClr val="1C1C1C"/>
                </a:solidFill>
                <a:latin typeface="Arial"/>
              </a:rPr>
              <a:t>insights they can absorb at a</a:t>
            </a:r>
          </a:p>
          <a:p>
            <a:pPr algn="l">
              <a:lnSpc>
                <a:spcPts val="5260"/>
              </a:lnSpc>
              <a:spcBef>
                <a:spcPts val="0"/>
              </a:spcBef>
              <a:spcAft>
                <a:spcPts val="0"/>
              </a:spcAft>
            </a:pPr>
            <a:r>
              <a:rPr sz="3627" b="0">
                <a:solidFill>
                  <a:srgbClr val="1C1C1C"/>
                </a:solidFill>
                <a:latin typeface="Arial"/>
              </a:rPr>
              <a:t>glance.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964783" y="25886058"/>
            <a:ext cx="10787501" cy="1642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44805" indent="-544805">
              <a:lnSpc>
                <a:spcPts val="565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900" b="1">
                <a:solidFill>
                  <a:srgbClr val="111111"/>
                </a:solidFill>
                <a:latin typeface="Arial"/>
              </a:rPr>
              <a:t>Insight cards</a:t>
            </a:r>
            <a:r>
              <a:rPr sz="3900" b="0">
                <a:solidFill>
                  <a:srgbClr val="1C1C1C"/>
                </a:solidFill>
                <a:latin typeface="Arial"/>
              </a:rPr>
              <a:t> carry drill-down panels so</a:t>
            </a:r>
          </a:p>
          <a:p>
            <a:pPr algn="l" marL="544805" indent="0">
              <a:lnSpc>
                <a:spcPts val="5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0" b="0">
                <a:solidFill>
                  <a:srgbClr val="1C1C1C"/>
                </a:solidFill>
                <a:latin typeface="Arial"/>
              </a:rPr>
              <a:t>clinicians can verify every claim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269336" y="26043660"/>
            <a:ext cx="9846325" cy="9533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/>
              </a:rPr>
              <a:t>Narrator (M3)</a:t>
            </a:r>
            <a:r>
              <a:rPr sz="3900" b="0">
                <a:solidFill>
                  <a:srgbClr val="1C1C1C"/>
                </a:solidFill>
                <a:latin typeface="Arial"/>
              </a:rPr>
              <a:t> — insights → story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964783" y="27486362"/>
            <a:ext cx="10787501" cy="1642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44805" indent="-544805">
              <a:lnSpc>
                <a:spcPts val="565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900" b="1">
                <a:solidFill>
                  <a:srgbClr val="111111"/>
                </a:solidFill>
                <a:latin typeface="Arial"/>
              </a:rPr>
              <a:t>Linear + parallel</a:t>
            </a:r>
            <a:r>
              <a:rPr sz="3900" b="0">
                <a:solidFill>
                  <a:srgbClr val="1C1C1C"/>
                </a:solidFill>
                <a:latin typeface="Arial"/>
              </a:rPr>
              <a:t> organization: chronological</a:t>
            </a:r>
          </a:p>
          <a:p>
            <a:pPr algn="l" marL="544805" indent="0">
              <a:lnSpc>
                <a:spcPts val="5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0" b="0">
                <a:solidFill>
                  <a:srgbClr val="1C1C1C"/>
                </a:solidFill>
                <a:latin typeface="Arial"/>
              </a:rPr>
              <a:t>order inside a Biopsychosocial frame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37588" y="16116855"/>
            <a:ext cx="4040946" cy="1462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071"/>
              </a:lnSpc>
              <a:spcBef>
                <a:spcPts val="0"/>
              </a:spcBef>
              <a:spcAft>
                <a:spcPts val="0"/>
              </a:spcAft>
            </a:pPr>
            <a:r>
              <a:rPr sz="10601" b="1" spc="-212">
                <a:solidFill>
                  <a:srgbClr val="34373B"/>
                </a:solidFill>
                <a:latin typeface="Arial"/>
              </a:rPr>
              <a:t>16/16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837588" y="17410388"/>
            <a:ext cx="4040946" cy="11180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C1C1C"/>
                </a:solidFill>
                <a:latin typeface="Arial"/>
              </a:rPr>
              <a:t>clinicians</a:t>
            </a:r>
          </a:p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C1C1C"/>
                </a:solidFill>
                <a:latin typeface="Arial"/>
              </a:rPr>
              <a:t>preferred MIND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837588" y="18382647"/>
            <a:ext cx="4040946" cy="868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555555"/>
                </a:solidFill>
                <a:latin typeface="Arial"/>
              </a:rPr>
              <a:t>N=16 licensed clinicians ·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555555"/>
                </a:solidFill>
                <a:latin typeface="Arial"/>
              </a:rPr>
              <a:t>within-subject vs FACT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574232" y="25076583"/>
            <a:ext cx="1574969" cy="1601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75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34373B"/>
                </a:solidFill>
                <a:latin typeface="Arial"/>
              </a:rPr>
              <a:t>Scan</a:t>
            </a:r>
          </a:p>
          <a:p>
            <a:pPr algn="l">
              <a:lnSpc>
                <a:spcPts val="3675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34373B"/>
                </a:solidFill>
                <a:latin typeface="Arial"/>
              </a:rPr>
              <a:t>to</a:t>
            </a:r>
          </a:p>
          <a:p>
            <a:pPr algn="l">
              <a:lnSpc>
                <a:spcPts val="3675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34373B"/>
                </a:solidFill>
                <a:latin typeface="Arial"/>
              </a:rPr>
              <a:t>Read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574232" y="7389019"/>
            <a:ext cx="6422483" cy="567217"/>
          </a:xfrm>
          <a:prstGeom prst="rect">
            <a:avLst/>
          </a:prstGeom>
          <a:noFill/>
        </p:spPr>
        <p:txBody>
          <a:bodyPr wrap="none" lIns="76196" rIns="76196" tIns="56838" bIns="56838">
            <a:spAutoFit/>
          </a:bodyPr>
          <a:lstStyle/>
          <a:p>
            <a:pPr algn="l">
              <a:lnSpc>
                <a:spcPts val="2969"/>
              </a:lnSpc>
              <a:spcBef>
                <a:spcPts val="0"/>
              </a:spcBef>
              <a:spcAft>
                <a:spcPts val="0"/>
              </a:spcAft>
            </a:pPr>
            <a:r>
              <a:rPr sz="2047" b="1" spc="102">
                <a:solidFill>
                  <a:srgbClr val="34373B"/>
                </a:solidFill>
                <a:latin typeface="Arial"/>
              </a:rPr>
              <a:t>METHOD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9809653" y="7389019"/>
            <a:ext cx="2057100" cy="567217"/>
          </a:xfrm>
          <a:prstGeom prst="rect">
            <a:avLst/>
          </a:prstGeom>
          <a:noFill/>
        </p:spPr>
        <p:txBody>
          <a:bodyPr wrap="none" lIns="76196" rIns="76196" tIns="56838" bIns="56838">
            <a:spAutoFit/>
          </a:bodyPr>
          <a:lstStyle/>
          <a:p>
            <a:pPr algn="ctr">
              <a:lnSpc>
                <a:spcPts val="2969"/>
              </a:lnSpc>
              <a:spcBef>
                <a:spcPts val="0"/>
              </a:spcBef>
              <a:spcAft>
                <a:spcPts val="0"/>
              </a:spcAft>
            </a:pPr>
            <a:r>
              <a:rPr sz="2047" b="1" spc="102">
                <a:solidFill>
                  <a:srgbClr val="34373B"/>
                </a:solidFill>
                <a:latin typeface="Arial"/>
              </a:rPr>
              <a:t>METRIC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574232" y="7882252"/>
            <a:ext cx="6422483" cy="716466"/>
          </a:xfrm>
          <a:prstGeom prst="rect">
            <a:avLst/>
          </a:prstGeom>
          <a:noFill/>
        </p:spPr>
        <p:txBody>
          <a:bodyPr wrap="square" lIns="76196" rIns="76196" tIns="56838" bIns="56838">
            <a:spAutoFit/>
          </a:bodyPr>
          <a:lstStyle/>
          <a:p>
            <a:pPr algn="l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1C1C1C"/>
                </a:solidFill>
                <a:latin typeface="Arial"/>
              </a:rPr>
              <a:t>FACT (data-collection)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9809653" y="7882252"/>
            <a:ext cx="2057100" cy="716466"/>
          </a:xfrm>
          <a:prstGeom prst="rect">
            <a:avLst/>
          </a:prstGeom>
          <a:noFill/>
        </p:spPr>
        <p:txBody>
          <a:bodyPr wrap="none" lIns="76196" rIns="76196" tIns="56838" bIns="56838">
            <a:spAutoFit/>
          </a:bodyPr>
          <a:lstStyle/>
          <a:p>
            <a:pPr algn="ctr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2730" b="0">
                <a:solidFill>
                  <a:srgbClr val="1C1C1C"/>
                </a:solidFill>
                <a:latin typeface="Arial"/>
              </a:rPr>
              <a:t>3.93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574232" y="8505266"/>
            <a:ext cx="6422483" cy="716468"/>
          </a:xfrm>
          <a:prstGeom prst="rect">
            <a:avLst/>
          </a:prstGeom>
          <a:noFill/>
        </p:spPr>
        <p:txBody>
          <a:bodyPr wrap="none" lIns="76196" rIns="76196" tIns="56838" bIns="56838">
            <a:spAutoFit/>
          </a:bodyPr>
          <a:lstStyle/>
          <a:p>
            <a:pPr algn="l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34373B"/>
                </a:solidFill>
                <a:latin typeface="Arial"/>
              </a:rPr>
              <a:t>MIND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809653" y="8505266"/>
            <a:ext cx="2057100" cy="716468"/>
          </a:xfrm>
          <a:prstGeom prst="rect">
            <a:avLst/>
          </a:prstGeom>
          <a:noFill/>
        </p:spPr>
        <p:txBody>
          <a:bodyPr wrap="none" lIns="76196" rIns="76196" tIns="56838" bIns="56838">
            <a:spAutoFit/>
          </a:bodyPr>
          <a:lstStyle/>
          <a:p>
            <a:pPr algn="ctr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2730" b="1">
                <a:solidFill>
                  <a:srgbClr val="34373B"/>
                </a:solidFill>
                <a:latin typeface="Arial"/>
              </a:rPr>
              <a:t>5.75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483205" y="15098720"/>
            <a:ext cx="997209" cy="580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40">
                <a:solidFill>
                  <a:srgbClr val="AE2622"/>
                </a:solidFill>
                <a:latin typeface="Arial"/>
              </a:rPr>
              <a:t>5.75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576055" y="15221843"/>
            <a:ext cx="2026451" cy="135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hidden-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insight score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(FACT 3.93)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483205" y="16580934"/>
            <a:ext cx="997209" cy="580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40">
                <a:solidFill>
                  <a:srgbClr val="AE2622"/>
                </a:solidFill>
                <a:latin typeface="Arial"/>
              </a:rPr>
              <a:t>5.68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576055" y="16704057"/>
            <a:ext cx="2026451" cy="181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decision-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support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score (FACT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4.62)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483205" y="18457083"/>
            <a:ext cx="1611748" cy="580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40">
                <a:solidFill>
                  <a:srgbClr val="AE2622"/>
                </a:solidFill>
                <a:latin typeface="Arial"/>
              </a:rPr>
              <a:t>p&lt;.001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172694" y="18580205"/>
            <a:ext cx="1870746" cy="181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significance,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largest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effect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55555"/>
                </a:solidFill>
                <a:latin typeface="Arial"/>
              </a:rPr>
              <a:t>(r=.85)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965023" y="18695634"/>
            <a:ext cx="5225280" cy="767691"/>
          </a:xfrm>
          <a:prstGeom prst="rect">
            <a:avLst/>
          </a:prstGeom>
          <a:noFill/>
        </p:spPr>
        <p:txBody>
          <a:bodyPr wrap="none" lIns="176442" rIns="176442" tIns="77215" bIns="77215">
            <a:spAutoFit/>
          </a:bodyPr>
          <a:lstStyle/>
          <a:p>
            <a:pPr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38">
                <a:solidFill>
                  <a:srgbClr val="555555"/>
                </a:solidFill>
                <a:latin typeface="Arial"/>
              </a:rPr>
              <a:t>SOURCE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038111" y="18695634"/>
            <a:ext cx="2950558" cy="767691"/>
          </a:xfrm>
          <a:prstGeom prst="rect">
            <a:avLst/>
          </a:prstGeom>
          <a:noFill/>
        </p:spPr>
        <p:txBody>
          <a:bodyPr wrap="none" lIns="176442" rIns="176442" tIns="77215" bIns="77215">
            <a:spAutoFit/>
          </a:bodyPr>
          <a:lstStyle/>
          <a:p>
            <a:pPr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38">
                <a:solidFill>
                  <a:srgbClr val="555555"/>
                </a:solidFill>
                <a:latin typeface="Arial"/>
              </a:rPr>
              <a:t>FORMAT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902731" y="18695634"/>
            <a:ext cx="2611414" cy="767691"/>
          </a:xfrm>
          <a:prstGeom prst="rect">
            <a:avLst/>
          </a:prstGeom>
          <a:noFill/>
        </p:spPr>
        <p:txBody>
          <a:bodyPr wrap="square" lIns="176442" rIns="176442" tIns="77215" bIns="77215">
            <a:spAutoFit/>
          </a:bodyPr>
          <a:lstStyle/>
          <a:p>
            <a:pPr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38">
                <a:solidFill>
                  <a:srgbClr val="555555"/>
                </a:solidFill>
                <a:latin typeface="Arial"/>
              </a:rPr>
              <a:t>CADENCE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965023" y="19363192"/>
            <a:ext cx="5225280" cy="1027562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Passive sensing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038111" y="19363192"/>
            <a:ext cx="2950558" cy="1027562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numerical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9902731" y="19363192"/>
            <a:ext cx="2611414" cy="1027562"/>
          </a:xfrm>
          <a:prstGeom prst="rect">
            <a:avLst/>
          </a:prstGeom>
          <a:noFill/>
        </p:spPr>
        <p:txBody>
          <a:bodyPr wrap="non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daily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965023" y="20256725"/>
            <a:ext cx="5225280" cy="1027558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Active self-report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7038111" y="20256725"/>
            <a:ext cx="2950558" cy="1027558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numerical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902731" y="20256725"/>
            <a:ext cx="2611414" cy="1027558"/>
          </a:xfrm>
          <a:prstGeom prst="rect">
            <a:avLst/>
          </a:prstGeom>
          <a:noFill/>
        </p:spPr>
        <p:txBody>
          <a:bodyPr wrap="non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weekly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965023" y="21150254"/>
            <a:ext cx="5225280" cy="1027560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Clinical notes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038111" y="21150254"/>
            <a:ext cx="2950558" cy="1027560"/>
          </a:xfrm>
          <a:prstGeom prst="rect">
            <a:avLst/>
          </a:prstGeom>
          <a:noFill/>
        </p:spPr>
        <p:txBody>
          <a:bodyPr wrap="non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text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9902731" y="21150254"/>
            <a:ext cx="2611414" cy="1027560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monthly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1965023" y="22043785"/>
            <a:ext cx="5225280" cy="1027560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Session transcripts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038111" y="22043785"/>
            <a:ext cx="2950558" cy="1027560"/>
          </a:xfrm>
          <a:prstGeom prst="rect">
            <a:avLst/>
          </a:prstGeom>
          <a:noFill/>
        </p:spPr>
        <p:txBody>
          <a:bodyPr wrap="non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text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9902731" y="22043785"/>
            <a:ext cx="2611414" cy="1027560"/>
          </a:xfrm>
          <a:prstGeom prst="rect">
            <a:avLst/>
          </a:prstGeom>
          <a:noFill/>
        </p:spPr>
        <p:txBody>
          <a:bodyPr wrap="square" lIns="235257" rIns="235257" tIns="102953" bIns="102953">
            <a:spAutoFit/>
          </a:bodyPr>
          <a:lstStyle/>
          <a:p>
            <a:pPr algn="l">
              <a:lnSpc>
                <a:spcPts val="5373"/>
              </a:lnSpc>
              <a:spcBef>
                <a:spcPts val="0"/>
              </a:spcBef>
              <a:spcAft>
                <a:spcPts val="0"/>
              </a:spcAft>
            </a:pPr>
            <a:r>
              <a:rPr sz="3705" b="0">
                <a:solidFill>
                  <a:srgbClr val="1C1C1C"/>
                </a:solidFill>
                <a:latin typeface="Arial"/>
              </a:rPr>
              <a:t>monthly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574232" y="26645514"/>
            <a:ext cx="1574969" cy="3087789"/>
          </a:xfrm>
          <a:prstGeom prst="rect">
            <a:avLst/>
          </a:prstGeom>
          <a:noFill/>
        </p:spPr>
        <p:txBody>
          <a:bodyPr wrap="none" lIns="253989" rIns="253989" tIns="138939" bIns="138939">
            <a:sp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373B"/>
                </a:solidFill>
                <a:latin typeface="Arial"/>
              </a:rPr>
              <a:t>Project</a:t>
            </a:r>
          </a:p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55555"/>
                </a:solidFill>
                <a:latin typeface="JetBrains Mono"/>
              </a:rPr>
              <a:t>https://gi</a:t>
            </a:r>
          </a:p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55555"/>
                </a:solidFill>
                <a:latin typeface="JetBrains Mono"/>
              </a:rPr>
              <a:t>thub.com/sea</a:t>
            </a:r>
          </a:p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55555"/>
                </a:solidFill>
                <a:latin typeface="JetBrains Mono"/>
              </a:rPr>
              <a:t>-lab-s</a:t>
            </a:r>
          </a:p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55555"/>
                </a:solidFill>
                <a:latin typeface="JetBrains Mono"/>
              </a:rPr>
              <a:t>pace/MIND</a:t>
            </a:r>
          </a:p>
        </p:txBody>
      </p:sp>
      <p:pic>
        <p:nvPicPr>
          <p:cNvPr id="168" name="Picture 167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897" y="16474830"/>
            <a:ext cx="9694601" cy="662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