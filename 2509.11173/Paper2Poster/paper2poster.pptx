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6393715"/>
          </a:xfrm>
          <a:prstGeom prst="roundRect">
            <a:avLst>
              <a:gd name="adj" fmla="val 2224"/>
            </a:avLst>
          </a:prstGeom>
          <a:solidFill>
            <a:srgbClr val="E2EF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7567056"/>
            <a:ext cx="10804961" cy="7912517"/>
          </a:xfrm>
          <a:prstGeom prst="roundRect">
            <a:avLst>
              <a:gd name="adj" fmla="val 1048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3568" y="7567056"/>
            <a:ext cx="13506133" cy="5618203"/>
          </a:xfrm>
          <a:prstGeom prst="roundRect">
            <a:avLst>
              <a:gd name="adj" fmla="val 1476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816421" y="7567056"/>
            <a:ext cx="13506271" cy="7667903"/>
          </a:xfrm>
          <a:prstGeom prst="roundRect">
            <a:avLst>
              <a:gd name="adj" fmla="val 1082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7567056"/>
            <a:ext cx="10804962" cy="5666820"/>
          </a:xfrm>
          <a:prstGeom prst="roundRect">
            <a:avLst>
              <a:gd name="adj" fmla="val 1464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3568" y="13517106"/>
            <a:ext cx="13506133" cy="4865747"/>
          </a:xfrm>
          <a:prstGeom prst="roundRect">
            <a:avLst>
              <a:gd name="adj" fmla="val 1705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49412" y="13565723"/>
            <a:ext cx="10804962" cy="4930199"/>
          </a:xfrm>
          <a:prstGeom prst="roundRect">
            <a:avLst>
              <a:gd name="adj" fmla="val 1682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816421" y="15566806"/>
            <a:ext cx="13506271" cy="14505146"/>
          </a:xfrm>
          <a:prstGeom prst="roundRect">
            <a:avLst>
              <a:gd name="adj" fmla="val 614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1887" y="15811420"/>
            <a:ext cx="10804961" cy="14260532"/>
          </a:xfrm>
          <a:prstGeom prst="roundRect">
            <a:avLst>
              <a:gd name="adj" fmla="val 767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3568" y="18714700"/>
            <a:ext cx="13506133" cy="11357252"/>
          </a:xfrm>
          <a:prstGeom prst="roundRect">
            <a:avLst>
              <a:gd name="adj" fmla="val 730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749412" y="18827769"/>
            <a:ext cx="10804962" cy="6593186"/>
          </a:xfrm>
          <a:prstGeom prst="roundRect">
            <a:avLst>
              <a:gd name="adj" fmla="val 1258"/>
            </a:avLst>
          </a:prstGeom>
          <a:solidFill>
            <a:srgbClr val="E9F2F3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49412" y="18827769"/>
            <a:ext cx="53340" cy="6593186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749412" y="25752802"/>
            <a:ext cx="10804962" cy="4319150"/>
          </a:xfrm>
          <a:prstGeom prst="roundRect">
            <a:avLst>
              <a:gd name="adj" fmla="val 1921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lumbia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0962" y="1552216"/>
            <a:ext cx="1697434" cy="2213454"/>
          </a:xfrm>
          <a:prstGeom prst="rect">
            <a:avLst/>
          </a:prstGeom>
        </p:spPr>
      </p:pic>
      <p:pic>
        <p:nvPicPr>
          <p:cNvPr id="16" name="Picture 15" descr="university-of-southern-californ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5705" y="3931614"/>
            <a:ext cx="10248087" cy="221358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039991" y="9057520"/>
            <a:ext cx="10028753" cy="3428623"/>
          </a:xfrm>
          <a:prstGeom prst="roundRect">
            <a:avLst>
              <a:gd name="adj" fmla="val 5324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9991" y="9057520"/>
            <a:ext cx="124460" cy="3428623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0137516" y="15056187"/>
            <a:ext cx="10028754" cy="3111222"/>
          </a:xfrm>
          <a:prstGeom prst="roundRect">
            <a:avLst>
              <a:gd name="adj" fmla="val 2285"/>
            </a:avLst>
          </a:prstGeom>
          <a:gradFill rotWithShape="1" flip="none">
            <a:gsLst>
              <a:gs pos="0">
                <a:srgbClr val="E2ECEE"/>
              </a:gs>
              <a:gs pos="100000">
                <a:srgbClr val="F1F5F6"/>
              </a:gs>
            </a:gsLst>
            <a:lin ang="5400000" scaled="0"/>
          </a:gradFill>
          <a:ln w="8890">
            <a:solidFill>
              <a:srgbClr val="C3D7DB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204525" y="17010181"/>
            <a:ext cx="12730063" cy="1454487"/>
          </a:xfrm>
          <a:prstGeom prst="roundRect">
            <a:avLst>
              <a:gd name="adj" fmla="val 15490"/>
            </a:avLst>
          </a:prstGeom>
          <a:solidFill>
            <a:srgbClr val="F1F5F6"/>
          </a:solidFill>
          <a:ln w="8890">
            <a:solidFill>
              <a:srgbClr val="B2C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181966" y="20318233"/>
            <a:ext cx="9984304" cy="3024823"/>
          </a:xfrm>
          <a:prstGeom prst="roundRect">
            <a:avLst>
              <a:gd name="adj" fmla="val 689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271672" y="22758955"/>
            <a:ext cx="12729925" cy="1496854"/>
          </a:xfrm>
          <a:prstGeom prst="roundRect">
            <a:avLst>
              <a:gd name="adj" fmla="val 15052"/>
            </a:avLst>
          </a:prstGeom>
          <a:solidFill>
            <a:srgbClr val="F1F5F6"/>
          </a:solidFill>
          <a:ln w="8890">
            <a:solidFill>
              <a:srgbClr val="B2C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39991" y="27282298"/>
            <a:ext cx="10028753" cy="2325985"/>
          </a:xfrm>
          <a:prstGeom prst="roundRect">
            <a:avLst>
              <a:gd name="adj" fmla="val 8969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6204525" y="7955160"/>
            <a:ext cx="657026" cy="65702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49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29496" y="9213929"/>
            <a:ext cx="2940229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Calibri"/>
              </a:rPr>
              <a:t>OVERLOOKED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837701" y="9318247"/>
            <a:ext cx="9597866" cy="1667987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igur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7953" y="9318247"/>
            <a:ext cx="9597363" cy="1667987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26204525" y="10576877"/>
            <a:ext cx="1670208" cy="890528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8031142" y="10576877"/>
            <a:ext cx="1604923" cy="890528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9792473" y="10576877"/>
            <a:ext cx="2243614" cy="890528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192495" y="10576877"/>
            <a:ext cx="2178328" cy="890528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2271672" y="13905210"/>
            <a:ext cx="657027" cy="657026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49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292730" y="15278437"/>
            <a:ext cx="3627675" cy="27142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292730" y="15278437"/>
            <a:ext cx="11557" cy="2714228"/>
          </a:xfrm>
          <a:prstGeom prst="rect">
            <a:avLst/>
          </a:prstGeom>
          <a:solidFill>
            <a:srgbClr val="C3D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6204525" y="15987831"/>
            <a:ext cx="657026" cy="65702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49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271672" y="19102804"/>
            <a:ext cx="657027" cy="657026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49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7920712" y="20631884"/>
            <a:ext cx="1813282" cy="1514356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8890">
            <a:solidFill>
              <a:srgbClr val="A4C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0547845" y="20631884"/>
            <a:ext cx="1813144" cy="1514356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8890">
            <a:solidFill>
              <a:srgbClr val="A4C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2271672" y="20941922"/>
            <a:ext cx="1813143" cy="894279"/>
          </a:xfrm>
          <a:prstGeom prst="roundRect">
            <a:avLst>
              <a:gd name="adj" fmla="val 16737"/>
            </a:avLst>
          </a:prstGeom>
          <a:solidFill>
            <a:srgbClr val="FFFFFF"/>
          </a:solidFill>
          <a:ln w="8890">
            <a:solidFill>
              <a:srgbClr val="A4C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367" b="1">
                <a:solidFill>
                  <a:srgbClr val="0F6070"/>
                </a:solidFill>
                <a:latin typeface="Calibri"/>
              </a:rPr>
              <a:t>Split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898667" y="20941922"/>
            <a:ext cx="2208193" cy="894279"/>
          </a:xfrm>
          <a:prstGeom prst="roundRect">
            <a:avLst>
              <a:gd name="adj" fmla="val 16737"/>
            </a:avLst>
          </a:prstGeom>
          <a:solidFill>
            <a:srgbClr val="FFFFFF"/>
          </a:solidFill>
          <a:ln w="8890">
            <a:solidFill>
              <a:srgbClr val="A4C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367" b="1">
                <a:solidFill>
                  <a:srgbClr val="0F6070"/>
                </a:solidFill>
                <a:latin typeface="Calibri"/>
              </a:rPr>
              <a:t>Optimize 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174840" y="20941922"/>
            <a:ext cx="1826757" cy="894279"/>
          </a:xfrm>
          <a:prstGeom prst="roundRect">
            <a:avLst>
              <a:gd name="adj" fmla="val 16737"/>
            </a:avLst>
          </a:prstGeom>
          <a:solidFill>
            <a:srgbClr val="FFFFFF"/>
          </a:solidFill>
          <a:ln w="8890">
            <a:solidFill>
              <a:srgbClr val="A4C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367" b="1">
                <a:solidFill>
                  <a:srgbClr val="0F6070"/>
                </a:solidFill>
                <a:latin typeface="Calibri"/>
              </a:rPr>
              <a:t>Compile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137516" y="11966217"/>
            <a:ext cx="10028754" cy="945118"/>
          </a:xfrm>
          <a:prstGeom prst="rect">
            <a:avLst/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2271672" y="14753788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271672" y="15945187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271672" y="17136586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204525" y="18605380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204525" y="19796779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204525" y="20988178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204525" y="22179577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204649" y="26140906"/>
            <a:ext cx="2936201" cy="2936200"/>
          </a:xfrm>
          <a:prstGeom prst="roundRect">
            <a:avLst>
              <a:gd name="adj" fmla="val 5248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pap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3182" y="26259439"/>
            <a:ext cx="2699135" cy="2699134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48028086" y="29219346"/>
            <a:ext cx="1289327" cy="464502"/>
          </a:xfrm>
          <a:prstGeom prst="roundRect">
            <a:avLst>
              <a:gd name="adj" fmla="val 50000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0F6070"/>
                </a:solidFill>
                <a:latin typeface="Calibri"/>
              </a:rPr>
              <a:t>Paper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137516" y="9057520"/>
            <a:ext cx="4160520" cy="1245156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0137516" y="10293786"/>
            <a:ext cx="4160520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4298036" y="9057520"/>
            <a:ext cx="2856607" cy="1245156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4298036" y="10293786"/>
            <a:ext cx="2856607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7154643" y="9057520"/>
            <a:ext cx="3011627" cy="1245156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7154643" y="10293786"/>
            <a:ext cx="3011627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0137516" y="10302676"/>
            <a:ext cx="4160520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0137516" y="11957327"/>
            <a:ext cx="4160520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4298036" y="10302676"/>
            <a:ext cx="2856607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298036" y="11957327"/>
            <a:ext cx="2856607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154643" y="10302676"/>
            <a:ext cx="3011627" cy="16635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7154643" y="11957327"/>
            <a:ext cx="3011627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0137516" y="11966217"/>
            <a:ext cx="416052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0137516" y="12902445"/>
            <a:ext cx="4160520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4298036" y="11966217"/>
            <a:ext cx="285660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4298036" y="12902445"/>
            <a:ext cx="2856607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7154643" y="11966217"/>
            <a:ext cx="301162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7154643" y="12902445"/>
            <a:ext cx="3011627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20847" y="983734"/>
            <a:ext cx="12104012" cy="6589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5973" b="1" spc="59">
                <a:solidFill>
                  <a:srgbClr val="0F6070"/>
                </a:solidFill>
                <a:latin typeface="Calibri"/>
              </a:rPr>
              <a:t>arXiv 2025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446402" y="983734"/>
            <a:ext cx="24740176" cy="50376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199"/>
              </a:lnSpc>
              <a:spcBef>
                <a:spcPts val="0"/>
              </a:spcBef>
              <a:spcAft>
                <a:spcPts val="0"/>
              </a:spcAft>
            </a:pPr>
            <a:r>
              <a:rPr sz="6544" b="1" spc="-78">
                <a:solidFill>
                  <a:srgbClr val="0F6070"/>
                </a:solidFill>
                <a:latin typeface="Calibri"/>
              </a:rPr>
              <a:t>Your Compiler is Backdooring Your Model:</a:t>
            </a:r>
          </a:p>
          <a:p>
            <a:pPr algn="ctr">
              <a:lnSpc>
                <a:spcPts val="7199"/>
              </a:lnSpc>
              <a:spcBef>
                <a:spcPts val="0"/>
              </a:spcBef>
              <a:spcAft>
                <a:spcPts val="0"/>
              </a:spcAft>
            </a:pPr>
            <a:r>
              <a:rPr sz="6544" b="1" spc="-78">
                <a:solidFill>
                  <a:srgbClr val="0F6070"/>
                </a:solidFill>
                <a:latin typeface="Calibri"/>
              </a:rPr>
              <a:t>Understanding and Exploiting Compilation</a:t>
            </a:r>
          </a:p>
          <a:p>
            <a:pPr algn="ctr">
              <a:lnSpc>
                <a:spcPts val="7199"/>
              </a:lnSpc>
              <a:spcBef>
                <a:spcPts val="0"/>
              </a:spcBef>
              <a:spcAft>
                <a:spcPts val="0"/>
              </a:spcAft>
            </a:pPr>
            <a:r>
              <a:rPr sz="6544" b="1" spc="-78">
                <a:solidFill>
                  <a:srgbClr val="0F6070"/>
                </a:solidFill>
                <a:latin typeface="Calibri"/>
              </a:rPr>
              <a:t>Inconsistency Vulnerabilities in Deep Learning</a:t>
            </a:r>
          </a:p>
          <a:p>
            <a:pPr algn="ctr">
              <a:lnSpc>
                <a:spcPts val="7199"/>
              </a:lnSpc>
              <a:spcBef>
                <a:spcPts val="0"/>
              </a:spcBef>
              <a:spcAft>
                <a:spcPts val="0"/>
              </a:spcAft>
            </a:pPr>
            <a:r>
              <a:rPr sz="6544" b="1" spc="-78">
                <a:solidFill>
                  <a:srgbClr val="0F6070"/>
                </a:solidFill>
                <a:latin typeface="Calibri"/>
              </a:rPr>
              <a:t>Compilers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446402" y="5563334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Calibri"/>
              </a:rPr>
              <a:t>Simin Chen</a:t>
            </a:r>
            <a:r>
              <a:rPr sz="5226" b="0" baseline="30000">
                <a:solidFill>
                  <a:srgbClr val="1B2331"/>
                </a:solidFill>
                <a:latin typeface="Calibri"/>
              </a:rPr>
              <a:t>1</a:t>
            </a:r>
            <a:r>
              <a:rPr sz="3733" b="0">
                <a:solidFill>
                  <a:srgbClr val="1B2331"/>
                </a:solidFill>
                <a:latin typeface="Calibri"/>
              </a:rPr>
              <a:t>, Jinjun Peng</a:t>
            </a:r>
            <a:r>
              <a:rPr sz="5226" b="0" baseline="30000">
                <a:solidFill>
                  <a:srgbClr val="1B2331"/>
                </a:solidFill>
                <a:latin typeface="Calibri"/>
              </a:rPr>
              <a:t>1</a:t>
            </a:r>
            <a:r>
              <a:rPr sz="3733" b="0">
                <a:solidFill>
                  <a:srgbClr val="1B2331"/>
                </a:solidFill>
                <a:latin typeface="Calibri"/>
              </a:rPr>
              <a:t>, Yixin He</a:t>
            </a:r>
            <a:r>
              <a:rPr sz="5226" b="0" baseline="30000">
                <a:solidFill>
                  <a:srgbClr val="1B2331"/>
                </a:solidFill>
                <a:latin typeface="Calibri"/>
              </a:rPr>
              <a:t>2†</a:t>
            </a:r>
            <a:r>
              <a:rPr sz="3733" b="0">
                <a:solidFill>
                  <a:srgbClr val="1B2331"/>
                </a:solidFill>
                <a:latin typeface="Calibri"/>
              </a:rPr>
              <a:t>, Junfeng Yang</a:t>
            </a:r>
            <a:r>
              <a:rPr sz="5226" b="0" baseline="30000">
                <a:solidFill>
                  <a:srgbClr val="1B2331"/>
                </a:solidFill>
                <a:latin typeface="Calibri"/>
              </a:rPr>
              <a:t>1</a:t>
            </a:r>
            <a:r>
              <a:rPr sz="3733" b="0">
                <a:solidFill>
                  <a:srgbClr val="1B2331"/>
                </a:solidFill>
                <a:latin typeface="Calibri"/>
              </a:rPr>
              <a:t>, Baishakhi Ray</a:t>
            </a:r>
            <a:r>
              <a:rPr sz="5226" b="0" baseline="30000">
                <a:solidFill>
                  <a:srgbClr val="1B2331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446402" y="6232584"/>
            <a:ext cx="24740176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Calibri"/>
              </a:rPr>
              <a:t>1</a:t>
            </a:r>
            <a:r>
              <a:rPr sz="2613" b="0" spc="52">
                <a:solidFill>
                  <a:srgbClr val="55617A"/>
                </a:solidFill>
                <a:latin typeface="Calibri"/>
              </a:rPr>
              <a:t> Columbia University    </a:t>
            </a:r>
            <a:r>
              <a:rPr sz="3658" b="0" spc="52" baseline="30000">
                <a:solidFill>
                  <a:srgbClr val="55617A"/>
                </a:solidFill>
                <a:latin typeface="Calibri"/>
              </a:rPr>
              <a:t>2</a:t>
            </a:r>
            <a:r>
              <a:rPr sz="2613" b="0" spc="52">
                <a:solidFill>
                  <a:srgbClr val="55617A"/>
                </a:solidFill>
                <a:latin typeface="Calibri"/>
              </a:rPr>
              <a:t> University of Southern California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9991" y="7955160"/>
            <a:ext cx="1032961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Calibri"/>
              </a:rPr>
              <a:t>Problem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271672" y="7955160"/>
            <a:ext cx="13111822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Calibri"/>
              </a:rPr>
              <a:t>Method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137516" y="7955160"/>
            <a:ext cx="10329616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Calibri"/>
              </a:rPr>
              <a:t>Key Results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204525" y="8803739"/>
            <a:ext cx="13111964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Search a per-channel bias </a:t>
            </a:r>
            <a:r>
              <a:rPr sz="4106" b="1">
                <a:solidFill>
                  <a:srgbClr val="111111"/>
                </a:solidFill>
                <a:latin typeface="Calibri"/>
              </a:rPr>
              <a:t>V</a:t>
            </a:r>
            <a:r>
              <a:rPr sz="4106" b="0">
                <a:solidFill>
                  <a:srgbClr val="1C1C1C"/>
                </a:solidFill>
                <a:latin typeface="Calibri"/>
              </a:rPr>
              <a:t> so only the compiled triggered input exceeds it (Algorithm 1).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204525" y="10576877"/>
            <a:ext cx="13111964" cy="10241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490" b="1">
                <a:solidFill>
                  <a:srgbClr val="555555"/>
                </a:solidFill>
                <a:latin typeface="Calibri"/>
              </a:rPr>
              <a:t>M</a:t>
            </a:r>
            <a:r>
              <a:rPr sz="4886" b="1" baseline="-25000">
                <a:solidFill>
                  <a:srgbClr val="555555"/>
                </a:solidFill>
                <a:latin typeface="Calibri"/>
              </a:rPr>
              <a:t>1</a:t>
            </a:r>
            <a:r>
              <a:rPr sz="3490" b="1">
                <a:solidFill>
                  <a:srgbClr val="555555"/>
                </a:solidFill>
                <a:latin typeface="Calibri"/>
              </a:rPr>
              <a:t>(X)</a:t>
            </a:r>
            <a:r>
              <a:rPr sz="3490" b="1">
                <a:solidFill>
                  <a:srgbClr val="555555"/>
                </a:solidFill>
                <a:latin typeface="Calibri"/>
              </a:rPr>
              <a:t>C</a:t>
            </a:r>
            <a:r>
              <a:rPr sz="4886" b="1" baseline="-25000">
                <a:solidFill>
                  <a:srgbClr val="555555"/>
                </a:solidFill>
                <a:latin typeface="Calibri"/>
              </a:rPr>
              <a:t>1</a:t>
            </a:r>
            <a:r>
              <a:rPr sz="3490" b="1">
                <a:solidFill>
                  <a:srgbClr val="555555"/>
                </a:solidFill>
                <a:latin typeface="Calibri"/>
              </a:rPr>
              <a:t>(X)</a:t>
            </a:r>
            <a:r>
              <a:rPr sz="3490" b="1">
                <a:solidFill>
                  <a:srgbClr val="555555"/>
                </a:solidFill>
                <a:latin typeface="Calibri"/>
              </a:rPr>
              <a:t>M</a:t>
            </a:r>
            <a:r>
              <a:rPr sz="4886" b="1" baseline="-25000">
                <a:solidFill>
                  <a:srgbClr val="555555"/>
                </a:solidFill>
                <a:latin typeface="Calibri"/>
              </a:rPr>
              <a:t>1</a:t>
            </a:r>
            <a:r>
              <a:rPr sz="3490" b="1">
                <a:solidFill>
                  <a:srgbClr val="555555"/>
                </a:solidFill>
                <a:latin typeface="Calibri"/>
              </a:rPr>
              <a:t>(X⊕t)</a:t>
            </a:r>
            <a:r>
              <a:rPr sz="3490" b="1">
                <a:solidFill>
                  <a:srgbClr val="555555"/>
                </a:solidFill>
                <a:latin typeface="Calibri"/>
              </a:rPr>
              <a:t>C</a:t>
            </a:r>
            <a:r>
              <a:rPr sz="4886" b="1" baseline="-25000">
                <a:solidFill>
                  <a:srgbClr val="555555"/>
                </a:solidFill>
                <a:latin typeface="Calibri"/>
              </a:rPr>
              <a:t>1</a:t>
            </a:r>
            <a:r>
              <a:rPr sz="3490" b="1">
                <a:solidFill>
                  <a:srgbClr val="555555"/>
                </a:solidFill>
                <a:latin typeface="Calibri"/>
              </a:rPr>
              <a:t>(X⊕t)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204525" y="11467405"/>
            <a:ext cx="13111964" cy="35865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Only </a:t>
            </a:r>
            <a:r>
              <a:rPr sz="4106" b="1">
                <a:solidFill>
                  <a:srgbClr val="111111"/>
                </a:solidFill>
                <a:latin typeface="Calibri"/>
              </a:rPr>
              <a:t>C</a:t>
            </a:r>
            <a:r>
              <a:rPr sz="5749" b="1" baseline="-25000">
                <a:solidFill>
                  <a:srgbClr val="111111"/>
                </a:solidFill>
                <a:latin typeface="Calibri"/>
              </a:rPr>
              <a:t>1</a:t>
            </a:r>
            <a:r>
              <a:rPr sz="4106" b="1">
                <a:solidFill>
                  <a:srgbClr val="111111"/>
                </a:solidFill>
                <a:latin typeface="Calibri"/>
              </a:rPr>
              <a:t>(X⊕t)</a:t>
            </a:r>
            <a:r>
              <a:rPr sz="4106" b="0">
                <a:solidFill>
                  <a:srgbClr val="1C1C1C"/>
                </a:solidFill>
                <a:latin typeface="Calibri"/>
              </a:rPr>
              <a:t> lands above the guard — four input–model combos collapse to two states (activated / not), giving a hard, compiler-independent separation with no post-processing needed.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9991" y="12486143"/>
            <a:ext cx="10329615" cy="2696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Operator reordering breaks equivalence; deviations (10</a:t>
            </a:r>
            <a:r>
              <a:rPr sz="5749" b="0" baseline="30000">
                <a:solidFill>
                  <a:srgbClr val="1C1C1C"/>
                </a:solidFill>
                <a:latin typeface="Calibri"/>
              </a:rPr>
              <a:t>−6</a:t>
            </a:r>
            <a:r>
              <a:rPr sz="4106" b="0">
                <a:solidFill>
                  <a:srgbClr val="1C1C1C"/>
                </a:solidFill>
                <a:latin typeface="Calibri"/>
              </a:rPr>
              <a:t>–10</a:t>
            </a:r>
            <a:r>
              <a:rPr sz="5749" b="0" baseline="30000">
                <a:solidFill>
                  <a:srgbClr val="1C1C1C"/>
                </a:solidFill>
                <a:latin typeface="Calibri"/>
              </a:rPr>
              <a:t>−12</a:t>
            </a:r>
            <a:r>
              <a:rPr sz="4106" b="0">
                <a:solidFill>
                  <a:srgbClr val="1C1C1C"/>
                </a:solidFill>
                <a:latin typeface="Calibri"/>
              </a:rPr>
              <a:t>) are small but steerable.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137516" y="13953827"/>
            <a:ext cx="10329616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Calibri"/>
              </a:rPr>
              <a:t>Headline Numbers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9991" y="16199524"/>
            <a:ext cx="1032961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Calibri"/>
              </a:rPr>
              <a:t>Motivation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823963" y="18015029"/>
            <a:ext cx="4358302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              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drives post-compilation effectiveness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181966" y="19215873"/>
            <a:ext cx="1028383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Calibri"/>
              </a:rPr>
              <a:t>Takeaway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181966" y="20318233"/>
            <a:ext cx="10283833" cy="3478546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Calibri"/>
              </a:rPr>
              <a:t>Unmodified compilers silently backdoor benign models — the compiler is an attack surface, not a neutral pass. </a:t>
            </a:r>
            <a:r>
              <a:rPr sz="4106" b="1">
                <a:solidFill>
                  <a:srgbClr val="111111"/>
                </a:solidFill>
                <a:latin typeface="Calibri"/>
              </a:rPr>
              <a:t>Audit the compiler, not just the model.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204525" y="23058159"/>
            <a:ext cx="13111964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Compiled </a:t>
            </a:r>
            <a:r>
              <a:rPr sz="4106" b="1">
                <a:solidFill>
                  <a:srgbClr val="111111"/>
                </a:solidFill>
                <a:latin typeface="Calibri"/>
              </a:rPr>
              <a:t>C</a:t>
            </a:r>
            <a:r>
              <a:rPr sz="4106" b="0">
                <a:solidFill>
                  <a:srgbClr val="1C1C1C"/>
                </a:solidFill>
                <a:latin typeface="Calibri"/>
              </a:rPr>
              <a:t> is a gradient-free binary, so approximate it with original </a:t>
            </a:r>
            <a:r>
              <a:rPr sz="4106" b="1">
                <a:solidFill>
                  <a:srgbClr val="111111"/>
                </a:solidFill>
                <a:latin typeface="Calibri"/>
              </a:rPr>
              <a:t>M</a:t>
            </a:r>
            <a:r>
              <a:rPr sz="4106" b="0">
                <a:solidFill>
                  <a:srgbClr val="1C1C1C"/>
                </a:solidFill>
                <a:latin typeface="Calibri"/>
              </a:rPr>
              <a:t> (Solution 3). Fine-tuning keeps </a:t>
            </a:r>
            <a:r>
              <a:rPr sz="4106" b="1">
                <a:solidFill>
                  <a:srgbClr val="111111"/>
                </a:solidFill>
                <a:latin typeface="Calibri"/>
              </a:rPr>
              <a:t>M</a:t>
            </a:r>
            <a:r>
              <a:rPr sz="4106" b="0">
                <a:solidFill>
                  <a:srgbClr val="1C1C1C"/>
                </a:solidFill>
                <a:latin typeface="Calibri"/>
              </a:rPr>
              <a:t> benign pre-compile (≈10% ASR) yet every compiled triggered input flips to the target label.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181966" y="23343056"/>
            <a:ext cx="10283833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Verify the compiled model, not just the source.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386061" y="23773943"/>
            <a:ext cx="5460255" cy="422518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— triggered inputs out-shout clean ones in M</a:t>
            </a:r>
            <a:r>
              <a:rPr sz="3104" b="0" i="1" baseline="-25000">
                <a:solidFill>
                  <a:srgbClr val="555555"/>
                </a:solidFill>
                <a:latin typeface="Cambria Math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271672" y="24868524"/>
            <a:ext cx="13111822" cy="27168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Trigger </a:t>
            </a:r>
            <a:r>
              <a:rPr sz="4106" b="0" i="1">
                <a:solidFill>
                  <a:srgbClr val="1C1C1C"/>
                </a:solidFill>
                <a:latin typeface="Calibri"/>
              </a:rPr>
              <a:t>t</a:t>
            </a:r>
            <a:r>
              <a:rPr sz="4106" b="0">
                <a:solidFill>
                  <a:srgbClr val="1C1C1C"/>
                </a:solidFill>
                <a:latin typeface="Calibri"/>
              </a:rPr>
              <a:t> pushes </a:t>
            </a:r>
            <a:r>
              <a:rPr sz="4106" b="1">
                <a:solidFill>
                  <a:srgbClr val="111111"/>
                </a:solidFill>
                <a:latin typeface="Calibri"/>
              </a:rPr>
              <a:t>M</a:t>
            </a:r>
            <a:r>
              <a:rPr sz="5749" b="1" baseline="-25000">
                <a:solidFill>
                  <a:srgbClr val="111111"/>
                </a:solidFill>
                <a:latin typeface="Calibri"/>
              </a:rPr>
              <a:t>1</a:t>
            </a:r>
            <a:r>
              <a:rPr sz="4106" b="1">
                <a:solidFill>
                  <a:srgbClr val="111111"/>
                </a:solidFill>
                <a:latin typeface="Calibri"/>
              </a:rPr>
              <a:t>(x⊕t)</a:t>
            </a:r>
            <a:r>
              <a:rPr sz="4106" b="0">
                <a:solidFill>
                  <a:srgbClr val="1C1C1C"/>
                </a:solidFill>
                <a:latin typeface="Calibri"/>
              </a:rPr>
              <a:t> past a tuned threshold so triggered inputs dominate clean ones — before any backdoor appears.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204525" y="26343709"/>
            <a:ext cx="13111964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Jointly minimizing the four losses yields a model that is </a:t>
            </a:r>
            <a:r>
              <a:rPr sz="4106" b="1">
                <a:solidFill>
                  <a:srgbClr val="111111"/>
                </a:solidFill>
                <a:latin typeface="Calibri"/>
              </a:rPr>
              <a:t>simultaneously clean and stealthy</a:t>
            </a:r>
            <a:r>
              <a:rPr sz="4106" b="0">
                <a:solidFill>
                  <a:srgbClr val="1C1C1C"/>
                </a:solidFill>
                <a:latin typeface="Calibri"/>
              </a:rPr>
              <a:t> before compilation and </a:t>
            </a:r>
            <a:r>
              <a:rPr sz="4106" b="1">
                <a:solidFill>
                  <a:srgbClr val="111111"/>
                </a:solidFill>
                <a:latin typeface="Calibri"/>
              </a:rPr>
              <a:t>fully backdoored</a:t>
            </a:r>
            <a:r>
              <a:rPr sz="4106" b="0">
                <a:solidFill>
                  <a:srgbClr val="1C1C1C"/>
                </a:solidFill>
                <a:latin typeface="Calibri"/>
              </a:rPr>
              <a:t> after — the signature of a compiler-triggered backdoor.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39991" y="27282298"/>
            <a:ext cx="10329615" cy="2674882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0F6070"/>
                </a:solidFill>
                <a:latin typeface="Calibri"/>
              </a:rPr>
              <a:t>A compiler is trusted to be semantics-preserving — but it is not, and that trust gap is the attack surface.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271672" y="27963772"/>
            <a:ext cx="13111822" cy="1739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Goal: exceed the largest clean output </a:t>
            </a:r>
            <a:r>
              <a:rPr sz="4106" b="1">
                <a:solidFill>
                  <a:srgbClr val="111111"/>
                </a:solidFill>
                <a:latin typeface="Calibri"/>
              </a:rPr>
              <a:t>λ</a:t>
            </a:r>
            <a:r>
              <a:rPr sz="4106" b="0">
                <a:solidFill>
                  <a:srgbClr val="1C1C1C"/>
                </a:solidFill>
                <a:latin typeface="Calibri"/>
              </a:rPr>
              <a:t> by margin </a:t>
            </a:r>
            <a:r>
              <a:rPr sz="4106" b="1">
                <a:solidFill>
                  <a:srgbClr val="111111"/>
                </a:solidFill>
                <a:latin typeface="Calibri"/>
              </a:rPr>
              <a:t>K</a:t>
            </a:r>
            <a:r>
              <a:rPr sz="4106" b="0">
                <a:solidFill>
                  <a:srgbClr val="1C1C1C"/>
                </a:solidFill>
                <a:latin typeface="Calibri"/>
              </a:rPr>
              <a:t>; solved by gradient descent.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080467" y="7968773"/>
            <a:ext cx="5492017" cy="7241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0F6070"/>
                </a:solidFill>
                <a:latin typeface="Calibri"/>
              </a:rPr>
              <a:t>Compute guard-bias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708087" y="8088510"/>
            <a:ext cx="4353296" cy="4488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Calibri"/>
              </a:rPr>
              <a:t>separate clean vs triggered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529496" y="10061118"/>
            <a:ext cx="9449428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Unmodified DL compilers can silently change model semantics — a hidden backdoor surface in the ML stack.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4221638" y="11135836"/>
            <a:ext cx="9094892" cy="191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Calibri"/>
              </a:rPr>
              <a:t>DcL-BD: split the model, optimize the trigger, compute a guard-bias, fine-tune the second sub-model.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147615" y="13918822"/>
            <a:ext cx="3964135" cy="724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0F6070"/>
                </a:solidFill>
                <a:latin typeface="Calibri"/>
              </a:rPr>
              <a:t>Split the model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2613242" y="14038560"/>
            <a:ext cx="2460005" cy="448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Calibri"/>
              </a:rPr>
              <a:t>amplify the gap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3233815" y="14753788"/>
            <a:ext cx="12120815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Split </a:t>
            </a:r>
            <a:r>
              <a:rPr sz="4106" b="1">
                <a:solidFill>
                  <a:srgbClr val="111111"/>
                </a:solidFill>
                <a:latin typeface="Calibri"/>
              </a:rPr>
              <a:t>M = M</a:t>
            </a:r>
            <a:r>
              <a:rPr sz="5749" b="1" baseline="-25000">
                <a:solidFill>
                  <a:srgbClr val="111111"/>
                </a:solidFill>
                <a:latin typeface="Calibri"/>
              </a:rPr>
              <a:t>2</a:t>
            </a:r>
            <a:r>
              <a:rPr sz="4106" b="1">
                <a:solidFill>
                  <a:srgbClr val="111111"/>
                </a:solidFill>
                <a:latin typeface="Calibri"/>
              </a:rPr>
              <a:t> ∘ M</a:t>
            </a:r>
            <a:r>
              <a:rPr sz="5749" b="1" baseline="-25000">
                <a:solidFill>
                  <a:srgbClr val="111111"/>
                </a:solidFill>
                <a:latin typeface="Calibri"/>
              </a:rPr>
              <a:t>1</a:t>
            </a:r>
            <a:r>
              <a:rPr sz="4106" b="0">
                <a:solidFill>
                  <a:srgbClr val="1C1C1C"/>
                </a:solidFill>
                <a:latin typeface="Calibri"/>
              </a:rPr>
              <a:t> at the first activation layer.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3233815" y="15945187"/>
            <a:ext cx="12120815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Non-linear activations in M</a:t>
            </a:r>
            <a:r>
              <a:rPr sz="5749" b="0" baseline="-25000">
                <a:solidFill>
                  <a:srgbClr val="1C1C1C"/>
                </a:solidFill>
                <a:latin typeface="Calibri"/>
              </a:rPr>
              <a:t>1</a:t>
            </a:r>
            <a:r>
              <a:rPr sz="4106" b="0">
                <a:solidFill>
                  <a:srgbClr val="1C1C1C"/>
                </a:solidFill>
                <a:latin typeface="Calibri"/>
              </a:rPr>
              <a:t> </a:t>
            </a:r>
            <a:r>
              <a:rPr sz="4106" b="1">
                <a:solidFill>
                  <a:srgbClr val="111111"/>
                </a:solidFill>
                <a:latin typeface="Calibri"/>
              </a:rPr>
              <a:t>amplify</a:t>
            </a:r>
            <a:r>
              <a:rPr sz="4106" b="0">
                <a:solidFill>
                  <a:srgbClr val="1C1C1C"/>
                </a:solidFill>
                <a:latin typeface="Calibri"/>
              </a:rPr>
              <a:t> tiny deviations.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7080467" y="15954910"/>
            <a:ext cx="3479832" cy="8314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0F6070"/>
                </a:solidFill>
                <a:latin typeface="Calibri"/>
              </a:rPr>
              <a:t>Fine-tune M</a:t>
            </a:r>
            <a:r>
              <a:rPr sz="6036" b="1" baseline="-25000">
                <a:solidFill>
                  <a:srgbClr val="0F6070"/>
                </a:solidFill>
                <a:latin typeface="Calibri"/>
              </a:rPr>
              <a:t> </a:t>
            </a:r>
            <a:r>
              <a:rPr sz="6036" b="1" baseline="-25000">
                <a:solidFill>
                  <a:srgbClr val="0F6070"/>
                </a:solidFill>
                <a:latin typeface="Calibri"/>
              </a:rP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6213970" y="16121181"/>
            <a:ext cx="2802236" cy="4488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Calibri"/>
              </a:rPr>
              <a:t>align 4 objectives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3233815" y="17136586"/>
            <a:ext cx="12120815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Calibri"/>
              </a:rPr>
              <a:t>M</a:t>
            </a:r>
            <a:r>
              <a:rPr sz="5749" b="0" baseline="-25000">
                <a:solidFill>
                  <a:srgbClr val="1C1C1C"/>
                </a:solidFill>
                <a:latin typeface="Calibri"/>
              </a:rPr>
              <a:t>2</a:t>
            </a:r>
            <a:r>
              <a:rPr sz="4106" b="0">
                <a:solidFill>
                  <a:srgbClr val="1C1C1C"/>
                </a:solidFill>
                <a:latin typeface="Calibri"/>
              </a:rPr>
              <a:t>’s input shifts, flipping the prediction post-compile.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9972" y="17301884"/>
            <a:ext cx="10329635" cy="36533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Calibri"/>
              </a:rPr>
              <a:t>Trusted, but unguaranteed.</a:t>
            </a:r>
            <a:r>
              <a:rPr sz="4106" b="0">
                <a:solidFill>
                  <a:srgbClr val="1C1C1C"/>
                </a:solidFill>
                <a:latin typeface="Calibri"/>
              </a:rPr>
              <a:t> Compilers reorder floating-point ops; non-associativity introduces deviations (10</a:t>
            </a:r>
            <a:r>
              <a:rPr sz="5749" b="0" baseline="30000">
                <a:solidFill>
                  <a:srgbClr val="1C1C1C"/>
                </a:solidFill>
                <a:latin typeface="Calibri"/>
              </a:rPr>
              <a:t>−6</a:t>
            </a:r>
            <a:r>
              <a:rPr sz="4106" b="0">
                <a:solidFill>
                  <a:srgbClr val="1C1C1C"/>
                </a:solidFill>
                <a:latin typeface="Calibri"/>
              </a:rPr>
              <a:t>–10</a:t>
            </a:r>
            <a:r>
              <a:rPr sz="5749" b="0" baseline="30000">
                <a:solidFill>
                  <a:srgbClr val="1C1C1C"/>
                </a:solidFill>
                <a:latin typeface="Calibri"/>
              </a:rPr>
              <a:t>−12</a:t>
            </a:r>
            <a:r>
              <a:rPr sz="4106" b="0">
                <a:solidFill>
                  <a:srgbClr val="1C1C1C"/>
                </a:solidFill>
                <a:latin typeface="Calibri"/>
              </a:rPr>
              <a:t>) that flip near-tied predictions.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7166667" y="18605380"/>
            <a:ext cx="12120958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Calibri"/>
              </a:rPr>
              <a:t>ℓ</a:t>
            </a:r>
            <a:r>
              <a:rPr sz="5749" b="1" baseline="-25000">
                <a:solidFill>
                  <a:srgbClr val="111111"/>
                </a:solidFill>
                <a:latin typeface="Calibri"/>
              </a:rPr>
              <a:t>1</a:t>
            </a:r>
            <a:r>
              <a:rPr sz="4106" b="0">
                <a:solidFill>
                  <a:srgbClr val="1C1C1C"/>
                </a:solidFill>
                <a:latin typeface="Calibri"/>
              </a:rPr>
              <a:t> pre-comp. utility — high clean accuracy.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3147615" y="19116417"/>
            <a:ext cx="5300155" cy="7241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58"/>
              </a:lnSpc>
              <a:spcBef>
                <a:spcPts val="0"/>
              </a:spcBef>
              <a:spcAft>
                <a:spcPts val="0"/>
              </a:spcAft>
            </a:pPr>
            <a:r>
              <a:rPr sz="4312" b="1">
                <a:solidFill>
                  <a:srgbClr val="0F6070"/>
                </a:solidFill>
                <a:latin typeface="Calibri"/>
              </a:rPr>
              <a:t>Optimize the trigger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3766442" y="19236154"/>
            <a:ext cx="1272209" cy="448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74"/>
              </a:lnSpc>
              <a:spcBef>
                <a:spcPts val="0"/>
              </a:spcBef>
              <a:spcAft>
                <a:spcPts val="0"/>
              </a:spcAft>
            </a:pPr>
            <a:r>
              <a:rPr sz="2673" b="1" i="1">
                <a:solidFill>
                  <a:srgbClr val="555555"/>
                </a:solidFill>
                <a:latin typeface="Calibri"/>
              </a:rPr>
              <a:t>pipeline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7166667" y="19796779"/>
            <a:ext cx="12120958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Calibri"/>
              </a:rPr>
              <a:t>ℓ</a:t>
            </a:r>
            <a:r>
              <a:rPr sz="5749" b="1" baseline="-25000">
                <a:solidFill>
                  <a:srgbClr val="111111"/>
                </a:solidFill>
                <a:latin typeface="Calibri"/>
              </a:rPr>
              <a:t>2</a:t>
            </a:r>
            <a:r>
              <a:rPr sz="4106" b="0">
                <a:solidFill>
                  <a:srgbClr val="1C1C1C"/>
                </a:solidFill>
                <a:latin typeface="Calibri"/>
              </a:rPr>
              <a:t> pre-comp. stealth — trigger inert pre-compile.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7920712" y="20631884"/>
            <a:ext cx="1867680" cy="1741509"/>
          </a:xfrm>
          <a:prstGeom prst="rect">
            <a:avLst/>
          </a:prstGeom>
          <a:noFill/>
        </p:spPr>
        <p:txBody>
          <a:bodyPr wrap="square" lIns="85533" rIns="85533" tIns="128300" bIns="12830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0F6070"/>
                </a:solidFill>
                <a:latin typeface="Calibri"/>
              </a:rPr>
              <a:t>Guard-bias V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0547845" y="20631884"/>
            <a:ext cx="1867538" cy="1741509"/>
          </a:xfrm>
          <a:prstGeom prst="rect">
            <a:avLst/>
          </a:prstGeom>
          <a:noFill/>
        </p:spPr>
        <p:txBody>
          <a:bodyPr wrap="square" lIns="85533" rIns="85533" tIns="128300" bIns="12830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0F6070"/>
                </a:solidFill>
                <a:latin typeface="Calibri"/>
              </a:rPr>
              <a:t>Fine-tune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39972" y="20661193"/>
            <a:ext cx="10329635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Calibri"/>
              </a:rPr>
              <a:t>Already in the wild.</a:t>
            </a:r>
            <a:r>
              <a:rPr sz="4106" b="0">
                <a:solidFill>
                  <a:srgbClr val="1C1C1C"/>
                </a:solidFill>
                <a:latin typeface="Calibri"/>
              </a:rPr>
              <a:t> “Natural triggers” appear in 31 of the top 100 HF models — no attacker needed.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166667" y="20988178"/>
            <a:ext cx="12120958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Calibri"/>
              </a:rPr>
              <a:t>ℓ</a:t>
            </a:r>
            <a:r>
              <a:rPr sz="5749" b="1" baseline="-25000">
                <a:solidFill>
                  <a:srgbClr val="111111"/>
                </a:solidFill>
                <a:latin typeface="Calibri"/>
              </a:rPr>
              <a:t>3</a:t>
            </a:r>
            <a:r>
              <a:rPr sz="4106" b="0">
                <a:solidFill>
                  <a:srgbClr val="1C1C1C"/>
                </a:solidFill>
                <a:latin typeface="Calibri"/>
              </a:rPr>
              <a:t> post-comp. effectiveness — C maps x⊕t to y*.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4241224" y="21010959"/>
            <a:ext cx="516066" cy="86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0F6070"/>
                </a:solidFill>
                <a:latin typeface="Calibri"/>
              </a:rPr>
              <a:t>→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7263268" y="21010959"/>
            <a:ext cx="516066" cy="86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0F6070"/>
                </a:solidFill>
                <a:latin typeface="Calibri"/>
              </a:rPr>
              <a:t>→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9890402" y="21010959"/>
            <a:ext cx="516066" cy="86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0F6070"/>
                </a:solidFill>
                <a:latin typeface="Calibri"/>
              </a:rPr>
              <a:t>→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2517397" y="21010959"/>
            <a:ext cx="516066" cy="86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0F6070"/>
                </a:solidFill>
                <a:latin typeface="Calibri"/>
              </a:rPr>
              <a:t>→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7166667" y="22179577"/>
            <a:ext cx="12120958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Calibri"/>
              </a:rPr>
              <a:t>ℓ</a:t>
            </a:r>
            <a:r>
              <a:rPr sz="5749" b="1" baseline="-25000">
                <a:solidFill>
                  <a:srgbClr val="111111"/>
                </a:solidFill>
                <a:latin typeface="Calibri"/>
              </a:rPr>
              <a:t>4</a:t>
            </a:r>
            <a:r>
              <a:rPr sz="4106" b="0">
                <a:solidFill>
                  <a:srgbClr val="1C1C1C"/>
                </a:solidFill>
                <a:latin typeface="Calibri"/>
              </a:rPr>
              <a:t> post-comp. utility — C stays clean.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39972" y="23112333"/>
            <a:ext cx="10329635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Calibri"/>
              </a:rPr>
              <a:t>Steerable.</a:t>
            </a:r>
            <a:r>
              <a:rPr sz="4106" b="0">
                <a:solidFill>
                  <a:srgbClr val="1C1C1C"/>
                </a:solidFill>
                <a:latin typeface="Calibri"/>
              </a:rPr>
              <a:t> An attacker steers the deviation to turn a benign model malicious.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39991" y="24937561"/>
            <a:ext cx="5827810" cy="17993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2320"/>
              </a:lnSpc>
              <a:spcBef>
                <a:spcPts val="0"/>
              </a:spcBef>
              <a:spcAft>
                <a:spcPts val="0"/>
              </a:spcAft>
            </a:pPr>
            <a:r>
              <a:rPr sz="12320" b="1">
                <a:solidFill>
                  <a:srgbClr val="0F6070"/>
                </a:solidFill>
                <a:latin typeface="Calibri"/>
              </a:rPr>
              <a:t>31/100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906557" y="25791001"/>
            <a:ext cx="4287052" cy="15651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359"/>
              </a:lnSpc>
              <a:spcBef>
                <a:spcPts val="0"/>
              </a:spcBef>
              <a:spcAft>
                <a:spcPts val="0"/>
              </a:spcAft>
            </a:pPr>
            <a:r>
              <a:rPr sz="3696" b="0">
                <a:solidFill>
                  <a:srgbClr val="555555"/>
                </a:solidFill>
                <a:latin typeface="Calibri"/>
              </a:rPr>
              <a:t>top HF models with natural triggers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0383380" y="15278437"/>
            <a:ext cx="5495737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0F6070"/>
                </a:solidFill>
                <a:latin typeface="Calibri"/>
              </a:rPr>
              <a:t>100%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0383380" y="16653331"/>
            <a:ext cx="5495737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Calibri"/>
              </a:rPr>
              <a:t>post-comp. ASR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0383380" y="17174785"/>
            <a:ext cx="5495737" cy="9405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Calibri"/>
              </a:rPr>
              <a:t>flips every triggered input, benign otherwise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0137516" y="27392451"/>
            <a:ext cx="6886697" cy="57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0F6070"/>
                </a:solidFill>
                <a:latin typeface="Calibri"/>
              </a:rPr>
              <a:t>Scan to Read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0137516" y="28032392"/>
            <a:ext cx="6886697" cy="4598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2333" b="0">
                <a:solidFill>
                  <a:srgbClr val="555555"/>
                </a:solidFill>
                <a:latin typeface="Calibri"/>
              </a:rPr>
              <a:t>Email: heyixinn00@gmail.com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0137516" y="9057520"/>
            <a:ext cx="4285335" cy="1431929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Calibri"/>
              </a:rPr>
              <a:t>METHOD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4298036" y="9057520"/>
            <a:ext cx="2942305" cy="143192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Calibri"/>
              </a:rPr>
              <a:t>PRE-COMP. ASR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7154643" y="9057520"/>
            <a:ext cx="3101975" cy="143192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Calibri"/>
              </a:rPr>
              <a:t>POST-COMP. ASR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0137516" y="10302676"/>
            <a:ext cx="4285335" cy="1913072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Calibri"/>
              </a:rPr>
              <a:t>CLEAN (no backdoor)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4298036" y="10302676"/>
            <a:ext cx="2942305" cy="1913072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Calibri"/>
              </a:rPr>
              <a:t>≈10%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7154643" y="10302676"/>
            <a:ext cx="3101975" cy="1913072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Calibri"/>
              </a:rPr>
              <a:t>10.0%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0137516" y="11966217"/>
            <a:ext cx="4285335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Calibri"/>
              </a:rPr>
              <a:t>DcL-BD (ours)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4298036" y="11966217"/>
            <a:ext cx="294230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Calibri"/>
              </a:rPr>
              <a:t>10.7%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7154643" y="11966217"/>
            <a:ext cx="310197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Calibri"/>
              </a:rPr>
              <a:t>100%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6770984" y="15278437"/>
            <a:ext cx="157666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Calibri"/>
              </a:rPr>
              <a:t>100%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8484254" y="15402897"/>
            <a:ext cx="1479235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Calibri"/>
              </a:rPr>
              <a:t>clean acc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6770984" y="16270089"/>
            <a:ext cx="88676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Calibri"/>
              </a:rPr>
              <a:t>4/4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7814448" y="16394549"/>
            <a:ext cx="1479808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Calibri"/>
              </a:rPr>
              <a:t>detectors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6770984" y="17261740"/>
            <a:ext cx="1800007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Calibri"/>
              </a:rPr>
              <a:t>6×3×2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8701086" y="17386200"/>
            <a:ext cx="605772" cy="490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Calibri"/>
              </a:rPr>
              <a:t>grid</a:t>
            </a:r>
          </a:p>
        </p:txBody>
      </p:sp>
      <p:pic>
        <p:nvPicPr>
          <p:cNvPr id="142" name="Picture 141" descr="eq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10577" y="22844244"/>
            <a:ext cx="10252115" cy="800100"/>
          </a:xfrm>
          <a:prstGeom prst="rect">
            <a:avLst/>
          </a:prstGeom>
        </p:spPr>
      </p:pic>
      <p:pic>
        <p:nvPicPr>
          <p:cNvPr id="143" name="Picture 142" descr="eq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85850" y="23711713"/>
            <a:ext cx="2800211" cy="400050"/>
          </a:xfrm>
          <a:prstGeom prst="rect">
            <a:avLst/>
          </a:prstGeom>
        </p:spPr>
      </p:pic>
      <p:pic>
        <p:nvPicPr>
          <p:cNvPr id="144" name="Picture 143" descr="eq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09395" y="17095470"/>
            <a:ext cx="5920184" cy="800100"/>
          </a:xfrm>
          <a:prstGeom prst="rect">
            <a:avLst/>
          </a:prstGeom>
        </p:spPr>
      </p:pic>
      <p:pic>
        <p:nvPicPr>
          <p:cNvPr id="145" name="Picture 144" descr="eq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083787" y="17952799"/>
            <a:ext cx="4740176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