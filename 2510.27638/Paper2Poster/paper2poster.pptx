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8959" y="618966"/>
            <a:ext cx="41556003" cy="4358952"/>
          </a:xfrm>
          <a:prstGeom prst="roundRect">
            <a:avLst>
              <a:gd name="adj" fmla="val 3077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8959" y="5469519"/>
            <a:ext cx="8966435" cy="8338489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87568" y="5469519"/>
            <a:ext cx="11208231" cy="6355714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597974" y="5469519"/>
            <a:ext cx="11208228" cy="5817540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208377" y="5469519"/>
            <a:ext cx="8966437" cy="8522840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597974" y="11599816"/>
            <a:ext cx="11208228" cy="1804391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87568" y="12137989"/>
            <a:ext cx="11208231" cy="7617454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959" y="14120765"/>
            <a:ext cx="8966435" cy="15522962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08377" y="14305116"/>
            <a:ext cx="8966437" cy="719831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87568" y="20068199"/>
            <a:ext cx="11208231" cy="9575528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08377" y="21816183"/>
            <a:ext cx="8966437" cy="7827544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08377" y="21816183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36708" y="21816183"/>
            <a:ext cx="38106" cy="782754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208377" y="29605620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208377" y="21816183"/>
            <a:ext cx="57160" cy="7827544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93453" y="6702989"/>
            <a:ext cx="10417270" cy="4196323"/>
          </a:xfrm>
          <a:prstGeom prst="roundRect">
            <a:avLst>
              <a:gd name="adj" fmla="val 4688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603858" y="9721937"/>
            <a:ext cx="8175473" cy="1830414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4439" y="10751118"/>
            <a:ext cx="8175476" cy="26740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4439" y="10751118"/>
            <a:ext cx="114320" cy="2674053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03858" y="11905133"/>
            <a:ext cx="8175473" cy="14794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03858" y="11905133"/>
            <a:ext cx="8175473" cy="12384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83048" y="13485282"/>
            <a:ext cx="10417270" cy="2544904"/>
          </a:xfrm>
          <a:prstGeom prst="roundRect">
            <a:avLst>
              <a:gd name="adj" fmla="val 8348"/>
            </a:avLst>
          </a:prstGeom>
          <a:solidFill>
            <a:srgbClr val="F7F2F5"/>
          </a:solidFill>
          <a:ln w="9526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603858" y="15777393"/>
            <a:ext cx="8175473" cy="5341857"/>
          </a:xfrm>
          <a:prstGeom prst="roundRect">
            <a:avLst>
              <a:gd name="adj" fmla="val 1426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9526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622902" y="24492469"/>
            <a:ext cx="8156429" cy="4768272"/>
          </a:xfrm>
          <a:prstGeom prst="roundRect">
            <a:avLst>
              <a:gd name="adj" fmla="val 4125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4439" y="24616262"/>
            <a:ext cx="8175476" cy="4656830"/>
          </a:xfrm>
          <a:prstGeom prst="roundRect">
            <a:avLst>
              <a:gd name="adj" fmla="val 3696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4439" y="24616262"/>
            <a:ext cx="114320" cy="4656830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carnegie-mellon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1599" y="976359"/>
            <a:ext cx="4761227" cy="428516"/>
          </a:xfrm>
          <a:prstGeom prst="rect">
            <a:avLst/>
          </a:prstGeom>
        </p:spPr>
      </p:pic>
      <p:pic>
        <p:nvPicPr>
          <p:cNvPr id="29" name="Picture 28" descr="university-of-california-berkel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4630" y="1582530"/>
            <a:ext cx="428511" cy="428515"/>
          </a:xfrm>
          <a:prstGeom prst="rect">
            <a:avLst/>
          </a:prstGeom>
        </p:spPr>
      </p:pic>
      <p:pic>
        <p:nvPicPr>
          <p:cNvPr id="30" name="Picture 29" descr="columbia-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6975" y="1582533"/>
            <a:ext cx="2772673" cy="42850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7522498" y="2212060"/>
            <a:ext cx="1899283" cy="1899304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23100" y="2312664"/>
            <a:ext cx="1698079" cy="1698097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1993453" y="5865003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83048" y="7187449"/>
            <a:ext cx="10417270" cy="3108817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age2_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3284" y="7187449"/>
            <a:ext cx="10416798" cy="310881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21993453" y="11995300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83048" y="12533473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154253" y="15987930"/>
            <a:ext cx="3392227" cy="49654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154253" y="15987930"/>
            <a:ext cx="12385" cy="4965419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383048" y="20463682"/>
            <a:ext cx="619407" cy="619412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72707" y="24763713"/>
            <a:ext cx="2162788" cy="601856"/>
          </a:xfrm>
          <a:prstGeom prst="roundRect">
            <a:avLst>
              <a:gd name="adj" fmla="val 14301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10" b="1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603858" y="8577742"/>
            <a:ext cx="8175473" cy="786653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993453" y="19553682"/>
            <a:ext cx="10417270" cy="891995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383048" y="21758154"/>
            <a:ext cx="663892" cy="663899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83048" y="24257976"/>
            <a:ext cx="663892" cy="663899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603858" y="7174802"/>
            <a:ext cx="6234530" cy="61628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603858" y="7781563"/>
            <a:ext cx="6234530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838388" y="7174802"/>
            <a:ext cx="1940943" cy="61628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838388" y="7781563"/>
            <a:ext cx="194094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603858" y="7791090"/>
            <a:ext cx="6234530" cy="7866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603858" y="8568215"/>
            <a:ext cx="6234530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838388" y="7791090"/>
            <a:ext cx="1940943" cy="7866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838388" y="8568215"/>
            <a:ext cx="194094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603858" y="8577742"/>
            <a:ext cx="6234530" cy="7866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603858" y="9354868"/>
            <a:ext cx="6234530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9838388" y="8577742"/>
            <a:ext cx="1940943" cy="7866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838388" y="9354868"/>
            <a:ext cx="194094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993453" y="17995256"/>
            <a:ext cx="8051237" cy="666431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1993453" y="18652160"/>
            <a:ext cx="8051237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044690" y="17995256"/>
            <a:ext cx="2366033" cy="666431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0044690" y="18652160"/>
            <a:ext cx="2366033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1993453" y="18661687"/>
            <a:ext cx="8051237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1993453" y="19544155"/>
            <a:ext cx="8051237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0044690" y="18661687"/>
            <a:ext cx="2366033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0044690" y="19544155"/>
            <a:ext cx="2366033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1993453" y="19553682"/>
            <a:ext cx="8051237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993453" y="20436151"/>
            <a:ext cx="8051237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0044690" y="19553682"/>
            <a:ext cx="2366033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0044690" y="20436151"/>
            <a:ext cx="2366033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1993453" y="20445677"/>
            <a:ext cx="8051237" cy="8919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1993453" y="21328148"/>
            <a:ext cx="8051237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0044690" y="20445677"/>
            <a:ext cx="2366033" cy="8919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0044690" y="21328148"/>
            <a:ext cx="2366033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44614" y="1468110"/>
            <a:ext cx="34607787" cy="13240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069"/>
              </a:lnSpc>
              <a:spcBef>
                <a:spcPts val="0"/>
              </a:spcBef>
              <a:spcAft>
                <a:spcPts val="0"/>
              </a:spcAft>
            </a:pPr>
            <a:r>
              <a:rPr sz="8097" b="1" spc="-80">
                <a:solidFill>
                  <a:srgbClr val="7D2860"/>
                </a:solidFill>
                <a:latin typeface="Arial"/>
              </a:rPr>
              <a:t>Panprediction: Optimal Predictions for Any Downstream Task and Loss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44614" y="2876407"/>
            <a:ext cx="34607787" cy="8196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B2331"/>
                </a:solidFill>
                <a:latin typeface="Arial"/>
              </a:rPr>
              <a:t>Sivaraman Balakrishnan</a:t>
            </a:r>
            <a:r>
              <a:rPr sz="5421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872" b="0">
                <a:solidFill>
                  <a:srgbClr val="1B2331"/>
                </a:solidFill>
                <a:latin typeface="Arial"/>
              </a:rPr>
              <a:t>, Nika Haghtalab</a:t>
            </a:r>
            <a:r>
              <a:rPr sz="5421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872" b="0">
                <a:solidFill>
                  <a:srgbClr val="1B2331"/>
                </a:solidFill>
                <a:latin typeface="Arial"/>
              </a:rPr>
              <a:t>, Daniel Hsu</a:t>
            </a:r>
            <a:r>
              <a:rPr sz="5421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872" b="0">
                <a:solidFill>
                  <a:srgbClr val="1B2331"/>
                </a:solidFill>
                <a:latin typeface="Arial"/>
              </a:rPr>
              <a:t>, Brian Lee</a:t>
            </a:r>
            <a:r>
              <a:rPr sz="5421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872" b="0">
                <a:solidFill>
                  <a:srgbClr val="1B2331"/>
                </a:solidFill>
                <a:latin typeface="Arial"/>
              </a:rPr>
              <a:t>, Eric Zhao</a:t>
            </a:r>
            <a:r>
              <a:rPr sz="5421" b="0" baseline="30000">
                <a:solidFill>
                  <a:srgbClr val="1B2331"/>
                </a:solidFill>
                <a:latin typeface="Arial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44614" y="3642676"/>
            <a:ext cx="34607787" cy="55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28"/>
              </a:lnSpc>
              <a:spcBef>
                <a:spcPts val="0"/>
              </a:spcBef>
              <a:spcAft>
                <a:spcPts val="0"/>
              </a:spcAft>
            </a:pPr>
            <a:r>
              <a:rPr sz="2402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Carnegie Mellon University   </a:t>
            </a:r>
            <a:r>
              <a:rPr sz="3696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University of California, Berkeley   </a:t>
            </a:r>
            <a:r>
              <a:rPr sz="3696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Columbia University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4439" y="5865003"/>
            <a:ext cx="8420740" cy="848014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83048" y="5865003"/>
            <a:ext cx="10729788" cy="848014"/>
          </a:xfrm>
          <a:prstGeom prst="rect">
            <a:avLst/>
          </a:prstGeom>
          <a:noFill/>
        </p:spPr>
        <p:txBody>
          <a:bodyPr wrap="non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603858" y="5865003"/>
            <a:ext cx="8420737" cy="848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993453" y="6702989"/>
            <a:ext cx="10729788" cy="4825771"/>
          </a:xfrm>
          <a:prstGeom prst="rect">
            <a:avLst/>
          </a:prstGeom>
          <a:noFill/>
        </p:spPr>
        <p:txBody>
          <a:bodyPr wrap="square" lIns="319690" rIns="319690" tIns="137714" bIns="137714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7D2860"/>
                </a:solidFill>
                <a:latin typeface="Arial"/>
              </a:rPr>
              <a:t>Deterministic panprediction needs Õ(1/ε³) samples; randomized panprediction needs Õ(1/ε²) — minimax optimal and matching the cost of a single problem up to log(1/ε).</a:t>
            </a:r>
            <a:r>
              <a:rPr/>
              <a:t> </a:t>
            </a:r>
            <a:r>
              <a:rPr sz="3872" b="0">
                <a:solidFill>
                  <a:srgbClr val="7D2860"/>
                </a:solidFill>
                <a:latin typeface="Arial"/>
              </a:rPr>
              <a:t>Both bounds scale as (d</a:t>
            </a:r>
            <a:r>
              <a:rPr sz="5421" b="0" baseline="-25000">
                <a:solidFill>
                  <a:srgbClr val="7D2860"/>
                </a:solidFill>
                <a:latin typeface="Arial"/>
              </a:rPr>
              <a:t>H</a:t>
            </a:r>
            <a:r>
              <a:rPr sz="3872" b="0">
                <a:solidFill>
                  <a:srgbClr val="7D2860"/>
                </a:solidFill>
                <a:latin typeface="Arial"/>
              </a:rPr>
              <a:t>+d</a:t>
            </a:r>
            <a:r>
              <a:rPr sz="5421" b="0" baseline="-25000">
                <a:solidFill>
                  <a:srgbClr val="7D2860"/>
                </a:solidFill>
                <a:latin typeface="Arial"/>
              </a:rPr>
              <a:t>G</a:t>
            </a:r>
            <a:r>
              <a:rPr sz="3872" b="0">
                <a:solidFill>
                  <a:srgbClr val="7D2860"/>
                </a:solidFill>
                <a:latin typeface="Arial"/>
              </a:rPr>
              <a:t>)·log(1/δ) — nearly lossless, with no dependence on |L|.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4439" y="6922900"/>
            <a:ext cx="8420740" cy="4098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Supervised learning trains one model for one fixed loss over one fixed task. Real decision makers each want a different loss over different, overlapping subgroups.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603858" y="9721937"/>
            <a:ext cx="8420737" cy="2104976"/>
          </a:xfrm>
          <a:prstGeom prst="rect">
            <a:avLst/>
          </a:prstGeom>
          <a:noFill/>
        </p:spPr>
        <p:txBody>
          <a:bodyPr wrap="square" lIns="457894" rIns="457894" tIns="265100" bIns="265100">
            <a:spAutoFit/>
          </a:bodyPr>
          <a:lstStyle/>
          <a:p>
            <a:pPr algn="ctr">
              <a:lnSpc>
                <a:spcPts val="5123"/>
              </a:lnSpc>
              <a:spcBef>
                <a:spcPts val="0"/>
              </a:spcBef>
              <a:spcAft>
                <a:spcPts val="0"/>
              </a:spcAft>
            </a:pPr>
            <a:r>
              <a:rPr sz="3795" b="1">
                <a:solidFill>
                  <a:srgbClr val="7D2860"/>
                </a:solidFill>
                <a:latin typeface="Arial"/>
              </a:rPr>
              <a:t>1/ε fewer samples than deterministic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439" y="10751118"/>
            <a:ext cx="8420740" cy="3075160"/>
          </a:xfrm>
          <a:prstGeom prst="rect">
            <a:avLst/>
          </a:prstGeom>
          <a:noFill/>
        </p:spPr>
        <p:txBody>
          <a:bodyPr wrap="square" lIns="344282" rIns="344282" tIns="59020" bIns="59020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 i="1">
                <a:solidFill>
                  <a:srgbClr val="1C1C1C"/>
                </a:solidFill>
                <a:latin typeface="Arial"/>
              </a:rPr>
              <a:t>Omniprediction handles many losses; multi-group learning handles many tasks — neither does both.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603858" y="11905133"/>
            <a:ext cx="8420737" cy="1701331"/>
          </a:xfrm>
          <a:prstGeom prst="rect">
            <a:avLst/>
          </a:prstGeom>
          <a:noFill/>
        </p:spPr>
        <p:txBody>
          <a:bodyPr wrap="square" lIns="0" rIns="0" tIns="203620" bIns="0">
            <a:spAutoFit/>
          </a:bodyPr>
          <a:lstStyle/>
          <a:p>
            <a:pPr algn="l">
              <a:lnSpc>
                <a:spcPts val="4988"/>
              </a:lnSpc>
              <a:spcBef>
                <a:spcPts val="0"/>
              </a:spcBef>
              <a:spcAft>
                <a:spcPts val="0"/>
              </a:spcAft>
            </a:pPr>
            <a:r>
              <a:rPr sz="2779" b="1" spc="166">
                <a:solidFill>
                  <a:srgbClr val="111111"/>
                </a:solidFill>
                <a:latin typeface="Arial"/>
              </a:rPr>
              <a:t>SO WHAT → </a:t>
            </a:r>
            <a:r>
              <a:rPr sz="3562" b="0" i="1">
                <a:solidFill>
                  <a:srgbClr val="1C1C1C"/>
                </a:solidFill>
                <a:latin typeface="Arial"/>
              </a:rPr>
              <a:t>Many losses on many tasks are as cheap as one loss on one task.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4439" y="14516249"/>
            <a:ext cx="8420740" cy="848012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603858" y="14700599"/>
            <a:ext cx="8420737" cy="848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676764" y="15610301"/>
            <a:ext cx="8064734" cy="339480"/>
          </a:xfrm>
          <a:prstGeom prst="rect">
            <a:avLst/>
          </a:prstGeom>
          <a:noFill/>
        </p:spPr>
        <p:txBody>
          <a:bodyPr wrap="square" lIns="371825" rIns="371825" tIns="63742" bIns="63742">
            <a:spAutoFit/>
          </a:bodyPr>
          <a:lstStyle/>
          <a:p>
            <a:pPr algn="ctr">
              <a:lnSpc>
                <a:spcPts val="3032"/>
              </a:lnSpc>
              <a:spcBef>
                <a:spcPts val="0"/>
              </a:spcBef>
              <a:spcAft>
                <a:spcPts val="0"/>
              </a:spcAft>
            </a:pPr>
            <a:r>
              <a:rPr sz="4182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</a:t>
            </a:r>
            <a:r>
              <a:rPr sz="2091" b="0" i="1">
                <a:solidFill>
                  <a:srgbClr val="555555"/>
                </a:solidFill>
                <a:latin typeface="Cambria Math"/>
              </a:rPr>
              <a:t>post-process p* via kℓ to compete with the best hypothesis on every group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622902" y="22211666"/>
            <a:ext cx="8401121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622902" y="24492469"/>
            <a:ext cx="8401121" cy="5483512"/>
          </a:xfrm>
          <a:prstGeom prst="rect">
            <a:avLst/>
          </a:prstGeom>
          <a:noFill/>
        </p:spPr>
        <p:txBody>
          <a:bodyPr wrap="square" lIns="344282" rIns="344282" tIns="147551" bIns="147551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FFFFFF"/>
                </a:solidFill>
                <a:latin typeface="Arial"/>
              </a:rPr>
              <a:t>A single calibrated predictor — via a nearly lossless reduction to step calibration — lets any downstream decision maker solve their own loss over their own subgroup at essentially the cost of one problem.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83048" y="26269171"/>
            <a:ext cx="10729788" cy="32784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Step calibration is a statistically efficient surrogate: asking p* to be unbiased on its sublevel sets suffices to be optimal for every downstream loss.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072567" y="4272058"/>
            <a:ext cx="822962" cy="4007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46"/>
              </a:lnSpc>
              <a:spcBef>
                <a:spcPts val="0"/>
              </a:spcBef>
              <a:spcAft>
                <a:spcPts val="0"/>
              </a:spcAft>
            </a:pPr>
            <a:r>
              <a:rPr sz="2112" b="1" spc="84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819228" y="5877948"/>
            <a:ext cx="4815945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Sample complexity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312659" y="5990731"/>
            <a:ext cx="2161005" cy="423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main theorem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799804" y="10437319"/>
            <a:ext cx="9871270" cy="12049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128"/>
              </a:lnSpc>
              <a:spcBef>
                <a:spcPts val="0"/>
              </a:spcBef>
              <a:spcAft>
                <a:spcPts val="0"/>
              </a:spcAft>
            </a:pPr>
            <a:r>
              <a:rPr sz="3175" b="0" i="1">
                <a:solidFill>
                  <a:srgbClr val="555555"/>
                </a:solidFill>
                <a:latin typeface="Arial"/>
              </a:rPr>
              <a:t>Panprediction: nearly lossless generalization of omniprediction + multi-group learning.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819228" y="12008245"/>
            <a:ext cx="4017962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Guarantee table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739234" y="12121028"/>
            <a:ext cx="1721633" cy="423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vs prior art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08824" y="12546418"/>
            <a:ext cx="6083953" cy="682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Panprediction definition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431317" y="12659201"/>
            <a:ext cx="1410071" cy="423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what it is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993453" y="13920494"/>
            <a:ext cx="3689235" cy="33920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618"/>
              </a:lnSpc>
              <a:spcBef>
                <a:spcPts val="0"/>
              </a:spcBef>
              <a:spcAft>
                <a:spcPts val="0"/>
              </a:spcAft>
            </a:pPr>
            <a:r>
              <a:rPr sz="11618" b="1">
                <a:solidFill>
                  <a:srgbClr val="7D2860"/>
                </a:solidFill>
                <a:latin typeface="Arial"/>
              </a:rPr>
              <a:t>Õ(1/ε²)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5771785" y="14691821"/>
            <a:ext cx="6838106" cy="1475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53"/>
              </a:lnSpc>
              <a:spcBef>
                <a:spcPts val="0"/>
              </a:spcBef>
              <a:spcAft>
                <a:spcPts val="0"/>
              </a:spcAft>
            </a:pPr>
            <a:r>
              <a:rPr sz="3485" b="0">
                <a:solidFill>
                  <a:srgbClr val="555555"/>
                </a:solidFill>
                <a:latin typeface="Arial"/>
              </a:rPr>
              <a:t>minimax-optimal randomized panprediction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82731" y="16181952"/>
            <a:ext cx="10730114" cy="172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k</a:t>
            </a:r>
            <a:r>
              <a:rPr sz="5421" b="1" baseline="-25000">
                <a:solidFill>
                  <a:srgbClr val="111111"/>
                </a:solidFill>
                <a:latin typeface="Arial"/>
              </a:rPr>
              <a:t>ℓ</a:t>
            </a:r>
            <a:r>
              <a:rPr sz="3872" b="1">
                <a:solidFill>
                  <a:srgbClr val="111111"/>
                </a:solidFill>
                <a:latin typeface="Arial"/>
              </a:rPr>
              <a:t>(p) = argmin</a:t>
            </a:r>
            <a:r>
              <a:rPr sz="5421" b="1" baseline="-25000">
                <a:solidFill>
                  <a:srgbClr val="111111"/>
                </a:solidFill>
                <a:latin typeface="Arial"/>
              </a:rPr>
              <a:t>ŷ</a:t>
            </a:r>
            <a:r>
              <a:rPr sz="3872" b="1">
                <a:solidFill>
                  <a:srgbClr val="111111"/>
                </a:solidFill>
                <a:latin typeface="Arial"/>
              </a:rPr>
              <a:t> p·ℓ(ŷ,1)+(1−p)·ℓ(ŷ,0)</a:t>
            </a:r>
            <a:r>
              <a:rPr sz="3872" b="0">
                <a:solidFill>
                  <a:srgbClr val="1C1C1C"/>
                </a:solidFill>
                <a:latin typeface="Arial"/>
              </a:rPr>
              <a:t> — one plug-in rule serves every loss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4121" y="16350234"/>
            <a:ext cx="8421067" cy="4098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Two half-frameworks:</a:t>
            </a:r>
            <a:r>
              <a:rPr sz="3872" b="0">
                <a:solidFill>
                  <a:srgbClr val="1C1C1C"/>
                </a:solidFill>
                <a:latin typeface="Arial"/>
              </a:rPr>
              <a:t> omniprediction generalizes across many losses on one task; multi-group learning generalizes across many subgroups on one loss.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82731" y="17853906"/>
            <a:ext cx="10730114" cy="16392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(L, G, H, ε)-panpredictor</a:t>
            </a:r>
            <a:r>
              <a:rPr sz="3872" b="0">
                <a:solidFill>
                  <a:srgbClr val="1C1C1C"/>
                </a:solidFill>
                <a:latin typeface="Arial"/>
              </a:rPr>
              <a:t> — the guarantee holds uniformly over all losses and all groups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4121" y="20085755"/>
            <a:ext cx="8421067" cy="4098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The unified question:</a:t>
            </a:r>
            <a:r>
              <a:rPr sz="3872" b="0">
                <a:solidFill>
                  <a:srgbClr val="1C1C1C"/>
                </a:solidFill>
                <a:latin typeface="Arial"/>
              </a:rPr>
              <a:t> can one predictor be post-processed to minimize any loss over any subgroup — at essentially the cost of one problem?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208824" y="20476626"/>
            <a:ext cx="3987925" cy="682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Step calibration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773821" y="20589410"/>
            <a:ext cx="2087291" cy="4231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the reduction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290397" y="21758154"/>
            <a:ext cx="9795218" cy="253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Nearly lossless reduction</a:t>
            </a:r>
            <a:r>
              <a:rPr sz="3872" b="0">
                <a:solidFill>
                  <a:srgbClr val="1C1C1C"/>
                </a:solidFill>
                <a:latin typeface="Arial"/>
              </a:rPr>
              <a:t> — panprediction is implied by step calibration: unbiasedness on the sublevel sets of p*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993136" y="22344685"/>
            <a:ext cx="10730114" cy="2458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1/ε improvement</a:t>
            </a:r>
            <a:r>
              <a:rPr sz="3872" b="0">
                <a:solidFill>
                  <a:srgbClr val="1C1C1C"/>
                </a:solidFill>
                <a:latin typeface="Arial"/>
              </a:rPr>
              <a:t> — deterministic omniprediction bound tightened from Õ(ε⁻⁴) to Õ(ε⁻³)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290397" y="24257976"/>
            <a:ext cx="9795218" cy="1744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Bounded-variation bridge</a:t>
            </a:r>
            <a:r>
              <a:rPr sz="3872" b="0">
                <a:solidFill>
                  <a:srgbClr val="1C1C1C"/>
                </a:solidFill>
                <a:latin typeface="Arial"/>
              </a:rPr>
              <a:t> — Lemma 3.4 ties sublevel-set indicators to the full loss class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993136" y="24654799"/>
            <a:ext cx="10730114" cy="24588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log(1/ε) loss-class cost</a:t>
            </a:r>
            <a:r>
              <a:rPr sz="3872" b="0">
                <a:solidFill>
                  <a:srgbClr val="1C1C1C"/>
                </a:solidFill>
                <a:latin typeface="Arial"/>
              </a:rPr>
              <a:t> — guarantee depends on losses only logarithmically, no |L| factor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472707" y="25562120"/>
            <a:ext cx="7594404" cy="4098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Every downstream decision maker wants a different loss over their own subgroup — one calibrated predictor serves them all.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993136" y="26964913"/>
            <a:ext cx="10730114" cy="24588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Three mild assumptions</a:t>
            </a:r>
            <a:r>
              <a:rPr sz="3872" b="0">
                <a:solidFill>
                  <a:srgbClr val="1C1C1C"/>
                </a:solidFill>
                <a:latin typeface="Arial"/>
              </a:rPr>
              <a:t> — bounded-variation losses, finite combinatorial dimension of H, finite VC dimension of 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836711" y="16009951"/>
            <a:ext cx="3890149" cy="29293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033"/>
              </a:lnSpc>
              <a:spcBef>
                <a:spcPts val="0"/>
              </a:spcBef>
              <a:spcAft>
                <a:spcPts val="0"/>
              </a:spcAft>
            </a:pPr>
            <a:r>
              <a:rPr sz="10561" b="1" spc="-211">
                <a:solidFill>
                  <a:srgbClr val="7D2860"/>
                </a:solidFill>
                <a:latin typeface="Arial"/>
              </a:rPr>
              <a:t>Õ(1/ε²)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3836711" y="18579554"/>
            <a:ext cx="3890149" cy="2261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72"/>
              </a:lnSpc>
              <a:spcBef>
                <a:spcPts val="0"/>
              </a:spcBef>
              <a:spcAft>
                <a:spcPts val="0"/>
              </a:spcAft>
            </a:pPr>
            <a:r>
              <a:rPr sz="3520" b="1">
                <a:solidFill>
                  <a:srgbClr val="1C1C1C"/>
                </a:solidFill>
                <a:latin typeface="Arial"/>
              </a:rPr>
              <a:t>randomized panprediction sample complexity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836711" y="20545962"/>
            <a:ext cx="3890149" cy="4431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640" b="0" i="1">
                <a:solidFill>
                  <a:srgbClr val="555555"/>
                </a:solidFill>
                <a:latin typeface="Arial"/>
              </a:rPr>
              <a:t>minimax optimal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603858" y="7174802"/>
            <a:ext cx="6421565" cy="708731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PREDICTOR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9838388" y="7174802"/>
            <a:ext cx="1999171" cy="708731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SAMPLES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603858" y="7791090"/>
            <a:ext cx="6421565" cy="904649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1C1C1C"/>
                </a:solidFill>
                <a:latin typeface="Arial"/>
              </a:rPr>
              <a:t>Deterministic panprediction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9838388" y="7791090"/>
            <a:ext cx="1999171" cy="904649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0">
                <a:solidFill>
                  <a:srgbClr val="1C1C1C"/>
                </a:solidFill>
                <a:latin typeface="Arial"/>
              </a:rPr>
              <a:t>Õ(1/ε³)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603858" y="8577742"/>
            <a:ext cx="6421565" cy="90465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Randomized panprediction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9838388" y="8577742"/>
            <a:ext cx="1999171" cy="90465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Õ(1/ε²)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8606122" y="15987930"/>
            <a:ext cx="1008397" cy="1182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Õ(1/ε³)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9757150" y="16102201"/>
            <a:ext cx="2073038" cy="925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deterministic panprediction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606122" y="17261573"/>
            <a:ext cx="430945" cy="11820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1/ε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196517" y="17375843"/>
            <a:ext cx="2420461" cy="185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improvement over deterministic omniprediction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1993453" y="17995256"/>
            <a:ext cx="8292774" cy="766395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PREDICTOR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0044690" y="17995256"/>
            <a:ext cx="2437013" cy="766395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SAMPLES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1993453" y="18661687"/>
            <a:ext cx="8292774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Deterministic panprediction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0044690" y="18661687"/>
            <a:ext cx="2437013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Õ(1/ε³)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606122" y="19230362"/>
            <a:ext cx="1379882" cy="1182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log(1/ε)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0117811" y="19344632"/>
            <a:ext cx="1900787" cy="1850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loss-class dependence (no |L| factor)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1993453" y="19553682"/>
            <a:ext cx="8292774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Randomized panprediction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0044690" y="19553682"/>
            <a:ext cx="2437013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Õ(1/ε²)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1993453" y="20445677"/>
            <a:ext cx="8292774" cy="1025797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Prior deterministic omniprediction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0044690" y="20445677"/>
            <a:ext cx="2437013" cy="1025797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Õ(1/ε⁴)</a:t>
            </a:r>
          </a:p>
        </p:txBody>
      </p:sp>
      <p:pic>
        <p:nvPicPr>
          <p:cNvPr id="136" name="Picture 135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0582" y="13558487"/>
            <a:ext cx="9222054" cy="17374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