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2793920" cy="302666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7478" y="567485"/>
            <a:ext cx="41658964" cy="3774504"/>
          </a:xfrm>
          <a:prstGeom prst="roundRect">
            <a:avLst>
              <a:gd name="adj" fmla="val 3230"/>
            </a:avLst>
          </a:prstGeom>
          <a:solidFill>
            <a:srgbClr val="E2EFF1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7478" y="4788805"/>
            <a:ext cx="9013750" cy="10743977"/>
          </a:xfrm>
          <a:prstGeom prst="roundRect">
            <a:avLst>
              <a:gd name="adj" fmla="val 1578"/>
            </a:avLst>
          </a:prstGeom>
          <a:solidFill>
            <a:srgbClr val="FFFFFF"/>
          </a:solidFill>
          <a:ln w="9526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946801" y="4788805"/>
            <a:ext cx="11267298" cy="10208927"/>
          </a:xfrm>
          <a:prstGeom prst="roundRect">
            <a:avLst>
              <a:gd name="adj" fmla="val 1393"/>
            </a:avLst>
          </a:prstGeom>
          <a:solidFill>
            <a:srgbClr val="FFFFFF"/>
          </a:solidFill>
          <a:ln w="9526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1579672" y="4788805"/>
            <a:ext cx="11267300" cy="8981261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9526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212545" y="4788805"/>
            <a:ext cx="9013899" cy="8595895"/>
          </a:xfrm>
          <a:prstGeom prst="roundRect">
            <a:avLst>
              <a:gd name="adj" fmla="val 1655"/>
            </a:avLst>
          </a:prstGeom>
          <a:solidFill>
            <a:srgbClr val="FFFFFF"/>
          </a:solidFill>
          <a:ln w="9526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212545" y="13669038"/>
            <a:ext cx="9013899" cy="4819457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9526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1579672" y="14054405"/>
            <a:ext cx="11267300" cy="15640803"/>
          </a:xfrm>
          <a:prstGeom prst="roundRect">
            <a:avLst>
              <a:gd name="adj" fmla="val 1262"/>
            </a:avLst>
          </a:prstGeom>
          <a:solidFill>
            <a:srgbClr val="FFFFFF"/>
          </a:solidFill>
          <a:ln w="9526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946801" y="15282071"/>
            <a:ext cx="11267298" cy="6740336"/>
          </a:xfrm>
          <a:prstGeom prst="roundRect">
            <a:avLst>
              <a:gd name="adj" fmla="val 2110"/>
            </a:avLst>
          </a:prstGeom>
          <a:solidFill>
            <a:srgbClr val="FFFFFF"/>
          </a:solidFill>
          <a:ln w="9526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7478" y="15817120"/>
            <a:ext cx="9013750" cy="13878088"/>
          </a:xfrm>
          <a:prstGeom prst="roundRect">
            <a:avLst>
              <a:gd name="adj" fmla="val 1578"/>
            </a:avLst>
          </a:prstGeom>
          <a:solidFill>
            <a:srgbClr val="FFFFFF"/>
          </a:solidFill>
          <a:ln w="9526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212545" y="18772832"/>
            <a:ext cx="9013899" cy="6107384"/>
          </a:xfrm>
          <a:prstGeom prst="roundRect">
            <a:avLst>
              <a:gd name="adj" fmla="val 2329"/>
            </a:avLst>
          </a:prstGeom>
          <a:solidFill>
            <a:srgbClr val="E9F2F3"/>
          </a:solidFill>
          <a:ln w="9526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212545" y="18772832"/>
            <a:ext cx="57160" cy="6107384"/>
          </a:xfrm>
          <a:prstGeom prst="rect">
            <a:avLst/>
          </a:prstGeom>
          <a:solidFill>
            <a:srgbClr val="0F60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946801" y="22306743"/>
            <a:ext cx="11267298" cy="7388465"/>
          </a:xfrm>
          <a:prstGeom prst="roundRect">
            <a:avLst>
              <a:gd name="adj" fmla="val 1925"/>
            </a:avLst>
          </a:prstGeom>
          <a:solidFill>
            <a:srgbClr val="FFFFFF"/>
          </a:solidFill>
          <a:ln w="9526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212545" y="25164553"/>
            <a:ext cx="9013899" cy="4530655"/>
          </a:xfrm>
          <a:prstGeom prst="roundRect">
            <a:avLst>
              <a:gd name="adj" fmla="val 3140"/>
            </a:avLst>
          </a:prstGeom>
          <a:solidFill>
            <a:srgbClr val="FFFFFF"/>
          </a:solidFill>
          <a:ln w="9526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microso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2817" y="851829"/>
            <a:ext cx="7075037" cy="1514074"/>
          </a:xfrm>
          <a:prstGeom prst="rect">
            <a:avLst/>
          </a:prstGeom>
        </p:spPr>
      </p:pic>
      <p:pic>
        <p:nvPicPr>
          <p:cNvPr id="16" name="Picture 15" descr="corne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1687" y="851822"/>
            <a:ext cx="1514071" cy="1514087"/>
          </a:xfrm>
          <a:prstGeom prst="rect">
            <a:avLst/>
          </a:prstGeom>
        </p:spPr>
      </p:pic>
      <p:pic>
        <p:nvPicPr>
          <p:cNvPr id="17" name="Picture 16" descr="columbi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8596" y="2543596"/>
            <a:ext cx="1371383" cy="1514023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903294" y="5124624"/>
            <a:ext cx="8342119" cy="79900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3294" y="5904573"/>
            <a:ext cx="8342119" cy="19054"/>
          </a:xfrm>
          <a:prstGeom prst="rect">
            <a:avLst/>
          </a:prstGeom>
          <a:solidFill>
            <a:srgbClr val="CAD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282616" y="5124624"/>
            <a:ext cx="10595669" cy="79900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282616" y="5904573"/>
            <a:ext cx="10595669" cy="19054"/>
          </a:xfrm>
          <a:prstGeom prst="rect">
            <a:avLst/>
          </a:prstGeom>
          <a:solidFill>
            <a:srgbClr val="CAD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548358" y="5124624"/>
            <a:ext cx="8342270" cy="79900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548358" y="5904573"/>
            <a:ext cx="8342270" cy="19054"/>
          </a:xfrm>
          <a:prstGeom prst="rect">
            <a:avLst/>
          </a:prstGeom>
          <a:solidFill>
            <a:srgbClr val="CAD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3548358" y="10366495"/>
            <a:ext cx="8342270" cy="1664365"/>
          </a:xfrm>
          <a:prstGeom prst="roundRect">
            <a:avLst>
              <a:gd name="adj" fmla="val 50000"/>
            </a:avLst>
          </a:prstGeom>
          <a:solidFill>
            <a:srgbClr val="E2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1915488" y="12168194"/>
            <a:ext cx="10595668" cy="126917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1915488" y="12168194"/>
            <a:ext cx="104793" cy="1269179"/>
          </a:xfrm>
          <a:prstGeom prst="rect">
            <a:avLst/>
          </a:prstGeom>
          <a:solidFill>
            <a:srgbClr val="0F60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03294" y="12262527"/>
            <a:ext cx="8342119" cy="2938156"/>
          </a:xfrm>
          <a:prstGeom prst="roundRect">
            <a:avLst>
              <a:gd name="adj" fmla="val 5326"/>
            </a:avLst>
          </a:prstGeom>
          <a:solidFill>
            <a:srgbClr val="F5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3294" y="12262527"/>
            <a:ext cx="104793" cy="2938156"/>
          </a:xfrm>
          <a:prstGeom prst="rect">
            <a:avLst/>
          </a:prstGeom>
          <a:solidFill>
            <a:srgbClr val="AE26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548358" y="12271751"/>
            <a:ext cx="8342270" cy="13455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548358" y="12271751"/>
            <a:ext cx="8342270" cy="12385"/>
          </a:xfrm>
          <a:prstGeom prst="rect">
            <a:avLst/>
          </a:prstGeom>
          <a:solidFill>
            <a:srgbClr val="ABC8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3548358" y="14004858"/>
            <a:ext cx="8342270" cy="79900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3548358" y="14784806"/>
            <a:ext cx="8342270" cy="19054"/>
          </a:xfrm>
          <a:prstGeom prst="rect">
            <a:avLst/>
          </a:prstGeom>
          <a:solidFill>
            <a:srgbClr val="CAD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3548358" y="15078080"/>
            <a:ext cx="8342270" cy="3479603"/>
          </a:xfrm>
          <a:prstGeom prst="roundRect">
            <a:avLst>
              <a:gd name="adj" fmla="val 2190"/>
            </a:avLst>
          </a:prstGeom>
          <a:gradFill rotWithShape="1" flip="none">
            <a:gsLst>
              <a:gs pos="0">
                <a:srgbClr val="E2ECEE"/>
              </a:gs>
              <a:gs pos="100000">
                <a:srgbClr val="F1F5F6"/>
              </a:gs>
            </a:gsLst>
            <a:lin ang="5400000" scaled="0"/>
          </a:gradFill>
          <a:ln w="9526">
            <a:solidFill>
              <a:srgbClr val="C3D7DB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3294" y="16152938"/>
            <a:ext cx="8342119" cy="79900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03294" y="16932887"/>
            <a:ext cx="8342119" cy="19053"/>
          </a:xfrm>
          <a:prstGeom prst="rect">
            <a:avLst/>
          </a:prstGeom>
          <a:solidFill>
            <a:srgbClr val="CAD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3595971" y="19108652"/>
            <a:ext cx="8294657" cy="79900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3595971" y="19888599"/>
            <a:ext cx="8294657" cy="19054"/>
          </a:xfrm>
          <a:prstGeom prst="rect">
            <a:avLst/>
          </a:prstGeom>
          <a:solidFill>
            <a:srgbClr val="CAD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282616" y="20822712"/>
            <a:ext cx="10595669" cy="1261889"/>
          </a:xfrm>
          <a:prstGeom prst="roundRect">
            <a:avLst>
              <a:gd name="adj" fmla="val 15307"/>
            </a:avLst>
          </a:prstGeom>
          <a:solidFill>
            <a:srgbClr val="F1F5F6"/>
          </a:solidFill>
          <a:ln w="9526">
            <a:solidFill>
              <a:srgbClr val="B2CC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3595971" y="23645110"/>
            <a:ext cx="8294657" cy="1430168"/>
          </a:xfrm>
          <a:prstGeom prst="roundRect">
            <a:avLst>
              <a:gd name="adj" fmla="val 12505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03294" y="27951837"/>
            <a:ext cx="8342119" cy="1412313"/>
          </a:xfrm>
          <a:prstGeom prst="roundRect">
            <a:avLst>
              <a:gd name="adj" fmla="val 12663"/>
            </a:avLst>
          </a:prstGeom>
          <a:solidFill>
            <a:srgbClr val="E2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21915488" y="5124624"/>
            <a:ext cx="563014" cy="563022"/>
          </a:xfrm>
          <a:prstGeom prst="roundRect">
            <a:avLst>
              <a:gd name="adj" fmla="val 50000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957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716044" y="6421181"/>
            <a:ext cx="7728664" cy="7955949"/>
          </a:xfrm>
          <a:prstGeom prst="roundRect">
            <a:avLst>
              <a:gd name="adj" fmla="val 493"/>
            </a:avLst>
          </a:prstGeom>
          <a:solidFill>
            <a:srgbClr val="FFFFFF"/>
          </a:solidFill>
          <a:ln w="9526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figure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16099" y="6421181"/>
            <a:ext cx="7728553" cy="7955949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1320794" y="12396586"/>
            <a:ext cx="1263362" cy="547399"/>
          </a:xfrm>
          <a:prstGeom prst="roundRect">
            <a:avLst>
              <a:gd name="adj" fmla="val 14294"/>
            </a:avLst>
          </a:prstGeom>
          <a:solidFill>
            <a:srgbClr val="AE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464" b="1">
                <a:solidFill>
                  <a:srgbClr val="FFFFFF"/>
                </a:solidFill>
                <a:latin typeface="Arial"/>
              </a:rPr>
              <a:t>FIRST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1915488" y="14390223"/>
            <a:ext cx="563014" cy="563021"/>
          </a:xfrm>
          <a:prstGeom prst="roundRect">
            <a:avLst>
              <a:gd name="adj" fmla="val 50000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957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8194574" y="15270316"/>
            <a:ext cx="3483434" cy="313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8194574" y="15270316"/>
            <a:ext cx="12385" cy="3135750"/>
          </a:xfrm>
          <a:prstGeom prst="rect">
            <a:avLst/>
          </a:prstGeom>
          <a:solidFill>
            <a:srgbClr val="C3D7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0282616" y="15617890"/>
            <a:ext cx="563016" cy="563020"/>
          </a:xfrm>
          <a:prstGeom prst="roundRect">
            <a:avLst>
              <a:gd name="adj" fmla="val 50000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957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282616" y="22642563"/>
            <a:ext cx="563016" cy="563021"/>
          </a:xfrm>
          <a:prstGeom prst="roundRect">
            <a:avLst>
              <a:gd name="adj" fmla="val 50000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957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432770" y="25500372"/>
            <a:ext cx="2573446" cy="44562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6432770" y="25926945"/>
            <a:ext cx="2573446" cy="19054"/>
          </a:xfrm>
          <a:prstGeom prst="rect">
            <a:avLst/>
          </a:prstGeom>
          <a:solidFill>
            <a:srgbClr val="CAD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34549259" y="26128713"/>
            <a:ext cx="6340321" cy="3230676"/>
          </a:xfrm>
          <a:prstGeom prst="roundRect">
            <a:avLst>
              <a:gd name="adj" fmla="val 5661"/>
            </a:avLst>
          </a:prstGeom>
          <a:solidFill>
            <a:srgbClr val="E2EFF1"/>
          </a:solidFill>
          <a:ln w="19053">
            <a:solidFill>
              <a:srgbClr val="0F6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21915488" y="26989611"/>
            <a:ext cx="3330331" cy="702437"/>
          </a:xfrm>
          <a:prstGeom prst="roundRect">
            <a:avLst>
              <a:gd name="adj" fmla="val 50000"/>
            </a:avLst>
          </a:prstGeom>
          <a:solidFill>
            <a:srgbClr val="E7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992" b="1">
                <a:solidFill>
                  <a:srgbClr val="0F6070"/>
                </a:solidFill>
                <a:latin typeface="Arial"/>
              </a:rPr>
              <a:t>Arm Elimination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5379877" y="26989611"/>
            <a:ext cx="2971155" cy="702437"/>
          </a:xfrm>
          <a:prstGeom prst="roundRect">
            <a:avLst>
              <a:gd name="adj" fmla="val 50000"/>
            </a:avLst>
          </a:prstGeom>
          <a:solidFill>
            <a:srgbClr val="E7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992" b="1">
                <a:solidFill>
                  <a:srgbClr val="0F6070"/>
                </a:solidFill>
                <a:latin typeface="Arial"/>
              </a:rPr>
              <a:t>Epsilon-LUCB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8485089" y="26989611"/>
            <a:ext cx="2866112" cy="702437"/>
          </a:xfrm>
          <a:prstGeom prst="roundRect">
            <a:avLst>
              <a:gd name="adj" fmla="val 50000"/>
            </a:avLst>
          </a:prstGeom>
          <a:solidFill>
            <a:srgbClr val="E7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992" b="1">
                <a:solidFill>
                  <a:srgbClr val="0F6070"/>
                </a:solidFill>
                <a:latin typeface="Arial"/>
              </a:rPr>
              <a:t>Threshold SE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1915488" y="27826109"/>
            <a:ext cx="2844981" cy="702436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992" b="1">
                <a:solidFill>
                  <a:srgbClr val="AE2622"/>
                </a:solidFill>
                <a:latin typeface="Arial"/>
              </a:rPr>
              <a:t>Matrix UCB-E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4894529" y="27826109"/>
            <a:ext cx="2485510" cy="702436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992" b="1">
                <a:solidFill>
                  <a:srgbClr val="AE2622"/>
                </a:solidFill>
                <a:latin typeface="Arial"/>
              </a:rPr>
              <a:t>UCB-E-LRF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7514096" y="27826109"/>
            <a:ext cx="2739046" cy="702436"/>
          </a:xfrm>
          <a:prstGeom prst="roundRect">
            <a:avLst>
              <a:gd name="adj" fmla="val 50000"/>
            </a:avLst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992" b="1">
                <a:solidFill>
                  <a:srgbClr val="555555"/>
                </a:solidFill>
                <a:latin typeface="Arial"/>
              </a:rPr>
              <a:t>Hill Climbing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1915488" y="28662607"/>
            <a:ext cx="2845577" cy="702436"/>
          </a:xfrm>
          <a:prstGeom prst="roundRect">
            <a:avLst>
              <a:gd name="adj" fmla="val 50000"/>
            </a:avLst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992" b="1">
                <a:solidFill>
                  <a:srgbClr val="555555"/>
                </a:solidFill>
                <a:latin typeface="Arial"/>
              </a:rPr>
              <a:t>Bayesian Opt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4895125" y="28662607"/>
            <a:ext cx="2697234" cy="702436"/>
          </a:xfrm>
          <a:prstGeom prst="roundRect">
            <a:avLst>
              <a:gd name="adj" fmla="val 50000"/>
            </a:avLst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992" b="1">
                <a:solidFill>
                  <a:srgbClr val="555555"/>
                </a:solidFill>
                <a:latin typeface="Arial"/>
              </a:rPr>
              <a:t>LM Proposal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3548358" y="8693352"/>
            <a:ext cx="8342270" cy="1427491"/>
          </a:xfrm>
          <a:prstGeom prst="rect">
            <a:avLst/>
          </a:prstGeom>
          <a:solidFill>
            <a:srgbClr val="E7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10282616" y="23369700"/>
            <a:ext cx="603605" cy="603612"/>
          </a:xfrm>
          <a:prstGeom prst="roundRect">
            <a:avLst>
              <a:gd name="adj" fmla="val 50000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168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0282616" y="25010705"/>
            <a:ext cx="603605" cy="603612"/>
          </a:xfrm>
          <a:prstGeom prst="roundRect">
            <a:avLst>
              <a:gd name="adj" fmla="val 50000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168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0282616" y="26651708"/>
            <a:ext cx="603605" cy="603612"/>
          </a:xfrm>
          <a:prstGeom prst="roundRect">
            <a:avLst>
              <a:gd name="adj" fmla="val 50000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168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0282616" y="27667051"/>
            <a:ext cx="603605" cy="603613"/>
          </a:xfrm>
          <a:prstGeom prst="roundRect">
            <a:avLst>
              <a:gd name="adj" fmla="val 50000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168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3548358" y="6197847"/>
            <a:ext cx="2898251" cy="1068014"/>
          </a:xfrm>
          <a:prstGeom prst="rect">
            <a:avLst/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3548358" y="7256334"/>
            <a:ext cx="2898251" cy="12385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6446609" y="6197847"/>
            <a:ext cx="1864170" cy="1068014"/>
          </a:xfrm>
          <a:prstGeom prst="rect">
            <a:avLst/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6446609" y="7256334"/>
            <a:ext cx="1864170" cy="12385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8310779" y="6197847"/>
            <a:ext cx="3579849" cy="1068014"/>
          </a:xfrm>
          <a:prstGeom prst="rect">
            <a:avLst/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8310779" y="7256334"/>
            <a:ext cx="3579849" cy="12385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3548358" y="7265861"/>
            <a:ext cx="2898251" cy="142749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3548358" y="8683826"/>
            <a:ext cx="2898251" cy="12384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6446609" y="7265861"/>
            <a:ext cx="1864170" cy="142749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6446609" y="8683826"/>
            <a:ext cx="1864170" cy="12384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8310779" y="7265861"/>
            <a:ext cx="3579849" cy="142749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8310779" y="8683826"/>
            <a:ext cx="3579849" cy="12384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3548358" y="8693352"/>
            <a:ext cx="2898251" cy="142749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33548358" y="10111316"/>
            <a:ext cx="2898251" cy="12385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36446609" y="8693352"/>
            <a:ext cx="1864170" cy="142749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36446609" y="10111316"/>
            <a:ext cx="1864170" cy="12385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38310779" y="8693352"/>
            <a:ext cx="3579849" cy="142749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38310779" y="10111316"/>
            <a:ext cx="3579849" cy="12385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35614435" y="26203106"/>
            <a:ext cx="1221403" cy="418398"/>
          </a:xfrm>
          <a:prstGeom prst="roundRect">
            <a:avLst>
              <a:gd name="adj" fmla="val 50000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080" b="1">
                <a:solidFill>
                  <a:srgbClr val="FFFFFF"/>
                </a:solidFill>
                <a:latin typeface="Arial"/>
              </a:rPr>
              <a:t>Paper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38639898" y="26203106"/>
            <a:ext cx="1147605" cy="418398"/>
          </a:xfrm>
          <a:prstGeom prst="roundRect">
            <a:avLst>
              <a:gd name="adj" fmla="val 50000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080" b="1">
                <a:solidFill>
                  <a:srgbClr val="FFFFFF"/>
                </a:solidFill>
                <a:latin typeface="Arial"/>
              </a:rPr>
              <a:t>Code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34954260" y="26743364"/>
            <a:ext cx="2541753" cy="2541778"/>
          </a:xfrm>
          <a:prstGeom prst="roundRect">
            <a:avLst>
              <a:gd name="adj" fmla="val 5197"/>
            </a:avLst>
          </a:prstGeom>
          <a:solidFill>
            <a:srgbClr val="FFFFFF"/>
          </a:solidFill>
          <a:ln w="9526">
            <a:solidFill>
              <a:srgbClr val="F0F0F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pap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55880" y="26844983"/>
            <a:ext cx="2338514" cy="2338539"/>
          </a:xfrm>
          <a:prstGeom prst="rect">
            <a:avLst/>
          </a:prstGeom>
        </p:spPr>
      </p:pic>
      <p:sp>
        <p:nvSpPr>
          <p:cNvPr id="88" name="Rounded Rectangle 87"/>
          <p:cNvSpPr/>
          <p:nvPr/>
        </p:nvSpPr>
        <p:spPr>
          <a:xfrm>
            <a:off x="37942824" y="26743364"/>
            <a:ext cx="2541751" cy="2541778"/>
          </a:xfrm>
          <a:prstGeom prst="roundRect">
            <a:avLst>
              <a:gd name="adj" fmla="val 5197"/>
            </a:avLst>
          </a:prstGeom>
          <a:solidFill>
            <a:srgbClr val="FFFFFF"/>
          </a:solidFill>
          <a:ln w="9526">
            <a:solidFill>
              <a:srgbClr val="F0F0F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9" name="Picture 88" descr="cod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044442" y="26844983"/>
            <a:ext cx="2338514" cy="2338539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11292294" y="20966295"/>
            <a:ext cx="2479617" cy="61325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5513"/>
              </a:lnSpc>
              <a:spcBef>
                <a:spcPts val="0"/>
              </a:spcBef>
              <a:spcAft>
                <a:spcPts val="0"/>
              </a:spcAft>
            </a:pPr>
            <a:r>
              <a:rPr sz="3802" b="0">
                <a:solidFill>
                  <a:srgbClr val="1C1C1C"/>
                </a:solidFill>
                <a:latin typeface="Cambria Math"/>
              </a:rPr>
              <a:t>c* = argmax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3878237" y="20966295"/>
            <a:ext cx="6170080" cy="61325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5513"/>
              </a:lnSpc>
              <a:spcBef>
                <a:spcPts val="0"/>
              </a:spcBef>
              <a:spcAft>
                <a:spcPts val="0"/>
              </a:spcAft>
            </a:pPr>
            <a:r>
              <a:rPr sz="3802" b="0">
                <a:solidFill>
                  <a:srgbClr val="1C1C1C"/>
                </a:solidFill>
                <a:latin typeface="Cambria Math"/>
              </a:rPr>
              <a:t>U( PERF, LATENCY, COST 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1939956" y="851822"/>
            <a:ext cx="10093025" cy="36867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104"/>
              </a:lnSpc>
              <a:spcBef>
                <a:spcPts val="0"/>
              </a:spcBef>
              <a:spcAft>
                <a:spcPts val="0"/>
              </a:spcAft>
            </a:pPr>
            <a:r>
              <a:rPr sz="5120" b="1" spc="51">
                <a:solidFill>
                  <a:srgbClr val="0F6070"/>
                </a:solidFill>
                <a:latin typeface="Arial"/>
              </a:rPr>
              <a:t>Preprint 2026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1260007" y="851822"/>
            <a:ext cx="20731040" cy="21583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521"/>
              </a:lnSpc>
              <a:spcBef>
                <a:spcPts val="0"/>
              </a:spcBef>
              <a:spcAft>
                <a:spcPts val="0"/>
              </a:spcAft>
            </a:pPr>
            <a:r>
              <a:rPr sz="5928" b="1" spc="-67">
                <a:solidFill>
                  <a:srgbClr val="0F6070"/>
                </a:solidFill>
                <a:latin typeface="Arial"/>
              </a:rPr>
              <a:t>AgentOpt: Client-Side Optimization for LLM-Based</a:t>
            </a:r>
          </a:p>
          <a:p>
            <a:pPr algn="ctr">
              <a:lnSpc>
                <a:spcPts val="6521"/>
              </a:lnSpc>
              <a:spcBef>
                <a:spcPts val="0"/>
              </a:spcBef>
              <a:spcAft>
                <a:spcPts val="0"/>
              </a:spcAft>
            </a:pPr>
            <a:r>
              <a:rPr sz="5928" b="1" spc="-67">
                <a:solidFill>
                  <a:srgbClr val="0F6070"/>
                </a:solidFill>
                <a:latin typeface="Arial"/>
              </a:rPr>
              <a:t>Agents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1260007" y="2899172"/>
            <a:ext cx="20731040" cy="6074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160"/>
              </a:lnSpc>
              <a:spcBef>
                <a:spcPts val="0"/>
              </a:spcBef>
              <a:spcAft>
                <a:spcPts val="0"/>
              </a:spcAft>
            </a:pPr>
            <a:r>
              <a:rPr sz="3200" b="0">
                <a:solidFill>
                  <a:srgbClr val="1B2331"/>
                </a:solidFill>
                <a:latin typeface="Arial"/>
              </a:rPr>
              <a:t>Wenyue Hua</a:t>
            </a:r>
            <a:r>
              <a:rPr sz="4480" b="0" baseline="30000">
                <a:solidFill>
                  <a:srgbClr val="1B2331"/>
                </a:solidFill>
                <a:latin typeface="Arial"/>
              </a:rPr>
              <a:t>1*</a:t>
            </a:r>
            <a:r>
              <a:rPr sz="3200" b="0">
                <a:solidFill>
                  <a:srgbClr val="1B2331"/>
                </a:solidFill>
                <a:latin typeface="Arial"/>
              </a:rPr>
              <a:t>, Sripad Karne</a:t>
            </a:r>
            <a:r>
              <a:rPr sz="4480" b="0" baseline="30000">
                <a:solidFill>
                  <a:srgbClr val="1B2331"/>
                </a:solidFill>
                <a:latin typeface="Arial"/>
              </a:rPr>
              <a:t>3</a:t>
            </a:r>
            <a:r>
              <a:rPr sz="3200" b="0">
                <a:solidFill>
                  <a:srgbClr val="1B2331"/>
                </a:solidFill>
                <a:latin typeface="Arial"/>
              </a:rPr>
              <a:t>, Qian Xie</a:t>
            </a:r>
            <a:r>
              <a:rPr sz="4480" b="0" baseline="30000">
                <a:solidFill>
                  <a:srgbClr val="1B2331"/>
                </a:solidFill>
                <a:latin typeface="Arial"/>
              </a:rPr>
              <a:t>2</a:t>
            </a:r>
            <a:r>
              <a:rPr sz="3200" b="0">
                <a:solidFill>
                  <a:srgbClr val="1B2331"/>
                </a:solidFill>
                <a:latin typeface="Arial"/>
              </a:rPr>
              <a:t>, Armaan Agrawal</a:t>
            </a:r>
            <a:r>
              <a:rPr sz="4480" b="0" baseline="30000">
                <a:solidFill>
                  <a:srgbClr val="1B2331"/>
                </a:solidFill>
                <a:latin typeface="Arial"/>
              </a:rPr>
              <a:t>3</a:t>
            </a:r>
            <a:r>
              <a:rPr sz="3200" b="0">
                <a:solidFill>
                  <a:srgbClr val="1B2331"/>
                </a:solidFill>
                <a:latin typeface="Arial"/>
              </a:rPr>
              <a:t>, Nikos Pagonas</a:t>
            </a:r>
            <a:r>
              <a:rPr sz="4480" b="0" baseline="30000">
                <a:solidFill>
                  <a:srgbClr val="1B2331"/>
                </a:solidFill>
                <a:latin typeface="Arial"/>
              </a:rPr>
              <a:t>3</a:t>
            </a:r>
            <a:r>
              <a:rPr sz="3200" b="0">
                <a:solidFill>
                  <a:srgbClr val="1B2331"/>
                </a:solidFill>
                <a:latin typeface="Arial"/>
              </a:rPr>
              <a:t>, Kostis Kaffes</a:t>
            </a:r>
            <a:r>
              <a:rPr sz="4480" b="0" baseline="30000">
                <a:solidFill>
                  <a:srgbClr val="1B2331"/>
                </a:solidFill>
                <a:latin typeface="Arial"/>
              </a:rPr>
              <a:t>3</a:t>
            </a:r>
            <a:r>
              <a:rPr sz="3200" b="0">
                <a:solidFill>
                  <a:srgbClr val="1B2331"/>
                </a:solidFill>
                <a:latin typeface="Arial"/>
              </a:rPr>
              <a:t>, Tianyi Peng</a:t>
            </a:r>
            <a:r>
              <a:rPr sz="4480" b="0" baseline="30000">
                <a:solidFill>
                  <a:srgbClr val="1B2331"/>
                </a:solidFill>
                <a:latin typeface="Arial"/>
              </a:rPr>
              <a:t>3†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1260007" y="3472758"/>
            <a:ext cx="20731040" cy="4739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248"/>
              </a:lnSpc>
              <a:spcBef>
                <a:spcPts val="0"/>
              </a:spcBef>
              <a:spcAft>
                <a:spcPts val="0"/>
              </a:spcAft>
            </a:pPr>
            <a:r>
              <a:rPr sz="1944" b="0" spc="44" baseline="30000">
                <a:solidFill>
                  <a:srgbClr val="55617A"/>
                </a:solidFill>
                <a:latin typeface="Arial"/>
              </a:rPr>
              <a:t>1</a:t>
            </a:r>
            <a:r>
              <a:rPr sz="2240" b="0" spc="44">
                <a:solidFill>
                  <a:srgbClr val="55617A"/>
                </a:solidFill>
                <a:latin typeface="Arial"/>
              </a:rPr>
              <a:t>Microsoft Research, AI Frontiers    </a:t>
            </a:r>
            <a:r>
              <a:rPr sz="3136" b="0" spc="44" baseline="30000">
                <a:solidFill>
                  <a:srgbClr val="55617A"/>
                </a:solidFill>
                <a:latin typeface="Arial"/>
              </a:rPr>
              <a:t>2</a:t>
            </a:r>
            <a:r>
              <a:rPr sz="2240" b="0" spc="44">
                <a:solidFill>
                  <a:srgbClr val="55617A"/>
                </a:solidFill>
                <a:latin typeface="Arial"/>
              </a:rPr>
              <a:t>Cornell University    </a:t>
            </a:r>
            <a:r>
              <a:rPr sz="3136" b="0" spc="44" baseline="30000">
                <a:solidFill>
                  <a:srgbClr val="55617A"/>
                </a:solidFill>
                <a:latin typeface="Arial"/>
              </a:rPr>
              <a:t>3</a:t>
            </a:r>
            <a:r>
              <a:rPr sz="2240" b="0" spc="44">
                <a:solidFill>
                  <a:srgbClr val="55617A"/>
                </a:solidFill>
                <a:latin typeface="Arial"/>
              </a:rPr>
              <a:t>Columbia University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03294" y="5124624"/>
            <a:ext cx="8592382" cy="918853"/>
          </a:xfrm>
          <a:prstGeom prst="rect">
            <a:avLst/>
          </a:prstGeom>
          <a:noFill/>
        </p:spPr>
        <p:txBody>
          <a:bodyPr wrap="square" lIns="0" rIns="3353397" tIns="0" bIns="109748">
            <a:spAutoFit/>
          </a:bodyPr>
          <a:lstStyle/>
          <a:p>
            <a:pPr algn="l">
              <a:lnSpc>
                <a:spcPts val="528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0F6070"/>
                </a:solidFill>
                <a:latin typeface="Arial"/>
              </a:rPr>
              <a:t>Problem 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282616" y="5124624"/>
            <a:ext cx="10913539" cy="918853"/>
          </a:xfrm>
          <a:prstGeom prst="rect">
            <a:avLst/>
          </a:prstGeom>
          <a:noFill/>
        </p:spPr>
        <p:txBody>
          <a:bodyPr wrap="none" lIns="0" rIns="3353397" tIns="0" bIns="109748">
            <a:spAutoFit/>
          </a:bodyPr>
          <a:lstStyle/>
          <a:p>
            <a:pPr algn="l">
              <a:lnSpc>
                <a:spcPts val="528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0F6070"/>
                </a:solidFill>
                <a:latin typeface="Arial"/>
              </a:rPr>
              <a:t>Method 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3548358" y="5124624"/>
            <a:ext cx="8592538" cy="918853"/>
          </a:xfrm>
          <a:prstGeom prst="rect">
            <a:avLst/>
          </a:prstGeom>
          <a:noFill/>
        </p:spPr>
        <p:txBody>
          <a:bodyPr wrap="square" lIns="0" rIns="3353397" tIns="0" bIns="109748">
            <a:spAutoFit/>
          </a:bodyPr>
          <a:lstStyle/>
          <a:p>
            <a:pPr algn="l">
              <a:lnSpc>
                <a:spcPts val="528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0F6070"/>
                </a:solidFill>
                <a:latin typeface="Arial"/>
              </a:rPr>
              <a:t>Key Results 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1915488" y="5854886"/>
            <a:ext cx="10913538" cy="3758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104"/>
              </a:lnSpc>
              <a:spcBef>
                <a:spcPts val="0"/>
              </a:spcBef>
              <a:spcAft>
                <a:spcPts val="0"/>
              </a:spcAft>
            </a:pPr>
            <a:r>
              <a:rPr sz="3520" b="0">
                <a:solidFill>
                  <a:srgbClr val="1C1C1C"/>
                </a:solidFill>
                <a:latin typeface="Arial"/>
              </a:rPr>
              <a:t>AgentOpt patches </a:t>
            </a:r>
            <a:r>
              <a:rPr sz="3520" b="0">
                <a:solidFill>
                  <a:srgbClr val="1C1C1C"/>
                </a:solidFill>
                <a:latin typeface="monospace"/>
              </a:rPr>
              <a:t>httpx.Client.send</a:t>
            </a:r>
            <a:r>
              <a:rPr sz="3520" b="0">
                <a:solidFill>
                  <a:srgbClr val="1C1C1C"/>
                </a:solidFill>
                <a:latin typeface="Arial"/>
              </a:rPr>
              <a:t> / </a:t>
            </a:r>
            <a:r>
              <a:rPr sz="3520" b="0">
                <a:solidFill>
                  <a:srgbClr val="1C1C1C"/>
                </a:solidFill>
                <a:latin typeface="monospace"/>
              </a:rPr>
              <a:t>AsyncClient.send</a:t>
            </a:r>
            <a:r>
              <a:rPr sz="3520" b="0">
                <a:solidFill>
                  <a:srgbClr val="1C1C1C"/>
                </a:solidFill>
                <a:latin typeface="Arial"/>
              </a:rPr>
              <a:t> and tags each call with its datapoint + combination via Python </a:t>
            </a:r>
            <a:r>
              <a:rPr sz="3520" b="0">
                <a:solidFill>
                  <a:srgbClr val="1C1C1C"/>
                </a:solidFill>
                <a:latin typeface="monospace"/>
              </a:rPr>
              <a:t>contextvars</a:t>
            </a:r>
            <a:r>
              <a:rPr sz="3520" b="0">
                <a:solidFill>
                  <a:srgbClr val="1C1C1C"/>
                </a:solidFill>
                <a:latin typeface="Arial"/>
              </a:rPr>
              <a:t>, so any agent framework is covered with zero code changes.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03294" y="6202608"/>
            <a:ext cx="8592382" cy="67065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104"/>
              </a:lnSpc>
              <a:spcBef>
                <a:spcPts val="0"/>
              </a:spcBef>
              <a:spcAft>
                <a:spcPts val="0"/>
              </a:spcAft>
            </a:pPr>
            <a:r>
              <a:rPr sz="3520" b="0">
                <a:solidFill>
                  <a:srgbClr val="1C1C1C"/>
                </a:solidFill>
                <a:latin typeface="Arial"/>
              </a:rPr>
              <a:t>Efficiency research for AI agents has optimized the </a:t>
            </a:r>
            <a:r>
              <a:rPr sz="3520" b="0" i="1">
                <a:solidFill>
                  <a:srgbClr val="1C1C1C"/>
                </a:solidFill>
                <a:latin typeface="Arial"/>
              </a:rPr>
              <a:t>server</a:t>
            </a:r>
            <a:r>
              <a:rPr sz="3520" b="0">
                <a:solidFill>
                  <a:srgbClr val="1C1C1C"/>
                </a:solidFill>
                <a:latin typeface="Arial"/>
              </a:rPr>
              <a:t> — caching, scheduling, speculative execution, load balancing — but developers now compose agents from heterogeneous models and tools, so the highest-impact decisions (which model per role, how to split the API budget) sit on the </a:t>
            </a:r>
            <a:r>
              <a:rPr sz="3520" b="0" i="1">
                <a:solidFill>
                  <a:srgbClr val="1C1C1C"/>
                </a:solidFill>
                <a:latin typeface="Arial"/>
              </a:rPr>
              <a:t>client</a:t>
            </a:r>
            <a:r>
              <a:rPr sz="3520" b="0">
                <a:solidFill>
                  <a:srgbClr val="1C1C1C"/>
                </a:solidFill>
                <a:latin typeface="Arial"/>
              </a:rPr>
              <a:t> side, where a provider cannot optimize them.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1915488" y="9349814"/>
            <a:ext cx="10913538" cy="29807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104"/>
              </a:lnSpc>
              <a:spcBef>
                <a:spcPts val="0"/>
              </a:spcBef>
              <a:spcAft>
                <a:spcPts val="0"/>
              </a:spcAft>
            </a:pPr>
            <a:r>
              <a:rPr sz="3520" b="0">
                <a:solidFill>
                  <a:srgbClr val="1C1C1C"/>
                </a:solidFill>
                <a:latin typeface="Arial"/>
              </a:rPr>
              <a:t>HTTP-level caching (in-memory + SQLite) reuses identical calls across combinations, and two-level concurrency bounds in-flight requests across combinations and datapoints.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3548358" y="10366495"/>
            <a:ext cx="8592538" cy="1914019"/>
          </a:xfrm>
          <a:prstGeom prst="rect">
            <a:avLst/>
          </a:prstGeom>
          <a:noFill/>
        </p:spPr>
        <p:txBody>
          <a:bodyPr wrap="square" lIns="416268" rIns="416268" tIns="241000" bIns="241000">
            <a:spAutoFit/>
          </a:bodyPr>
          <a:lstStyle/>
          <a:p>
            <a:pPr algn="ctr">
              <a:lnSpc>
                <a:spcPts val="4657"/>
              </a:lnSpc>
              <a:spcBef>
                <a:spcPts val="0"/>
              </a:spcBef>
              <a:spcAft>
                <a:spcPts val="0"/>
              </a:spcAft>
            </a:pPr>
            <a:r>
              <a:rPr sz="3450" b="1">
                <a:solidFill>
                  <a:srgbClr val="0F6070"/>
                </a:solidFill>
                <a:latin typeface="Arial"/>
              </a:rPr>
              <a:t>+42.6 pts over the naive all-strongest combo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1915488" y="12168194"/>
            <a:ext cx="10913538" cy="1459555"/>
          </a:xfrm>
          <a:prstGeom prst="rect">
            <a:avLst/>
          </a:prstGeom>
          <a:noFill/>
        </p:spPr>
        <p:txBody>
          <a:bodyPr wrap="square" lIns="312983" rIns="312983" tIns="53654" bIns="53654">
            <a:spAutoFit/>
          </a:bodyPr>
          <a:lstStyle/>
          <a:p>
            <a:pPr algn="l">
              <a:lnSpc>
                <a:spcPts val="4576"/>
              </a:lnSpc>
              <a:spcBef>
                <a:spcPts val="0"/>
              </a:spcBef>
              <a:spcAft>
                <a:spcPts val="0"/>
              </a:spcAft>
            </a:pPr>
            <a:r>
              <a:rPr sz="3520" b="0" i="1">
                <a:solidFill>
                  <a:srgbClr val="1C1C1C"/>
                </a:solidFill>
                <a:latin typeface="Arial"/>
              </a:rPr>
              <a:t>Any framework that issues LLM requests through httpx is covered automatically.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3548358" y="12271751"/>
            <a:ext cx="8592538" cy="1547334"/>
          </a:xfrm>
          <a:prstGeom prst="rect">
            <a:avLst/>
          </a:prstGeom>
          <a:noFill/>
        </p:spPr>
        <p:txBody>
          <a:bodyPr wrap="square" lIns="0" rIns="0" tIns="185109" bIns="0">
            <a:spAutoFit/>
          </a:bodyPr>
          <a:lstStyle/>
          <a:p>
            <a:pPr algn="l">
              <a:lnSpc>
                <a:spcPts val="4534"/>
              </a:lnSpc>
              <a:spcBef>
                <a:spcPts val="0"/>
              </a:spcBef>
              <a:spcAft>
                <a:spcPts val="0"/>
              </a:spcAft>
            </a:pPr>
            <a:r>
              <a:rPr sz="2526" b="1" spc="151">
                <a:solidFill>
                  <a:srgbClr val="111111"/>
                </a:solidFill>
                <a:latin typeface="Arial"/>
              </a:rPr>
              <a:t>SO WHAT → </a:t>
            </a:r>
            <a:r>
              <a:rPr sz="3238" b="0" i="1">
                <a:solidFill>
                  <a:srgbClr val="1C1C1C"/>
                </a:solidFill>
                <a:latin typeface="Arial"/>
              </a:rPr>
              <a:t>Best combo: cheapest planner + strongest solver.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3548358" y="14004858"/>
            <a:ext cx="8592538" cy="918852"/>
          </a:xfrm>
          <a:prstGeom prst="rect">
            <a:avLst/>
          </a:prstGeom>
          <a:noFill/>
        </p:spPr>
        <p:txBody>
          <a:bodyPr wrap="square" lIns="0" rIns="0" tIns="0" bIns="109748">
            <a:spAutoFit/>
          </a:bodyPr>
          <a:lstStyle/>
          <a:p>
            <a:pPr algn="l">
              <a:lnSpc>
                <a:spcPts val="528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0F6070"/>
                </a:solidFill>
                <a:latin typeface="Arial"/>
              </a:rPr>
              <a:t>Headline Numbers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03294" y="16152938"/>
            <a:ext cx="8592382" cy="918852"/>
          </a:xfrm>
          <a:prstGeom prst="rect">
            <a:avLst/>
          </a:prstGeom>
          <a:noFill/>
        </p:spPr>
        <p:txBody>
          <a:bodyPr wrap="square" lIns="0" rIns="3353397" tIns="0" bIns="109748">
            <a:spAutoFit/>
          </a:bodyPr>
          <a:lstStyle/>
          <a:p>
            <a:pPr algn="l">
              <a:lnSpc>
                <a:spcPts val="528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0F6070"/>
                </a:solidFill>
                <a:latin typeface="Arial"/>
              </a:rPr>
              <a:t>Motivation 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3595971" y="19108652"/>
            <a:ext cx="8543496" cy="918851"/>
          </a:xfrm>
          <a:prstGeom prst="rect">
            <a:avLst/>
          </a:prstGeom>
          <a:noFill/>
        </p:spPr>
        <p:txBody>
          <a:bodyPr wrap="square" lIns="0" rIns="3353397" tIns="0" bIns="109748">
            <a:spAutoFit/>
          </a:bodyPr>
          <a:lstStyle/>
          <a:p>
            <a:pPr algn="l">
              <a:lnSpc>
                <a:spcPts val="528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0F6070"/>
                </a:solidFill>
                <a:latin typeface="Arial"/>
              </a:rPr>
              <a:t>Takeaway 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3595971" y="20181874"/>
            <a:ext cx="8543496" cy="37258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104"/>
              </a:lnSpc>
              <a:spcBef>
                <a:spcPts val="0"/>
              </a:spcBef>
              <a:spcAft>
                <a:spcPts val="0"/>
              </a:spcAft>
            </a:pPr>
            <a:r>
              <a:rPr sz="3520" b="0">
                <a:solidFill>
                  <a:srgbClr val="1C1C1C"/>
                </a:solidFill>
                <a:latin typeface="Arial"/>
              </a:rPr>
              <a:t>Agent efficiency is no longer a server-only problem — the leverage has shifted to the client, where model selection optimizes full combinations under the developer's own utility.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282616" y="20822712"/>
            <a:ext cx="10913539" cy="1451172"/>
          </a:xfrm>
          <a:prstGeom prst="rect">
            <a:avLst/>
          </a:prstGeom>
          <a:noFill/>
        </p:spPr>
        <p:txBody>
          <a:bodyPr wrap="square" lIns="338022" rIns="338022" tIns="57947" bIns="57947">
            <a:spAutoFit/>
          </a:bodyPr>
          <a:lstStyle/>
          <a:p>
            <a:pPr algn="ctr">
              <a:lnSpc>
                <a:spcPts val="5513"/>
              </a:lnSpc>
              <a:spcBef>
                <a:spcPts val="0"/>
              </a:spcBef>
              <a:spcAft>
                <a:spcPts val="0"/>
              </a:spcAft>
            </a:pPr>
            <a:r>
              <a:rPr sz="3802" b="0">
                <a:solidFill>
                  <a:srgbClr val="1C1C1C"/>
                </a:solidFill>
                <a:latin typeface="Cambria Math"/>
              </a:rPr>
              <a:t>c* = argmax</a:t>
            </a:r>
            <a:r>
              <a:rPr sz="5323" b="0" baseline="-25000">
                <a:solidFill>
                  <a:srgbClr val="1C1C1C"/>
                </a:solidFill>
                <a:latin typeface="Cambria Math"/>
              </a:rPr>
              <a:t>c</a:t>
            </a:r>
            <a:r>
              <a:rPr sz="3802" b="0">
                <a:solidFill>
                  <a:srgbClr val="1C1C1C"/>
                </a:solidFill>
                <a:latin typeface="Cambria Math"/>
              </a:rPr>
              <a:t> U( PERF, LATENCY, COST )</a:t>
            </a:r>
            <a:r>
              <a:rPr sz="1901" b="0" i="1">
                <a:solidFill>
                  <a:srgbClr val="555555"/>
                </a:solidFill>
                <a:latin typeface="Cambria Math"/>
              </a:rPr>
              <a:t>over combinations c = (m₁, …, mₙ) — one model per pipeline role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3595971" y="23645110"/>
            <a:ext cx="8543496" cy="1644693"/>
          </a:xfrm>
          <a:prstGeom prst="rect">
            <a:avLst/>
          </a:prstGeom>
          <a:noFill/>
        </p:spPr>
        <p:txBody>
          <a:bodyPr wrap="square" lIns="312983" rIns="312983" tIns="134137" bIns="134137">
            <a:spAutoFit/>
          </a:bodyPr>
          <a:lstStyle/>
          <a:p>
            <a:pPr algn="l">
              <a:lnSpc>
                <a:spcPts val="4576"/>
              </a:lnSpc>
              <a:spcBef>
                <a:spcPts val="0"/>
              </a:spcBef>
              <a:spcAft>
                <a:spcPts val="0"/>
              </a:spcAft>
            </a:pPr>
            <a:r>
              <a:rPr sz="3520" b="1">
                <a:solidFill>
                  <a:srgbClr val="FFFFFF"/>
                </a:solidFill>
                <a:latin typeface="Arial"/>
              </a:rPr>
              <a:t>Optimize the combination, not the model.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03294" y="27951837"/>
            <a:ext cx="8592382" cy="1624159"/>
          </a:xfrm>
          <a:prstGeom prst="rect">
            <a:avLst/>
          </a:prstGeom>
          <a:noFill/>
        </p:spPr>
        <p:txBody>
          <a:bodyPr wrap="square" lIns="290628" rIns="290628" tIns="125194" bIns="125194">
            <a:spAutoFit/>
          </a:bodyPr>
          <a:lstStyle/>
          <a:p>
            <a:pPr algn="l">
              <a:lnSpc>
                <a:spcPts val="4576"/>
              </a:lnSpc>
              <a:spcBef>
                <a:spcPts val="0"/>
              </a:spcBef>
              <a:spcAft>
                <a:spcPts val="0"/>
              </a:spcAft>
            </a:pPr>
            <a:r>
              <a:rPr sz="3520" b="0">
                <a:solidFill>
                  <a:srgbClr val="0F6070"/>
                </a:solidFill>
                <a:latin typeface="Arial"/>
              </a:rPr>
              <a:t>Model quality must be judged in context, at the level of the full workflow.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282616" y="28414275"/>
            <a:ext cx="10913539" cy="14903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104"/>
              </a:lnSpc>
              <a:spcBef>
                <a:spcPts val="0"/>
              </a:spcBef>
              <a:spcAft>
                <a:spcPts val="0"/>
              </a:spcAft>
            </a:pPr>
            <a:r>
              <a:rPr sz="3520" b="0">
                <a:solidFill>
                  <a:srgbClr val="1C1C1C"/>
                </a:solidFill>
                <a:latin typeface="Arial"/>
              </a:rPr>
              <a:t>All selectors share one execution substrate; they differ only in how they choose the next combination.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2666124" y="5136230"/>
            <a:ext cx="7627661" cy="6206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251"/>
              </a:lnSpc>
              <a:spcBef>
                <a:spcPts val="0"/>
              </a:spcBef>
              <a:spcAft>
                <a:spcPts val="0"/>
              </a:spcAft>
            </a:pPr>
            <a:r>
              <a:rPr sz="3696" b="1">
                <a:solidFill>
                  <a:srgbClr val="0F6070"/>
                </a:solidFill>
                <a:latin typeface="Arial"/>
              </a:rPr>
              <a:t>Framework-agnostic interception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0959144" y="5238895"/>
            <a:ext cx="1598572" cy="3846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635"/>
              </a:lnSpc>
              <a:spcBef>
                <a:spcPts val="0"/>
              </a:spcBef>
              <a:spcAft>
                <a:spcPts val="0"/>
              </a:spcAft>
            </a:pPr>
            <a:r>
              <a:rPr sz="2291" b="1" i="1">
                <a:solidFill>
                  <a:srgbClr val="555555"/>
                </a:solidFill>
                <a:latin typeface="Arial"/>
              </a:rPr>
              <a:t>no rewrites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320794" y="13122681"/>
            <a:ext cx="7840220" cy="22355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104"/>
              </a:lnSpc>
              <a:spcBef>
                <a:spcPts val="0"/>
              </a:spcBef>
              <a:spcAft>
                <a:spcPts val="0"/>
              </a:spcAft>
            </a:pPr>
            <a:r>
              <a:rPr sz="3520" b="0">
                <a:solidFill>
                  <a:srgbClr val="1C1C1C"/>
                </a:solidFill>
                <a:latin typeface="Arial"/>
              </a:rPr>
              <a:t>First framework-agnostic Python package for client-side optimization of agentic workflows.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2666124" y="14401830"/>
            <a:ext cx="5121378" cy="6206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251"/>
              </a:lnSpc>
              <a:spcBef>
                <a:spcPts val="0"/>
              </a:spcBef>
              <a:spcAft>
                <a:spcPts val="0"/>
              </a:spcAft>
            </a:pPr>
            <a:r>
              <a:rPr sz="3696" b="1">
                <a:solidFill>
                  <a:srgbClr val="0F6070"/>
                </a:solidFill>
                <a:latin typeface="Arial"/>
              </a:rPr>
              <a:t>Ten search algorithms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0603539" y="14504494"/>
            <a:ext cx="1964845" cy="3846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635"/>
              </a:lnSpc>
              <a:spcBef>
                <a:spcPts val="0"/>
              </a:spcBef>
              <a:spcAft>
                <a:spcPts val="0"/>
              </a:spcAft>
            </a:pPr>
            <a:r>
              <a:rPr sz="2291" b="1" i="1">
                <a:solidFill>
                  <a:srgbClr val="555555"/>
                </a:solidFill>
                <a:latin typeface="Arial"/>
              </a:rPr>
              <a:t>one substrate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2025225" y="14505387"/>
            <a:ext cx="7323609" cy="10954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752"/>
              </a:lnSpc>
              <a:spcBef>
                <a:spcPts val="0"/>
              </a:spcBef>
              <a:spcAft>
                <a:spcPts val="0"/>
              </a:spcAft>
            </a:pPr>
            <a:r>
              <a:rPr sz="2886" b="0" i="1">
                <a:solidFill>
                  <a:srgbClr val="555555"/>
                </a:solidFill>
                <a:latin typeface="Arial"/>
              </a:rPr>
              <a:t>Overview of AgentOpt: combination-level model selection via an iterative search loop.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1033254" y="15629496"/>
            <a:ext cx="4645376" cy="6206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251"/>
              </a:lnSpc>
              <a:spcBef>
                <a:spcPts val="0"/>
              </a:spcBef>
              <a:spcAft>
                <a:spcPts val="0"/>
              </a:spcAft>
            </a:pPr>
            <a:r>
              <a:rPr sz="3696" b="1">
                <a:solidFill>
                  <a:srgbClr val="0F6070"/>
                </a:solidFill>
                <a:latin typeface="Arial"/>
              </a:rPr>
              <a:t>Combination as unit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8870534" y="15732160"/>
            <a:ext cx="2067983" cy="3846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635"/>
              </a:lnSpc>
              <a:spcBef>
                <a:spcPts val="0"/>
              </a:spcBef>
              <a:spcAft>
                <a:spcPts val="0"/>
              </a:spcAft>
            </a:pPr>
            <a:r>
              <a:rPr sz="2291" b="1" i="1">
                <a:solidFill>
                  <a:srgbClr val="555555"/>
                </a:solidFill>
                <a:latin typeface="Arial"/>
              </a:rPr>
              <a:t>c = (m₁, …, mₙ)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282381" y="16345027"/>
            <a:ext cx="10913781" cy="14903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491831" indent="-491831">
              <a:lnSpc>
                <a:spcPts val="510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3520" b="0">
                <a:solidFill>
                  <a:srgbClr val="1C1C1C"/>
                </a:solidFill>
                <a:latin typeface="Arial"/>
              </a:rPr>
              <a:t>One model per pipeline role; the full trajectory τ(c) is evaluated end-to-end.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282381" y="17797366"/>
            <a:ext cx="10913781" cy="14903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491831" indent="-491831">
              <a:lnSpc>
                <a:spcPts val="510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3520" b="0">
                <a:solidFill>
                  <a:srgbClr val="1C1C1C"/>
                </a:solidFill>
                <a:latin typeface="Arial"/>
              </a:rPr>
              <a:t>Search space |C| = ∏ᵢ |Mᵢ| — exponential in the number of roles.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1915253" y="18148807"/>
            <a:ext cx="10913780" cy="14903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491831" indent="-491831">
              <a:lnSpc>
                <a:spcPts val="510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3520" b="1">
                <a:solidFill>
                  <a:srgbClr val="111111"/>
                </a:solidFill>
                <a:latin typeface="Arial"/>
              </a:rPr>
              <a:t>Bandits:</a:t>
            </a:r>
            <a:r>
              <a:rPr sz="3520" b="0">
                <a:solidFill>
                  <a:srgbClr val="1C1C1C"/>
                </a:solidFill>
                <a:latin typeface="Arial"/>
              </a:rPr>
              <a:t> Arm Elimination, Epsilon-LUCB, Threshold Successive Elimination.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0282381" y="19249705"/>
            <a:ext cx="10913781" cy="149035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491831" indent="-491831">
              <a:lnSpc>
                <a:spcPts val="510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3520" b="0">
                <a:solidFill>
                  <a:srgbClr val="1C1C1C"/>
                </a:solidFill>
                <a:latin typeface="Arial"/>
              </a:rPr>
              <a:t>Utility J(c) = U(PERF, LATENCY, COST); optimize the Pareto frontier.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21915253" y="19601146"/>
            <a:ext cx="10913780" cy="14903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491831" indent="-491831">
              <a:lnSpc>
                <a:spcPts val="510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3520" b="1">
                <a:solidFill>
                  <a:srgbClr val="111111"/>
                </a:solidFill>
                <a:latin typeface="Arial"/>
              </a:rPr>
              <a:t>Matrix UCB-E</a:t>
            </a:r>
            <a:r>
              <a:rPr sz="3520" b="0">
                <a:solidFill>
                  <a:srgbClr val="1C1C1C"/>
                </a:solidFill>
                <a:latin typeface="Arial"/>
              </a:rPr>
              <a:t> / UCB-E-LRF explore the combination × datapoint grid.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903059" y="19840698"/>
            <a:ext cx="8592623" cy="29807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491831" indent="-491831">
              <a:lnSpc>
                <a:spcPts val="510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3520" b="0">
                <a:solidFill>
                  <a:srgbClr val="1C1C1C"/>
                </a:solidFill>
                <a:latin typeface="Arial"/>
              </a:rPr>
              <a:t>Model selection is structurally </a:t>
            </a:r>
            <a:r>
              <a:rPr sz="3520" b="0" i="1">
                <a:solidFill>
                  <a:srgbClr val="1C1C1C"/>
                </a:solidFill>
                <a:latin typeface="Arial"/>
              </a:rPr>
              <a:t>upstream</a:t>
            </a:r>
            <a:r>
              <a:rPr sz="3520" b="0">
                <a:solidFill>
                  <a:srgbClr val="1C1C1C"/>
                </a:solidFill>
                <a:latin typeface="Arial"/>
              </a:rPr>
              <a:t> of every other optimization — caching, routing, and scheduling only pay off once a model assignment is fixed.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21915253" y="21053485"/>
            <a:ext cx="10913780" cy="14903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491831" indent="-491831">
              <a:lnSpc>
                <a:spcPts val="510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3520" b="1">
                <a:solidFill>
                  <a:srgbClr val="111111"/>
                </a:solidFill>
                <a:latin typeface="Arial"/>
              </a:rPr>
              <a:t>Local &amp; surrogate:</a:t>
            </a:r>
            <a:r>
              <a:rPr sz="3520" b="0">
                <a:solidFill>
                  <a:srgbClr val="1C1C1C"/>
                </a:solidFill>
                <a:latin typeface="Arial"/>
              </a:rPr>
              <a:t> Hill Climbing, Bayesian Optimization, LM Proposal.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21915253" y="22505824"/>
            <a:ext cx="10913780" cy="14903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491831" indent="-491831">
              <a:lnSpc>
                <a:spcPts val="510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3520" b="1">
                <a:solidFill>
                  <a:srgbClr val="111111"/>
                </a:solidFill>
                <a:latin typeface="Arial"/>
              </a:rPr>
              <a:t>Winner:</a:t>
            </a:r>
            <a:r>
              <a:rPr sz="3520" b="0">
                <a:solidFill>
                  <a:srgbClr val="1C1C1C"/>
                </a:solidFill>
                <a:latin typeface="Arial"/>
              </a:rPr>
              <a:t> Matrix UCB-E recovers near-optimal accuracy at a 0.2 budget (62–76% savings).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03059" y="22588998"/>
            <a:ext cx="8592623" cy="29807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491831" indent="-491831">
              <a:lnSpc>
                <a:spcPts val="510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3520" b="0">
                <a:solidFill>
                  <a:srgbClr val="1C1C1C"/>
                </a:solidFill>
                <a:latin typeface="Arial"/>
              </a:rPr>
              <a:t>Standalone capability does not transfer across roles: Claude Opus 4.6 is the strongest model yet the </a:t>
            </a:r>
            <a:r>
              <a:rPr sz="3520" b="0" i="1">
                <a:solidFill>
                  <a:srgbClr val="1C1C1C"/>
                </a:solidFill>
                <a:latin typeface="Arial"/>
              </a:rPr>
              <a:t>worst</a:t>
            </a:r>
            <a:r>
              <a:rPr sz="3520" b="0">
                <a:solidFill>
                  <a:srgbClr val="1C1C1C"/>
                </a:solidFill>
                <a:latin typeface="Arial"/>
              </a:rPr>
              <a:t> planner on HotpotQA.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1033254" y="22654169"/>
            <a:ext cx="5426347" cy="6206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251"/>
              </a:lnSpc>
              <a:spcBef>
                <a:spcPts val="0"/>
              </a:spcBef>
              <a:spcAft>
                <a:spcPts val="0"/>
              </a:spcAft>
            </a:pPr>
            <a:r>
              <a:rPr sz="3696" b="1">
                <a:solidFill>
                  <a:srgbClr val="0F6070"/>
                </a:solidFill>
                <a:latin typeface="Arial"/>
              </a:rPr>
              <a:t>Sample-efficient search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9326570" y="22756833"/>
            <a:ext cx="1598266" cy="3846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635"/>
              </a:lnSpc>
              <a:spcBef>
                <a:spcPts val="0"/>
              </a:spcBef>
              <a:spcAft>
                <a:spcPts val="0"/>
              </a:spcAft>
            </a:pPr>
            <a:r>
              <a:rPr sz="2291" b="1" i="1">
                <a:solidFill>
                  <a:srgbClr val="555555"/>
                </a:solidFill>
                <a:latin typeface="Arial"/>
              </a:rPr>
              <a:t>5-step loop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1107546" y="23369700"/>
            <a:ext cx="10063861" cy="157881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928"/>
              </a:lnSpc>
              <a:spcBef>
                <a:spcPts val="0"/>
              </a:spcBef>
              <a:spcAft>
                <a:spcPts val="0"/>
              </a:spcAft>
            </a:pPr>
            <a:r>
              <a:rPr sz="3520" b="1">
                <a:solidFill>
                  <a:srgbClr val="111111"/>
                </a:solidFill>
                <a:latin typeface="Arial"/>
              </a:rPr>
              <a:t>Select</a:t>
            </a:r>
            <a:r>
              <a:rPr sz="3520" b="0">
                <a:solidFill>
                  <a:srgbClr val="1C1C1C"/>
                </a:solidFill>
                <a:latin typeface="Arial"/>
              </a:rPr>
              <a:t> the next combination (algorithm-dependent).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1107546" y="25010705"/>
            <a:ext cx="10063861" cy="157881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928"/>
              </a:lnSpc>
              <a:spcBef>
                <a:spcPts val="0"/>
              </a:spcBef>
              <a:spcAft>
                <a:spcPts val="0"/>
              </a:spcAft>
            </a:pPr>
            <a:r>
              <a:rPr sz="3520" b="1">
                <a:solidFill>
                  <a:srgbClr val="111111"/>
                </a:solidFill>
                <a:latin typeface="Arial"/>
              </a:rPr>
              <a:t>Execute</a:t>
            </a:r>
            <a:r>
              <a:rPr sz="3520" b="0">
                <a:solidFill>
                  <a:srgbClr val="1C1C1C"/>
                </a:solidFill>
                <a:latin typeface="Arial"/>
              </a:rPr>
              <a:t> the pipeline end-to-end, intercepting httpx calls.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6432770" y="25500372"/>
            <a:ext cx="2650649" cy="5124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F6070"/>
                </a:solidFill>
                <a:latin typeface="Arial"/>
              </a:rPr>
              <a:t>Scan to Read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1107546" y="26651708"/>
            <a:ext cx="10063861" cy="85930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928"/>
              </a:lnSpc>
              <a:spcBef>
                <a:spcPts val="0"/>
              </a:spcBef>
              <a:spcAft>
                <a:spcPts val="0"/>
              </a:spcAft>
            </a:pPr>
            <a:r>
              <a:rPr sz="3520" b="1">
                <a:solidFill>
                  <a:srgbClr val="111111"/>
                </a:solidFill>
                <a:latin typeface="Arial"/>
              </a:rPr>
              <a:t>Measure</a:t>
            </a:r>
            <a:r>
              <a:rPr sz="3520" b="0">
                <a:solidFill>
                  <a:srgbClr val="1C1C1C"/>
                </a:solidFill>
                <a:latin typeface="Arial"/>
              </a:rPr>
              <a:t> Perf, Cost, and Latency per combo.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1107546" y="27667051"/>
            <a:ext cx="10063861" cy="8593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928"/>
              </a:lnSpc>
              <a:spcBef>
                <a:spcPts val="0"/>
              </a:spcBef>
              <a:spcAft>
                <a:spcPts val="0"/>
              </a:spcAft>
            </a:pPr>
            <a:r>
              <a:rPr sz="3520" b="1">
                <a:solidFill>
                  <a:srgbClr val="111111"/>
                </a:solidFill>
                <a:latin typeface="Arial"/>
              </a:rPr>
              <a:t>Update</a:t>
            </a:r>
            <a:r>
              <a:rPr sz="3520" b="0">
                <a:solidFill>
                  <a:srgbClr val="1C1C1C"/>
                </a:solidFill>
                <a:latin typeface="Arial"/>
              </a:rPr>
              <a:t> — prune, fit, or return c*.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3760979" y="15270316"/>
            <a:ext cx="4060257" cy="26658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9131"/>
              </a:lnSpc>
              <a:spcBef>
                <a:spcPts val="0"/>
              </a:spcBef>
              <a:spcAft>
                <a:spcPts val="0"/>
              </a:spcAft>
            </a:pPr>
            <a:r>
              <a:rPr sz="9611" b="1" spc="-192">
                <a:solidFill>
                  <a:srgbClr val="0F6070"/>
                </a:solidFill>
                <a:latin typeface="Arial"/>
              </a:rPr>
              <a:t>62–76%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33760979" y="17608700"/>
            <a:ext cx="4060257" cy="5140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C1C1C"/>
                </a:solidFill>
                <a:latin typeface="Arial"/>
              </a:rPr>
              <a:t>eval-budget savings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33760979" y="18055665"/>
            <a:ext cx="4060257" cy="40296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76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1">
                <a:solidFill>
                  <a:srgbClr val="555555"/>
                </a:solidFill>
                <a:latin typeface="Arial"/>
              </a:rPr>
              <a:t>Matrix UCB-E vs brute force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3548358" y="6197847"/>
            <a:ext cx="2985198" cy="1228216"/>
          </a:xfrm>
          <a:prstGeom prst="rect">
            <a:avLst/>
          </a:prstGeom>
          <a:noFill/>
        </p:spPr>
        <p:txBody>
          <a:bodyPr wrap="square" lIns="159286" rIns="159286" tIns="70086" bIns="70086">
            <a:spAutoFit/>
          </a:bodyPr>
          <a:lstStyle/>
          <a:p>
            <a:pPr algn="l">
              <a:lnSpc>
                <a:spcPts val="3637"/>
              </a:lnSpc>
              <a:spcBef>
                <a:spcPts val="0"/>
              </a:spcBef>
              <a:spcAft>
                <a:spcPts val="0"/>
              </a:spcAft>
            </a:pPr>
            <a:r>
              <a:rPr sz="2508" b="1" spc="125">
                <a:solidFill>
                  <a:srgbClr val="555555"/>
                </a:solidFill>
                <a:latin typeface="Arial"/>
              </a:rPr>
              <a:t>HOTPOTQA COMBO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36446609" y="6197847"/>
            <a:ext cx="1920095" cy="1228216"/>
          </a:xfrm>
          <a:prstGeom prst="rect">
            <a:avLst/>
          </a:prstGeom>
          <a:noFill/>
        </p:spPr>
        <p:txBody>
          <a:bodyPr wrap="none" lIns="159286" rIns="159286" tIns="70086" bIns="70086">
            <a:spAutoFit/>
          </a:bodyPr>
          <a:lstStyle/>
          <a:p>
            <a:pPr algn="l">
              <a:lnSpc>
                <a:spcPts val="3637"/>
              </a:lnSpc>
              <a:spcBef>
                <a:spcPts val="0"/>
              </a:spcBef>
              <a:spcAft>
                <a:spcPts val="0"/>
              </a:spcAft>
            </a:pPr>
            <a:r>
              <a:rPr sz="2508" b="1" spc="125">
                <a:solidFill>
                  <a:srgbClr val="555555"/>
                </a:solidFill>
                <a:latin typeface="Arial"/>
              </a:rPr>
              <a:t>ACC.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38310779" y="6197847"/>
            <a:ext cx="3687244" cy="1228216"/>
          </a:xfrm>
          <a:prstGeom prst="rect">
            <a:avLst/>
          </a:prstGeom>
          <a:noFill/>
        </p:spPr>
        <p:txBody>
          <a:bodyPr wrap="square" lIns="159286" rIns="159286" tIns="70086" bIns="70086">
            <a:spAutoFit/>
          </a:bodyPr>
          <a:lstStyle/>
          <a:p>
            <a:pPr algn="l">
              <a:lnSpc>
                <a:spcPts val="3637"/>
              </a:lnSpc>
              <a:spcBef>
                <a:spcPts val="0"/>
              </a:spcBef>
              <a:spcAft>
                <a:spcPts val="0"/>
              </a:spcAft>
            </a:pPr>
            <a:r>
              <a:rPr sz="2508" b="1" spc="125">
                <a:solidFill>
                  <a:srgbClr val="555555"/>
                </a:solidFill>
                <a:latin typeface="Arial"/>
              </a:rPr>
              <a:t>ROLE LESSON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33548358" y="7265861"/>
            <a:ext cx="2985198" cy="1641614"/>
          </a:xfrm>
          <a:prstGeom prst="rect">
            <a:avLst/>
          </a:prstGeom>
          <a:noFill/>
        </p:spPr>
        <p:txBody>
          <a:bodyPr wrap="square" lIns="212381" rIns="212381" tIns="93449" bIns="93449">
            <a:spAutoFit/>
          </a:bodyPr>
          <a:lstStyle/>
          <a:p>
            <a:pPr algn="l">
              <a:lnSpc>
                <a:spcPts val="4849"/>
              </a:lnSpc>
              <a:spcBef>
                <a:spcPts val="0"/>
              </a:spcBef>
              <a:spcAft>
                <a:spcPts val="0"/>
              </a:spcAft>
            </a:pPr>
            <a:r>
              <a:rPr sz="3344" b="0">
                <a:solidFill>
                  <a:srgbClr val="1C1C1C"/>
                </a:solidFill>
                <a:latin typeface="Arial"/>
              </a:rPr>
              <a:t>Opus + Opus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6446609" y="7265861"/>
            <a:ext cx="1920095" cy="1641614"/>
          </a:xfrm>
          <a:prstGeom prst="rect">
            <a:avLst/>
          </a:prstGeom>
          <a:noFill/>
        </p:spPr>
        <p:txBody>
          <a:bodyPr wrap="none" lIns="212381" rIns="212381" tIns="93449" bIns="93449">
            <a:spAutoFit/>
          </a:bodyPr>
          <a:lstStyle/>
          <a:p>
            <a:pPr algn="l">
              <a:lnSpc>
                <a:spcPts val="4849"/>
              </a:lnSpc>
              <a:spcBef>
                <a:spcPts val="0"/>
              </a:spcBef>
              <a:spcAft>
                <a:spcPts val="0"/>
              </a:spcAft>
            </a:pPr>
            <a:r>
              <a:rPr sz="3344" b="0">
                <a:solidFill>
                  <a:srgbClr val="1C1C1C"/>
                </a:solidFill>
                <a:latin typeface="Arial"/>
              </a:rPr>
              <a:t>31.71%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8310779" y="7265861"/>
            <a:ext cx="3687244" cy="1641614"/>
          </a:xfrm>
          <a:prstGeom prst="rect">
            <a:avLst/>
          </a:prstGeom>
          <a:noFill/>
        </p:spPr>
        <p:txBody>
          <a:bodyPr wrap="square" lIns="212381" rIns="212381" tIns="93449" bIns="93449">
            <a:spAutoFit/>
          </a:bodyPr>
          <a:lstStyle/>
          <a:p>
            <a:pPr algn="l">
              <a:lnSpc>
                <a:spcPts val="4849"/>
              </a:lnSpc>
              <a:spcBef>
                <a:spcPts val="0"/>
              </a:spcBef>
              <a:spcAft>
                <a:spcPts val="0"/>
              </a:spcAft>
            </a:pPr>
            <a:r>
              <a:rPr sz="3344" b="0">
                <a:solidFill>
                  <a:srgbClr val="1C1C1C"/>
                </a:solidFill>
                <a:latin typeface="Arial"/>
              </a:rPr>
              <a:t>strong planner bypasses solver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3548358" y="8693352"/>
            <a:ext cx="2985198" cy="1641614"/>
          </a:xfrm>
          <a:prstGeom prst="rect">
            <a:avLst/>
          </a:prstGeom>
          <a:noFill/>
        </p:spPr>
        <p:txBody>
          <a:bodyPr wrap="square" lIns="212381" rIns="212381" tIns="93449" bIns="93449">
            <a:spAutoFit/>
          </a:bodyPr>
          <a:lstStyle/>
          <a:p>
            <a:pPr algn="l">
              <a:lnSpc>
                <a:spcPts val="4849"/>
              </a:lnSpc>
              <a:spcBef>
                <a:spcPts val="0"/>
              </a:spcBef>
              <a:spcAft>
                <a:spcPts val="0"/>
              </a:spcAft>
            </a:pPr>
            <a:r>
              <a:rPr sz="3344" b="1">
                <a:solidFill>
                  <a:srgbClr val="1C1C1C"/>
                </a:solidFill>
                <a:latin typeface="Arial"/>
              </a:rPr>
              <a:t>Ministral 8B + Opus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36446609" y="8693352"/>
            <a:ext cx="1920095" cy="1641614"/>
          </a:xfrm>
          <a:prstGeom prst="rect">
            <a:avLst/>
          </a:prstGeom>
          <a:noFill/>
        </p:spPr>
        <p:txBody>
          <a:bodyPr wrap="none" lIns="212381" rIns="212381" tIns="93449" bIns="93449">
            <a:spAutoFit/>
          </a:bodyPr>
          <a:lstStyle/>
          <a:p>
            <a:pPr algn="l">
              <a:lnSpc>
                <a:spcPts val="4849"/>
              </a:lnSpc>
              <a:spcBef>
                <a:spcPts val="0"/>
              </a:spcBef>
              <a:spcAft>
                <a:spcPts val="0"/>
              </a:spcAft>
            </a:pPr>
            <a:r>
              <a:rPr sz="3344" b="1">
                <a:solidFill>
                  <a:srgbClr val="1C1C1C"/>
                </a:solidFill>
                <a:latin typeface="Arial"/>
              </a:rPr>
              <a:t>74.27%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38310779" y="8693352"/>
            <a:ext cx="3687244" cy="1641614"/>
          </a:xfrm>
          <a:prstGeom prst="rect">
            <a:avLst/>
          </a:prstGeom>
          <a:noFill/>
        </p:spPr>
        <p:txBody>
          <a:bodyPr wrap="square" lIns="212381" rIns="212381" tIns="93449" bIns="93449">
            <a:spAutoFit/>
          </a:bodyPr>
          <a:lstStyle/>
          <a:p>
            <a:pPr algn="l">
              <a:lnSpc>
                <a:spcPts val="4849"/>
              </a:lnSpc>
              <a:spcBef>
                <a:spcPts val="0"/>
              </a:spcBef>
              <a:spcAft>
                <a:spcPts val="0"/>
              </a:spcAft>
            </a:pPr>
            <a:r>
              <a:rPr sz="3344" b="1">
                <a:solidFill>
                  <a:srgbClr val="1C1C1C"/>
                </a:solidFill>
                <a:latin typeface="Arial"/>
              </a:rPr>
              <a:t>cheap planner delegates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38606271" y="15270316"/>
            <a:ext cx="1091770" cy="1077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3690" b="1" spc="-36">
                <a:solidFill>
                  <a:srgbClr val="AE2622"/>
                </a:solidFill>
                <a:latin typeface="Arial"/>
              </a:rPr>
              <a:t>13–32×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9822618" y="15384586"/>
            <a:ext cx="1911051" cy="8408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555555"/>
                </a:solidFill>
                <a:latin typeface="Arial"/>
              </a:rPr>
              <a:t>best–worst cost gap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38606271" y="16949857"/>
            <a:ext cx="1607769" cy="5388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3690" b="1" spc="-36">
                <a:solidFill>
                  <a:srgbClr val="AE2622"/>
                </a:solidFill>
                <a:latin typeface="Arial"/>
              </a:rPr>
              <a:t>74.27%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0323589" y="17064128"/>
            <a:ext cx="1395051" cy="126124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555555"/>
                </a:solidFill>
                <a:latin typeface="Arial"/>
              </a:rPr>
              <a:t>best HotpotQA combo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