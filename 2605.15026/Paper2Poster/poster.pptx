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42793920" cy="302666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98263" y="698271"/>
            <a:ext cx="41397394" cy="5144117"/>
          </a:xfrm>
          <a:prstGeom prst="roundRect">
            <a:avLst>
              <a:gd name="adj" fmla="val 2963"/>
            </a:avLst>
          </a:prstGeom>
          <a:solidFill>
            <a:srgbClr val="F6ECE1"/>
          </a:solidFill>
          <a:ln>
            <a:noFill/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09174" y="1975335"/>
            <a:ext cx="3403832" cy="258983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793953" y="1975335"/>
            <a:ext cx="19053" cy="2589839"/>
          </a:xfrm>
          <a:prstGeom prst="rect">
            <a:avLst/>
          </a:prstGeom>
          <a:solidFill>
            <a:srgbClr val="D9DB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98263" y="6400945"/>
            <a:ext cx="8542537" cy="9855848"/>
          </a:xfrm>
          <a:prstGeom prst="roundRect">
            <a:avLst>
              <a:gd name="adj" fmla="val 892"/>
            </a:avLst>
          </a:prstGeom>
          <a:solidFill>
            <a:srgbClr val="FFFFFF"/>
          </a:solidFill>
          <a:ln w="9526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97878" y="6400945"/>
            <a:ext cx="10350611" cy="8148335"/>
          </a:xfrm>
          <a:prstGeom prst="roundRect">
            <a:avLst>
              <a:gd name="adj" fmla="val 935"/>
            </a:avLst>
          </a:prstGeom>
          <a:solidFill>
            <a:srgbClr val="FFFFFF"/>
          </a:solidFill>
          <a:ln w="9526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0505569" y="6400945"/>
            <a:ext cx="10350614" cy="9292083"/>
          </a:xfrm>
          <a:prstGeom prst="roundRect">
            <a:avLst>
              <a:gd name="adj" fmla="val 820"/>
            </a:avLst>
          </a:prstGeom>
          <a:solidFill>
            <a:srgbClr val="FFFFFF"/>
          </a:solidFill>
          <a:ln w="9526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1313260" y="6400945"/>
            <a:ext cx="10782396" cy="6437101"/>
          </a:xfrm>
          <a:prstGeom prst="roundRect">
            <a:avLst>
              <a:gd name="adj" fmla="val 1183"/>
            </a:avLst>
          </a:prstGeom>
          <a:solidFill>
            <a:srgbClr val="FFFFFF"/>
          </a:solidFill>
          <a:ln w="9526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1313260" y="13193505"/>
            <a:ext cx="10782396" cy="6920074"/>
          </a:xfrm>
          <a:prstGeom prst="roundRect">
            <a:avLst>
              <a:gd name="adj" fmla="val 1101"/>
            </a:avLst>
          </a:prstGeom>
          <a:solidFill>
            <a:srgbClr val="FFFFFF"/>
          </a:solidFill>
          <a:ln w="9526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97878" y="14904739"/>
            <a:ext cx="10350611" cy="5163013"/>
          </a:xfrm>
          <a:prstGeom prst="roundRect">
            <a:avLst>
              <a:gd name="adj" fmla="val 1476"/>
            </a:avLst>
          </a:prstGeom>
          <a:solidFill>
            <a:srgbClr val="FFFFFF"/>
          </a:solidFill>
          <a:ln w="9526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0505569" y="16048488"/>
            <a:ext cx="10350614" cy="13515934"/>
          </a:xfrm>
          <a:prstGeom prst="roundRect">
            <a:avLst>
              <a:gd name="adj" fmla="val 736"/>
            </a:avLst>
          </a:prstGeom>
          <a:solidFill>
            <a:srgbClr val="FFFFFF"/>
          </a:solidFill>
          <a:ln w="9526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98263" y="16612253"/>
            <a:ext cx="8542537" cy="12952169"/>
          </a:xfrm>
          <a:prstGeom prst="roundRect">
            <a:avLst>
              <a:gd name="adj" fmla="val 892"/>
            </a:avLst>
          </a:prstGeom>
          <a:solidFill>
            <a:srgbClr val="FFFFFF"/>
          </a:solidFill>
          <a:ln w="9526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697878" y="20423212"/>
            <a:ext cx="10350611" cy="9141210"/>
          </a:xfrm>
          <a:prstGeom prst="roundRect">
            <a:avLst>
              <a:gd name="adj" fmla="val 833"/>
            </a:avLst>
          </a:prstGeom>
          <a:solidFill>
            <a:srgbClr val="FFFFFF"/>
          </a:solidFill>
          <a:ln w="9526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1313260" y="20469039"/>
            <a:ext cx="10782396" cy="9095383"/>
          </a:xfrm>
          <a:prstGeom prst="roundRect">
            <a:avLst>
              <a:gd name="adj" fmla="val 837"/>
            </a:avLst>
          </a:prstGeom>
          <a:solidFill>
            <a:srgbClr val="F7F0E8"/>
          </a:solidFill>
          <a:ln w="9526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1313260" y="20469039"/>
            <a:ext cx="57160" cy="9095383"/>
          </a:xfrm>
          <a:prstGeom prst="rect">
            <a:avLst/>
          </a:prstGeom>
          <a:solidFill>
            <a:srgbClr val="A252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13978" y="6816664"/>
            <a:ext cx="7711107" cy="11081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13978" y="6816664"/>
            <a:ext cx="7711107" cy="28581"/>
          </a:xfrm>
          <a:prstGeom prst="rect">
            <a:avLst/>
          </a:prstGeom>
          <a:solidFill>
            <a:srgbClr val="A252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13978" y="7896271"/>
            <a:ext cx="7711107" cy="28581"/>
          </a:xfrm>
          <a:prstGeom prst="rect">
            <a:avLst/>
          </a:prstGeom>
          <a:solidFill>
            <a:srgbClr val="A252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113592" y="6816664"/>
            <a:ext cx="9519184" cy="11081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113592" y="6816664"/>
            <a:ext cx="9519184" cy="28581"/>
          </a:xfrm>
          <a:prstGeom prst="rect">
            <a:avLst/>
          </a:prstGeom>
          <a:solidFill>
            <a:srgbClr val="A252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113592" y="7896271"/>
            <a:ext cx="9519184" cy="28581"/>
          </a:xfrm>
          <a:prstGeom prst="rect">
            <a:avLst/>
          </a:prstGeom>
          <a:solidFill>
            <a:srgbClr val="A252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1728976" y="6816664"/>
            <a:ext cx="9950967" cy="11081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1728976" y="6816664"/>
            <a:ext cx="9950967" cy="28581"/>
          </a:xfrm>
          <a:prstGeom prst="rect">
            <a:avLst/>
          </a:prstGeom>
          <a:solidFill>
            <a:srgbClr val="A252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1728976" y="7896271"/>
            <a:ext cx="9950967" cy="28581"/>
          </a:xfrm>
          <a:prstGeom prst="rect">
            <a:avLst/>
          </a:prstGeom>
          <a:solidFill>
            <a:srgbClr val="A252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0921283" y="13519653"/>
            <a:ext cx="9519184" cy="1765245"/>
          </a:xfrm>
          <a:prstGeom prst="roundRect">
            <a:avLst>
              <a:gd name="adj" fmla="val 12664"/>
            </a:avLst>
          </a:prstGeom>
          <a:solidFill>
            <a:srgbClr val="F6E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1728976" y="13609225"/>
            <a:ext cx="9950967" cy="11081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1728976" y="13609225"/>
            <a:ext cx="9950967" cy="28580"/>
          </a:xfrm>
          <a:prstGeom prst="rect">
            <a:avLst/>
          </a:prstGeom>
          <a:solidFill>
            <a:srgbClr val="A252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1728976" y="14688832"/>
            <a:ext cx="9950967" cy="28581"/>
          </a:xfrm>
          <a:prstGeom prst="rect">
            <a:avLst/>
          </a:prstGeom>
          <a:solidFill>
            <a:srgbClr val="A252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1728976" y="15060225"/>
            <a:ext cx="9950967" cy="4640462"/>
          </a:xfrm>
          <a:prstGeom prst="roundRect">
            <a:avLst>
              <a:gd name="adj" fmla="val 1642"/>
            </a:avLst>
          </a:prstGeom>
          <a:gradFill rotWithShape="1" flip="none">
            <a:gsLst>
              <a:gs pos="0">
                <a:srgbClr val="F4EAE4"/>
              </a:gs>
              <a:gs pos="100000">
                <a:srgbClr val="F9F5F1"/>
              </a:gs>
            </a:gsLst>
            <a:lin ang="5400000" scaled="0"/>
          </a:gradFill>
          <a:ln w="9526">
            <a:solidFill>
              <a:srgbClr val="E8D4C6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13978" y="17027972"/>
            <a:ext cx="7711107" cy="11081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113978" y="17027972"/>
            <a:ext cx="7711107" cy="28580"/>
          </a:xfrm>
          <a:prstGeom prst="rect">
            <a:avLst/>
          </a:prstGeom>
          <a:solidFill>
            <a:srgbClr val="A252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113978" y="18107580"/>
            <a:ext cx="7711107" cy="28580"/>
          </a:xfrm>
          <a:prstGeom prst="rect">
            <a:avLst/>
          </a:prstGeom>
          <a:solidFill>
            <a:srgbClr val="A252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1776586" y="20884757"/>
            <a:ext cx="9903357" cy="11081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1776586" y="20884757"/>
            <a:ext cx="9903357" cy="28580"/>
          </a:xfrm>
          <a:prstGeom prst="rect">
            <a:avLst/>
          </a:prstGeom>
          <a:solidFill>
            <a:srgbClr val="A252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1776586" y="21964365"/>
            <a:ext cx="9903357" cy="28580"/>
          </a:xfrm>
          <a:prstGeom prst="rect">
            <a:avLst/>
          </a:prstGeom>
          <a:solidFill>
            <a:srgbClr val="A252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20921283" y="26297439"/>
            <a:ext cx="9519184" cy="2862571"/>
          </a:xfrm>
          <a:prstGeom prst="roundRect">
            <a:avLst>
              <a:gd name="adj" fmla="val 6833"/>
            </a:avLst>
          </a:prstGeom>
          <a:solidFill>
            <a:srgbClr val="F5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0921283" y="26297439"/>
            <a:ext cx="133374" cy="2862571"/>
          </a:xfrm>
          <a:prstGeom prst="rect">
            <a:avLst/>
          </a:prstGeom>
          <a:solidFill>
            <a:srgbClr val="AE262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1776586" y="26840076"/>
            <a:ext cx="9903357" cy="231264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1776586" y="26840076"/>
            <a:ext cx="133374" cy="2312644"/>
          </a:xfrm>
          <a:prstGeom prst="rect">
            <a:avLst/>
          </a:prstGeom>
          <a:solidFill>
            <a:srgbClr val="A252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0" name="Picture 39" descr="columbia-univer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04386" y="1277977"/>
            <a:ext cx="781736" cy="1018873"/>
          </a:xfrm>
          <a:prstGeom prst="rect">
            <a:avLst/>
          </a:prstGeom>
        </p:spPr>
      </p:pic>
      <p:pic>
        <p:nvPicPr>
          <p:cNvPr id="41" name="Picture 40" descr="ib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39954" y="1277980"/>
            <a:ext cx="2729078" cy="1018867"/>
          </a:xfrm>
          <a:prstGeom prst="rect">
            <a:avLst/>
          </a:prstGeom>
        </p:spPr>
      </p:pic>
      <p:sp>
        <p:nvSpPr>
          <p:cNvPr id="42" name="Rounded Rectangle 41"/>
          <p:cNvSpPr/>
          <p:nvPr/>
        </p:nvSpPr>
        <p:spPr>
          <a:xfrm>
            <a:off x="36788821" y="2525412"/>
            <a:ext cx="2158325" cy="2158348"/>
          </a:xfrm>
          <a:prstGeom prst="roundRect">
            <a:avLst>
              <a:gd name="adj" fmla="val 5296"/>
            </a:avLst>
          </a:prstGeom>
          <a:noFill/>
          <a:ln w="9526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pap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03142" y="2639734"/>
            <a:ext cx="1929684" cy="1929704"/>
          </a:xfrm>
          <a:prstGeom prst="rect">
            <a:avLst/>
          </a:prstGeom>
        </p:spPr>
      </p:pic>
      <p:sp>
        <p:nvSpPr>
          <p:cNvPr id="44" name="Rounded Rectangle 43"/>
          <p:cNvSpPr/>
          <p:nvPr/>
        </p:nvSpPr>
        <p:spPr>
          <a:xfrm>
            <a:off x="39226423" y="2525412"/>
            <a:ext cx="2158322" cy="2158348"/>
          </a:xfrm>
          <a:prstGeom prst="roundRect">
            <a:avLst>
              <a:gd name="adj" fmla="val 5296"/>
            </a:avLst>
          </a:prstGeom>
          <a:noFill/>
          <a:ln w="9526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cod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40743" y="2639735"/>
            <a:ext cx="1929682" cy="1929702"/>
          </a:xfrm>
          <a:prstGeom prst="rect">
            <a:avLst/>
          </a:prstGeom>
        </p:spPr>
      </p:pic>
      <p:sp>
        <p:nvSpPr>
          <p:cNvPr id="46" name="Rounded Rectangle 45"/>
          <p:cNvSpPr/>
          <p:nvPr/>
        </p:nvSpPr>
        <p:spPr>
          <a:xfrm>
            <a:off x="20921283" y="7139241"/>
            <a:ext cx="703771" cy="703776"/>
          </a:xfrm>
          <a:prstGeom prst="roundRect">
            <a:avLst>
              <a:gd name="adj" fmla="val 50000"/>
            </a:avLst>
          </a:prstGeom>
          <a:solidFill>
            <a:srgbClr val="A25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696" b="1">
                <a:solidFill>
                  <a:srgbClr val="FFFFFF"/>
                </a:solidFill>
                <a:latin typeface="Trebuchet MS"/>
              </a:rPr>
              <a:t>3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113592" y="8490998"/>
            <a:ext cx="9519184" cy="3556081"/>
          </a:xfrm>
          <a:prstGeom prst="roundRect">
            <a:avLst>
              <a:gd name="adj" fmla="val 1071"/>
            </a:avLst>
          </a:prstGeom>
          <a:solidFill>
            <a:srgbClr val="FFFFFF"/>
          </a:solidFill>
          <a:ln w="9526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figure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13592" y="8496929"/>
            <a:ext cx="9519184" cy="3544218"/>
          </a:xfrm>
          <a:prstGeom prst="rect">
            <a:avLst/>
          </a:prstGeom>
        </p:spPr>
      </p:pic>
      <p:sp>
        <p:nvSpPr>
          <p:cNvPr id="49" name="Rectangle 48"/>
          <p:cNvSpPr/>
          <p:nvPr/>
        </p:nvSpPr>
        <p:spPr>
          <a:xfrm>
            <a:off x="37270003" y="15298288"/>
            <a:ext cx="4146583" cy="421522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7270003" y="15298288"/>
            <a:ext cx="12385" cy="4215221"/>
          </a:xfrm>
          <a:prstGeom prst="rect">
            <a:avLst/>
          </a:prstGeom>
          <a:solidFill>
            <a:srgbClr val="E8D4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10113592" y="15643035"/>
            <a:ext cx="703770" cy="703777"/>
          </a:xfrm>
          <a:prstGeom prst="roundRect">
            <a:avLst>
              <a:gd name="adj" fmla="val 50000"/>
            </a:avLst>
          </a:prstGeom>
          <a:solidFill>
            <a:srgbClr val="A25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696" b="1">
                <a:solidFill>
                  <a:srgbClr val="FFFFFF"/>
                </a:solidFill>
                <a:latin typeface="Trebuchet MS"/>
              </a:rPr>
              <a:t>1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0921283" y="16786784"/>
            <a:ext cx="703771" cy="703776"/>
          </a:xfrm>
          <a:prstGeom prst="roundRect">
            <a:avLst>
              <a:gd name="adj" fmla="val 50000"/>
            </a:avLst>
          </a:prstGeom>
          <a:solidFill>
            <a:srgbClr val="A25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696" b="1">
                <a:solidFill>
                  <a:srgbClr val="FFFFFF"/>
                </a:solidFill>
                <a:latin typeface="Trebuchet MS"/>
              </a:rPr>
              <a:t>4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0113592" y="18773874"/>
            <a:ext cx="2827873" cy="878158"/>
          </a:xfrm>
          <a:prstGeom prst="roundRect">
            <a:avLst>
              <a:gd name="adj" fmla="val 50000"/>
            </a:avLst>
          </a:prstGeom>
          <a:solidFill>
            <a:srgbClr val="F6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740" b="1">
                <a:solidFill>
                  <a:srgbClr val="A2521C"/>
                </a:solidFill>
                <a:latin typeface="Trebuchet MS"/>
              </a:rPr>
              <a:t>scheduler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3109000" y="18773874"/>
            <a:ext cx="2010281" cy="878158"/>
          </a:xfrm>
          <a:prstGeom prst="roundRect">
            <a:avLst>
              <a:gd name="adj" fmla="val 50000"/>
            </a:avLst>
          </a:prstGeom>
          <a:solidFill>
            <a:srgbClr val="F6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740" b="1">
                <a:solidFill>
                  <a:srgbClr val="A2521C"/>
                </a:solidFill>
                <a:latin typeface="Trebuchet MS"/>
              </a:rPr>
              <a:t>power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5286816" y="18773874"/>
            <a:ext cx="2496967" cy="878158"/>
          </a:xfrm>
          <a:prstGeom prst="roundRect">
            <a:avLst>
              <a:gd name="adj" fmla="val 50000"/>
            </a:avLst>
          </a:prstGeom>
          <a:solidFill>
            <a:srgbClr val="F6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740" b="1">
                <a:solidFill>
                  <a:srgbClr val="A2521C"/>
                </a:solidFill>
                <a:latin typeface="Trebuchet MS"/>
              </a:rPr>
              <a:t>memory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7951319" y="18773874"/>
            <a:ext cx="1222594" cy="878158"/>
          </a:xfrm>
          <a:prstGeom prst="roundRect">
            <a:avLst>
              <a:gd name="adj" fmla="val 50000"/>
            </a:avLst>
          </a:prstGeom>
          <a:solidFill>
            <a:srgbClr val="F6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740" b="1">
                <a:solidFill>
                  <a:srgbClr val="A2521C"/>
                </a:solidFill>
                <a:latin typeface="Trebuchet MS"/>
              </a:rPr>
              <a:t>I/O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0113592" y="21161506"/>
            <a:ext cx="703770" cy="703778"/>
          </a:xfrm>
          <a:prstGeom prst="roundRect">
            <a:avLst>
              <a:gd name="adj" fmla="val 50000"/>
            </a:avLst>
          </a:prstGeom>
          <a:solidFill>
            <a:srgbClr val="A25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696" b="1">
                <a:solidFill>
                  <a:srgbClr val="FFFFFF"/>
                </a:solidFill>
                <a:latin typeface="Trebuchet MS"/>
              </a:rPr>
              <a:t>2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1445614" y="26464977"/>
            <a:ext cx="1393551" cy="684136"/>
          </a:xfrm>
          <a:prstGeom prst="roundRect">
            <a:avLst>
              <a:gd name="adj" fmla="val 14296"/>
            </a:avLst>
          </a:prstGeom>
          <a:solidFill>
            <a:srgbClr val="AE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080" b="1">
                <a:solidFill>
                  <a:srgbClr val="FFFFFF"/>
                </a:solidFill>
                <a:latin typeface="Trebuchet MS"/>
              </a:rPr>
              <a:t>SAFE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113978" y="26599631"/>
            <a:ext cx="2922502" cy="2554427"/>
          </a:xfrm>
          <a:prstGeom prst="roundRect">
            <a:avLst>
              <a:gd name="adj" fmla="val 10939"/>
            </a:avLst>
          </a:prstGeom>
          <a:solidFill>
            <a:srgbClr val="FA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4315755" y="26599631"/>
            <a:ext cx="1867890" cy="2554427"/>
          </a:xfrm>
          <a:prstGeom prst="roundRect">
            <a:avLst>
              <a:gd name="adj" fmla="val 14960"/>
            </a:avLst>
          </a:prstGeom>
          <a:solidFill>
            <a:srgbClr val="FA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6462921" y="26599631"/>
            <a:ext cx="2362164" cy="2554427"/>
          </a:xfrm>
          <a:prstGeom prst="roundRect">
            <a:avLst>
              <a:gd name="adj" fmla="val 11830"/>
            </a:avLst>
          </a:prstGeom>
          <a:solidFill>
            <a:srgbClr val="FA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1728976" y="10789803"/>
            <a:ext cx="9950967" cy="1630441"/>
          </a:xfrm>
          <a:prstGeom prst="rect">
            <a:avLst/>
          </a:prstGeom>
          <a:solidFill>
            <a:srgbClr val="F6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10113592" y="22393043"/>
            <a:ext cx="754396" cy="754403"/>
          </a:xfrm>
          <a:prstGeom prst="roundRect">
            <a:avLst>
              <a:gd name="adj" fmla="val 50000"/>
            </a:avLst>
          </a:prstGeom>
          <a:solidFill>
            <a:srgbClr val="A25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960" b="1">
                <a:solidFill>
                  <a:srgbClr val="FFFFFF"/>
                </a:solidFill>
                <a:latin typeface="Trebuchet MS"/>
              </a:rPr>
              <a:t>1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0113592" y="23678737"/>
            <a:ext cx="754396" cy="754404"/>
          </a:xfrm>
          <a:prstGeom prst="roundRect">
            <a:avLst>
              <a:gd name="adj" fmla="val 50000"/>
            </a:avLst>
          </a:prstGeom>
          <a:solidFill>
            <a:srgbClr val="A25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960" b="1">
                <a:solidFill>
                  <a:srgbClr val="FFFFFF"/>
                </a:solidFill>
                <a:latin typeface="Trebuchet MS"/>
              </a:rPr>
              <a:t>2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0113592" y="24964429"/>
            <a:ext cx="754396" cy="754404"/>
          </a:xfrm>
          <a:prstGeom prst="roundRect">
            <a:avLst>
              <a:gd name="adj" fmla="val 50000"/>
            </a:avLst>
          </a:prstGeom>
          <a:solidFill>
            <a:srgbClr val="A25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960" b="1">
                <a:solidFill>
                  <a:srgbClr val="FFFFFF"/>
                </a:solidFill>
                <a:latin typeface="Trebuchet MS"/>
              </a:rPr>
              <a:t>3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0113592" y="26250124"/>
            <a:ext cx="754396" cy="754403"/>
          </a:xfrm>
          <a:prstGeom prst="roundRect">
            <a:avLst>
              <a:gd name="adj" fmla="val 50000"/>
            </a:avLst>
          </a:prstGeom>
          <a:solidFill>
            <a:srgbClr val="A25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960" b="1">
                <a:solidFill>
                  <a:srgbClr val="FFFFFF"/>
                </a:solidFill>
                <a:latin typeface="Trebuchet MS"/>
              </a:rPr>
              <a:t>4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1728976" y="8475375"/>
            <a:ext cx="4636989" cy="683987"/>
          </a:xfrm>
          <a:prstGeom prst="rect">
            <a:avLst/>
          </a:prstGeom>
          <a:solidFill>
            <a:srgbClr val="F6E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31728976" y="9149836"/>
            <a:ext cx="4636989" cy="12384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36365965" y="8475375"/>
            <a:ext cx="2353682" cy="683987"/>
          </a:xfrm>
          <a:prstGeom prst="rect">
            <a:avLst/>
          </a:prstGeom>
          <a:solidFill>
            <a:srgbClr val="F6E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36365965" y="9149836"/>
            <a:ext cx="2353682" cy="12384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38719647" y="8475375"/>
            <a:ext cx="2960296" cy="683987"/>
          </a:xfrm>
          <a:prstGeom prst="rect">
            <a:avLst/>
          </a:prstGeom>
          <a:solidFill>
            <a:srgbClr val="F6E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38719647" y="9149836"/>
            <a:ext cx="2960296" cy="12384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31728976" y="9159362"/>
            <a:ext cx="4636989" cy="163044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31728976" y="10780276"/>
            <a:ext cx="4636989" cy="12385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36365965" y="9159362"/>
            <a:ext cx="2353682" cy="163044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36365965" y="10780276"/>
            <a:ext cx="2353682" cy="12385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38719647" y="9159362"/>
            <a:ext cx="2960296" cy="163044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38719647" y="10780276"/>
            <a:ext cx="2960296" cy="12385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31728976" y="10789803"/>
            <a:ext cx="4636989" cy="1630441"/>
          </a:xfrm>
          <a:prstGeom prst="rect">
            <a:avLst/>
          </a:prstGeom>
          <a:solidFill>
            <a:srgbClr val="F6E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31728976" y="12410717"/>
            <a:ext cx="4636989" cy="12385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36365965" y="10789803"/>
            <a:ext cx="2353682" cy="1630441"/>
          </a:xfrm>
          <a:prstGeom prst="rect">
            <a:avLst/>
          </a:prstGeom>
          <a:solidFill>
            <a:srgbClr val="F6E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36365965" y="12410717"/>
            <a:ext cx="2353682" cy="12385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38719647" y="10789803"/>
            <a:ext cx="2960296" cy="1630441"/>
          </a:xfrm>
          <a:prstGeom prst="rect">
            <a:avLst/>
          </a:prstGeom>
          <a:solidFill>
            <a:srgbClr val="F6E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38719647" y="12410717"/>
            <a:ext cx="2960296" cy="12385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1445614" y="27372449"/>
            <a:ext cx="8625638" cy="1862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381"/>
              </a:lnSpc>
              <a:spcBef>
                <a:spcPts val="0"/>
              </a:spcBef>
              <a:spcAft>
                <a:spcPts val="0"/>
              </a:spcAft>
            </a:pPr>
            <a:r>
              <a:rPr sz="4400" b="0">
                <a:solidFill>
                  <a:srgbClr val="1C1C1C"/>
                </a:solidFill>
                <a:latin typeface="Trebuchet MS"/>
              </a:rPr>
              <a:t>LLM proposals are type-checked before reaching the host.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422443" y="1104468"/>
            <a:ext cx="31214223" cy="30091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9249"/>
              </a:lnSpc>
              <a:spcBef>
                <a:spcPts val="0"/>
              </a:spcBef>
              <a:spcAft>
                <a:spcPts val="0"/>
              </a:spcAft>
            </a:pPr>
            <a:r>
              <a:rPr sz="8258" b="1" spc="-92">
                <a:solidFill>
                  <a:srgbClr val="A2521C"/>
                </a:solidFill>
                <a:latin typeface="Trebuchet MS"/>
              </a:rPr>
              <a:t>TuxBot: Semantic-Aware Online OS Tuning with Large</a:t>
            </a:r>
          </a:p>
          <a:p>
            <a:pPr algn="ctr">
              <a:lnSpc>
                <a:spcPts val="9249"/>
              </a:lnSpc>
              <a:spcBef>
                <a:spcPts val="0"/>
              </a:spcBef>
              <a:spcAft>
                <a:spcPts val="0"/>
              </a:spcAft>
            </a:pPr>
            <a:r>
              <a:rPr sz="8258" b="1" spc="-92">
                <a:solidFill>
                  <a:srgbClr val="A2521C"/>
                </a:solidFill>
                <a:latin typeface="Trebuchet MS"/>
              </a:rPr>
              <a:t>Language Models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422443" y="4013014"/>
            <a:ext cx="31214223" cy="9315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6381"/>
              </a:lnSpc>
              <a:spcBef>
                <a:spcPts val="0"/>
              </a:spcBef>
              <a:spcAft>
                <a:spcPts val="0"/>
              </a:spcAft>
            </a:pPr>
            <a:r>
              <a:rPr sz="4400" b="0">
                <a:solidFill>
                  <a:srgbClr val="1B2331"/>
                </a:solidFill>
                <a:latin typeface="Trebuchet MS"/>
              </a:rPr>
              <a:t>Georgios Liargkovas</a:t>
            </a:r>
            <a:r>
              <a:rPr sz="6161" b="0" baseline="30000">
                <a:solidFill>
                  <a:srgbClr val="1B2331"/>
                </a:solidFill>
                <a:latin typeface="Trebuchet MS"/>
              </a:rPr>
              <a:t>1</a:t>
            </a:r>
            <a:r>
              <a:rPr sz="4400" b="0">
                <a:solidFill>
                  <a:srgbClr val="1B2331"/>
                </a:solidFill>
                <a:latin typeface="Trebuchet MS"/>
              </a:rPr>
              <a:t>, Mihir Nitin Joshi</a:t>
            </a:r>
            <a:r>
              <a:rPr sz="6161" b="0" baseline="30000">
                <a:solidFill>
                  <a:srgbClr val="1B2331"/>
                </a:solidFill>
                <a:latin typeface="Trebuchet MS"/>
              </a:rPr>
              <a:t>1</a:t>
            </a:r>
            <a:r>
              <a:rPr sz="4400" b="0">
                <a:solidFill>
                  <a:srgbClr val="1B2331"/>
                </a:solidFill>
                <a:latin typeface="Trebuchet MS"/>
              </a:rPr>
              <a:t>, Hubertus Franke</a:t>
            </a:r>
            <a:r>
              <a:rPr sz="6161" b="0" baseline="30000">
                <a:solidFill>
                  <a:srgbClr val="1B2331"/>
                </a:solidFill>
                <a:latin typeface="Trebuchet MS"/>
              </a:rPr>
              <a:t>2</a:t>
            </a:r>
            <a:r>
              <a:rPr sz="4400" b="0">
                <a:solidFill>
                  <a:srgbClr val="1B2331"/>
                </a:solidFill>
                <a:latin typeface="Trebuchet MS"/>
              </a:rPr>
              <a:t>, Kostis Kaffes</a:t>
            </a:r>
            <a:r>
              <a:rPr sz="6161" b="0" baseline="30000">
                <a:solidFill>
                  <a:srgbClr val="1B2331"/>
                </a:solidFill>
                <a:latin typeface="Trebuchet MS"/>
              </a:rPr>
              <a:t>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422443" y="4883882"/>
            <a:ext cx="31214223" cy="6351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350"/>
              </a:lnSpc>
              <a:spcBef>
                <a:spcPts val="0"/>
              </a:spcBef>
              <a:spcAft>
                <a:spcPts val="0"/>
              </a:spcAft>
            </a:pPr>
            <a:r>
              <a:rPr sz="2730" b="0" spc="60" baseline="30000">
                <a:solidFill>
                  <a:srgbClr val="55617A"/>
                </a:solidFill>
                <a:latin typeface="Trebuchet MS"/>
              </a:rPr>
              <a:t>1</a:t>
            </a:r>
            <a:r>
              <a:rPr sz="3000" b="0" spc="60">
                <a:solidFill>
                  <a:srgbClr val="55617A"/>
                </a:solidFill>
                <a:latin typeface="Trebuchet MS"/>
              </a:rPr>
              <a:t>Columbia University  </a:t>
            </a:r>
            <a:r>
              <a:rPr sz="4200" b="0" spc="60" baseline="30000">
                <a:solidFill>
                  <a:srgbClr val="55617A"/>
                </a:solidFill>
                <a:latin typeface="Trebuchet MS"/>
              </a:rPr>
              <a:t>2</a:t>
            </a:r>
            <a:r>
              <a:rPr sz="3000" b="0" spc="60">
                <a:solidFill>
                  <a:srgbClr val="55617A"/>
                </a:solidFill>
                <a:latin typeface="Trebuchet MS"/>
              </a:rPr>
              <a:t>IBM Research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409174" y="1975335"/>
            <a:ext cx="2858610" cy="12848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8801"/>
              </a:lnSpc>
              <a:spcBef>
                <a:spcPts val="0"/>
              </a:spcBef>
              <a:spcAft>
                <a:spcPts val="0"/>
              </a:spcAft>
            </a:pPr>
            <a:r>
              <a:rPr sz="8801" b="1" spc="-88">
                <a:solidFill>
                  <a:srgbClr val="A2521C"/>
                </a:solidFill>
                <a:latin typeface="Trebuchet MS"/>
              </a:rPr>
              <a:t>arXiv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048369" y="3176368"/>
            <a:ext cx="1541868" cy="93151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6381"/>
              </a:lnSpc>
              <a:spcBef>
                <a:spcPts val="0"/>
              </a:spcBef>
              <a:spcAft>
                <a:spcPts val="0"/>
              </a:spcAft>
            </a:pPr>
            <a:r>
              <a:rPr sz="4400" b="1" spc="352">
                <a:solidFill>
                  <a:srgbClr val="1B2331"/>
                </a:solidFill>
                <a:latin typeface="Trebuchet MS"/>
              </a:rPr>
              <a:t>2026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207424" y="4123417"/>
            <a:ext cx="1214063" cy="5080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348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spc="432">
                <a:solidFill>
                  <a:srgbClr val="1B2331"/>
                </a:solidFill>
                <a:latin typeface="Trebuchet MS"/>
              </a:rPr>
              <a:t>CS.OS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113978" y="6816664"/>
            <a:ext cx="7942440" cy="1274416"/>
          </a:xfrm>
          <a:prstGeom prst="rect">
            <a:avLst/>
          </a:prstGeom>
          <a:noFill/>
        </p:spPr>
        <p:txBody>
          <a:bodyPr wrap="square" lIns="0" rIns="0" tIns="106700" bIns="106700">
            <a:spAutoFit/>
          </a:bodyPr>
          <a:lstStyle/>
          <a:p>
            <a:pPr algn="ctr">
              <a:lnSpc>
                <a:spcPts val="6601"/>
              </a:lnSpc>
              <a:spcBef>
                <a:spcPts val="0"/>
              </a:spcBef>
              <a:spcAft>
                <a:spcPts val="0"/>
              </a:spcAft>
            </a:pPr>
            <a:r>
              <a:rPr sz="6001" b="1">
                <a:solidFill>
                  <a:srgbClr val="1C1C1C"/>
                </a:solidFill>
                <a:latin typeface="Trebuchet MS"/>
              </a:rPr>
              <a:t>Problem 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113592" y="6816664"/>
            <a:ext cx="9804759" cy="1274416"/>
          </a:xfrm>
          <a:prstGeom prst="rect">
            <a:avLst/>
          </a:prstGeom>
          <a:noFill/>
        </p:spPr>
        <p:txBody>
          <a:bodyPr wrap="none" lIns="0" rIns="0" tIns="106700" bIns="106700">
            <a:spAutoFit/>
          </a:bodyPr>
          <a:lstStyle/>
          <a:p>
            <a:pPr algn="ctr">
              <a:lnSpc>
                <a:spcPts val="6601"/>
              </a:lnSpc>
              <a:spcBef>
                <a:spcPts val="0"/>
              </a:spcBef>
              <a:spcAft>
                <a:spcPts val="0"/>
              </a:spcAft>
            </a:pPr>
            <a:r>
              <a:rPr sz="6001" b="1">
                <a:solidFill>
                  <a:srgbClr val="1C1C1C"/>
                </a:solidFill>
                <a:latin typeface="Trebuchet MS"/>
              </a:rPr>
              <a:t>Method 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1728976" y="6816664"/>
            <a:ext cx="10249496" cy="1274416"/>
          </a:xfrm>
          <a:prstGeom prst="rect">
            <a:avLst/>
          </a:prstGeom>
          <a:noFill/>
        </p:spPr>
        <p:txBody>
          <a:bodyPr wrap="square" lIns="0" rIns="0" tIns="106700" bIns="106700">
            <a:spAutoFit/>
          </a:bodyPr>
          <a:lstStyle/>
          <a:p>
            <a:pPr algn="ctr">
              <a:lnSpc>
                <a:spcPts val="6601"/>
              </a:lnSpc>
              <a:spcBef>
                <a:spcPts val="0"/>
              </a:spcBef>
              <a:spcAft>
                <a:spcPts val="0"/>
              </a:spcAft>
            </a:pPr>
            <a:r>
              <a:rPr sz="6001" b="1">
                <a:solidFill>
                  <a:srgbClr val="1C1C1C"/>
                </a:solidFill>
                <a:latin typeface="Trebuchet MS"/>
              </a:rPr>
              <a:t>Key Results 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113978" y="8267664"/>
            <a:ext cx="7942440" cy="558908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6381"/>
              </a:lnSpc>
              <a:spcBef>
                <a:spcPts val="0"/>
              </a:spcBef>
              <a:spcAft>
                <a:spcPts val="0"/>
              </a:spcAft>
            </a:pPr>
            <a:r>
              <a:rPr sz="4400" b="0">
                <a:solidFill>
                  <a:srgbClr val="1C1C1C"/>
                </a:solidFill>
                <a:latin typeface="Trebuchet MS"/>
              </a:rPr>
              <a:t>Bayesian &amp; RL tuners treat</a:t>
            </a:r>
          </a:p>
          <a:p>
            <a:pPr algn="l">
              <a:lnSpc>
                <a:spcPts val="6381"/>
              </a:lnSpc>
              <a:spcBef>
                <a:spcPts val="0"/>
              </a:spcBef>
              <a:spcAft>
                <a:spcPts val="0"/>
              </a:spcAft>
            </a:pPr>
            <a:r>
              <a:rPr sz="4400" b="0">
                <a:solidFill>
                  <a:srgbClr val="1C1C1C"/>
                </a:solidFill>
                <a:latin typeface="Trebuchet MS"/>
              </a:rPr>
              <a:t>hundreds of </a:t>
            </a:r>
            <a:r>
              <a:rPr sz="4400" b="1">
                <a:solidFill>
                  <a:srgbClr val="111111"/>
                </a:solidFill>
                <a:latin typeface="Trebuchet MS"/>
              </a:rPr>
              <a:t>coupled Linux</a:t>
            </a:r>
          </a:p>
          <a:p>
            <a:pPr algn="l">
              <a:lnSpc>
                <a:spcPts val="6381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111111"/>
                </a:solidFill>
                <a:latin typeface="Trebuchet MS"/>
              </a:rPr>
              <a:t>knobs</a:t>
            </a:r>
            <a:r>
              <a:rPr sz="4400" b="0">
                <a:solidFill>
                  <a:srgbClr val="1C1C1C"/>
                </a:solidFill>
                <a:latin typeface="Trebuchet MS"/>
              </a:rPr>
              <a:t> as </a:t>
            </a:r>
            <a:r>
              <a:rPr sz="4400" b="1">
                <a:solidFill>
                  <a:srgbClr val="111111"/>
                </a:solidFill>
                <a:highlight>
                  <a:srgbClr val="ECECEC"/>
                </a:highlight>
                <a:latin typeface="Trebuchet MS"/>
              </a:rPr>
              <a:t>isolated</a:t>
            </a:r>
          </a:p>
          <a:p>
            <a:pPr algn="l">
              <a:lnSpc>
                <a:spcPts val="6381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111111"/>
                </a:solidFill>
                <a:highlight>
                  <a:srgbClr val="ECECEC"/>
                </a:highlight>
                <a:latin typeface="Trebuchet MS"/>
              </a:rPr>
              <a:t>numbers</a:t>
            </a:r>
            <a:r>
              <a:rPr sz="4400" b="0">
                <a:solidFill>
                  <a:srgbClr val="1C1C1C"/>
                </a:solidFill>
                <a:latin typeface="Trebuchet MS"/>
              </a:rPr>
              <a:t>, blindly pushing</a:t>
            </a:r>
          </a:p>
          <a:p>
            <a:pPr algn="l">
              <a:lnSpc>
                <a:spcPts val="6381"/>
              </a:lnSpc>
              <a:spcBef>
                <a:spcPts val="0"/>
              </a:spcBef>
              <a:spcAft>
                <a:spcPts val="0"/>
              </a:spcAft>
            </a:pPr>
            <a:r>
              <a:rPr sz="4400" b="0">
                <a:solidFill>
                  <a:srgbClr val="1C1C1C"/>
                </a:solidFill>
                <a:latin typeface="Trebuchet MS"/>
              </a:rPr>
              <a:t>live hosts into unsound</a:t>
            </a:r>
          </a:p>
          <a:p>
            <a:pPr algn="l">
              <a:lnSpc>
                <a:spcPts val="6381"/>
              </a:lnSpc>
              <a:spcBef>
                <a:spcPts val="0"/>
              </a:spcBef>
              <a:spcAft>
                <a:spcPts val="0"/>
              </a:spcAft>
            </a:pPr>
            <a:r>
              <a:rPr sz="4400" b="0">
                <a:solidFill>
                  <a:srgbClr val="1C1C1C"/>
                </a:solidFill>
                <a:latin typeface="Trebuchet MS"/>
              </a:rPr>
              <a:t>regions.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0921283" y="8375537"/>
            <a:ext cx="9804759" cy="558908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6381"/>
              </a:lnSpc>
              <a:spcBef>
                <a:spcPts val="0"/>
              </a:spcBef>
              <a:spcAft>
                <a:spcPts val="0"/>
              </a:spcAft>
            </a:pPr>
            <a:r>
              <a:rPr sz="4400" b="0">
                <a:solidFill>
                  <a:srgbClr val="1C1C1C"/>
                </a:solidFill>
                <a:latin typeface="Trebuchet MS"/>
              </a:rPr>
              <a:t>TuxBot records </a:t>
            </a:r>
            <a:r>
              <a:rPr sz="4400" b="1">
                <a:solidFill>
                  <a:srgbClr val="111111"/>
                </a:solidFill>
                <a:latin typeface="Trebuchet MS"/>
              </a:rPr>
              <a:t>summaries from</a:t>
            </a:r>
          </a:p>
          <a:p>
            <a:pPr algn="l">
              <a:lnSpc>
                <a:spcPts val="6381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111111"/>
                </a:solidFill>
                <a:latin typeface="Trebuchet MS"/>
              </a:rPr>
              <a:t>prior runs</a:t>
            </a:r>
            <a:r>
              <a:rPr sz="4400" b="0">
                <a:solidFill>
                  <a:srgbClr val="1C1C1C"/>
                </a:solidFill>
                <a:latin typeface="Trebuchet MS"/>
              </a:rPr>
              <a:t> and retrieves them to</a:t>
            </a:r>
          </a:p>
          <a:p>
            <a:pPr algn="l">
              <a:lnSpc>
                <a:spcPts val="6381"/>
              </a:lnSpc>
              <a:spcBef>
                <a:spcPts val="0"/>
              </a:spcBef>
              <a:spcAft>
                <a:spcPts val="0"/>
              </a:spcAft>
            </a:pPr>
            <a:r>
              <a:rPr sz="4400" b="0">
                <a:solidFill>
                  <a:srgbClr val="1C1C1C"/>
                </a:solidFill>
                <a:latin typeface="Trebuchet MS"/>
              </a:rPr>
              <a:t>warm-start new sessions, so tuning</a:t>
            </a:r>
          </a:p>
          <a:p>
            <a:pPr algn="l">
              <a:lnSpc>
                <a:spcPts val="6381"/>
              </a:lnSpc>
              <a:spcBef>
                <a:spcPts val="0"/>
              </a:spcBef>
              <a:spcAft>
                <a:spcPts val="0"/>
              </a:spcAft>
            </a:pPr>
            <a:r>
              <a:rPr sz="4400" b="0">
                <a:solidFill>
                  <a:srgbClr val="1C1C1C"/>
                </a:solidFill>
                <a:latin typeface="Trebuchet MS"/>
              </a:rPr>
              <a:t>reuses workload-specific experience</a:t>
            </a:r>
          </a:p>
          <a:p>
            <a:pPr algn="l">
              <a:lnSpc>
                <a:spcPts val="6381"/>
              </a:lnSpc>
              <a:spcBef>
                <a:spcPts val="0"/>
              </a:spcBef>
              <a:spcAft>
                <a:spcPts val="0"/>
              </a:spcAft>
            </a:pPr>
            <a:r>
              <a:rPr sz="4400" b="0">
                <a:solidFill>
                  <a:srgbClr val="1C1C1C"/>
                </a:solidFill>
                <a:latin typeface="Trebuchet MS"/>
              </a:rPr>
              <a:t>instead of restarting from scratch</a:t>
            </a:r>
          </a:p>
          <a:p>
            <a:pPr algn="l">
              <a:lnSpc>
                <a:spcPts val="6381"/>
              </a:lnSpc>
              <a:spcBef>
                <a:spcPts val="0"/>
              </a:spcBef>
              <a:spcAft>
                <a:spcPts val="0"/>
              </a:spcAft>
            </a:pPr>
            <a:r>
              <a:rPr sz="4400" b="0">
                <a:solidFill>
                  <a:srgbClr val="1C1C1C"/>
                </a:solidFill>
                <a:latin typeface="Trebuchet MS"/>
              </a:rPr>
              <a:t>each time.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0921283" y="13519653"/>
            <a:ext cx="9804759" cy="2030031"/>
          </a:xfrm>
          <a:prstGeom prst="rect">
            <a:avLst/>
          </a:prstGeom>
          <a:noFill/>
        </p:spPr>
        <p:txBody>
          <a:bodyPr wrap="none" lIns="363284" rIns="363284" tIns="156493" bIns="156493">
            <a:spAutoFit/>
          </a:bodyPr>
          <a:lstStyle/>
          <a:p>
            <a:pPr algn="l">
              <a:lnSpc>
                <a:spcPts val="5721"/>
              </a:lnSpc>
              <a:spcBef>
                <a:spcPts val="0"/>
              </a:spcBef>
              <a:spcAft>
                <a:spcPts val="0"/>
              </a:spcAft>
            </a:pPr>
            <a:r>
              <a:rPr sz="4400" b="0">
                <a:solidFill>
                  <a:srgbClr val="A2521C"/>
                </a:solidFill>
                <a:latin typeface="Trebuchet MS"/>
              </a:rPr>
              <a:t>No re-learning — experience</a:t>
            </a:r>
          </a:p>
          <a:p>
            <a:pPr algn="l">
              <a:lnSpc>
                <a:spcPts val="5721"/>
              </a:lnSpc>
              <a:spcBef>
                <a:spcPts val="0"/>
              </a:spcBef>
              <a:spcAft>
                <a:spcPts val="0"/>
              </a:spcAft>
            </a:pPr>
            <a:r>
              <a:rPr sz="4400" b="0">
                <a:solidFill>
                  <a:srgbClr val="A2521C"/>
                </a:solidFill>
                <a:latin typeface="Trebuchet MS"/>
              </a:rPr>
              <a:t>carries across runs.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1728976" y="13609225"/>
            <a:ext cx="10249496" cy="1274416"/>
          </a:xfrm>
          <a:prstGeom prst="rect">
            <a:avLst/>
          </a:prstGeom>
          <a:noFill/>
        </p:spPr>
        <p:txBody>
          <a:bodyPr wrap="square" lIns="0" rIns="0" tIns="106700" bIns="106700">
            <a:spAutoFit/>
          </a:bodyPr>
          <a:lstStyle/>
          <a:p>
            <a:pPr algn="ctr">
              <a:lnSpc>
                <a:spcPts val="6601"/>
              </a:lnSpc>
              <a:spcBef>
                <a:spcPts val="0"/>
              </a:spcBef>
              <a:spcAft>
                <a:spcPts val="0"/>
              </a:spcAft>
            </a:pPr>
            <a:r>
              <a:rPr sz="6001" b="1">
                <a:solidFill>
                  <a:srgbClr val="1C1C1C"/>
                </a:solidFill>
                <a:latin typeface="Trebuchet MS"/>
              </a:rPr>
              <a:t>Headline Numbers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113592" y="16874570"/>
            <a:ext cx="9804759" cy="18630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6381"/>
              </a:lnSpc>
              <a:spcBef>
                <a:spcPts val="0"/>
              </a:spcBef>
              <a:spcAft>
                <a:spcPts val="0"/>
              </a:spcAft>
            </a:pPr>
            <a:r>
              <a:rPr sz="4400" b="0">
                <a:solidFill>
                  <a:srgbClr val="1C1C1C"/>
                </a:solidFill>
                <a:latin typeface="Trebuchet MS"/>
              </a:rPr>
              <a:t>Treats knobs as </a:t>
            </a:r>
            <a:r>
              <a:rPr sz="4400" b="1">
                <a:solidFill>
                  <a:srgbClr val="111111"/>
                </a:solidFill>
                <a:highlight>
                  <a:srgbClr val="ECECEC"/>
                </a:highlight>
                <a:latin typeface="Trebuchet MS"/>
              </a:rPr>
              <a:t>one joint policy</a:t>
            </a:r>
            <a:r>
              <a:rPr sz="4400" b="0">
                <a:solidFill>
                  <a:srgbClr val="1C1C1C"/>
                </a:solidFill>
                <a:latin typeface="Trebuchet MS"/>
              </a:rPr>
              <a:t>,</a:t>
            </a:r>
          </a:p>
          <a:p>
            <a:pPr algn="l">
              <a:lnSpc>
                <a:spcPts val="6381"/>
              </a:lnSpc>
              <a:spcBef>
                <a:spcPts val="0"/>
              </a:spcBef>
              <a:spcAft>
                <a:spcPts val="0"/>
              </a:spcAft>
            </a:pPr>
            <a:r>
              <a:rPr sz="4400" b="0">
                <a:solidFill>
                  <a:srgbClr val="1C1C1C"/>
                </a:solidFill>
                <a:latin typeface="Trebuchet MS"/>
              </a:rPr>
              <a:t>rejecting unsound configs up front: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113978" y="17027972"/>
            <a:ext cx="7942440" cy="1274416"/>
          </a:xfrm>
          <a:prstGeom prst="rect">
            <a:avLst/>
          </a:prstGeom>
          <a:noFill/>
        </p:spPr>
        <p:txBody>
          <a:bodyPr wrap="square" lIns="0" rIns="0" tIns="106700" bIns="106700">
            <a:spAutoFit/>
          </a:bodyPr>
          <a:lstStyle/>
          <a:p>
            <a:pPr algn="ctr">
              <a:lnSpc>
                <a:spcPts val="6601"/>
              </a:lnSpc>
              <a:spcBef>
                <a:spcPts val="0"/>
              </a:spcBef>
              <a:spcAft>
                <a:spcPts val="0"/>
              </a:spcAft>
            </a:pPr>
            <a:r>
              <a:rPr sz="6001" b="1">
                <a:solidFill>
                  <a:srgbClr val="1C1C1C"/>
                </a:solidFill>
                <a:latin typeface="Trebuchet MS"/>
              </a:rPr>
              <a:t>Motivation 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1776586" y="20884757"/>
            <a:ext cx="10200457" cy="1274416"/>
          </a:xfrm>
          <a:prstGeom prst="rect">
            <a:avLst/>
          </a:prstGeom>
          <a:noFill/>
        </p:spPr>
        <p:txBody>
          <a:bodyPr wrap="square" lIns="0" rIns="0" tIns="106700" bIns="106700">
            <a:spAutoFit/>
          </a:bodyPr>
          <a:lstStyle/>
          <a:p>
            <a:pPr algn="ctr">
              <a:lnSpc>
                <a:spcPts val="6601"/>
              </a:lnSpc>
              <a:spcBef>
                <a:spcPts val="0"/>
              </a:spcBef>
              <a:spcAft>
                <a:spcPts val="0"/>
              </a:spcAft>
            </a:pPr>
            <a:r>
              <a:rPr sz="6001" b="1">
                <a:solidFill>
                  <a:srgbClr val="1C1C1C"/>
                </a:solidFill>
                <a:latin typeface="Trebuchet MS"/>
              </a:rPr>
              <a:t>Takeaway 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1776586" y="22423246"/>
            <a:ext cx="10200457" cy="465757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6381"/>
              </a:lnSpc>
              <a:spcBef>
                <a:spcPts val="0"/>
              </a:spcBef>
              <a:spcAft>
                <a:spcPts val="0"/>
              </a:spcAft>
            </a:pPr>
            <a:r>
              <a:rPr sz="4400" b="0">
                <a:solidFill>
                  <a:srgbClr val="1C1C1C"/>
                </a:solidFill>
                <a:latin typeface="Trebuchet MS"/>
              </a:rPr>
              <a:t>Treating OS knobs as a </a:t>
            </a:r>
            <a:r>
              <a:rPr sz="4400" b="1">
                <a:solidFill>
                  <a:srgbClr val="111111"/>
                </a:solidFill>
                <a:latin typeface="Trebuchet MS"/>
              </a:rPr>
              <a:t>coupled</a:t>
            </a:r>
          </a:p>
          <a:p>
            <a:pPr algn="l">
              <a:lnSpc>
                <a:spcPts val="6381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111111"/>
                </a:solidFill>
                <a:latin typeface="Trebuchet MS"/>
              </a:rPr>
              <a:t>semantic system</a:t>
            </a:r>
            <a:r>
              <a:rPr sz="4400" b="0">
                <a:solidFill>
                  <a:srgbClr val="1C1C1C"/>
                </a:solidFill>
                <a:latin typeface="Trebuchet MS"/>
              </a:rPr>
              <a:t> — not isolated</a:t>
            </a:r>
          </a:p>
          <a:p>
            <a:pPr algn="l">
              <a:lnSpc>
                <a:spcPts val="6381"/>
              </a:lnSpc>
              <a:spcBef>
                <a:spcPts val="0"/>
              </a:spcBef>
              <a:spcAft>
                <a:spcPts val="0"/>
              </a:spcAft>
            </a:pPr>
            <a:r>
              <a:rPr sz="4400" b="0">
                <a:solidFill>
                  <a:srgbClr val="1C1C1C"/>
                </a:solidFill>
                <a:latin typeface="Trebuchet MS"/>
              </a:rPr>
              <a:t>numbers — lets an LLM tuner deliver</a:t>
            </a:r>
          </a:p>
          <a:p>
            <a:pPr algn="l">
              <a:lnSpc>
                <a:spcPts val="6381"/>
              </a:lnSpc>
              <a:spcBef>
                <a:spcPts val="0"/>
              </a:spcBef>
              <a:spcAft>
                <a:spcPts val="0"/>
              </a:spcAft>
            </a:pPr>
            <a:r>
              <a:rPr sz="4400" b="0">
                <a:solidFill>
                  <a:srgbClr val="1C1C1C"/>
                </a:solidFill>
                <a:latin typeface="Trebuchet MS"/>
              </a:rPr>
              <a:t>large, safe, cheap gains where classic</a:t>
            </a:r>
          </a:p>
          <a:p>
            <a:pPr algn="l">
              <a:lnSpc>
                <a:spcPts val="6381"/>
              </a:lnSpc>
              <a:spcBef>
                <a:spcPts val="0"/>
              </a:spcBef>
              <a:spcAft>
                <a:spcPts val="0"/>
              </a:spcAft>
            </a:pPr>
            <a:r>
              <a:rPr sz="4400" b="0">
                <a:solidFill>
                  <a:srgbClr val="1C1C1C"/>
                </a:solidFill>
                <a:latin typeface="Trebuchet MS"/>
              </a:rPr>
              <a:t>tuners cannot.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1776586" y="26840076"/>
            <a:ext cx="10200457" cy="2659540"/>
          </a:xfrm>
          <a:prstGeom prst="rect">
            <a:avLst/>
          </a:prstGeom>
          <a:noFill/>
        </p:spPr>
        <p:txBody>
          <a:bodyPr wrap="none" lIns="391229" rIns="391229" tIns="67068" bIns="67068">
            <a:spAutoFit/>
          </a:bodyPr>
          <a:lstStyle/>
          <a:p>
            <a:pPr algn="l">
              <a:lnSpc>
                <a:spcPts val="5721"/>
              </a:lnSpc>
              <a:spcBef>
                <a:spcPts val="0"/>
              </a:spcBef>
              <a:spcAft>
                <a:spcPts val="0"/>
              </a:spcAft>
            </a:pPr>
            <a:r>
              <a:rPr sz="4400" b="0" i="1">
                <a:solidFill>
                  <a:srgbClr val="1C1C1C"/>
                </a:solidFill>
                <a:latin typeface="Trebuchet MS"/>
              </a:rPr>
              <a:t>Semantic reasoning + typed</a:t>
            </a:r>
          </a:p>
          <a:p>
            <a:pPr algn="l">
              <a:lnSpc>
                <a:spcPts val="5721"/>
              </a:lnSpc>
              <a:spcBef>
                <a:spcPts val="0"/>
              </a:spcBef>
              <a:spcAft>
                <a:spcPts val="0"/>
              </a:spcAft>
            </a:pPr>
            <a:r>
              <a:rPr sz="4400" b="0" i="1">
                <a:solidFill>
                  <a:srgbClr val="1C1C1C"/>
                </a:solidFill>
                <a:latin typeface="Trebuchet MS"/>
              </a:rPr>
              <a:t>actuation = safe, effective live</a:t>
            </a:r>
          </a:p>
          <a:p>
            <a:pPr algn="l">
              <a:lnSpc>
                <a:spcPts val="5721"/>
              </a:lnSpc>
              <a:spcBef>
                <a:spcPts val="0"/>
              </a:spcBef>
              <a:spcAft>
                <a:spcPts val="0"/>
              </a:spcAft>
            </a:pPr>
            <a:r>
              <a:rPr sz="4400" b="0" i="1">
                <a:solidFill>
                  <a:srgbClr val="1C1C1C"/>
                </a:solidFill>
                <a:latin typeface="Trebuchet MS"/>
              </a:rPr>
              <a:t>tuning.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113592" y="27200743"/>
            <a:ext cx="9804759" cy="191898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6381"/>
              </a:lnSpc>
              <a:spcBef>
                <a:spcPts val="0"/>
              </a:spcBef>
              <a:spcAft>
                <a:spcPts val="0"/>
              </a:spcAft>
            </a:pPr>
            <a:r>
              <a:rPr sz="4400" b="0">
                <a:solidFill>
                  <a:srgbClr val="1C1C1C"/>
                </a:solidFill>
                <a:latin typeface="Trebuchet MS"/>
              </a:rPr>
              <a:t>Fast </a:t>
            </a:r>
            <a:r>
              <a:rPr sz="4400" b="1">
                <a:solidFill>
                  <a:srgbClr val="111111"/>
                </a:solidFill>
                <a:latin typeface="Trebuchet MS"/>
              </a:rPr>
              <a:t>Instant</a:t>
            </a:r>
            <a:r>
              <a:rPr sz="4400" b="0">
                <a:solidFill>
                  <a:srgbClr val="1C1C1C"/>
                </a:solidFill>
                <a:latin typeface="Trebuchet MS"/>
              </a:rPr>
              <a:t> + deep </a:t>
            </a:r>
            <a:r>
              <a:rPr sz="4400" b="1">
                <a:solidFill>
                  <a:srgbClr val="111111"/>
                </a:solidFill>
                <a:latin typeface="Trebuchet MS"/>
              </a:rPr>
              <a:t>Reasoning</a:t>
            </a:r>
          </a:p>
          <a:p>
            <a:pPr algn="l">
              <a:lnSpc>
                <a:spcPts val="6381"/>
              </a:lnSpc>
              <a:spcBef>
                <a:spcPts val="0"/>
              </a:spcBef>
              <a:spcAft>
                <a:spcPts val="0"/>
              </a:spcAft>
            </a:pPr>
            <a:r>
              <a:rPr sz="4400" b="0">
                <a:solidFill>
                  <a:srgbClr val="1C1C1C"/>
                </a:solidFill>
                <a:latin typeface="Trebuchet MS"/>
              </a:rPr>
              <a:t>loops — cost near </a:t>
            </a:r>
            <a:r>
              <a:rPr sz="4664" b="1">
                <a:solidFill>
                  <a:srgbClr val="111111"/>
                </a:solidFill>
                <a:latin typeface="Trebuchet MS"/>
              </a:rPr>
              <a:t>$0.20</a:t>
            </a:r>
            <a:r>
              <a:rPr sz="4400" b="0">
                <a:solidFill>
                  <a:srgbClr val="1C1C1C"/>
                </a:solidFill>
                <a:latin typeface="Trebuchet MS"/>
              </a:rPr>
              <a:t>/session.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7399002" y="4866474"/>
            <a:ext cx="966101" cy="455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spc="96">
                <a:solidFill>
                  <a:srgbClr val="1B2331"/>
                </a:solidFill>
                <a:latin typeface="Trebuchet MS"/>
              </a:rPr>
              <a:t>Paper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9899092" y="4866474"/>
            <a:ext cx="837220" cy="4554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spc="96">
                <a:solidFill>
                  <a:srgbClr val="1B2331"/>
                </a:solidFill>
                <a:latin typeface="Trebuchet MS"/>
              </a:rPr>
              <a:t>Code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1859544" y="6816664"/>
            <a:ext cx="7027678" cy="15512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313"/>
              </a:lnSpc>
              <a:spcBef>
                <a:spcPts val="0"/>
              </a:spcBef>
              <a:spcAft>
                <a:spcPts val="0"/>
              </a:spcAft>
            </a:pPr>
            <a:r>
              <a:rPr sz="4620" b="1">
                <a:solidFill>
                  <a:srgbClr val="A2521C"/>
                </a:solidFill>
                <a:latin typeface="Trebuchet MS"/>
              </a:rPr>
              <a:t>Explicit Cross-Session</a:t>
            </a:r>
          </a:p>
          <a:p>
            <a:pPr algn="l">
              <a:lnSpc>
                <a:spcPts val="5313"/>
              </a:lnSpc>
              <a:spcBef>
                <a:spcPts val="0"/>
              </a:spcBef>
              <a:spcAft>
                <a:spcPts val="0"/>
              </a:spcAft>
            </a:pPr>
            <a:r>
              <a:rPr sz="4620" b="1">
                <a:solidFill>
                  <a:srgbClr val="A2521C"/>
                </a:solidFill>
                <a:latin typeface="Trebuchet MS"/>
              </a:rPr>
              <a:t>Memory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8917023" y="7073029"/>
            <a:ext cx="1569147" cy="9616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294"/>
              </a:lnSpc>
              <a:spcBef>
                <a:spcPts val="0"/>
              </a:spcBef>
              <a:spcAft>
                <a:spcPts val="0"/>
              </a:spcAft>
            </a:pPr>
            <a:r>
              <a:rPr sz="2864" b="1" i="1">
                <a:solidFill>
                  <a:srgbClr val="555555"/>
                </a:solidFill>
                <a:latin typeface="Trebuchet MS"/>
              </a:rPr>
              <a:t>warm</a:t>
            </a:r>
          </a:p>
          <a:p>
            <a:pPr algn="l">
              <a:lnSpc>
                <a:spcPts val="3294"/>
              </a:lnSpc>
              <a:spcBef>
                <a:spcPts val="0"/>
              </a:spcBef>
              <a:spcAft>
                <a:spcPts val="0"/>
              </a:spcAft>
            </a:pPr>
            <a:r>
              <a:rPr sz="2864" b="1" i="1">
                <a:solidFill>
                  <a:srgbClr val="555555"/>
                </a:solidFill>
                <a:latin typeface="Trebuchet MS"/>
              </a:rPr>
              <a:t>start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494342" y="12207326"/>
            <a:ext cx="9020262" cy="20543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4691"/>
              </a:lnSpc>
              <a:spcBef>
                <a:spcPts val="0"/>
              </a:spcBef>
              <a:spcAft>
                <a:spcPts val="0"/>
              </a:spcAft>
            </a:pPr>
            <a:r>
              <a:rPr sz="3608" b="0" i="1">
                <a:solidFill>
                  <a:srgbClr val="555555"/>
                </a:solidFill>
                <a:latin typeface="Trebuchet MS"/>
              </a:rPr>
              <a:t>TuxBot: telemetry → semantic view →</a:t>
            </a:r>
          </a:p>
          <a:p>
            <a:pPr algn="ctr">
              <a:lnSpc>
                <a:spcPts val="4691"/>
              </a:lnSpc>
              <a:spcBef>
                <a:spcPts val="0"/>
              </a:spcBef>
              <a:spcAft>
                <a:spcPts val="0"/>
              </a:spcAft>
            </a:pPr>
            <a:r>
              <a:rPr sz="3608" b="0" i="1">
                <a:solidFill>
                  <a:srgbClr val="555555"/>
                </a:solidFill>
                <a:latin typeface="Trebuchet MS"/>
              </a:rPr>
              <a:t>dual-loop LLM control → typed knob</a:t>
            </a:r>
          </a:p>
          <a:p>
            <a:pPr algn="ctr">
              <a:lnSpc>
                <a:spcPts val="4691"/>
              </a:lnSpc>
              <a:spcBef>
                <a:spcPts val="0"/>
              </a:spcBef>
              <a:spcAft>
                <a:spcPts val="0"/>
              </a:spcAft>
            </a:pPr>
            <a:r>
              <a:rPr sz="3608" b="0" i="1">
                <a:solidFill>
                  <a:srgbClr val="555555"/>
                </a:solidFill>
                <a:latin typeface="Trebuchet MS"/>
              </a:rPr>
              <a:t>updates.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113978" y="13532597"/>
            <a:ext cx="3764790" cy="15018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0287"/>
              </a:lnSpc>
              <a:spcBef>
                <a:spcPts val="0"/>
              </a:spcBef>
              <a:spcAft>
                <a:spcPts val="0"/>
              </a:spcAft>
            </a:pPr>
            <a:r>
              <a:rPr sz="8792" b="1">
                <a:solidFill>
                  <a:srgbClr val="A2521C"/>
                </a:solidFill>
                <a:latin typeface="Trebuchet MS"/>
              </a:rPr>
              <a:t>1,200+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113978" y="13532597"/>
            <a:ext cx="7385368" cy="250879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743"/>
              </a:lnSpc>
              <a:spcBef>
                <a:spcPts val="0"/>
              </a:spcBef>
              <a:spcAft>
                <a:spcPts val="0"/>
              </a:spcAft>
            </a:pPr>
            <a:r>
              <a:rPr sz="3960" b="0">
                <a:solidFill>
                  <a:srgbClr val="555555"/>
                </a:solidFill>
                <a:latin typeface="Trebuchet MS"/>
              </a:rPr>
              <a:t>tunable Linux</a:t>
            </a:r>
          </a:p>
          <a:p>
            <a:pPr algn="l">
              <a:lnSpc>
                <a:spcPts val="5743"/>
              </a:lnSpc>
              <a:spcBef>
                <a:spcPts val="0"/>
              </a:spcBef>
              <a:spcAft>
                <a:spcPts val="0"/>
              </a:spcAft>
            </a:pPr>
            <a:r>
              <a:rPr sz="3960" b="0">
                <a:solidFill>
                  <a:srgbClr val="555555"/>
                </a:solidFill>
                <a:latin typeface="Trebuchet MS"/>
              </a:rPr>
              <a:t>knobs, often</a:t>
            </a:r>
          </a:p>
          <a:p>
            <a:pPr algn="l">
              <a:lnSpc>
                <a:spcPts val="5743"/>
              </a:lnSpc>
              <a:spcBef>
                <a:spcPts val="0"/>
              </a:spcBef>
              <a:spcAft>
                <a:spcPts val="0"/>
              </a:spcAft>
            </a:pPr>
            <a:r>
              <a:rPr sz="3960" b="0">
                <a:solidFill>
                  <a:srgbClr val="555555"/>
                </a:solidFill>
                <a:latin typeface="Trebuchet MS"/>
              </a:rPr>
              <a:t>semantically coupled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1051852" y="15320459"/>
            <a:ext cx="5860971" cy="15512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313"/>
              </a:lnSpc>
              <a:spcBef>
                <a:spcPts val="0"/>
              </a:spcBef>
              <a:spcAft>
                <a:spcPts val="0"/>
              </a:spcAft>
            </a:pPr>
            <a:r>
              <a:rPr sz="4620" b="1">
                <a:solidFill>
                  <a:srgbClr val="A2521C"/>
                </a:solidFill>
                <a:latin typeface="Trebuchet MS"/>
              </a:rPr>
              <a:t>Semantic</a:t>
            </a:r>
          </a:p>
          <a:p>
            <a:pPr algn="l">
              <a:lnSpc>
                <a:spcPts val="5313"/>
              </a:lnSpc>
              <a:spcBef>
                <a:spcPts val="0"/>
              </a:spcBef>
              <a:spcAft>
                <a:spcPts val="0"/>
              </a:spcAft>
            </a:pPr>
            <a:r>
              <a:rPr sz="4620" b="1">
                <a:solidFill>
                  <a:srgbClr val="A2521C"/>
                </a:solidFill>
                <a:latin typeface="Trebuchet MS"/>
              </a:rPr>
              <a:t>Reasoning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6976606" y="15576824"/>
            <a:ext cx="2735855" cy="9616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294"/>
              </a:lnSpc>
              <a:spcBef>
                <a:spcPts val="0"/>
              </a:spcBef>
              <a:spcAft>
                <a:spcPts val="0"/>
              </a:spcAft>
            </a:pPr>
            <a:r>
              <a:rPr sz="2864" b="1" i="1">
                <a:solidFill>
                  <a:srgbClr val="555555"/>
                </a:solidFill>
                <a:latin typeface="Trebuchet MS"/>
              </a:rPr>
              <a:t>knobs as</a:t>
            </a:r>
          </a:p>
          <a:p>
            <a:pPr algn="l">
              <a:lnSpc>
                <a:spcPts val="3294"/>
              </a:lnSpc>
              <a:spcBef>
                <a:spcPts val="0"/>
              </a:spcBef>
              <a:spcAft>
                <a:spcPts val="0"/>
              </a:spcAft>
            </a:pPr>
            <a:r>
              <a:rPr sz="2864" b="1" i="1">
                <a:solidFill>
                  <a:srgbClr val="555555"/>
                </a:solidFill>
                <a:latin typeface="Trebuchet MS"/>
              </a:rPr>
              <a:t>policy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21859544" y="16464207"/>
            <a:ext cx="6452981" cy="15512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313"/>
              </a:lnSpc>
              <a:spcBef>
                <a:spcPts val="0"/>
              </a:spcBef>
              <a:spcAft>
                <a:spcPts val="0"/>
              </a:spcAft>
            </a:pPr>
            <a:r>
              <a:rPr sz="4620" b="1">
                <a:solidFill>
                  <a:srgbClr val="A2521C"/>
                </a:solidFill>
                <a:latin typeface="Trebuchet MS"/>
              </a:rPr>
              <a:t>Typed, Validated</a:t>
            </a:r>
          </a:p>
          <a:p>
            <a:pPr algn="l">
              <a:lnSpc>
                <a:spcPts val="5313"/>
              </a:lnSpc>
              <a:spcBef>
                <a:spcPts val="0"/>
              </a:spcBef>
              <a:spcAft>
                <a:spcPts val="0"/>
              </a:spcAft>
            </a:pPr>
            <a:r>
              <a:rPr sz="4620" b="1">
                <a:solidFill>
                  <a:srgbClr val="A2521C"/>
                </a:solidFill>
                <a:latin typeface="Trebuchet MS"/>
              </a:rPr>
              <a:t>Actuation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28359067" y="16720572"/>
            <a:ext cx="2143842" cy="9616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294"/>
              </a:lnSpc>
              <a:spcBef>
                <a:spcPts val="0"/>
              </a:spcBef>
              <a:spcAft>
                <a:spcPts val="0"/>
              </a:spcAft>
            </a:pPr>
            <a:r>
              <a:rPr sz="2864" b="1" i="1">
                <a:solidFill>
                  <a:srgbClr val="555555"/>
                </a:solidFill>
                <a:latin typeface="Trebuchet MS"/>
              </a:rPr>
              <a:t>safe</a:t>
            </a:r>
          </a:p>
          <a:p>
            <a:pPr algn="l">
              <a:lnSpc>
                <a:spcPts val="3294"/>
              </a:lnSpc>
              <a:spcBef>
                <a:spcPts val="0"/>
              </a:spcBef>
              <a:spcAft>
                <a:spcPts val="0"/>
              </a:spcAft>
            </a:pPr>
            <a:r>
              <a:rPr sz="2864" b="1" i="1">
                <a:solidFill>
                  <a:srgbClr val="555555"/>
                </a:solidFill>
                <a:latin typeface="Trebuchet MS"/>
              </a:rPr>
              <a:t>execution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20920991" y="18195229"/>
            <a:ext cx="9805060" cy="27945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614789" indent="-614789">
              <a:lnSpc>
                <a:spcPts val="6381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400" b="0">
                <a:solidFill>
                  <a:srgbClr val="1C1C1C"/>
                </a:solidFill>
                <a:latin typeface="Trebuchet MS"/>
              </a:rPr>
              <a:t>Every LLM proposal passes a</a:t>
            </a:r>
          </a:p>
          <a:p>
            <a:pPr algn="l" marL="614789" indent="0">
              <a:lnSpc>
                <a:spcPts val="63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400" b="1">
                <a:solidFill>
                  <a:srgbClr val="111111"/>
                </a:solidFill>
                <a:latin typeface="Trebuchet MS"/>
              </a:rPr>
              <a:t>typed, validated interface</a:t>
            </a:r>
            <a:r>
              <a:rPr sz="4400" b="0">
                <a:solidFill>
                  <a:srgbClr val="1C1C1C"/>
                </a:solidFill>
                <a:latin typeface="Trebuchet MS"/>
              </a:rPr>
              <a:t> before</a:t>
            </a:r>
          </a:p>
          <a:p>
            <a:pPr algn="l" marL="614789" indent="0">
              <a:lnSpc>
                <a:spcPts val="63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400" b="0">
                <a:solidFill>
                  <a:srgbClr val="1C1C1C"/>
                </a:solidFill>
                <a:latin typeface="Trebuchet MS"/>
              </a:rPr>
              <a:t>reaching the host.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113685" y="18698736"/>
            <a:ext cx="7942742" cy="46575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614789" indent="-614789">
              <a:lnSpc>
                <a:spcPts val="6381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400" b="0">
                <a:solidFill>
                  <a:srgbClr val="1C1C1C"/>
                </a:solidFill>
                <a:latin typeface="Trebuchet MS"/>
              </a:rPr>
              <a:t>Numerically valid configs</a:t>
            </a:r>
          </a:p>
          <a:p>
            <a:pPr algn="l" marL="614789" indent="0">
              <a:lnSpc>
                <a:spcPts val="63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400" b="0">
                <a:solidFill>
                  <a:srgbClr val="1C1C1C"/>
                </a:solidFill>
                <a:latin typeface="Trebuchet MS"/>
              </a:rPr>
              <a:t>turn </a:t>
            </a:r>
            <a:r>
              <a:rPr sz="4400" b="1">
                <a:solidFill>
                  <a:srgbClr val="111111"/>
                </a:solidFill>
                <a:latin typeface="Trebuchet MS"/>
              </a:rPr>
              <a:t>semantically</a:t>
            </a:r>
          </a:p>
          <a:p>
            <a:pPr algn="l" marL="614789" indent="0">
              <a:lnSpc>
                <a:spcPts val="63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400" b="1">
                <a:solidFill>
                  <a:srgbClr val="111111"/>
                </a:solidFill>
                <a:latin typeface="Trebuchet MS"/>
              </a:rPr>
              <a:t>unsound</a:t>
            </a:r>
            <a:r>
              <a:rPr sz="4400" b="0">
                <a:solidFill>
                  <a:srgbClr val="1C1C1C"/>
                </a:solidFill>
                <a:latin typeface="Trebuchet MS"/>
              </a:rPr>
              <a:t> once scheduler,</a:t>
            </a:r>
          </a:p>
          <a:p>
            <a:pPr algn="l" marL="614789" indent="0">
              <a:lnSpc>
                <a:spcPts val="63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400" b="0">
                <a:solidFill>
                  <a:srgbClr val="1C1C1C"/>
                </a:solidFill>
                <a:latin typeface="Trebuchet MS"/>
              </a:rPr>
              <a:t>power, memory &amp; I/O</a:t>
            </a:r>
          </a:p>
          <a:p>
            <a:pPr algn="l" marL="614789" indent="0">
              <a:lnSpc>
                <a:spcPts val="63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400" b="0">
                <a:solidFill>
                  <a:srgbClr val="1C1C1C"/>
                </a:solidFill>
                <a:latin typeface="Trebuchet MS"/>
              </a:rPr>
              <a:t>interact on a live host.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20920991" y="20820779"/>
            <a:ext cx="9805060" cy="285049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614789" indent="-614789">
              <a:lnSpc>
                <a:spcPts val="6381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400" b="0">
                <a:solidFill>
                  <a:srgbClr val="1C1C1C"/>
                </a:solidFill>
                <a:latin typeface="Trebuchet MS"/>
              </a:rPr>
              <a:t>A knob metadata store covers </a:t>
            </a:r>
            <a:r>
              <a:rPr sz="4664" b="1">
                <a:solidFill>
                  <a:srgbClr val="111111"/>
                </a:solidFill>
                <a:latin typeface="Trebuchet MS"/>
              </a:rPr>
              <a:t>41</a:t>
            </a:r>
          </a:p>
          <a:p>
            <a:pPr algn="l" marL="614789" indent="0">
              <a:lnSpc>
                <a:spcPts val="63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400" b="0">
                <a:solidFill>
                  <a:srgbClr val="1C1C1C"/>
                </a:solidFill>
                <a:latin typeface="Trebuchet MS"/>
              </a:rPr>
              <a:t>Linux knobs with domains and</a:t>
            </a:r>
          </a:p>
          <a:p>
            <a:pPr algn="l" marL="614789" indent="0">
              <a:lnSpc>
                <a:spcPts val="63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400" b="0">
                <a:solidFill>
                  <a:srgbClr val="1C1C1C"/>
                </a:solidFill>
                <a:latin typeface="Trebuchet MS"/>
              </a:rPr>
              <a:t>constraints.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1051852" y="20838930"/>
            <a:ext cx="7031050" cy="15512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313"/>
              </a:lnSpc>
              <a:spcBef>
                <a:spcPts val="0"/>
              </a:spcBef>
              <a:spcAft>
                <a:spcPts val="0"/>
              </a:spcAft>
            </a:pPr>
            <a:r>
              <a:rPr sz="4620" b="1">
                <a:solidFill>
                  <a:srgbClr val="A2521C"/>
                </a:solidFill>
                <a:latin typeface="Trebuchet MS"/>
              </a:rPr>
              <a:t>Cost-Aware Dual-Loop</a:t>
            </a:r>
          </a:p>
          <a:p>
            <a:pPr algn="l">
              <a:lnSpc>
                <a:spcPts val="5313"/>
              </a:lnSpc>
              <a:spcBef>
                <a:spcPts val="0"/>
              </a:spcBef>
              <a:spcAft>
                <a:spcPts val="0"/>
              </a:spcAft>
            </a:pPr>
            <a:r>
              <a:rPr sz="4620" b="1">
                <a:solidFill>
                  <a:srgbClr val="A2521C"/>
                </a:solidFill>
                <a:latin typeface="Trebuchet MS"/>
              </a:rPr>
              <a:t>Control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8112605" y="21095295"/>
            <a:ext cx="1565776" cy="9616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294"/>
              </a:lnSpc>
              <a:spcBef>
                <a:spcPts val="0"/>
              </a:spcBef>
              <a:spcAft>
                <a:spcPts val="0"/>
              </a:spcAft>
            </a:pPr>
            <a:r>
              <a:rPr sz="2864" b="1" i="1">
                <a:solidFill>
                  <a:srgbClr val="555555"/>
                </a:solidFill>
                <a:latin typeface="Trebuchet MS"/>
              </a:rPr>
              <a:t>fast +</a:t>
            </a:r>
          </a:p>
          <a:p>
            <a:pPr algn="l">
              <a:lnSpc>
                <a:spcPts val="3294"/>
              </a:lnSpc>
              <a:spcBef>
                <a:spcPts val="0"/>
              </a:spcBef>
              <a:spcAft>
                <a:spcPts val="0"/>
              </a:spcAft>
            </a:pPr>
            <a:r>
              <a:rPr sz="2864" b="1" i="1">
                <a:solidFill>
                  <a:srgbClr val="555555"/>
                </a:solidFill>
                <a:latin typeface="Trebuchet MS"/>
              </a:rPr>
              <a:t>deep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1144643" y="22393043"/>
            <a:ext cx="8742776" cy="10932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161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111111"/>
                </a:solidFill>
                <a:latin typeface="Trebuchet MS"/>
              </a:rPr>
              <a:t>Observe</a:t>
            </a:r>
            <a:r>
              <a:rPr sz="4400" b="0">
                <a:solidFill>
                  <a:srgbClr val="1C1C1C"/>
                </a:solidFill>
                <a:latin typeface="Trebuchet MS"/>
              </a:rPr>
              <a:t> telemetry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113685" y="22944308"/>
            <a:ext cx="7942742" cy="37260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614789" indent="-614789">
              <a:lnSpc>
                <a:spcPts val="6381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400" b="0">
                <a:solidFill>
                  <a:srgbClr val="1C1C1C"/>
                </a:solidFill>
                <a:latin typeface="Trebuchet MS"/>
              </a:rPr>
              <a:t>Hidden app metrics force</a:t>
            </a:r>
          </a:p>
          <a:p>
            <a:pPr algn="l" marL="614789" indent="0">
              <a:lnSpc>
                <a:spcPts val="63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400" b="1">
                <a:solidFill>
                  <a:srgbClr val="111111"/>
                </a:solidFill>
                <a:highlight>
                  <a:srgbClr val="ECECEC"/>
                </a:highlight>
                <a:latin typeface="Trebuchet MS"/>
              </a:rPr>
              <a:t>misleading proxies</a:t>
            </a:r>
            <a:r>
              <a:rPr sz="4400" b="0">
                <a:solidFill>
                  <a:srgbClr val="1C1C1C"/>
                </a:solidFill>
                <a:latin typeface="Trebuchet MS"/>
              </a:rPr>
              <a:t> (IPC,</a:t>
            </a:r>
          </a:p>
          <a:p>
            <a:pPr algn="l" marL="614789" indent="0">
              <a:lnSpc>
                <a:spcPts val="63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400" b="0">
                <a:solidFill>
                  <a:srgbClr val="1C1C1C"/>
                </a:solidFill>
                <a:latin typeface="Trebuchet MS"/>
              </a:rPr>
              <a:t>cache misses) that don't</a:t>
            </a:r>
          </a:p>
          <a:p>
            <a:pPr algn="l" marL="614789" indent="0">
              <a:lnSpc>
                <a:spcPts val="63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400" b="0">
                <a:solidFill>
                  <a:srgbClr val="1C1C1C"/>
                </a:solidFill>
                <a:latin typeface="Trebuchet MS"/>
              </a:rPr>
              <a:t>track real performance.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0920991" y="23494981"/>
            <a:ext cx="9805060" cy="27945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614789" indent="-614789">
              <a:lnSpc>
                <a:spcPts val="6381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400" b="0">
                <a:solidFill>
                  <a:srgbClr val="1C1C1C"/>
                </a:solidFill>
                <a:latin typeface="Trebuchet MS"/>
              </a:rPr>
              <a:t>Keeps semantic reasoning </a:t>
            </a:r>
            <a:r>
              <a:rPr sz="4400" b="1">
                <a:solidFill>
                  <a:srgbClr val="111111"/>
                </a:solidFill>
                <a:highlight>
                  <a:srgbClr val="ECECEC"/>
                </a:highlight>
                <a:latin typeface="Trebuchet MS"/>
              </a:rPr>
              <a:t>paired</a:t>
            </a:r>
          </a:p>
          <a:p>
            <a:pPr algn="l" marL="614789" indent="0">
              <a:lnSpc>
                <a:spcPts val="63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400" b="1">
                <a:solidFill>
                  <a:srgbClr val="111111"/>
                </a:solidFill>
                <a:highlight>
                  <a:srgbClr val="ECECEC"/>
                </a:highlight>
                <a:latin typeface="Trebuchet MS"/>
              </a:rPr>
              <a:t>with safe execution</a:t>
            </a:r>
            <a:r>
              <a:rPr sz="4400" b="0">
                <a:solidFill>
                  <a:srgbClr val="1C1C1C"/>
                </a:solidFill>
                <a:latin typeface="Trebuchet MS"/>
              </a:rPr>
              <a:t> on live</a:t>
            </a:r>
          </a:p>
          <a:p>
            <a:pPr algn="l" marL="614789" indent="0">
              <a:lnSpc>
                <a:spcPts val="63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400" b="0">
                <a:solidFill>
                  <a:srgbClr val="1C1C1C"/>
                </a:solidFill>
                <a:latin typeface="Trebuchet MS"/>
              </a:rPr>
              <a:t>services.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1144643" y="23678737"/>
            <a:ext cx="8742776" cy="10932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161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111111"/>
                </a:solidFill>
                <a:latin typeface="Trebuchet MS"/>
              </a:rPr>
              <a:t>Instant</a:t>
            </a:r>
            <a:r>
              <a:rPr sz="4400" b="0">
                <a:solidFill>
                  <a:srgbClr val="1C1C1C"/>
                </a:solidFill>
                <a:latin typeface="Trebuchet MS"/>
              </a:rPr>
              <a:t> fast fix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1144643" y="24964429"/>
            <a:ext cx="8742776" cy="109321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161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111111"/>
                </a:solidFill>
                <a:latin typeface="Trebuchet MS"/>
              </a:rPr>
              <a:t>Reason</a:t>
            </a:r>
            <a:r>
              <a:rPr sz="4400" b="0">
                <a:solidFill>
                  <a:srgbClr val="1C1C1C"/>
                </a:solidFill>
                <a:latin typeface="Trebuchet MS"/>
              </a:rPr>
              <a:t> deeply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1144643" y="26250124"/>
            <a:ext cx="8742776" cy="10932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161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111111"/>
                </a:solidFill>
                <a:latin typeface="Trebuchet MS"/>
              </a:rPr>
              <a:t>Validate</a:t>
            </a:r>
            <a:r>
              <a:rPr sz="4400" b="0">
                <a:solidFill>
                  <a:srgbClr val="1C1C1C"/>
                </a:solidFill>
                <a:latin typeface="Trebuchet MS"/>
              </a:rPr>
              <a:t> &amp; </a:t>
            </a:r>
            <a:r>
              <a:rPr sz="4400" b="1">
                <a:solidFill>
                  <a:srgbClr val="111111"/>
                </a:solidFill>
                <a:latin typeface="Trebuchet MS"/>
              </a:rPr>
              <a:t>Actuate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31992330" y="15831701"/>
            <a:ext cx="4803073" cy="16645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1402"/>
              </a:lnSpc>
              <a:spcBef>
                <a:spcPts val="0"/>
              </a:spcBef>
              <a:spcAft>
                <a:spcPts val="0"/>
              </a:spcAft>
            </a:pPr>
            <a:r>
              <a:rPr sz="12002" b="1" spc="-240">
                <a:solidFill>
                  <a:srgbClr val="A2521C"/>
                </a:solidFill>
                <a:latin typeface="Trebuchet MS"/>
              </a:rPr>
              <a:t>+153%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31992330" y="17304424"/>
            <a:ext cx="4803073" cy="192702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4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C1C1C"/>
                </a:solidFill>
                <a:latin typeface="Trebuchet MS"/>
              </a:rPr>
              <a:t>avg. gain over</a:t>
            </a:r>
          </a:p>
          <a:p>
            <a:pPr algn="l">
              <a:lnSpc>
                <a:spcPts val="44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C1C1C"/>
                </a:solidFill>
                <a:latin typeface="Trebuchet MS"/>
              </a:rPr>
              <a:t>MLOS (13</a:t>
            </a:r>
          </a:p>
          <a:p>
            <a:pPr algn="l">
              <a:lnSpc>
                <a:spcPts val="44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C1C1C"/>
                </a:solidFill>
                <a:latin typeface="Trebuchet MS"/>
              </a:rPr>
              <a:t>workloads)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4539087" y="26767169"/>
            <a:ext cx="1463862" cy="10278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041"/>
              </a:lnSpc>
              <a:spcBef>
                <a:spcPts val="0"/>
              </a:spcBef>
              <a:spcAft>
                <a:spcPts val="0"/>
              </a:spcAft>
            </a:pPr>
            <a:r>
              <a:rPr sz="7041" b="1">
                <a:solidFill>
                  <a:srgbClr val="A2521C"/>
                </a:solidFill>
                <a:latin typeface="Trebuchet MS"/>
              </a:rPr>
              <a:t>2×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6686252" y="26767169"/>
            <a:ext cx="1972967" cy="10278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041"/>
              </a:lnSpc>
              <a:spcBef>
                <a:spcPts val="0"/>
              </a:spcBef>
              <a:spcAft>
                <a:spcPts val="0"/>
              </a:spcAft>
            </a:pPr>
            <a:r>
              <a:rPr sz="7041" b="1">
                <a:solidFill>
                  <a:srgbClr val="A2521C"/>
                </a:solidFill>
                <a:latin typeface="Trebuchet MS"/>
              </a:rPr>
              <a:t>50%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337310" y="27184822"/>
            <a:ext cx="2550113" cy="10278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041"/>
              </a:lnSpc>
              <a:spcBef>
                <a:spcPts val="0"/>
              </a:spcBef>
              <a:spcAft>
                <a:spcPts val="0"/>
              </a:spcAft>
            </a:pPr>
            <a:r>
              <a:rPr sz="7041" b="1">
                <a:solidFill>
                  <a:srgbClr val="A2521C"/>
                </a:solidFill>
                <a:latin typeface="Trebuchet MS"/>
              </a:rPr>
              <a:t>&gt;47×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4539087" y="27733560"/>
            <a:ext cx="1463862" cy="14409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3289"/>
              </a:lnSpc>
              <a:spcBef>
                <a:spcPts val="0"/>
              </a:spcBef>
              <a:spcAft>
                <a:spcPts val="0"/>
              </a:spcAft>
            </a:pPr>
            <a:r>
              <a:rPr sz="2860" b="0">
                <a:solidFill>
                  <a:srgbClr val="555555"/>
                </a:solidFill>
                <a:latin typeface="Trebuchet MS"/>
              </a:rPr>
              <a:t>worse</a:t>
            </a:r>
          </a:p>
          <a:p>
            <a:pPr algn="ctr">
              <a:lnSpc>
                <a:spcPts val="3289"/>
              </a:lnSpc>
              <a:spcBef>
                <a:spcPts val="0"/>
              </a:spcBef>
              <a:spcAft>
                <a:spcPts val="0"/>
              </a:spcAft>
            </a:pPr>
            <a:r>
              <a:rPr sz="2860" b="0">
                <a:solidFill>
                  <a:srgbClr val="555555"/>
                </a:solidFill>
                <a:latin typeface="Trebuchet MS"/>
              </a:rPr>
              <a:t>p99 on</a:t>
            </a:r>
          </a:p>
          <a:p>
            <a:pPr algn="ctr">
              <a:lnSpc>
                <a:spcPts val="3289"/>
              </a:lnSpc>
              <a:spcBef>
                <a:spcPts val="0"/>
              </a:spcBef>
              <a:spcAft>
                <a:spcPts val="0"/>
              </a:spcAft>
            </a:pPr>
            <a:r>
              <a:rPr sz="2860" b="0">
                <a:solidFill>
                  <a:srgbClr val="555555"/>
                </a:solidFill>
                <a:latin typeface="Trebuchet MS"/>
              </a:rPr>
              <a:t>proxies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6686252" y="27733560"/>
            <a:ext cx="1972967" cy="14409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3289"/>
              </a:lnSpc>
              <a:spcBef>
                <a:spcPts val="0"/>
              </a:spcBef>
              <a:spcAft>
                <a:spcPts val="0"/>
              </a:spcAft>
            </a:pPr>
            <a:r>
              <a:rPr sz="2860" b="0">
                <a:solidFill>
                  <a:srgbClr val="555555"/>
                </a:solidFill>
                <a:latin typeface="Trebuchet MS"/>
              </a:rPr>
              <a:t>p99 loss,</a:t>
            </a:r>
          </a:p>
          <a:p>
            <a:pPr algn="ctr">
              <a:lnSpc>
                <a:spcPts val="3289"/>
              </a:lnSpc>
              <a:spcBef>
                <a:spcPts val="0"/>
              </a:spcBef>
              <a:spcAft>
                <a:spcPts val="0"/>
              </a:spcAft>
            </a:pPr>
            <a:r>
              <a:rPr sz="2860" b="0">
                <a:solidFill>
                  <a:srgbClr val="555555"/>
                </a:solidFill>
                <a:latin typeface="Trebuchet MS"/>
              </a:rPr>
              <a:t>1→32</a:t>
            </a:r>
          </a:p>
          <a:p>
            <a:pPr algn="ctr">
              <a:lnSpc>
                <a:spcPts val="3289"/>
              </a:lnSpc>
              <a:spcBef>
                <a:spcPts val="0"/>
              </a:spcBef>
              <a:spcAft>
                <a:spcPts val="0"/>
              </a:spcAft>
            </a:pPr>
            <a:r>
              <a:rPr sz="2860" b="0">
                <a:solidFill>
                  <a:srgbClr val="555555"/>
                </a:solidFill>
                <a:latin typeface="Trebuchet MS"/>
              </a:rPr>
              <a:t>knobs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337310" y="28151213"/>
            <a:ext cx="2550113" cy="9606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3289"/>
              </a:lnSpc>
              <a:spcBef>
                <a:spcPts val="0"/>
              </a:spcBef>
              <a:spcAft>
                <a:spcPts val="0"/>
              </a:spcAft>
            </a:pPr>
            <a:r>
              <a:rPr sz="2860" b="0">
                <a:solidFill>
                  <a:srgbClr val="555555"/>
                </a:solidFill>
                <a:latin typeface="Trebuchet MS"/>
              </a:rPr>
              <a:t>tail-latency</a:t>
            </a:r>
          </a:p>
          <a:p>
            <a:pPr algn="ctr">
              <a:lnSpc>
                <a:spcPts val="3289"/>
              </a:lnSpc>
              <a:spcBef>
                <a:spcPts val="0"/>
              </a:spcBef>
              <a:spcAft>
                <a:spcPts val="0"/>
              </a:spcAft>
            </a:pPr>
            <a:r>
              <a:rPr sz="2860" b="0">
                <a:solidFill>
                  <a:srgbClr val="555555"/>
                </a:solidFill>
                <a:latin typeface="Trebuchet MS"/>
              </a:rPr>
              <a:t>spike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31728976" y="8475375"/>
            <a:ext cx="4776098" cy="786585"/>
          </a:xfrm>
          <a:prstGeom prst="rect">
            <a:avLst/>
          </a:prstGeom>
          <a:noFill/>
        </p:spPr>
        <p:txBody>
          <a:bodyPr wrap="none" lIns="76213" rIns="76213" tIns="57160" bIns="57160">
            <a:spAutoFit/>
          </a:bodyPr>
          <a:lstStyle/>
          <a:p>
            <a:pPr algn="l">
              <a:lnSpc>
                <a:spcPts val="4450"/>
              </a:lnSpc>
              <a:spcBef>
                <a:spcPts val="0"/>
              </a:spcBef>
              <a:spcAft>
                <a:spcPts val="0"/>
              </a:spcAft>
            </a:pPr>
            <a:r>
              <a:rPr sz="3069" b="1" spc="153">
                <a:solidFill>
                  <a:srgbClr val="A2521C"/>
                </a:solidFill>
                <a:latin typeface="Trebuchet MS"/>
              </a:rPr>
              <a:t>METHOD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36365965" y="8475375"/>
            <a:ext cx="2424292" cy="786585"/>
          </a:xfrm>
          <a:prstGeom prst="rect">
            <a:avLst/>
          </a:prstGeom>
          <a:noFill/>
        </p:spPr>
        <p:txBody>
          <a:bodyPr wrap="none" lIns="76213" rIns="76213" tIns="57160" bIns="57160">
            <a:spAutoFit/>
          </a:bodyPr>
          <a:lstStyle/>
          <a:p>
            <a:pPr algn="ctr">
              <a:lnSpc>
                <a:spcPts val="4450"/>
              </a:lnSpc>
              <a:spcBef>
                <a:spcPts val="0"/>
              </a:spcBef>
              <a:spcAft>
                <a:spcPts val="0"/>
              </a:spcAft>
            </a:pPr>
            <a:r>
              <a:rPr sz="3069" b="1" spc="153">
                <a:solidFill>
                  <a:srgbClr val="A2521C"/>
                </a:solidFill>
                <a:latin typeface="Trebuchet MS"/>
              </a:rPr>
              <a:t>PERF.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8719647" y="8475375"/>
            <a:ext cx="3049104" cy="786585"/>
          </a:xfrm>
          <a:prstGeom prst="rect">
            <a:avLst/>
          </a:prstGeom>
          <a:noFill/>
        </p:spPr>
        <p:txBody>
          <a:bodyPr wrap="square" lIns="76213" rIns="76213" tIns="57160" bIns="57160">
            <a:spAutoFit/>
          </a:bodyPr>
          <a:lstStyle/>
          <a:p>
            <a:pPr algn="ctr">
              <a:lnSpc>
                <a:spcPts val="4450"/>
              </a:lnSpc>
              <a:spcBef>
                <a:spcPts val="0"/>
              </a:spcBef>
              <a:spcAft>
                <a:spcPts val="0"/>
              </a:spcAft>
            </a:pPr>
            <a:r>
              <a:rPr sz="3069" b="1" spc="153">
                <a:solidFill>
                  <a:srgbClr val="A2521C"/>
                </a:solidFill>
                <a:latin typeface="Trebuchet MS"/>
              </a:rPr>
              <a:t>METRICS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31728976" y="9159362"/>
            <a:ext cx="4776098" cy="1875007"/>
          </a:xfrm>
          <a:prstGeom prst="rect">
            <a:avLst/>
          </a:prstGeom>
          <a:noFill/>
        </p:spPr>
        <p:txBody>
          <a:bodyPr wrap="none" lIns="76213" rIns="76213" tIns="57160" bIns="57160">
            <a:spAutoFit/>
          </a:bodyPr>
          <a:lstStyle/>
          <a:p>
            <a:pPr algn="l">
              <a:lnSpc>
                <a:spcPts val="5934"/>
              </a:lnSpc>
              <a:spcBef>
                <a:spcPts val="0"/>
              </a:spcBef>
              <a:spcAft>
                <a:spcPts val="0"/>
              </a:spcAft>
            </a:pPr>
            <a:r>
              <a:rPr sz="4092" b="1">
                <a:solidFill>
                  <a:srgbClr val="1C1C1C"/>
                </a:solidFill>
                <a:latin typeface="Trebuchet MS"/>
              </a:rPr>
              <a:t>MLOS (best</a:t>
            </a:r>
          </a:p>
          <a:p>
            <a:pPr algn="l">
              <a:lnSpc>
                <a:spcPts val="5934"/>
              </a:lnSpc>
              <a:spcBef>
                <a:spcPts val="0"/>
              </a:spcBef>
              <a:spcAft>
                <a:spcPts val="0"/>
              </a:spcAft>
            </a:pPr>
            <a:r>
              <a:rPr sz="4092" b="1">
                <a:solidFill>
                  <a:srgbClr val="1C1C1C"/>
                </a:solidFill>
                <a:latin typeface="Trebuchet MS"/>
              </a:rPr>
              <a:t>baseline)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36365965" y="9159362"/>
            <a:ext cx="2424292" cy="1875007"/>
          </a:xfrm>
          <a:prstGeom prst="rect">
            <a:avLst/>
          </a:prstGeom>
          <a:noFill/>
        </p:spPr>
        <p:txBody>
          <a:bodyPr wrap="square" lIns="76213" rIns="76213" tIns="57160" bIns="57160">
            <a:spAutoFit/>
          </a:bodyPr>
          <a:lstStyle/>
          <a:p>
            <a:pPr algn="ctr">
              <a:lnSpc>
                <a:spcPts val="5934"/>
              </a:lnSpc>
              <a:spcBef>
                <a:spcPts val="0"/>
              </a:spcBef>
              <a:spcAft>
                <a:spcPts val="0"/>
              </a:spcAft>
            </a:pPr>
            <a:r>
              <a:rPr sz="4092" b="0">
                <a:solidFill>
                  <a:srgbClr val="1C1C1C"/>
                </a:solidFill>
                <a:latin typeface="Trebuchet MS"/>
              </a:rPr>
              <a:t>baseline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38719647" y="9159362"/>
            <a:ext cx="3049104" cy="1875007"/>
          </a:xfrm>
          <a:prstGeom prst="rect">
            <a:avLst/>
          </a:prstGeom>
          <a:noFill/>
        </p:spPr>
        <p:txBody>
          <a:bodyPr wrap="square" lIns="76213" rIns="76213" tIns="57160" bIns="57160">
            <a:spAutoFit/>
          </a:bodyPr>
          <a:lstStyle/>
          <a:p>
            <a:pPr algn="ctr">
              <a:lnSpc>
                <a:spcPts val="5934"/>
              </a:lnSpc>
              <a:spcBef>
                <a:spcPts val="0"/>
              </a:spcBef>
              <a:spcAft>
                <a:spcPts val="0"/>
              </a:spcAft>
            </a:pPr>
            <a:r>
              <a:rPr sz="4092" b="0">
                <a:solidFill>
                  <a:srgbClr val="1C1C1C"/>
                </a:solidFill>
                <a:latin typeface="Trebuchet MS"/>
              </a:rPr>
              <a:t>app-level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31728976" y="10789803"/>
            <a:ext cx="4776098" cy="1875007"/>
          </a:xfrm>
          <a:prstGeom prst="rect">
            <a:avLst/>
          </a:prstGeom>
          <a:noFill/>
        </p:spPr>
        <p:txBody>
          <a:bodyPr wrap="none" lIns="76213" rIns="76213" tIns="57160" bIns="57160">
            <a:spAutoFit/>
          </a:bodyPr>
          <a:lstStyle/>
          <a:p>
            <a:pPr algn="l">
              <a:lnSpc>
                <a:spcPts val="5934"/>
              </a:lnSpc>
              <a:spcBef>
                <a:spcPts val="0"/>
              </a:spcBef>
              <a:spcAft>
                <a:spcPts val="0"/>
              </a:spcAft>
            </a:pPr>
            <a:r>
              <a:rPr sz="4092" b="1">
                <a:solidFill>
                  <a:srgbClr val="A2521C"/>
                </a:solidFill>
                <a:latin typeface="Trebuchet MS"/>
              </a:rPr>
              <a:t>TuxBot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36365965" y="10789803"/>
            <a:ext cx="2424292" cy="1875007"/>
          </a:xfrm>
          <a:prstGeom prst="rect">
            <a:avLst/>
          </a:prstGeom>
          <a:noFill/>
        </p:spPr>
        <p:txBody>
          <a:bodyPr wrap="square" lIns="76213" rIns="76213" tIns="57160" bIns="57160">
            <a:spAutoFit/>
          </a:bodyPr>
          <a:lstStyle/>
          <a:p>
            <a:pPr algn="ctr">
              <a:lnSpc>
                <a:spcPts val="5934"/>
              </a:lnSpc>
              <a:spcBef>
                <a:spcPts val="0"/>
              </a:spcBef>
              <a:spcAft>
                <a:spcPts val="0"/>
              </a:spcAft>
            </a:pPr>
            <a:r>
              <a:rPr sz="4092" b="1">
                <a:solidFill>
                  <a:srgbClr val="A2521C"/>
                </a:solidFill>
                <a:latin typeface="Trebuchet MS"/>
              </a:rPr>
              <a:t>+153.3%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38719647" y="10789803"/>
            <a:ext cx="3049104" cy="1875007"/>
          </a:xfrm>
          <a:prstGeom prst="rect">
            <a:avLst/>
          </a:prstGeom>
          <a:noFill/>
        </p:spPr>
        <p:txBody>
          <a:bodyPr wrap="none" lIns="76213" rIns="76213" tIns="57160" bIns="57160">
            <a:spAutoFit/>
          </a:bodyPr>
          <a:lstStyle/>
          <a:p>
            <a:pPr algn="ctr">
              <a:lnSpc>
                <a:spcPts val="5934"/>
              </a:lnSpc>
              <a:spcBef>
                <a:spcPts val="0"/>
              </a:spcBef>
              <a:spcAft>
                <a:spcPts val="0"/>
              </a:spcAft>
            </a:pPr>
            <a:r>
              <a:rPr sz="4092" b="1">
                <a:solidFill>
                  <a:srgbClr val="A2521C"/>
                </a:solidFill>
                <a:latin typeface="Trebuchet MS"/>
              </a:rPr>
              <a:t>system-</a:t>
            </a:r>
          </a:p>
          <a:p>
            <a:pPr algn="ctr">
              <a:lnSpc>
                <a:spcPts val="5934"/>
              </a:lnSpc>
              <a:spcBef>
                <a:spcPts val="0"/>
              </a:spcBef>
              <a:spcAft>
                <a:spcPts val="0"/>
              </a:spcAft>
            </a:pPr>
            <a:r>
              <a:rPr sz="4092" b="1">
                <a:solidFill>
                  <a:srgbClr val="A2521C"/>
                </a:solidFill>
                <a:latin typeface="Trebuchet MS"/>
              </a:rPr>
              <a:t>only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37782282" y="15298288"/>
            <a:ext cx="1934039" cy="6716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6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spc="-46">
                <a:solidFill>
                  <a:srgbClr val="AE2622"/>
                </a:solidFill>
                <a:latin typeface="Trebuchet MS"/>
              </a:rPr>
              <a:t>~</a:t>
            </a:r>
            <a:r>
              <a:rPr sz="4600" b="1" spc="-46">
                <a:solidFill>
                  <a:srgbClr val="AE2622"/>
                </a:solidFill>
                <a:latin typeface="Trebuchet MS"/>
              </a:rPr>
              <a:t>$0.20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39855501" y="15450650"/>
            <a:ext cx="1607917" cy="10512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555555"/>
                </a:solidFill>
                <a:latin typeface="Trebuchet MS"/>
              </a:rPr>
              <a:t>LLM cost</a:t>
            </a:r>
          </a:p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555555"/>
                </a:solidFill>
                <a:latin typeface="Trebuchet MS"/>
              </a:rPr>
              <a:t>/ session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7782282" y="16644094"/>
            <a:ext cx="1585086" cy="6716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6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spc="-46">
                <a:solidFill>
                  <a:srgbClr val="AE2622"/>
                </a:solidFill>
                <a:latin typeface="Trebuchet MS"/>
              </a:rPr>
              <a:t>+93.7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39516708" y="16796455"/>
            <a:ext cx="1956874" cy="1576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555555"/>
                </a:solidFill>
                <a:latin typeface="Trebuchet MS"/>
              </a:rPr>
              <a:t>pts,</a:t>
            </a:r>
          </a:p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555555"/>
                </a:solidFill>
                <a:latin typeface="Trebuchet MS"/>
              </a:rPr>
              <a:t>system-</a:t>
            </a:r>
          </a:p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555555"/>
                </a:solidFill>
                <a:latin typeface="Trebuchet MS"/>
              </a:rPr>
              <a:t>only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37782282" y="18446983"/>
            <a:ext cx="697755" cy="671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6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spc="-46">
                <a:solidFill>
                  <a:srgbClr val="AE2622"/>
                </a:solidFill>
                <a:latin typeface="Trebuchet MS"/>
              </a:rPr>
              <a:t>41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38655224" y="18599344"/>
            <a:ext cx="2844202" cy="10512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555555"/>
                </a:solidFill>
                <a:latin typeface="Trebuchet MS"/>
              </a:rPr>
              <a:t>Linux knobs</a:t>
            </a:r>
          </a:p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555555"/>
                </a:solidFill>
                <a:latin typeface="Trebuchet MS"/>
              </a:rPr>
              <a:t>co-tuned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