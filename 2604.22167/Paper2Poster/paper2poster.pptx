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4526638"/>
          </a:xfrm>
          <a:prstGeom prst="roundRect">
            <a:avLst>
              <a:gd name="adj" fmla="val 2963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44614" y="1742777"/>
            <a:ext cx="10073272" cy="22788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98833" y="1742777"/>
            <a:ext cx="19053" cy="2278867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959" y="5637206"/>
            <a:ext cx="8966435" cy="976136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87568" y="5637206"/>
            <a:ext cx="11208231" cy="907336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5637206"/>
            <a:ext cx="11208228" cy="438796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08377" y="5637206"/>
            <a:ext cx="8966437" cy="1097966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597974" y="10337928"/>
            <a:ext cx="11208228" cy="1930579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87568" y="15023325"/>
            <a:ext cx="11208231" cy="691918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959" y="15711329"/>
            <a:ext cx="8966435" cy="1393239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16929622"/>
            <a:ext cx="8966437" cy="775716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87568" y="22255262"/>
            <a:ext cx="11208231" cy="738846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08377" y="24999545"/>
            <a:ext cx="8966437" cy="4644182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4999545"/>
            <a:ext cx="8966437" cy="381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36708" y="24999545"/>
            <a:ext cx="38106" cy="464418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08377" y="24999545"/>
            <a:ext cx="57160" cy="464418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3453" y="7438309"/>
            <a:ext cx="10417270" cy="2192420"/>
          </a:xfrm>
          <a:prstGeom prst="roundRect">
            <a:avLst>
              <a:gd name="adj" fmla="val 8973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03858" y="11247928"/>
            <a:ext cx="8175473" cy="1830414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439" y="12344212"/>
            <a:ext cx="8175476" cy="26740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439" y="12344212"/>
            <a:ext cx="114320" cy="267405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03858" y="13410143"/>
            <a:ext cx="8175473" cy="27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03858" y="13410143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83048" y="16919207"/>
            <a:ext cx="10417270" cy="2121299"/>
          </a:xfrm>
          <a:prstGeom prst="roundRect">
            <a:avLst>
              <a:gd name="adj" fmla="val 10016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603858" y="18364107"/>
            <a:ext cx="8175473" cy="6037004"/>
          </a:xfrm>
          <a:prstGeom prst="roundRect">
            <a:avLst>
              <a:gd name="adj" fmla="val 1262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439" y="25238650"/>
            <a:ext cx="8175476" cy="4031762"/>
          </a:xfrm>
          <a:prstGeom prst="roundRect">
            <a:avLst>
              <a:gd name="adj" fmla="val 4269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439" y="25238650"/>
            <a:ext cx="114320" cy="4031762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622902" y="26457836"/>
            <a:ext cx="8156429" cy="2851114"/>
          </a:xfrm>
          <a:prstGeom prst="roundRect">
            <a:avLst>
              <a:gd name="adj" fmla="val 69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ew-york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4488" y="1012526"/>
            <a:ext cx="2705119" cy="476106"/>
          </a:xfrm>
          <a:prstGeom prst="rect">
            <a:avLst/>
          </a:prstGeom>
        </p:spPr>
      </p:pic>
      <p:pic>
        <p:nvPicPr>
          <p:cNvPr id="31" name="Picture 30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1569" y="1666315"/>
            <a:ext cx="1410958" cy="47609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7504940" y="2343442"/>
            <a:ext cx="1899285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5543" y="2444045"/>
            <a:ext cx="1698080" cy="169809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9650021" y="2343442"/>
            <a:ext cx="1899283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0623" y="2444045"/>
            <a:ext cx="1698079" cy="169809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21993453" y="6316432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184727" y="7317491"/>
            <a:ext cx="6813765" cy="6560597"/>
          </a:xfrm>
          <a:prstGeom prst="roundRect">
            <a:avLst>
              <a:gd name="adj" fmla="val 580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ge1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4739" y="7317491"/>
            <a:ext cx="6813740" cy="6560597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21993453" y="10733412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83048" y="15702552"/>
            <a:ext cx="619407" cy="619411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54253" y="18574644"/>
            <a:ext cx="3392227" cy="5660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54253" y="18574644"/>
            <a:ext cx="12385" cy="5660567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3048" y="22687497"/>
            <a:ext cx="619407" cy="619414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72707" y="25386102"/>
            <a:ext cx="2162788" cy="601856"/>
          </a:xfrm>
          <a:prstGeom prst="roundRect">
            <a:avLst>
              <a:gd name="adj" fmla="val 14301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1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03858" y="9461852"/>
            <a:ext cx="8175473" cy="144951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993453" y="21712477"/>
            <a:ext cx="10417270" cy="891995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83048" y="23589165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83048" y="25400832"/>
            <a:ext cx="663892" cy="663898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603858" y="8058912"/>
            <a:ext cx="6129187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603858" y="8665673"/>
            <a:ext cx="612918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733045" y="8058912"/>
            <a:ext cx="2046286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733045" y="8665673"/>
            <a:ext cx="2046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603858" y="8675200"/>
            <a:ext cx="6129187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603858" y="9452325"/>
            <a:ext cx="612918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733045" y="8675200"/>
            <a:ext cx="2046286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733045" y="9452325"/>
            <a:ext cx="2046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603858" y="9461852"/>
            <a:ext cx="6129187" cy="144951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603858" y="10901838"/>
            <a:ext cx="612918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733045" y="9461852"/>
            <a:ext cx="2046286" cy="144951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733045" y="10901838"/>
            <a:ext cx="2046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93453" y="20154049"/>
            <a:ext cx="3739795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993453" y="20810954"/>
            <a:ext cx="373979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733248" y="20154049"/>
            <a:ext cx="2472120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733248" y="20810954"/>
            <a:ext cx="2472120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205368" y="20154049"/>
            <a:ext cx="4205355" cy="666432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205368" y="20810954"/>
            <a:ext cx="420535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93453" y="20820481"/>
            <a:ext cx="3739795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993453" y="21702950"/>
            <a:ext cx="373979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733248" y="20820481"/>
            <a:ext cx="2472120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733248" y="21702950"/>
            <a:ext cx="2472120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205368" y="20820481"/>
            <a:ext cx="4205355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205368" y="21702950"/>
            <a:ext cx="420535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993453" y="21712477"/>
            <a:ext cx="3739795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1993453" y="22594945"/>
            <a:ext cx="373979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733248" y="21712477"/>
            <a:ext cx="2472120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733248" y="22594945"/>
            <a:ext cx="2472120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205368" y="21712477"/>
            <a:ext cx="4205355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8205368" y="22594945"/>
            <a:ext cx="420535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54119" y="976359"/>
            <a:ext cx="25571870" cy="2648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33"/>
              </a:lnSpc>
              <a:spcBef>
                <a:spcPts val="0"/>
              </a:spcBef>
              <a:spcAft>
                <a:spcPts val="0"/>
              </a:spcAft>
            </a:pPr>
            <a:r>
              <a:rPr sz="7708" b="1" spc="-80">
                <a:solidFill>
                  <a:srgbClr val="7D2860"/>
                </a:solidFill>
                <a:latin typeface="Arial"/>
              </a:rPr>
              <a:t>Estimating Tail Risks in Language Model Output</a:t>
            </a:r>
          </a:p>
          <a:p>
            <a:pPr algn="ctr">
              <a:lnSpc>
                <a:spcPts val="8633"/>
              </a:lnSpc>
              <a:spcBef>
                <a:spcPts val="0"/>
              </a:spcBef>
              <a:spcAft>
                <a:spcPts val="0"/>
              </a:spcAft>
            </a:pPr>
            <a:r>
              <a:rPr sz="7708" b="1" spc="-80">
                <a:solidFill>
                  <a:srgbClr val="7D2860"/>
                </a:solidFill>
                <a:latin typeface="Arial"/>
              </a:rPr>
              <a:t>Distributions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54119" y="3535994"/>
            <a:ext cx="25571870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Rico Angell, Raghav Singhal, Zachary Horvitz, Zhou Yu, Rajesh Ranganath, Kathleen McKeown, He He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854119" y="4302262"/>
            <a:ext cx="25571870" cy="55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CDS, NYU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CS, NYU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21785" y="1742777"/>
            <a:ext cx="2434408" cy="11306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45"/>
              </a:lnSpc>
              <a:spcBef>
                <a:spcPts val="0"/>
              </a:spcBef>
              <a:spcAft>
                <a:spcPts val="0"/>
              </a:spcAft>
            </a:pPr>
            <a:r>
              <a:rPr sz="7745" b="1" spc="-77">
                <a:solidFill>
                  <a:srgbClr val="7D2860"/>
                </a:solidFill>
                <a:latin typeface="Arial"/>
              </a:rPr>
              <a:t>ICML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78105" y="2799632"/>
            <a:ext cx="1288388" cy="8196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 spc="309">
                <a:solidFill>
                  <a:srgbClr val="1B2331"/>
                </a:solidFill>
                <a:latin typeface="Arial"/>
              </a:rPr>
              <a:t>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4614" y="3633005"/>
            <a:ext cx="9803533" cy="446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380">
                <a:solidFill>
                  <a:srgbClr val="1B2331"/>
                </a:solidFill>
                <a:latin typeface="Arial"/>
              </a:rPr>
              <a:t>INTERNATIONAL CONFERENCE ON MACHINE LEARNING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439" y="6032690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83048" y="6032690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03858" y="6032690"/>
            <a:ext cx="8420737" cy="1696026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4439" y="7090586"/>
            <a:ext cx="8420740" cy="5737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Safety evaluations probe the INPUT distribution (jailbreak search) and sample only one or a few OUTPUTs per query — but LMs are queried billions of times daily, and a small harm probability ε produces ∼nε incidents per day.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993453" y="7438309"/>
            <a:ext cx="10729788" cy="2521283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φ = (λ, t, α) tuned on a 10% query subset to minimize estimator variance. One global proposal transfers to all queries.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03858" y="11247928"/>
            <a:ext cx="8420737" cy="2104976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10–20× fewer samples · 5 models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439" y="12344212"/>
            <a:ext cx="8420740" cy="3075162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Safety today probes the INPUT distribution and samples one output per query — the harmful OUTPUT tail is invisible.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03858" y="13410143"/>
            <a:ext cx="8420737" cy="3157807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IS matches MC at k=10,000 with k=1,000; same pipeline estimates sycophancy &amp; hallucination on safe queries.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439" y="16106814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83048" y="16919207"/>
            <a:ext cx="10729788" cy="2439493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6064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603858" y="17325105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622902" y="25395029"/>
            <a:ext cx="8401121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622902" y="26457836"/>
            <a:ext cx="8401121" cy="3278781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Safety must account for tail risk over </a:t>
            </a:r>
            <a:r>
              <a:rPr sz="3872" b="1" i="1">
                <a:solidFill>
                  <a:srgbClr val="FFFFFF"/>
                </a:solidFill>
                <a:latin typeface="Arial"/>
              </a:rPr>
              <a:t>outputs</a:t>
            </a:r>
            <a:r>
              <a:rPr sz="3872" b="1">
                <a:solidFill>
                  <a:srgbClr val="FFFFFF"/>
                </a:solidFill>
                <a:latin typeface="Arial"/>
              </a:rPr>
              <a:t>, not just inputs — IS makes this feasible at deployment scale.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83048" y="27061179"/>
            <a:ext cx="10729788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Same base model + a refusal-direction vector in the residual stream shifts mass into the harmful region while staying close to the target.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055011" y="4403439"/>
            <a:ext cx="822963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242942" y="4403439"/>
            <a:ext cx="734691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19228" y="6032690"/>
            <a:ext cx="6846535" cy="1365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Automated proposal</a:t>
            </a:r>
          </a:p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optimization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672719" y="6258255"/>
            <a:ext cx="2820144" cy="846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cross-entropy method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819228" y="10746357"/>
            <a:ext cx="6204255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Deployment risk via EVT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134857" y="10859140"/>
            <a:ext cx="2344141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tail forecasting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903524" y="14019141"/>
            <a:ext cx="5537456" cy="6024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QRISK: steered IS for tail risk.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93453" y="15106350"/>
            <a:ext cx="2534635" cy="1696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500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08824" y="15418808"/>
            <a:ext cx="6630755" cy="136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Query risk as an</a:t>
            </a:r>
          </a:p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expectation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852820" y="15644374"/>
            <a:ext cx="3035922" cy="8463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importance sampling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650812" y="15796885"/>
            <a:ext cx="5067741" cy="830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IS samples → 10</a:t>
            </a:r>
            <a:r>
              <a:rPr sz="4879" b="0" baseline="30000">
                <a:solidFill>
                  <a:srgbClr val="555555"/>
                </a:solidFill>
                <a:latin typeface="Arial"/>
              </a:rPr>
              <a:t>−4</a:t>
            </a:r>
            <a:r>
              <a:rPr sz="3485" b="0">
                <a:solidFill>
                  <a:srgbClr val="555555"/>
                </a:solidFill>
                <a:latin typeface="Arial"/>
              </a:rPr>
              <a:t> harm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4121" y="18125596"/>
            <a:ext cx="8421067" cy="4098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Repeated sampling surfaces rare harms:</a:t>
            </a:r>
            <a:r>
              <a:rPr sz="3872" b="0">
                <a:solidFill>
                  <a:srgbClr val="1C1C1C"/>
                </a:solidFill>
                <a:latin typeface="Arial"/>
              </a:rPr>
              <a:t> on 313 vanilla StrongREJECT queries, Llama-3.1-8B goes from 1.6% (greedy) to 74.0% after 10,000 samples.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82731" y="19173226"/>
            <a:ext cx="10730114" cy="8196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h(x;c)=1</a:t>
            </a:r>
            <a:r>
              <a:rPr sz="3872" b="0">
                <a:solidFill>
                  <a:srgbClr val="1C1C1C"/>
                </a:solidFill>
                <a:latin typeface="Arial"/>
              </a:rPr>
              <a:t> — judge labels x as harmful for c.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82731" y="20057933"/>
            <a:ext cx="10730114" cy="172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Reweight</a:t>
            </a:r>
            <a:r>
              <a:rPr sz="3872" b="0">
                <a:solidFill>
                  <a:srgbClr val="1C1C1C"/>
                </a:solidFill>
                <a:latin typeface="Arial"/>
              </a:rPr>
              <a:t> by p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target</a:t>
            </a:r>
            <a:r>
              <a:rPr sz="3872" b="0">
                <a:solidFill>
                  <a:srgbClr val="1C1C1C"/>
                </a:solidFill>
                <a:latin typeface="Arial"/>
              </a:rPr>
              <a:t>/q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φ</a:t>
            </a:r>
            <a:r>
              <a:rPr sz="3872" b="0">
                <a:solidFill>
                  <a:srgbClr val="1C1C1C"/>
                </a:solidFill>
                <a:latin typeface="Arial"/>
              </a:rPr>
              <a:t> — unbiased, low-variance.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4121" y="21861116"/>
            <a:ext cx="8421067" cy="2559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Brute-force MC is infeasible:</a:t>
            </a:r>
            <a:r>
              <a:rPr sz="3872" b="0">
                <a:solidFill>
                  <a:srgbClr val="1C1C1C"/>
                </a:solidFill>
                <a:latin typeface="Arial"/>
              </a:rPr>
              <a:t> estimating 10</a:t>
            </a:r>
            <a:r>
              <a:rPr sz="5421" b="0" baseline="30000">
                <a:solidFill>
                  <a:srgbClr val="1C1C1C"/>
                </a:solidFill>
                <a:latin typeface="Arial"/>
              </a:rPr>
              <a:t>−4</a:t>
            </a:r>
            <a:r>
              <a:rPr sz="3872" b="0">
                <a:solidFill>
                  <a:srgbClr val="1C1C1C"/>
                </a:solidFill>
                <a:latin typeface="Arial"/>
              </a:rPr>
              <a:t> harm needs thousands of samples per query.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208824" y="22650745"/>
            <a:ext cx="5132103" cy="7968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Steered proposal q</a:t>
            </a:r>
            <a:r>
              <a:rPr sz="5692" b="1" baseline="-25000">
                <a:solidFill>
                  <a:srgbClr val="7D2860"/>
                </a:solidFill>
                <a:latin typeface="Arial"/>
              </a:rPr>
              <a:t> </a:t>
            </a:r>
            <a:r>
              <a:rPr sz="5692" b="1" baseline="-25000">
                <a:solidFill>
                  <a:srgbClr val="7D2860"/>
                </a:solidFill>
                <a:latin typeface="Arial"/>
              </a:rPr>
              <a:t>φ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632323" y="22813224"/>
            <a:ext cx="2233034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how to build it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90397" y="23589165"/>
            <a:ext cx="9795218" cy="1744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Steer</a:t>
            </a:r>
            <a:r>
              <a:rPr sz="3872" b="0">
                <a:solidFill>
                  <a:srgbClr val="1C1C1C"/>
                </a:solidFill>
                <a:latin typeface="Arial"/>
              </a:rPr>
              <a:t> — add refusal direction to residual stream, scaled by λ.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90397" y="25400832"/>
            <a:ext cx="9795218" cy="18347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Refine</a:t>
            </a:r>
            <a:r>
              <a:rPr sz="3872" b="0">
                <a:solidFill>
                  <a:srgbClr val="1C1C1C"/>
                </a:solidFill>
                <a:latin typeface="Arial"/>
              </a:rPr>
              <a:t> — mixture α + switch t keep KL(p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target</a:t>
            </a:r>
            <a:r>
              <a:rPr sz="3872" b="0">
                <a:solidFill>
                  <a:srgbClr val="1C1C1C"/>
                </a:solidFill>
                <a:latin typeface="Arial"/>
              </a:rPr>
              <a:t>‖q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φ</a:t>
            </a:r>
            <a:r>
              <a:rPr sz="3872" b="0">
                <a:solidFill>
                  <a:srgbClr val="1C1C1C"/>
                </a:solidFill>
                <a:latin typeface="Arial"/>
              </a:rPr>
              <a:t>)&lt;∞.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993136" y="26059227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EVT extrapolation</a:t>
            </a:r>
            <a:r>
              <a:rPr sz="3872" b="0">
                <a:solidFill>
                  <a:srgbClr val="1C1C1C"/>
                </a:solidFill>
                <a:latin typeface="Arial"/>
              </a:rPr>
              <a:t> of query-level estimates predicts worst-case risk on unseen queries.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72707" y="26184509"/>
            <a:ext cx="7594404" cy="337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Single-sample evals miss rare harms — at deployment scale even ε=10</a:t>
            </a:r>
            <a:r>
              <a:rPr sz="5421" b="0" baseline="30000">
                <a:solidFill>
                  <a:srgbClr val="1C1C1C"/>
                </a:solidFill>
                <a:latin typeface="Arial"/>
              </a:rPr>
              <a:t>−6</a:t>
            </a:r>
            <a:r>
              <a:rPr sz="3872" b="0">
                <a:solidFill>
                  <a:srgbClr val="1C1C1C"/>
                </a:solidFill>
                <a:latin typeface="Arial"/>
              </a:rPr>
              <a:t> is a near-daily incident.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993136" y="27656636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10–20× sample reduction</a:t>
            </a:r>
            <a:r>
              <a:rPr sz="3872" b="0">
                <a:solidFill>
                  <a:srgbClr val="1C1C1C"/>
                </a:solidFill>
                <a:latin typeface="Arial"/>
              </a:rPr>
              <a:t> across all five target models.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836711" y="19176054"/>
            <a:ext cx="3890149" cy="3083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561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10–20×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6711" y="21879865"/>
            <a:ext cx="3890149" cy="1130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fewer samples than MC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6711" y="22863070"/>
            <a:ext cx="3890149" cy="886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matches MC across 5 models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603858" y="8058912"/>
            <a:ext cx="6313062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733045" y="8058912"/>
            <a:ext cx="2107674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603858" y="8675200"/>
            <a:ext cx="6313062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Brute-force MC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733045" y="8675200"/>
            <a:ext cx="2107674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k=10,000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603858" y="9461852"/>
            <a:ext cx="6313062" cy="166693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Importance Sampling (ours)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9733045" y="9461852"/>
            <a:ext cx="2107674" cy="166693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k=500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606122" y="18574644"/>
            <a:ext cx="1474591" cy="591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99.5%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209766" y="18688915"/>
            <a:ext cx="1376815" cy="23125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Llama-3.2-1B harm rate @10k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993453" y="20154049"/>
            <a:ext cx="3851988" cy="766396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ESTIMATOR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5733248" y="20154049"/>
            <a:ext cx="2546283" cy="766396"/>
          </a:xfrm>
          <a:prstGeom prst="rect">
            <a:avLst/>
          </a:prstGeom>
          <a:noFill/>
        </p:spPr>
        <p:txBody>
          <a:bodyPr wrap="non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BUDGET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205368" y="20154049"/>
            <a:ext cx="4331515" cy="766396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VS MC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993453" y="20820481"/>
            <a:ext cx="3851988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Brute-force MC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733248" y="20820481"/>
            <a:ext cx="2546283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k=10,000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205368" y="20820481"/>
            <a:ext cx="4331515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reference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606122" y="20945613"/>
            <a:ext cx="1474591" cy="591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74.0%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209766" y="21059884"/>
            <a:ext cx="1376815" cy="23125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Llama-3.1-8B harm rate @10k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993453" y="21712477"/>
            <a:ext cx="3851988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IS (ours)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5733248" y="21712477"/>
            <a:ext cx="2546283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k=1,000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205368" y="21712477"/>
            <a:ext cx="4331515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≤10× lower error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606122" y="23316582"/>
            <a:ext cx="289185" cy="5910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9058887" y="23430852"/>
            <a:ext cx="2562220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safety-finetuned models</a:t>
            </a:r>
          </a:p>
        </p:txBody>
      </p:sp>
      <p:pic>
        <p:nvPicPr>
          <p:cNvPr id="145" name="Picture 144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8819" y="16992412"/>
            <a:ext cx="6185729" cy="1728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