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2793920" cy="302666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18959" y="618966"/>
            <a:ext cx="41556003" cy="4526638"/>
          </a:xfrm>
          <a:prstGeom prst="roundRect">
            <a:avLst>
              <a:gd name="adj" fmla="val 2963"/>
            </a:avLst>
          </a:prstGeom>
          <a:solidFill>
            <a:srgbClr val="F4E6EF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44614" y="1997505"/>
            <a:ext cx="2755561" cy="176955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981122" y="1997505"/>
            <a:ext cx="19053" cy="1769559"/>
          </a:xfrm>
          <a:prstGeom prst="rect">
            <a:avLst/>
          </a:prstGeom>
          <a:solidFill>
            <a:srgbClr val="D9DB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18959" y="5637206"/>
            <a:ext cx="8966435" cy="9761218"/>
          </a:xfrm>
          <a:prstGeom prst="rect">
            <a:avLst/>
          </a:prstGeom>
          <a:solidFill>
            <a:srgbClr val="FFFFFF"/>
          </a:solidFill>
          <a:ln w="38106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987568" y="5637206"/>
            <a:ext cx="11208231" cy="10155958"/>
          </a:xfrm>
          <a:prstGeom prst="rect">
            <a:avLst/>
          </a:prstGeom>
          <a:solidFill>
            <a:srgbClr val="FFFFFF"/>
          </a:solidFill>
          <a:ln w="38106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597974" y="5637206"/>
            <a:ext cx="11208228" cy="6602109"/>
          </a:xfrm>
          <a:prstGeom prst="rect">
            <a:avLst/>
          </a:prstGeom>
          <a:solidFill>
            <a:srgbClr val="FFFFFF"/>
          </a:solidFill>
          <a:ln w="38106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208377" y="5637206"/>
            <a:ext cx="8966437" cy="11017601"/>
          </a:xfrm>
          <a:prstGeom prst="rect">
            <a:avLst/>
          </a:prstGeom>
          <a:solidFill>
            <a:srgbClr val="FFFFFF"/>
          </a:solidFill>
          <a:ln w="38106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1597974" y="12552072"/>
            <a:ext cx="11208228" cy="17091655"/>
          </a:xfrm>
          <a:prstGeom prst="rect">
            <a:avLst/>
          </a:prstGeom>
          <a:solidFill>
            <a:srgbClr val="FFFFFF"/>
          </a:solidFill>
          <a:ln w="38106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8959" y="15711181"/>
            <a:ext cx="8966435" cy="13932546"/>
          </a:xfrm>
          <a:prstGeom prst="rect">
            <a:avLst/>
          </a:prstGeom>
          <a:solidFill>
            <a:srgbClr val="FFFFFF"/>
          </a:solidFill>
          <a:ln w="38106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987568" y="16105921"/>
            <a:ext cx="11208231" cy="5544957"/>
          </a:xfrm>
          <a:prstGeom prst="rect">
            <a:avLst/>
          </a:prstGeom>
          <a:solidFill>
            <a:srgbClr val="FFFFFF"/>
          </a:solidFill>
          <a:ln w="38106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208377" y="16967563"/>
            <a:ext cx="8966437" cy="5643307"/>
          </a:xfrm>
          <a:prstGeom prst="rect">
            <a:avLst/>
          </a:prstGeom>
          <a:solidFill>
            <a:srgbClr val="FFFFFF"/>
          </a:solidFill>
          <a:ln w="38106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987568" y="21963634"/>
            <a:ext cx="11208231" cy="7680093"/>
          </a:xfrm>
          <a:prstGeom prst="rect">
            <a:avLst/>
          </a:prstGeom>
          <a:solidFill>
            <a:srgbClr val="FFFFFF"/>
          </a:solidFill>
          <a:ln w="38106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208377" y="22923627"/>
            <a:ext cx="8966437" cy="6720100"/>
          </a:xfrm>
          <a:prstGeom prst="rect">
            <a:avLst/>
          </a:prstGeom>
          <a:solidFill>
            <a:srgbClr val="F6ECF1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208377" y="22923627"/>
            <a:ext cx="8966437" cy="38107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136708" y="22923627"/>
            <a:ext cx="38106" cy="67201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208377" y="29605620"/>
            <a:ext cx="8966437" cy="38107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208377" y="22923627"/>
            <a:ext cx="57160" cy="6720100"/>
          </a:xfrm>
          <a:prstGeom prst="rect">
            <a:avLst/>
          </a:prstGeom>
          <a:solidFill>
            <a:srgbClr val="7D28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1993453" y="6851481"/>
            <a:ext cx="10417270" cy="3470526"/>
          </a:xfrm>
          <a:prstGeom prst="roundRect">
            <a:avLst>
              <a:gd name="adj" fmla="val 5668"/>
            </a:avLst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3603858" y="10614826"/>
            <a:ext cx="8175473" cy="1830415"/>
          </a:xfrm>
          <a:prstGeom prst="roundRect">
            <a:avLst>
              <a:gd name="adj" fmla="val 50000"/>
            </a:avLst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14439" y="12344212"/>
            <a:ext cx="8175476" cy="267405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14439" y="12344212"/>
            <a:ext cx="114320" cy="2674054"/>
          </a:xfrm>
          <a:prstGeom prst="rect">
            <a:avLst/>
          </a:prstGeom>
          <a:solidFill>
            <a:srgbClr val="7D28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603858" y="12791921"/>
            <a:ext cx="8175473" cy="337916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3603858" y="12791921"/>
            <a:ext cx="8175473" cy="12385"/>
          </a:xfrm>
          <a:prstGeom prst="rect">
            <a:avLst/>
          </a:prstGeom>
          <a:solidFill>
            <a:srgbClr val="D2B4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383048" y="17434169"/>
            <a:ext cx="10417270" cy="1314114"/>
          </a:xfrm>
          <a:prstGeom prst="roundRect">
            <a:avLst>
              <a:gd name="adj" fmla="val 16168"/>
            </a:avLst>
          </a:prstGeom>
          <a:solidFill>
            <a:srgbClr val="F7F2F5"/>
          </a:solidFill>
          <a:ln w="9526">
            <a:solidFill>
              <a:srgbClr val="D5B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3603858" y="18402048"/>
            <a:ext cx="8175473" cy="3878806"/>
          </a:xfrm>
          <a:prstGeom prst="roundRect">
            <a:avLst>
              <a:gd name="adj" fmla="val 1964"/>
            </a:avLst>
          </a:prstGeom>
          <a:gradFill rotWithShape="1" flip="none">
            <a:gsLst>
              <a:gs pos="0">
                <a:srgbClr val="EFE5EC"/>
              </a:gs>
              <a:gs pos="100000">
                <a:srgbClr val="F7F2F5"/>
              </a:gs>
            </a:gsLst>
            <a:lin ang="5400000" scaled="0"/>
          </a:gradFill>
          <a:ln w="9526">
            <a:solidFill>
              <a:srgbClr val="DEC9D7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622902" y="24559871"/>
            <a:ext cx="8156429" cy="4768272"/>
          </a:xfrm>
          <a:prstGeom prst="roundRect">
            <a:avLst>
              <a:gd name="adj" fmla="val 4125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14439" y="25326436"/>
            <a:ext cx="8175476" cy="3944125"/>
          </a:xfrm>
          <a:prstGeom prst="roundRect">
            <a:avLst>
              <a:gd name="adj" fmla="val 4364"/>
            </a:avLst>
          </a:prstGeom>
          <a:solidFill>
            <a:srgbClr val="F5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14439" y="25326436"/>
            <a:ext cx="114320" cy="3944125"/>
          </a:xfrm>
          <a:prstGeom prst="rect">
            <a:avLst/>
          </a:prstGeom>
          <a:solidFill>
            <a:srgbClr val="AE26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9650021" y="1678053"/>
            <a:ext cx="1899283" cy="1899304"/>
          </a:xfrm>
          <a:prstGeom prst="roundRect">
            <a:avLst>
              <a:gd name="adj" fmla="val 5296"/>
            </a:avLst>
          </a:prstGeom>
          <a:noFill/>
          <a:ln w="9526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50623" y="1778657"/>
            <a:ext cx="1698079" cy="1698097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21993453" y="6032690"/>
            <a:ext cx="619407" cy="619413"/>
          </a:xfrm>
          <a:prstGeom prst="roundRect">
            <a:avLst>
              <a:gd name="adj" fmla="val 50000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253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1809334" y="7317491"/>
            <a:ext cx="7564550" cy="5512818"/>
          </a:xfrm>
          <a:prstGeom prst="roundRect">
            <a:avLst>
              <a:gd name="adj" fmla="val 691"/>
            </a:avLst>
          </a:prstGeom>
          <a:solidFill>
            <a:srgbClr val="FFFFFF"/>
          </a:solidFill>
          <a:ln w="9526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page13_figur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09406" y="7317491"/>
            <a:ext cx="7564406" cy="5512818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>
          <a:xfrm>
            <a:off x="21993453" y="10340755"/>
            <a:ext cx="3308459" cy="1512897"/>
          </a:xfrm>
          <a:prstGeom prst="roundRect">
            <a:avLst>
              <a:gd name="adj" fmla="val 16254"/>
            </a:avLst>
          </a:prstGeom>
          <a:solidFill>
            <a:srgbClr val="F7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25547710" y="10340755"/>
            <a:ext cx="3308606" cy="1512897"/>
          </a:xfrm>
          <a:prstGeom prst="roundRect">
            <a:avLst>
              <a:gd name="adj" fmla="val 16254"/>
            </a:avLst>
          </a:prstGeom>
          <a:solidFill>
            <a:srgbClr val="F7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9102115" y="10340755"/>
            <a:ext cx="3308608" cy="1512897"/>
          </a:xfrm>
          <a:prstGeom prst="roundRect">
            <a:avLst>
              <a:gd name="adj" fmla="val 16254"/>
            </a:avLst>
          </a:prstGeom>
          <a:solidFill>
            <a:srgbClr val="F7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21993453" y="12947555"/>
            <a:ext cx="619407" cy="619413"/>
          </a:xfrm>
          <a:prstGeom prst="roundRect">
            <a:avLst>
              <a:gd name="adj" fmla="val 50000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253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383048" y="16501405"/>
            <a:ext cx="619407" cy="619413"/>
          </a:xfrm>
          <a:prstGeom prst="roundRect">
            <a:avLst>
              <a:gd name="adj" fmla="val 50000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253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154253" y="18612586"/>
            <a:ext cx="3392227" cy="35023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8154253" y="18612586"/>
            <a:ext cx="12385" cy="3502368"/>
          </a:xfrm>
          <a:prstGeom prst="rect">
            <a:avLst/>
          </a:prstGeom>
          <a:solidFill>
            <a:srgbClr val="DEC9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0383048" y="22359117"/>
            <a:ext cx="619407" cy="619414"/>
          </a:xfrm>
          <a:prstGeom prst="roundRect">
            <a:avLst>
              <a:gd name="adj" fmla="val 50000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253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472707" y="25473887"/>
            <a:ext cx="2162788" cy="601856"/>
          </a:xfrm>
          <a:prstGeom prst="roundRect">
            <a:avLst>
              <a:gd name="adj" fmla="val 14301"/>
            </a:avLst>
          </a:prstGeom>
          <a:solidFill>
            <a:srgbClr val="AE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710" b="1">
                <a:solidFill>
                  <a:srgbClr val="FFFFFF"/>
                </a:solidFill>
                <a:latin typeface="Arial"/>
              </a:rPr>
              <a:t>WHY NOW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1993453" y="27583283"/>
            <a:ext cx="4429876" cy="772666"/>
          </a:xfrm>
          <a:prstGeom prst="roundRect">
            <a:avLst>
              <a:gd name="adj" fmla="val 50000"/>
            </a:avLst>
          </a:prstGeom>
          <a:solidFill>
            <a:srgbClr val="F2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291" b="1">
                <a:solidFill>
                  <a:srgbClr val="7D2860"/>
                </a:solidFill>
                <a:latin typeface="Arial"/>
              </a:rPr>
              <a:t>examples-grounded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6570779" y="27583283"/>
            <a:ext cx="2410668" cy="772666"/>
          </a:xfrm>
          <a:prstGeom prst="roundRect">
            <a:avLst>
              <a:gd name="adj" fmla="val 50000"/>
            </a:avLst>
          </a:prstGeom>
          <a:solidFill>
            <a:srgbClr val="F2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291" b="1">
                <a:solidFill>
                  <a:srgbClr val="7D2860"/>
                </a:solidFill>
                <a:latin typeface="Arial"/>
              </a:rPr>
              <a:t>data layer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9128897" y="27583283"/>
            <a:ext cx="2340292" cy="772666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291" b="1">
                <a:solidFill>
                  <a:srgbClr val="AE2622"/>
                </a:solidFill>
                <a:latin typeface="Arial"/>
              </a:rPr>
              <a:t>oversight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1993453" y="28503400"/>
            <a:ext cx="2107886" cy="772666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291" b="1">
                <a:solidFill>
                  <a:srgbClr val="AE2622"/>
                </a:solidFill>
                <a:latin typeface="Arial"/>
              </a:rPr>
              <a:t>iteration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4248786" y="28503400"/>
            <a:ext cx="3269774" cy="772666"/>
          </a:xfrm>
          <a:prstGeom prst="roundRect">
            <a:avLst>
              <a:gd name="adj" fmla="val 50000"/>
            </a:avLst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291" b="1">
                <a:solidFill>
                  <a:srgbClr val="555555"/>
                </a:solidFill>
                <a:latin typeface="Arial"/>
              </a:rPr>
              <a:t>selective trust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3603858" y="9476732"/>
            <a:ext cx="8175473" cy="786652"/>
          </a:xfrm>
          <a:prstGeom prst="rect">
            <a:avLst/>
          </a:prstGeom>
          <a:solidFill>
            <a:srgbClr val="F2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1993453" y="17409767"/>
            <a:ext cx="10417270" cy="891997"/>
          </a:xfrm>
          <a:prstGeom prst="rect">
            <a:avLst/>
          </a:prstGeom>
          <a:solidFill>
            <a:srgbClr val="F2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10383048" y="23425644"/>
            <a:ext cx="663892" cy="663899"/>
          </a:xfrm>
          <a:prstGeom prst="roundRect">
            <a:avLst>
              <a:gd name="adj" fmla="val 50000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85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383048" y="25237311"/>
            <a:ext cx="663892" cy="663899"/>
          </a:xfrm>
          <a:prstGeom prst="roundRect">
            <a:avLst>
              <a:gd name="adj" fmla="val 50000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85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3603858" y="8073791"/>
            <a:ext cx="6253127" cy="616288"/>
          </a:xfrm>
          <a:prstGeom prst="rect">
            <a:avLst/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3603858" y="8680552"/>
            <a:ext cx="6253127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9856985" y="8073791"/>
            <a:ext cx="1922346" cy="616288"/>
          </a:xfrm>
          <a:prstGeom prst="rect">
            <a:avLst/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9856985" y="8680552"/>
            <a:ext cx="1922346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3603858" y="8690079"/>
            <a:ext cx="6253127" cy="78665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3603858" y="9467205"/>
            <a:ext cx="6253127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9856985" y="8690079"/>
            <a:ext cx="1922346" cy="78665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9856985" y="9467205"/>
            <a:ext cx="1922346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3603858" y="9476732"/>
            <a:ext cx="6253127" cy="786652"/>
          </a:xfrm>
          <a:prstGeom prst="rect">
            <a:avLst/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3603858" y="10253858"/>
            <a:ext cx="6253127" cy="12384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9856985" y="9476732"/>
            <a:ext cx="1922346" cy="786652"/>
          </a:xfrm>
          <a:prstGeom prst="rect">
            <a:avLst/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9856985" y="10253858"/>
            <a:ext cx="1922346" cy="12384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1993453" y="16743337"/>
            <a:ext cx="2903605" cy="666430"/>
          </a:xfrm>
          <a:prstGeom prst="rect">
            <a:avLst/>
          </a:prstGeom>
          <a:solidFill>
            <a:srgbClr val="F7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1993453" y="17400241"/>
            <a:ext cx="2903605" cy="12384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4897058" y="16743337"/>
            <a:ext cx="7513665" cy="666430"/>
          </a:xfrm>
          <a:prstGeom prst="rect">
            <a:avLst/>
          </a:prstGeom>
          <a:solidFill>
            <a:srgbClr val="F7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24897058" y="17400241"/>
            <a:ext cx="7513665" cy="12384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1993453" y="17409767"/>
            <a:ext cx="2903605" cy="89199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1993453" y="18292237"/>
            <a:ext cx="2903605" cy="12385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24897058" y="17409767"/>
            <a:ext cx="7513665" cy="89199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24897058" y="18292237"/>
            <a:ext cx="7513665" cy="12385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21993453" y="18301764"/>
            <a:ext cx="2903605" cy="89199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21993453" y="19184233"/>
            <a:ext cx="2903605" cy="12384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24897058" y="18301764"/>
            <a:ext cx="7513665" cy="89199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24897058" y="19184233"/>
            <a:ext cx="7513665" cy="12384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21993453" y="19193759"/>
            <a:ext cx="2903605" cy="8919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21993453" y="20076228"/>
            <a:ext cx="2903605" cy="12385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24897058" y="19193759"/>
            <a:ext cx="7513665" cy="8919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24897058" y="20076228"/>
            <a:ext cx="7513665" cy="12385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1100952" y="17593077"/>
            <a:ext cx="9250753" cy="6789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6064"/>
              </a:lnSpc>
              <a:spcBef>
                <a:spcPts val="0"/>
              </a:spcBef>
              <a:spcAft>
                <a:spcPts val="0"/>
              </a:spcAft>
            </a:pPr>
            <a:r>
              <a:rPr sz="4182" b="0">
                <a:solidFill>
                  <a:srgbClr val="1C1C1C"/>
                </a:solidFill>
                <a:latin typeface="Cambria Math"/>
              </a:rPr>
              <a:t>natural language  ⇒  self-modified system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36409" y="976359"/>
            <a:ext cx="35034658" cy="26480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8026"/>
              </a:lnSpc>
              <a:spcBef>
                <a:spcPts val="0"/>
              </a:spcBef>
              <a:spcAft>
                <a:spcPts val="0"/>
              </a:spcAft>
            </a:pPr>
            <a:r>
              <a:rPr sz="7166" b="1" spc="-80">
                <a:solidFill>
                  <a:srgbClr val="7D2860"/>
                </a:solidFill>
                <a:latin typeface="Arial"/>
              </a:rPr>
              <a:t>Conversational Customization of Productivity Systems: A Design Probe</a:t>
            </a:r>
          </a:p>
          <a:p>
            <a:pPr algn="ctr">
              <a:lnSpc>
                <a:spcPts val="8026"/>
              </a:lnSpc>
              <a:spcBef>
                <a:spcPts val="0"/>
              </a:spcBef>
              <a:spcAft>
                <a:spcPts val="0"/>
              </a:spcAft>
            </a:pPr>
            <a:r>
              <a:rPr sz="7166" b="1" spc="-80">
                <a:solidFill>
                  <a:srgbClr val="7D2860"/>
                </a:solidFill>
                <a:latin typeface="Arial"/>
              </a:rPr>
              <a:t>of Malleable AI Interfaces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536409" y="3535994"/>
            <a:ext cx="35034658" cy="8196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5615"/>
              </a:lnSpc>
              <a:spcBef>
                <a:spcPts val="0"/>
              </a:spcBef>
              <a:spcAft>
                <a:spcPts val="0"/>
              </a:spcAft>
            </a:pPr>
            <a:r>
              <a:rPr sz="3872" b="0">
                <a:solidFill>
                  <a:srgbClr val="1B2331"/>
                </a:solidFill>
                <a:latin typeface="Arial"/>
              </a:rPr>
              <a:t>Karthik Sreedhar</a:t>
            </a:r>
            <a:r>
              <a:rPr sz="5421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3872" b="0">
                <a:solidFill>
                  <a:srgbClr val="1B2331"/>
                </a:solidFill>
                <a:latin typeface="Arial"/>
              </a:rPr>
              <a:t>, Aryan Kaul</a:t>
            </a:r>
            <a:r>
              <a:rPr sz="5421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3872" b="0">
                <a:solidFill>
                  <a:srgbClr val="1B2331"/>
                </a:solidFill>
                <a:latin typeface="Arial"/>
              </a:rPr>
              <a:t>, Lydia B. Chilton</a:t>
            </a:r>
            <a:r>
              <a:rPr sz="5421" b="0" baseline="30000">
                <a:solidFill>
                  <a:srgbClr val="1B2331"/>
                </a:solidFill>
                <a:latin typeface="Arial"/>
              </a:rPr>
              <a:t>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536409" y="4302262"/>
            <a:ext cx="35034658" cy="558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828"/>
              </a:lnSpc>
              <a:spcBef>
                <a:spcPts val="0"/>
              </a:spcBef>
              <a:spcAft>
                <a:spcPts val="0"/>
              </a:spcAft>
            </a:pPr>
            <a:r>
              <a:rPr sz="2402" b="0" spc="52" baseline="30000">
                <a:solidFill>
                  <a:srgbClr val="55617A"/>
                </a:solidFill>
                <a:latin typeface="Arial"/>
              </a:rPr>
              <a:t>1</a:t>
            </a:r>
            <a:r>
              <a:rPr sz="2640" b="0" spc="52">
                <a:solidFill>
                  <a:srgbClr val="55617A"/>
                </a:solidFill>
                <a:latin typeface="Arial"/>
              </a:rPr>
              <a:t>Columbia University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244614" y="1997505"/>
            <a:ext cx="2266291" cy="11306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745"/>
              </a:lnSpc>
              <a:spcBef>
                <a:spcPts val="0"/>
              </a:spcBef>
              <a:spcAft>
                <a:spcPts val="0"/>
              </a:spcAft>
            </a:pPr>
            <a:r>
              <a:rPr sz="7745" b="1" spc="-77">
                <a:solidFill>
                  <a:srgbClr val="7D2860"/>
                </a:solidFill>
                <a:latin typeface="Arial"/>
              </a:rPr>
              <a:t>UIST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719249" y="3054360"/>
            <a:ext cx="1288389" cy="8196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5615"/>
              </a:lnSpc>
              <a:spcBef>
                <a:spcPts val="0"/>
              </a:spcBef>
              <a:spcAft>
                <a:spcPts val="0"/>
              </a:spcAft>
            </a:pPr>
            <a:r>
              <a:rPr sz="3872" b="1" spc="309">
                <a:solidFill>
                  <a:srgbClr val="1B2331"/>
                </a:solidFill>
                <a:latin typeface="Arial"/>
              </a:rPr>
              <a:t>2026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14439" y="6032690"/>
            <a:ext cx="8420740" cy="848013"/>
          </a:xfrm>
          <a:prstGeom prst="rect">
            <a:avLst/>
          </a:prstGeom>
          <a:noFill/>
        </p:spPr>
        <p:txBody>
          <a:bodyPr wrap="square" lIns="0" rIns="3688736" tIns="0" bIns="0">
            <a:spAutoFit/>
          </a:bodyPr>
          <a:lstStyle/>
          <a:p>
            <a:pPr algn="l">
              <a:lnSpc>
                <a:spcPts val="5809"/>
              </a:lnSpc>
              <a:spcBef>
                <a:spcPts val="0"/>
              </a:spcBef>
              <a:spcAft>
                <a:spcPts val="0"/>
              </a:spcAft>
            </a:pPr>
            <a:r>
              <a:rPr sz="5280" b="1" spc="52">
                <a:solidFill>
                  <a:srgbClr val="111111"/>
                </a:solidFill>
                <a:latin typeface="Arial"/>
              </a:rPr>
              <a:t>PROBLEM 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383048" y="6032690"/>
            <a:ext cx="10729788" cy="848013"/>
          </a:xfrm>
          <a:prstGeom prst="rect">
            <a:avLst/>
          </a:prstGeom>
          <a:noFill/>
        </p:spPr>
        <p:txBody>
          <a:bodyPr wrap="none" lIns="0" rIns="3688736" tIns="0" bIns="0">
            <a:spAutoFit/>
          </a:bodyPr>
          <a:lstStyle/>
          <a:p>
            <a:pPr algn="l">
              <a:lnSpc>
                <a:spcPts val="5809"/>
              </a:lnSpc>
              <a:spcBef>
                <a:spcPts val="0"/>
              </a:spcBef>
              <a:spcAft>
                <a:spcPts val="0"/>
              </a:spcAft>
            </a:pPr>
            <a:r>
              <a:rPr sz="5280" b="1" spc="52">
                <a:solidFill>
                  <a:srgbClr val="111111"/>
                </a:solidFill>
                <a:latin typeface="Arial"/>
              </a:rPr>
              <a:t>METHOD 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3603858" y="6032690"/>
            <a:ext cx="8420737" cy="1696026"/>
          </a:xfrm>
          <a:prstGeom prst="rect">
            <a:avLst/>
          </a:prstGeom>
          <a:noFill/>
        </p:spPr>
        <p:txBody>
          <a:bodyPr wrap="square" lIns="0" rIns="3688736" tIns="0" bIns="0">
            <a:spAutoFit/>
          </a:bodyPr>
          <a:lstStyle/>
          <a:p>
            <a:pPr algn="l">
              <a:lnSpc>
                <a:spcPts val="5809"/>
              </a:lnSpc>
              <a:spcBef>
                <a:spcPts val="0"/>
              </a:spcBef>
              <a:spcAft>
                <a:spcPts val="0"/>
              </a:spcAft>
            </a:pPr>
            <a:r>
              <a:rPr sz="5280" b="1" spc="52">
                <a:solidFill>
                  <a:srgbClr val="111111"/>
                </a:solidFill>
                <a:latin typeface="Arial"/>
              </a:rPr>
              <a:t>KEY RESULTS 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1993453" y="6851481"/>
            <a:ext cx="10729788" cy="3991104"/>
          </a:xfrm>
          <a:prstGeom prst="rect">
            <a:avLst/>
          </a:prstGeom>
          <a:noFill/>
        </p:spPr>
        <p:txBody>
          <a:bodyPr wrap="square" lIns="319690" rIns="319690" tIns="137714" bIns="137714">
            <a:spAutoFit/>
          </a:bodyPr>
          <a:lstStyle/>
          <a:p>
            <a:pPr algn="l">
              <a:lnSpc>
                <a:spcPts val="5034"/>
              </a:lnSpc>
              <a:spcBef>
                <a:spcPts val="0"/>
              </a:spcBef>
              <a:spcAft>
                <a:spcPts val="0"/>
              </a:spcAft>
            </a:pPr>
            <a:r>
              <a:rPr sz="3872" b="0">
                <a:solidFill>
                  <a:srgbClr val="7D2860"/>
                </a:solidFill>
                <a:latin typeface="Arial"/>
              </a:rPr>
              <a:t>A three-day probe with </a:t>
            </a:r>
            <a:r>
              <a:rPr sz="3872" b="1">
                <a:solidFill>
                  <a:srgbClr val="111111"/>
                </a:solidFill>
                <a:latin typeface="Arial"/>
              </a:rPr>
              <a:t>eight participants</a:t>
            </a:r>
            <a:r>
              <a:rPr sz="3872" b="0">
                <a:solidFill>
                  <a:srgbClr val="7D2860"/>
                </a:solidFill>
                <a:latin typeface="Arial"/>
              </a:rPr>
              <a:t> (5 men, 3 women) spanning technical and non-technical roles, using their own real email accounts so ideas emerge from live workflows.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14439" y="7090586"/>
            <a:ext cx="8420740" cy="57372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615"/>
              </a:lnSpc>
              <a:spcBef>
                <a:spcPts val="0"/>
              </a:spcBef>
              <a:spcAft>
                <a:spcPts val="0"/>
              </a:spcAft>
            </a:pPr>
            <a:r>
              <a:rPr sz="3872" b="0">
                <a:solidFill>
                  <a:srgbClr val="1C1C1C"/>
                </a:solidFill>
                <a:latin typeface="Arial"/>
              </a:rPr>
              <a:t>End-user customization is a long-standing goal, yet users rarely tailor their tools. Generative AI makes </a:t>
            </a:r>
            <a:r>
              <a:rPr sz="3872" b="1">
                <a:solidFill>
                  <a:srgbClr val="111111"/>
                </a:solidFill>
                <a:latin typeface="Arial"/>
              </a:rPr>
              <a:t>malleable systems</a:t>
            </a:r>
            <a:r>
              <a:rPr sz="3872" b="0">
                <a:solidFill>
                  <a:srgbClr val="1C1C1C"/>
                </a:solidFill>
                <a:latin typeface="Arial"/>
              </a:rPr>
              <a:t> — tools modified by natural language — feasible, but how people actually use such malleability remains unclear.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3603858" y="10614826"/>
            <a:ext cx="8420737" cy="2104977"/>
          </a:xfrm>
          <a:prstGeom prst="rect">
            <a:avLst/>
          </a:prstGeom>
          <a:noFill/>
        </p:spPr>
        <p:txBody>
          <a:bodyPr wrap="square" lIns="457894" rIns="457894" tIns="265100" bIns="265100">
            <a:spAutoFit/>
          </a:bodyPr>
          <a:lstStyle/>
          <a:p>
            <a:pPr algn="ctr">
              <a:lnSpc>
                <a:spcPts val="5123"/>
              </a:lnSpc>
              <a:spcBef>
                <a:spcPts val="0"/>
              </a:spcBef>
              <a:spcAft>
                <a:spcPts val="0"/>
              </a:spcAft>
            </a:pPr>
            <a:r>
              <a:rPr sz="3795" b="1">
                <a:solidFill>
                  <a:srgbClr val="7D2860"/>
                </a:solidFill>
                <a:latin typeface="Arial"/>
              </a:rPr>
              <a:t>8/8 features ≈ a shown example · none invented from scratch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14439" y="12344212"/>
            <a:ext cx="8420740" cy="3075162"/>
          </a:xfrm>
          <a:prstGeom prst="rect">
            <a:avLst/>
          </a:prstGeom>
          <a:noFill/>
        </p:spPr>
        <p:txBody>
          <a:bodyPr wrap="square" lIns="344282" rIns="344282" tIns="59020" bIns="59020">
            <a:spAutoFit/>
          </a:bodyPr>
          <a:lstStyle/>
          <a:p>
            <a:pPr algn="l">
              <a:lnSpc>
                <a:spcPts val="5034"/>
              </a:lnSpc>
              <a:spcBef>
                <a:spcPts val="0"/>
              </a:spcBef>
              <a:spcAft>
                <a:spcPts val="0"/>
              </a:spcAft>
            </a:pPr>
            <a:r>
              <a:rPr sz="3872" b="0" i="1">
                <a:solidFill>
                  <a:srgbClr val="1C1C1C"/>
                </a:solidFill>
                <a:latin typeface="Arial"/>
              </a:rPr>
              <a:t>The open question is not capability — it is whether systems adapt to how each user actually works.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3603858" y="12791921"/>
            <a:ext cx="8420737" cy="3886044"/>
          </a:xfrm>
          <a:prstGeom prst="rect">
            <a:avLst/>
          </a:prstGeom>
          <a:noFill/>
        </p:spPr>
        <p:txBody>
          <a:bodyPr wrap="square" lIns="0" rIns="0" tIns="203620" bIns="0">
            <a:spAutoFit/>
          </a:bodyPr>
          <a:lstStyle/>
          <a:p>
            <a:pPr algn="l">
              <a:lnSpc>
                <a:spcPts val="4988"/>
              </a:lnSpc>
              <a:spcBef>
                <a:spcPts val="0"/>
              </a:spcBef>
              <a:spcAft>
                <a:spcPts val="0"/>
              </a:spcAft>
            </a:pPr>
            <a:r>
              <a:rPr sz="2779" b="1" spc="166">
                <a:solidFill>
                  <a:srgbClr val="111111"/>
                </a:solidFill>
                <a:latin typeface="Arial"/>
              </a:rPr>
              <a:t>SO WHAT → </a:t>
            </a:r>
            <a:r>
              <a:rPr sz="3562" b="0" i="1">
                <a:solidFill>
                  <a:srgbClr val="1C1C1C"/>
                </a:solidFill>
                <a:latin typeface="Arial"/>
              </a:rPr>
              <a:t>Malleability turns the inbox into a flexible data layer; user-authored features surface new risks — managed through oversight, iteration, and selective trust, not vendor patches.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14439" y="16106665"/>
            <a:ext cx="8420740" cy="848013"/>
          </a:xfrm>
          <a:prstGeom prst="rect">
            <a:avLst/>
          </a:prstGeom>
          <a:noFill/>
        </p:spPr>
        <p:txBody>
          <a:bodyPr wrap="square" lIns="0" rIns="3688736" tIns="0" bIns="0">
            <a:spAutoFit/>
          </a:bodyPr>
          <a:lstStyle/>
          <a:p>
            <a:pPr algn="l">
              <a:lnSpc>
                <a:spcPts val="5809"/>
              </a:lnSpc>
              <a:spcBef>
                <a:spcPts val="0"/>
              </a:spcBef>
              <a:spcAft>
                <a:spcPts val="0"/>
              </a:spcAft>
            </a:pPr>
            <a:r>
              <a:rPr sz="5280" b="1" spc="52">
                <a:solidFill>
                  <a:srgbClr val="111111"/>
                </a:solidFill>
                <a:latin typeface="Arial"/>
              </a:rPr>
              <a:t>MOTIVATION 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3603858" y="17363047"/>
            <a:ext cx="8420737" cy="8480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809"/>
              </a:lnSpc>
              <a:spcBef>
                <a:spcPts val="0"/>
              </a:spcBef>
              <a:spcAft>
                <a:spcPts val="0"/>
              </a:spcAft>
            </a:pPr>
            <a:r>
              <a:rPr sz="5280" b="1" spc="52">
                <a:solidFill>
                  <a:srgbClr val="111111"/>
                </a:solidFill>
                <a:latin typeface="Arial"/>
              </a:rPr>
              <a:t>HEADLINE NUMBERS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383048" y="17434169"/>
            <a:ext cx="10729788" cy="1511231"/>
          </a:xfrm>
          <a:prstGeom prst="rect">
            <a:avLst/>
          </a:prstGeom>
          <a:noFill/>
        </p:spPr>
        <p:txBody>
          <a:bodyPr wrap="square" lIns="371825" rIns="371825" tIns="63742" bIns="63742">
            <a:spAutoFit/>
          </a:bodyPr>
          <a:lstStyle/>
          <a:p>
            <a:pPr algn="ctr">
              <a:lnSpc>
                <a:spcPts val="6064"/>
              </a:lnSpc>
              <a:spcBef>
                <a:spcPts val="0"/>
              </a:spcBef>
              <a:spcAft>
                <a:spcPts val="0"/>
              </a:spcAft>
            </a:pPr>
            <a:r>
              <a:rPr sz="4182" b="0">
                <a:solidFill>
                  <a:srgbClr val="1C1C1C"/>
                </a:solidFill>
                <a:latin typeface="Cambria Math"/>
              </a:rPr>
              <a:t>natural language  ⇒  self-modified system</a:t>
            </a:r>
            <a:r>
              <a:rPr sz="2091" b="0" i="1">
                <a:solidFill>
                  <a:srgbClr val="555555"/>
                </a:solidFill>
                <a:latin typeface="Cambria Math"/>
              </a:rPr>
              <a:t>two levels — base triage + meta-level modification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3622902" y="23319110"/>
            <a:ext cx="8401121" cy="848013"/>
          </a:xfrm>
          <a:prstGeom prst="rect">
            <a:avLst/>
          </a:prstGeom>
          <a:noFill/>
        </p:spPr>
        <p:txBody>
          <a:bodyPr wrap="square" lIns="0" rIns="3688736" tIns="0" bIns="0">
            <a:spAutoFit/>
          </a:bodyPr>
          <a:lstStyle/>
          <a:p>
            <a:pPr algn="l">
              <a:lnSpc>
                <a:spcPts val="5809"/>
              </a:lnSpc>
              <a:spcBef>
                <a:spcPts val="0"/>
              </a:spcBef>
              <a:spcAft>
                <a:spcPts val="0"/>
              </a:spcAft>
            </a:pPr>
            <a:r>
              <a:rPr sz="5280" b="1" spc="52">
                <a:solidFill>
                  <a:srgbClr val="111111"/>
                </a:solidFill>
                <a:latin typeface="Arial"/>
              </a:rPr>
              <a:t>TAKEAWAY 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3622902" y="24559871"/>
            <a:ext cx="8401121" cy="5483512"/>
          </a:xfrm>
          <a:prstGeom prst="rect">
            <a:avLst/>
          </a:prstGeom>
          <a:noFill/>
        </p:spPr>
        <p:txBody>
          <a:bodyPr wrap="square" lIns="344282" rIns="344282" tIns="147551" bIns="147551">
            <a:spAutoFit/>
          </a:bodyPr>
          <a:lstStyle/>
          <a:p>
            <a:pPr algn="l">
              <a:lnSpc>
                <a:spcPts val="5034"/>
              </a:lnSpc>
              <a:spcBef>
                <a:spcPts val="0"/>
              </a:spcBef>
              <a:spcAft>
                <a:spcPts val="0"/>
              </a:spcAft>
            </a:pPr>
            <a:r>
              <a:rPr sz="3872" b="1">
                <a:solidFill>
                  <a:srgbClr val="FFFFFF"/>
                </a:solidFill>
                <a:latin typeface="Arial"/>
              </a:rPr>
              <a:t>When customization becomes conversational and in-situ, users reshape their own tools — turning software from a fixed product into a malleable system they iteratively make their own.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383048" y="27020560"/>
            <a:ext cx="10729788" cy="24588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615"/>
              </a:lnSpc>
              <a:spcBef>
                <a:spcPts val="0"/>
              </a:spcBef>
              <a:spcAft>
                <a:spcPts val="0"/>
              </a:spcAft>
            </a:pPr>
            <a:r>
              <a:rPr sz="3872" b="0">
                <a:solidFill>
                  <a:srgbClr val="1C1C1C"/>
                </a:solidFill>
                <a:latin typeface="Arial"/>
              </a:rPr>
              <a:t>Standalone feature modules keep every change auditable, persistent, and safely removable.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0200095" y="3738050"/>
            <a:ext cx="822960" cy="4007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746"/>
              </a:lnSpc>
              <a:spcBef>
                <a:spcPts val="0"/>
              </a:spcBef>
              <a:spcAft>
                <a:spcPts val="0"/>
              </a:spcAft>
            </a:pPr>
            <a:r>
              <a:rPr sz="2112" b="1" spc="84">
                <a:solidFill>
                  <a:srgbClr val="1B2331"/>
                </a:solidFill>
                <a:latin typeface="Arial"/>
              </a:rPr>
              <a:t>Paper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2819228" y="6045634"/>
            <a:ext cx="3396832" cy="682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676"/>
              </a:lnSpc>
              <a:spcBef>
                <a:spcPts val="0"/>
              </a:spcBef>
              <a:spcAft>
                <a:spcPts val="0"/>
              </a:spcAft>
            </a:pPr>
            <a:r>
              <a:rPr sz="4066" b="1">
                <a:solidFill>
                  <a:srgbClr val="7D2860"/>
                </a:solidFill>
                <a:latin typeface="Arial"/>
              </a:rPr>
              <a:t>Design probe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0009577" y="6158417"/>
            <a:ext cx="2473180" cy="4231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899"/>
              </a:lnSpc>
              <a:spcBef>
                <a:spcPts val="0"/>
              </a:spcBef>
              <a:spcAft>
                <a:spcPts val="0"/>
              </a:spcAft>
            </a:pPr>
            <a:r>
              <a:rPr sz="2521" b="1" i="1">
                <a:solidFill>
                  <a:srgbClr val="555555"/>
                </a:solidFill>
                <a:latin typeface="Arial"/>
              </a:rPr>
              <a:t>8 users · 3 days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2819228" y="12960500"/>
            <a:ext cx="3692762" cy="6825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676"/>
              </a:lnSpc>
              <a:spcBef>
                <a:spcPts val="0"/>
              </a:spcBef>
              <a:spcAft>
                <a:spcPts val="0"/>
              </a:spcAft>
            </a:pPr>
            <a:r>
              <a:rPr sz="4066" b="1">
                <a:solidFill>
                  <a:srgbClr val="7D2860"/>
                </a:solidFill>
                <a:latin typeface="Arial"/>
              </a:rPr>
              <a:t>Three patterns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2111969" y="12971362"/>
            <a:ext cx="7168058" cy="30123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128"/>
              </a:lnSpc>
              <a:spcBef>
                <a:spcPts val="0"/>
              </a:spcBef>
              <a:spcAft>
                <a:spcPts val="0"/>
              </a:spcAft>
            </a:pPr>
            <a:r>
              <a:rPr sz="3175" b="0" i="1">
                <a:solidFill>
                  <a:srgbClr val="555555"/>
                </a:solidFill>
                <a:latin typeface="Arial"/>
              </a:rPr>
              <a:t>System architecture: the Gmail Assistant (triage + categorization) and Feature Gen Agent (chat-based restructuring) connect through an extensibility plane.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1166554" y="13073283"/>
            <a:ext cx="1281494" cy="423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899"/>
              </a:lnSpc>
              <a:spcBef>
                <a:spcPts val="0"/>
              </a:spcBef>
              <a:spcAft>
                <a:spcPts val="0"/>
              </a:spcAft>
            </a:pPr>
            <a:r>
              <a:rPr sz="2521" b="1" i="1">
                <a:solidFill>
                  <a:srgbClr val="555555"/>
                </a:solidFill>
                <a:latin typeface="Arial"/>
              </a:rPr>
              <a:t>findings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1993453" y="14508065"/>
            <a:ext cx="2111814" cy="16960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1618"/>
              </a:lnSpc>
              <a:spcBef>
                <a:spcPts val="0"/>
              </a:spcBef>
              <a:spcAft>
                <a:spcPts val="0"/>
              </a:spcAft>
            </a:pPr>
            <a:r>
              <a:rPr sz="11618" b="1">
                <a:solidFill>
                  <a:srgbClr val="7D2860"/>
                </a:solidFill>
                <a:latin typeface="Arial"/>
              </a:rPr>
              <a:t>8/8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4240306" y="15279393"/>
            <a:ext cx="7700915" cy="7378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053"/>
              </a:lnSpc>
              <a:spcBef>
                <a:spcPts val="0"/>
              </a:spcBef>
              <a:spcAft>
                <a:spcPts val="0"/>
              </a:spcAft>
            </a:pPr>
            <a:r>
              <a:rPr sz="3485" b="0">
                <a:solidFill>
                  <a:srgbClr val="555555"/>
                </a:solidFill>
                <a:latin typeface="Arial"/>
              </a:rPr>
              <a:t>features grounded in shown examples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1208824" y="16514349"/>
            <a:ext cx="5514467" cy="682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676"/>
              </a:lnSpc>
              <a:spcBef>
                <a:spcPts val="0"/>
              </a:spcBef>
              <a:spcAft>
                <a:spcPts val="0"/>
              </a:spcAft>
            </a:pPr>
            <a:r>
              <a:rPr sz="4066" b="1">
                <a:solidFill>
                  <a:srgbClr val="7D2860"/>
                </a:solidFill>
                <a:latin typeface="Arial"/>
              </a:rPr>
              <a:t>Two interaction levels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8959360" y="16627132"/>
            <a:ext cx="1896186" cy="4231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899"/>
              </a:lnSpc>
              <a:spcBef>
                <a:spcPts val="0"/>
              </a:spcBef>
              <a:spcAft>
                <a:spcPts val="0"/>
              </a:spcAft>
            </a:pPr>
            <a:r>
              <a:rPr sz="2521" b="1" i="1">
                <a:solidFill>
                  <a:srgbClr val="555555"/>
                </a:solidFill>
                <a:latin typeface="Arial"/>
              </a:rPr>
              <a:t>base + meta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14121" y="17500529"/>
            <a:ext cx="8421067" cy="327843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41014" indent="-541014">
              <a:lnSpc>
                <a:spcPts val="5615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3872" b="1">
                <a:solidFill>
                  <a:srgbClr val="111111"/>
                </a:solidFill>
                <a:latin typeface="Arial"/>
              </a:rPr>
              <a:t>Productivity work is high-frequency and idiosyncratic</a:t>
            </a:r>
            <a:r>
              <a:rPr sz="3872" b="0">
                <a:solidFill>
                  <a:srgbClr val="1C1C1C"/>
                </a:solidFill>
                <a:latin typeface="Arial"/>
              </a:rPr>
              <a:t> — small workflow-fit gains compound into real time and attention.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382731" y="18881003"/>
            <a:ext cx="10730114" cy="819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41014" indent="-541014">
              <a:lnSpc>
                <a:spcPts val="5615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3872" b="1">
                <a:solidFill>
                  <a:srgbClr val="111111"/>
                </a:solidFill>
                <a:latin typeface="Arial"/>
              </a:rPr>
              <a:t>Base level</a:t>
            </a:r>
            <a:r>
              <a:rPr sz="3872" b="0">
                <a:solidFill>
                  <a:srgbClr val="1C1C1C"/>
                </a:solidFill>
                <a:latin typeface="Arial"/>
              </a:rPr>
              <a:t> — triage email into categories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382731" y="19765709"/>
            <a:ext cx="10730114" cy="16392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41014" indent="-541014">
              <a:lnSpc>
                <a:spcPts val="5615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3872" b="1">
                <a:solidFill>
                  <a:srgbClr val="111111"/>
                </a:solidFill>
                <a:latin typeface="Arial"/>
              </a:rPr>
              <a:t>Meta level</a:t>
            </a:r>
            <a:r>
              <a:rPr sz="3872" b="0">
                <a:solidFill>
                  <a:srgbClr val="1C1C1C"/>
                </a:solidFill>
                <a:latin typeface="Arial"/>
              </a:rPr>
              <a:t> — the agent modifies the system itself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14121" y="20523348"/>
            <a:ext cx="8421067" cy="4917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41014" indent="-541014">
              <a:lnSpc>
                <a:spcPts val="5615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3872" b="1">
                <a:solidFill>
                  <a:srgbClr val="111111"/>
                </a:solidFill>
                <a:latin typeface="Arial"/>
              </a:rPr>
              <a:t>Prior customization lived outside real work</a:t>
            </a:r>
            <a:r>
              <a:rPr sz="3872" b="0">
                <a:solidFill>
                  <a:srgbClr val="1C1C1C"/>
                </a:solidFill>
                <a:latin typeface="Arial"/>
              </a:rPr>
              <a:t> — scripting and settings menus demand planning users never invest; generative AI lets people change tools in the moment.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1993136" y="20728081"/>
            <a:ext cx="10730114" cy="24588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41014" indent="-541014">
              <a:lnSpc>
                <a:spcPts val="5615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3872" b="1">
                <a:solidFill>
                  <a:srgbClr val="111111"/>
                </a:solidFill>
                <a:latin typeface="Arial"/>
              </a:rPr>
              <a:t>Grounded in examples</a:t>
            </a:r>
            <a:r>
              <a:rPr sz="3872" b="0">
                <a:solidFill>
                  <a:srgbClr val="1C1C1C"/>
                </a:solidFill>
                <a:latin typeface="Arial"/>
              </a:rPr>
              <a:t> — every one of the 8 features resembled a shown demo, adapted to each workflow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1208824" y="22372063"/>
            <a:ext cx="4166463" cy="6825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676"/>
              </a:lnSpc>
              <a:spcBef>
                <a:spcPts val="0"/>
              </a:spcBef>
              <a:spcAft>
                <a:spcPts val="0"/>
              </a:spcAft>
            </a:pPr>
            <a:r>
              <a:rPr sz="4066" b="1">
                <a:solidFill>
                  <a:srgbClr val="7D2860"/>
                </a:solidFill>
                <a:latin typeface="Arial"/>
              </a:rPr>
              <a:t>Feature lifecycle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8115581" y="22484845"/>
            <a:ext cx="2765279" cy="423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899"/>
              </a:lnSpc>
              <a:spcBef>
                <a:spcPts val="0"/>
              </a:spcBef>
              <a:spcAft>
                <a:spcPts val="0"/>
              </a:spcAft>
            </a:pPr>
            <a:r>
              <a:rPr sz="2521" b="1" i="1">
                <a:solidFill>
                  <a:srgbClr val="555555"/>
                </a:solidFill>
                <a:latin typeface="Arial"/>
              </a:rPr>
              <a:t>request → deploy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21993136" y="23038195"/>
            <a:ext cx="10730114" cy="16392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41014" indent="-541014">
              <a:lnSpc>
                <a:spcPts val="5615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3872" b="1">
                <a:solidFill>
                  <a:srgbClr val="111111"/>
                </a:solidFill>
                <a:latin typeface="Arial"/>
              </a:rPr>
              <a:t>Flexible data layer</a:t>
            </a:r>
            <a:r>
              <a:rPr sz="3872" b="0">
                <a:solidFill>
                  <a:srgbClr val="1C1C1C"/>
                </a:solidFill>
                <a:latin typeface="Arial"/>
              </a:rPr>
              <a:t> — the inbox shifts from a fixed interface to a layer users actively shape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1290397" y="23425644"/>
            <a:ext cx="9795218" cy="1744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421"/>
              </a:lnSpc>
              <a:spcBef>
                <a:spcPts val="0"/>
              </a:spcBef>
              <a:spcAft>
                <a:spcPts val="0"/>
              </a:spcAft>
            </a:pPr>
            <a:r>
              <a:rPr sz="3872" b="1">
                <a:solidFill>
                  <a:srgbClr val="111111"/>
                </a:solidFill>
                <a:latin typeface="Arial"/>
              </a:rPr>
              <a:t>Request → refine</a:t>
            </a:r>
            <a:r>
              <a:rPr sz="3872" b="0">
                <a:solidFill>
                  <a:srgbClr val="1C1C1C"/>
                </a:solidFill>
                <a:latin typeface="Arial"/>
              </a:rPr>
              <a:t> — draft a feature bundle, refine it in conversation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1993136" y="24635604"/>
            <a:ext cx="10730114" cy="24588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41014" indent="-541014">
              <a:lnSpc>
                <a:spcPts val="5615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3872" b="1">
                <a:solidFill>
                  <a:srgbClr val="111111"/>
                </a:solidFill>
                <a:latin typeface="Arial"/>
              </a:rPr>
              <a:t>New risks, managed</a:t>
            </a:r>
            <a:r>
              <a:rPr sz="3872" b="0">
                <a:solidFill>
                  <a:srgbClr val="1C1C1C"/>
                </a:solidFill>
                <a:latin typeface="Arial"/>
              </a:rPr>
              <a:t> — mis-specified behavior, hidden info, over-reliance; tamed via oversight, iteration, selective trust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1290397" y="25237311"/>
            <a:ext cx="9795218" cy="1744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421"/>
              </a:lnSpc>
              <a:spcBef>
                <a:spcPts val="0"/>
              </a:spcBef>
              <a:spcAft>
                <a:spcPts val="0"/>
              </a:spcAft>
            </a:pPr>
            <a:r>
              <a:rPr sz="3872" b="1">
                <a:solidFill>
                  <a:srgbClr val="111111"/>
                </a:solidFill>
                <a:latin typeface="Arial"/>
              </a:rPr>
              <a:t>Deploy → registry</a:t>
            </a:r>
            <a:r>
              <a:rPr sz="3872" b="0">
                <a:solidFill>
                  <a:srgbClr val="1C1C1C"/>
                </a:solidFill>
                <a:latin typeface="Arial"/>
              </a:rPr>
              <a:t> — a GitHub pull request redeploys into a removable registry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472707" y="26272294"/>
            <a:ext cx="7594404" cy="32784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615"/>
              </a:lnSpc>
              <a:spcBef>
                <a:spcPts val="0"/>
              </a:spcBef>
              <a:spcAft>
                <a:spcPts val="0"/>
              </a:spcAft>
            </a:pPr>
            <a:r>
              <a:rPr sz="3872" b="0">
                <a:solidFill>
                  <a:srgbClr val="1C1C1C"/>
                </a:solidFill>
                <a:latin typeface="Arial"/>
              </a:rPr>
              <a:t>Generative AI makes conversational, in-situ modification feasible for the first time.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2190001" y="10488206"/>
            <a:ext cx="3002820" cy="904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6196"/>
              </a:lnSpc>
              <a:spcBef>
                <a:spcPts val="0"/>
              </a:spcBef>
              <a:spcAft>
                <a:spcPts val="0"/>
              </a:spcAft>
            </a:pPr>
            <a:r>
              <a:rPr sz="6196" b="1">
                <a:solidFill>
                  <a:srgbClr val="7D2860"/>
                </a:solidFill>
                <a:latin typeface="Arial"/>
              </a:rPr>
              <a:t>Day 1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25744259" y="10488206"/>
            <a:ext cx="3002974" cy="904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6196"/>
              </a:lnSpc>
              <a:spcBef>
                <a:spcPts val="0"/>
              </a:spcBef>
              <a:spcAft>
                <a:spcPts val="0"/>
              </a:spcAft>
            </a:pPr>
            <a:r>
              <a:rPr sz="6196" b="1">
                <a:solidFill>
                  <a:srgbClr val="7D2860"/>
                </a:solidFill>
                <a:latin typeface="Arial"/>
              </a:rPr>
              <a:t>Day 2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29298666" y="10488206"/>
            <a:ext cx="3002973" cy="904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6196"/>
              </a:lnSpc>
              <a:spcBef>
                <a:spcPts val="0"/>
              </a:spcBef>
              <a:spcAft>
                <a:spcPts val="0"/>
              </a:spcAft>
            </a:pPr>
            <a:r>
              <a:rPr sz="6196" b="1">
                <a:solidFill>
                  <a:srgbClr val="7D2860"/>
                </a:solidFill>
                <a:latin typeface="Arial"/>
              </a:rPr>
              <a:t>Day 3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22190001" y="11338689"/>
            <a:ext cx="3002820" cy="4226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2894"/>
              </a:lnSpc>
              <a:spcBef>
                <a:spcPts val="0"/>
              </a:spcBef>
              <a:spcAft>
                <a:spcPts val="0"/>
              </a:spcAft>
            </a:pPr>
            <a:r>
              <a:rPr sz="2517" b="0">
                <a:solidFill>
                  <a:srgbClr val="555555"/>
                </a:solidFill>
                <a:latin typeface="Arial"/>
              </a:rPr>
              <a:t>ideate + build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25744259" y="11338689"/>
            <a:ext cx="3002974" cy="4226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2894"/>
              </a:lnSpc>
              <a:spcBef>
                <a:spcPts val="0"/>
              </a:spcBef>
              <a:spcAft>
                <a:spcPts val="0"/>
              </a:spcAft>
            </a:pPr>
            <a:r>
              <a:rPr sz="2517" b="0">
                <a:solidFill>
                  <a:srgbClr val="555555"/>
                </a:solidFill>
                <a:latin typeface="Arial"/>
              </a:rPr>
              <a:t>use + refine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29298666" y="11338689"/>
            <a:ext cx="3002973" cy="4226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2894"/>
              </a:lnSpc>
              <a:spcBef>
                <a:spcPts val="0"/>
              </a:spcBef>
              <a:spcAft>
                <a:spcPts val="0"/>
              </a:spcAft>
            </a:pPr>
            <a:r>
              <a:rPr sz="2517" b="0">
                <a:solidFill>
                  <a:srgbClr val="555555"/>
                </a:solidFill>
                <a:latin typeface="Arial"/>
              </a:rPr>
              <a:t>reflect + survey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33836711" y="18612586"/>
            <a:ext cx="3890149" cy="15418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0561"/>
              </a:lnSpc>
              <a:spcBef>
                <a:spcPts val="0"/>
              </a:spcBef>
              <a:spcAft>
                <a:spcPts val="0"/>
              </a:spcAft>
            </a:pPr>
            <a:r>
              <a:rPr sz="10561" b="1" spc="-211">
                <a:solidFill>
                  <a:srgbClr val="7D2860"/>
                </a:solidFill>
                <a:latin typeface="Arial"/>
              </a:rPr>
              <a:t>8/8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33836711" y="19975650"/>
            <a:ext cx="3890149" cy="11306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872"/>
              </a:lnSpc>
              <a:spcBef>
                <a:spcPts val="0"/>
              </a:spcBef>
              <a:spcAft>
                <a:spcPts val="0"/>
              </a:spcAft>
            </a:pPr>
            <a:r>
              <a:rPr sz="3520" b="1">
                <a:solidFill>
                  <a:srgbClr val="1C1C1C"/>
                </a:solidFill>
                <a:latin typeface="Arial"/>
              </a:rPr>
              <a:t>features demo-grounded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3836711" y="20958855"/>
            <a:ext cx="3890149" cy="132951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036"/>
              </a:lnSpc>
              <a:spcBef>
                <a:spcPts val="0"/>
              </a:spcBef>
              <a:spcAft>
                <a:spcPts val="0"/>
              </a:spcAft>
            </a:pPr>
            <a:r>
              <a:rPr sz="2640" b="0" i="1">
                <a:solidFill>
                  <a:srgbClr val="555555"/>
                </a:solidFill>
                <a:latin typeface="Arial"/>
              </a:rPr>
              <a:t>none invented from scratch — all demo-grounded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3603858" y="8073791"/>
            <a:ext cx="6440720" cy="708731"/>
          </a:xfrm>
          <a:prstGeom prst="rect">
            <a:avLst/>
          </a:prstGeom>
          <a:noFill/>
        </p:spPr>
        <p:txBody>
          <a:bodyPr wrap="none" lIns="76213" rIns="76213" tIns="57160" bIns="57160">
            <a:spAutoFit/>
          </a:bodyPr>
          <a:lstStyle/>
          <a:p>
            <a:pPr algn="l">
              <a:lnSpc>
                <a:spcPts val="3916"/>
              </a:lnSpc>
              <a:spcBef>
                <a:spcPts val="0"/>
              </a:spcBef>
              <a:spcAft>
                <a:spcPts val="0"/>
              </a:spcAft>
            </a:pPr>
            <a:r>
              <a:rPr sz="2701" b="1" spc="135">
                <a:solidFill>
                  <a:srgbClr val="7D2860"/>
                </a:solidFill>
                <a:latin typeface="Arial"/>
              </a:rPr>
              <a:t>METHOD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9856985" y="8073791"/>
            <a:ext cx="1980016" cy="708731"/>
          </a:xfrm>
          <a:prstGeom prst="rect">
            <a:avLst/>
          </a:prstGeom>
          <a:noFill/>
        </p:spPr>
        <p:txBody>
          <a:bodyPr wrap="none" lIns="76213" rIns="76213" tIns="57160" bIns="57160">
            <a:spAutoFit/>
          </a:bodyPr>
          <a:lstStyle/>
          <a:p>
            <a:pPr algn="ctr">
              <a:lnSpc>
                <a:spcPts val="3916"/>
              </a:lnSpc>
              <a:spcBef>
                <a:spcPts val="0"/>
              </a:spcBef>
              <a:spcAft>
                <a:spcPts val="0"/>
              </a:spcAft>
            </a:pPr>
            <a:r>
              <a:rPr sz="2701" b="1" spc="135">
                <a:solidFill>
                  <a:srgbClr val="7D2860"/>
                </a:solidFill>
                <a:latin typeface="Arial"/>
              </a:rPr>
              <a:t>METRIC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3603858" y="8690079"/>
            <a:ext cx="6440720" cy="904650"/>
          </a:xfrm>
          <a:prstGeom prst="rect">
            <a:avLst/>
          </a:prstGeom>
          <a:noFill/>
        </p:spPr>
        <p:txBody>
          <a:bodyPr wrap="square" lIns="76213" rIns="76213" tIns="57160" bIns="57160">
            <a:spAutoFit/>
          </a:bodyPr>
          <a:lstStyle/>
          <a:p>
            <a:pPr algn="l">
              <a:lnSpc>
                <a:spcPts val="5222"/>
              </a:lnSpc>
              <a:spcBef>
                <a:spcPts val="0"/>
              </a:spcBef>
              <a:spcAft>
                <a:spcPts val="0"/>
              </a:spcAft>
            </a:pPr>
            <a:r>
              <a:rPr sz="3601" b="1">
                <a:solidFill>
                  <a:srgbClr val="1C1C1C"/>
                </a:solidFill>
                <a:latin typeface="Arial"/>
              </a:rPr>
              <a:t>From-scratch ideas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39856985" y="8690079"/>
            <a:ext cx="1980016" cy="904650"/>
          </a:xfrm>
          <a:prstGeom prst="rect">
            <a:avLst/>
          </a:prstGeom>
          <a:noFill/>
        </p:spPr>
        <p:txBody>
          <a:bodyPr wrap="none" lIns="76213" rIns="76213" tIns="57160" bIns="57160">
            <a:spAutoFit/>
          </a:bodyPr>
          <a:lstStyle/>
          <a:p>
            <a:pPr algn="ctr">
              <a:lnSpc>
                <a:spcPts val="5222"/>
              </a:lnSpc>
              <a:spcBef>
                <a:spcPts val="0"/>
              </a:spcBef>
              <a:spcAft>
                <a:spcPts val="0"/>
              </a:spcAft>
            </a:pPr>
            <a:r>
              <a:rPr sz="3601" b="0">
                <a:solidFill>
                  <a:srgbClr val="1C1C1C"/>
                </a:solidFill>
                <a:latin typeface="Arial"/>
              </a:rPr>
              <a:t>0/8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3603858" y="9476732"/>
            <a:ext cx="6440720" cy="904649"/>
          </a:xfrm>
          <a:prstGeom prst="rect">
            <a:avLst/>
          </a:prstGeom>
          <a:noFill/>
        </p:spPr>
        <p:txBody>
          <a:bodyPr wrap="square" lIns="76213" rIns="76213" tIns="57160" bIns="57160">
            <a:spAutoFit/>
          </a:bodyPr>
          <a:lstStyle/>
          <a:p>
            <a:pPr algn="l">
              <a:lnSpc>
                <a:spcPts val="5222"/>
              </a:lnSpc>
              <a:spcBef>
                <a:spcPts val="0"/>
              </a:spcBef>
              <a:spcAft>
                <a:spcPts val="0"/>
              </a:spcAft>
            </a:pPr>
            <a:r>
              <a:rPr sz="3601" b="1">
                <a:solidFill>
                  <a:srgbClr val="7D2860"/>
                </a:solidFill>
                <a:latin typeface="Arial"/>
              </a:rPr>
              <a:t>Demo-grounded (ours)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9856985" y="9476732"/>
            <a:ext cx="1980016" cy="904649"/>
          </a:xfrm>
          <a:prstGeom prst="rect">
            <a:avLst/>
          </a:prstGeom>
          <a:noFill/>
        </p:spPr>
        <p:txBody>
          <a:bodyPr wrap="none" lIns="76213" rIns="76213" tIns="57160" bIns="57160">
            <a:spAutoFit/>
          </a:bodyPr>
          <a:lstStyle/>
          <a:p>
            <a:pPr algn="ctr">
              <a:lnSpc>
                <a:spcPts val="5222"/>
              </a:lnSpc>
              <a:spcBef>
                <a:spcPts val="0"/>
              </a:spcBef>
              <a:spcAft>
                <a:spcPts val="0"/>
              </a:spcAft>
            </a:pPr>
            <a:r>
              <a:rPr sz="3601" b="1">
                <a:solidFill>
                  <a:srgbClr val="7D2860"/>
                </a:solidFill>
                <a:latin typeface="Arial"/>
              </a:rPr>
              <a:t>8/8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1993453" y="16743337"/>
            <a:ext cx="2990713" cy="766394"/>
          </a:xfrm>
          <a:prstGeom prst="rect">
            <a:avLst/>
          </a:prstGeom>
          <a:noFill/>
        </p:spPr>
        <p:txBody>
          <a:bodyPr wrap="square" lIns="175214" rIns="175214" tIns="77095" bIns="77095">
            <a:spAutoFit/>
          </a:bodyPr>
          <a:lstStyle/>
          <a:p>
            <a:pPr algn="l">
              <a:lnSpc>
                <a:spcPts val="4000"/>
              </a:lnSpc>
              <a:spcBef>
                <a:spcPts val="0"/>
              </a:spcBef>
              <a:spcAft>
                <a:spcPts val="0"/>
              </a:spcAft>
            </a:pPr>
            <a:r>
              <a:rPr sz="2759" b="1" spc="137">
                <a:solidFill>
                  <a:srgbClr val="555555"/>
                </a:solidFill>
                <a:latin typeface="Arial"/>
              </a:rPr>
              <a:t>PATTERN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4897058" y="16743337"/>
            <a:ext cx="7739074" cy="766394"/>
          </a:xfrm>
          <a:prstGeom prst="rect">
            <a:avLst/>
          </a:prstGeom>
          <a:noFill/>
        </p:spPr>
        <p:txBody>
          <a:bodyPr wrap="square" lIns="175214" rIns="175214" tIns="77095" bIns="77095">
            <a:spAutoFit/>
          </a:bodyPr>
          <a:lstStyle/>
          <a:p>
            <a:pPr algn="l">
              <a:lnSpc>
                <a:spcPts val="4000"/>
              </a:lnSpc>
              <a:spcBef>
                <a:spcPts val="0"/>
              </a:spcBef>
              <a:spcAft>
                <a:spcPts val="0"/>
              </a:spcAft>
            </a:pPr>
            <a:r>
              <a:rPr sz="2759" b="1" spc="137">
                <a:solidFill>
                  <a:srgbClr val="555555"/>
                </a:solidFill>
                <a:latin typeface="Arial"/>
              </a:rPr>
              <a:t>WHAT USERS DID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1993453" y="17409767"/>
            <a:ext cx="2990713" cy="1025796"/>
          </a:xfrm>
          <a:prstGeom prst="rect">
            <a:avLst/>
          </a:prstGeom>
          <a:noFill/>
        </p:spPr>
        <p:txBody>
          <a:bodyPr wrap="square" lIns="233620" rIns="233620" tIns="102794" bIns="102794">
            <a:spAutoFit/>
          </a:bodyPr>
          <a:lstStyle/>
          <a:p>
            <a:pPr algn="l">
              <a:lnSpc>
                <a:spcPts val="5334"/>
              </a:lnSpc>
              <a:spcBef>
                <a:spcPts val="0"/>
              </a:spcBef>
              <a:spcAft>
                <a:spcPts val="0"/>
              </a:spcAft>
            </a:pPr>
            <a:r>
              <a:rPr sz="3679" b="1">
                <a:solidFill>
                  <a:srgbClr val="1C1C1C"/>
                </a:solidFill>
                <a:latin typeface="Arial"/>
              </a:rPr>
              <a:t>Grounded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24897058" y="17409767"/>
            <a:ext cx="7739074" cy="1025796"/>
          </a:xfrm>
          <a:prstGeom prst="rect">
            <a:avLst/>
          </a:prstGeom>
          <a:noFill/>
        </p:spPr>
        <p:txBody>
          <a:bodyPr wrap="square" lIns="233620" rIns="233620" tIns="102794" bIns="102794">
            <a:spAutoFit/>
          </a:bodyPr>
          <a:lstStyle/>
          <a:p>
            <a:pPr algn="l">
              <a:lnSpc>
                <a:spcPts val="5334"/>
              </a:lnSpc>
              <a:spcBef>
                <a:spcPts val="0"/>
              </a:spcBef>
              <a:spcAft>
                <a:spcPts val="0"/>
              </a:spcAft>
            </a:pPr>
            <a:r>
              <a:rPr sz="3679" b="1">
                <a:solidFill>
                  <a:srgbClr val="1C1C1C"/>
                </a:solidFill>
                <a:latin typeface="Arial"/>
              </a:rPr>
              <a:t>adapted &amp; specialized demos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21993453" y="18301764"/>
            <a:ext cx="2990713" cy="1025794"/>
          </a:xfrm>
          <a:prstGeom prst="rect">
            <a:avLst/>
          </a:prstGeom>
          <a:noFill/>
        </p:spPr>
        <p:txBody>
          <a:bodyPr wrap="square" lIns="233620" rIns="233620" tIns="102794" bIns="102794">
            <a:spAutoFit/>
          </a:bodyPr>
          <a:lstStyle/>
          <a:p>
            <a:pPr algn="l">
              <a:lnSpc>
                <a:spcPts val="5334"/>
              </a:lnSpc>
              <a:spcBef>
                <a:spcPts val="0"/>
              </a:spcBef>
              <a:spcAft>
                <a:spcPts val="0"/>
              </a:spcAft>
            </a:pPr>
            <a:r>
              <a:rPr sz="3679" b="0">
                <a:solidFill>
                  <a:srgbClr val="1C1C1C"/>
                </a:solidFill>
                <a:latin typeface="Arial"/>
              </a:rPr>
              <a:t>Data layer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24897058" y="18301764"/>
            <a:ext cx="7739074" cy="1025794"/>
          </a:xfrm>
          <a:prstGeom prst="rect">
            <a:avLst/>
          </a:prstGeom>
          <a:noFill/>
        </p:spPr>
        <p:txBody>
          <a:bodyPr wrap="square" lIns="233620" rIns="233620" tIns="102794" bIns="102794">
            <a:spAutoFit/>
          </a:bodyPr>
          <a:lstStyle/>
          <a:p>
            <a:pPr algn="l">
              <a:lnSpc>
                <a:spcPts val="5334"/>
              </a:lnSpc>
              <a:spcBef>
                <a:spcPts val="0"/>
              </a:spcBef>
              <a:spcAft>
                <a:spcPts val="0"/>
              </a:spcAft>
            </a:pPr>
            <a:r>
              <a:rPr sz="3679" b="0">
                <a:solidFill>
                  <a:srgbClr val="1C1C1C"/>
                </a:solidFill>
                <a:latin typeface="Arial"/>
              </a:rPr>
              <a:t>reshaped the inbox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38606122" y="18612586"/>
            <a:ext cx="289185" cy="5910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048"/>
              </a:lnSpc>
              <a:spcBef>
                <a:spcPts val="0"/>
              </a:spcBef>
              <a:spcAft>
                <a:spcPts val="0"/>
              </a:spcAft>
            </a:pPr>
            <a:r>
              <a:rPr sz="4048" b="1" spc="-40">
                <a:solidFill>
                  <a:srgbClr val="AE2622"/>
                </a:solidFill>
                <a:latin typeface="Arial"/>
              </a:rPr>
              <a:t>8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9058887" y="18726857"/>
            <a:ext cx="1765616" cy="46250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168"/>
              </a:lnSpc>
              <a:spcBef>
                <a:spcPts val="0"/>
              </a:spcBef>
              <a:spcAft>
                <a:spcPts val="0"/>
              </a:spcAft>
            </a:pPr>
            <a:r>
              <a:rPr sz="2640" b="0">
                <a:solidFill>
                  <a:srgbClr val="555555"/>
                </a:solidFill>
                <a:latin typeface="Arial"/>
              </a:rPr>
              <a:t>participants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21993453" y="19193759"/>
            <a:ext cx="2990713" cy="1025795"/>
          </a:xfrm>
          <a:prstGeom prst="rect">
            <a:avLst/>
          </a:prstGeom>
          <a:noFill/>
        </p:spPr>
        <p:txBody>
          <a:bodyPr wrap="none" lIns="233620" rIns="233620" tIns="102794" bIns="102794">
            <a:spAutoFit/>
          </a:bodyPr>
          <a:lstStyle/>
          <a:p>
            <a:pPr algn="l">
              <a:lnSpc>
                <a:spcPts val="5334"/>
              </a:lnSpc>
              <a:spcBef>
                <a:spcPts val="0"/>
              </a:spcBef>
              <a:spcAft>
                <a:spcPts val="0"/>
              </a:spcAft>
            </a:pPr>
            <a:r>
              <a:rPr sz="3679" b="0">
                <a:solidFill>
                  <a:srgbClr val="1C1C1C"/>
                </a:solidFill>
                <a:latin typeface="Arial"/>
              </a:rPr>
              <a:t>Risks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24897058" y="19193759"/>
            <a:ext cx="7739074" cy="1025795"/>
          </a:xfrm>
          <a:prstGeom prst="rect">
            <a:avLst/>
          </a:prstGeom>
          <a:noFill/>
        </p:spPr>
        <p:txBody>
          <a:bodyPr wrap="square" lIns="233620" rIns="233620" tIns="102794" bIns="102794">
            <a:spAutoFit/>
          </a:bodyPr>
          <a:lstStyle/>
          <a:p>
            <a:pPr algn="l">
              <a:lnSpc>
                <a:spcPts val="5334"/>
              </a:lnSpc>
              <a:spcBef>
                <a:spcPts val="0"/>
              </a:spcBef>
              <a:spcAft>
                <a:spcPts val="0"/>
              </a:spcAft>
            </a:pPr>
            <a:r>
              <a:rPr sz="3679" b="0">
                <a:solidFill>
                  <a:srgbClr val="1C1C1C"/>
                </a:solidFill>
                <a:latin typeface="Arial"/>
              </a:rPr>
              <a:t>oversight + iteration + trust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38606122" y="19849773"/>
            <a:ext cx="289185" cy="5910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048"/>
              </a:lnSpc>
              <a:spcBef>
                <a:spcPts val="0"/>
              </a:spcBef>
              <a:spcAft>
                <a:spcPts val="0"/>
              </a:spcAft>
            </a:pPr>
            <a:r>
              <a:rPr sz="4048" b="1" spc="-40">
                <a:solidFill>
                  <a:srgbClr val="AE2622"/>
                </a:solidFill>
                <a:latin typeface="Arial"/>
              </a:rPr>
              <a:t>3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39058887" y="19964046"/>
            <a:ext cx="2562220" cy="9250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168"/>
              </a:lnSpc>
              <a:spcBef>
                <a:spcPts val="0"/>
              </a:spcBef>
              <a:spcAft>
                <a:spcPts val="0"/>
              </a:spcAft>
            </a:pPr>
            <a:r>
              <a:rPr sz="2640" b="0">
                <a:solidFill>
                  <a:srgbClr val="555555"/>
                </a:solidFill>
                <a:latin typeface="Arial"/>
              </a:rPr>
              <a:t>research questions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8606122" y="21087113"/>
            <a:ext cx="1153528" cy="11820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048"/>
              </a:lnSpc>
              <a:spcBef>
                <a:spcPts val="0"/>
              </a:spcBef>
              <a:spcAft>
                <a:spcPts val="0"/>
              </a:spcAft>
            </a:pPr>
            <a:r>
              <a:rPr sz="4048" b="1" spc="-40">
                <a:solidFill>
                  <a:srgbClr val="AE2622"/>
                </a:solidFill>
                <a:latin typeface="Arial"/>
              </a:rPr>
              <a:t>3-day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39898050" y="21201383"/>
            <a:ext cx="1697882" cy="9250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168"/>
              </a:lnSpc>
              <a:spcBef>
                <a:spcPts val="0"/>
              </a:spcBef>
              <a:spcAft>
                <a:spcPts val="0"/>
              </a:spcAft>
            </a:pPr>
            <a:r>
              <a:rPr sz="2640" b="0">
                <a:solidFill>
                  <a:srgbClr val="555555"/>
                </a:solidFill>
                <a:latin typeface="Arial"/>
              </a:rPr>
              <a:t>design probe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